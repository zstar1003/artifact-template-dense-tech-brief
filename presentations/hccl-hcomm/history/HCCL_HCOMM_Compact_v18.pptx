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199b221cb54a3c" /><Relationship Type="http://schemas.openxmlformats.org/officeDocument/2006/relationships/extended-properties" Target="/docProps/app.xml" Id="R7b55003be1a54845" /><Relationship Type="http://schemas.openxmlformats.org/officeDocument/2006/relationships/officeDocument" Target="/ppt/presentation.xml" Id="Rf4d68e0e577b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232ddbf8d4910"/>
  </p:sldMasterIdLst>
  <p:notesMasterIdLst>
    <p:notesMasterId xmlns:r="http://schemas.openxmlformats.org/officeDocument/2006/relationships" r:id="R8f88920433554d1c"/>
  </p:notesMasterIdLst>
  <p:sldIdLst>
    <p:sldId xmlns:r="http://schemas.openxmlformats.org/officeDocument/2006/relationships" id="256" r:id="R400a68533b26413c"/>
    <p:sldId xmlns:r="http://schemas.openxmlformats.org/officeDocument/2006/relationships" id="257" r:id="R6d5e1e0fe4fb45b3"/>
    <p:sldId xmlns:r="http://schemas.openxmlformats.org/officeDocument/2006/relationships" id="258" r:id="Radf318f0af1f4e0c"/>
    <p:sldId xmlns:r="http://schemas.openxmlformats.org/officeDocument/2006/relationships" id="259" r:id="Re9dc98a646fa4358"/>
    <p:sldId xmlns:r="http://schemas.openxmlformats.org/officeDocument/2006/relationships" id="260" r:id="R88de43184a144777"/>
    <p:sldId xmlns:r="http://schemas.openxmlformats.org/officeDocument/2006/relationships" id="261" r:id="Raefd78cc5e874b6d"/>
    <p:sldId xmlns:r="http://schemas.openxmlformats.org/officeDocument/2006/relationships" id="262" r:id="R74734999ca7845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06f0a22a44811" /><Relationship Type="http://schemas.openxmlformats.org/officeDocument/2006/relationships/slideMaster" Target="/ppt/slideMasters/slideMaster1.xml" Id="Rddd232ddbf8d4910" /><Relationship Type="http://schemas.openxmlformats.org/officeDocument/2006/relationships/notesMaster" Target="/ppt/notesMasters/notesMaster1.xml" Id="R8f88920433554d1c" /><Relationship Type="http://schemas.openxmlformats.org/officeDocument/2006/relationships/presProps" Target="/ppt/presProps.xml" Id="R55f5bddf942f41b5" /><Relationship Type="http://schemas.openxmlformats.org/officeDocument/2006/relationships/tableStyles" Target="/ppt/tableStyles.xml" Id="Raa006358a2314da6" /><Relationship Type="http://schemas.openxmlformats.org/officeDocument/2006/relationships/slide" Target="/ppt/slides/slide1.xml" Id="R400a68533b26413c" /><Relationship Type="http://schemas.openxmlformats.org/officeDocument/2006/relationships/slide" Target="/ppt/slides/slide2.xml" Id="R6d5e1e0fe4fb45b3" /><Relationship Type="http://schemas.openxmlformats.org/officeDocument/2006/relationships/slide" Target="/ppt/slides/slide3.xml" Id="Radf318f0af1f4e0c" /><Relationship Type="http://schemas.openxmlformats.org/officeDocument/2006/relationships/slide" Target="/ppt/slides/slide4.xml" Id="Re9dc98a646fa4358" /><Relationship Type="http://schemas.openxmlformats.org/officeDocument/2006/relationships/slide" Target="/ppt/slides/slide5.xml" Id="R88de43184a144777" /><Relationship Type="http://schemas.openxmlformats.org/officeDocument/2006/relationships/slide" Target="/ppt/slides/slide6.xml" Id="Raefd78cc5e874b6d" /><Relationship Type="http://schemas.openxmlformats.org/officeDocument/2006/relationships/slide" Target="/ppt/slides/slide7.xml" Id="R74734999ca78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386168e20a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d4c3018924d7c" /><Relationship Type="http://schemas.openxmlformats.org/officeDocument/2006/relationships/notesMaster" Target="/ppt/notesMasters/notesMaster1.xml" Id="Rd134459542a3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91debee004b44" /><Relationship Type="http://schemas.openxmlformats.org/officeDocument/2006/relationships/notesMaster" Target="/ppt/notesMasters/notesMaster1.xml" Id="Rde0e2a9ab339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b16e42f6c45d0" /><Relationship Type="http://schemas.openxmlformats.org/officeDocument/2006/relationships/notesMaster" Target="/ppt/notesMasters/notesMaster1.xml" Id="R6ed3d2c321644f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44d2d6b1341ce" /><Relationship Type="http://schemas.openxmlformats.org/officeDocument/2006/relationships/notesMaster" Target="/ppt/notesMasters/notesMaster1.xml" Id="R8e458faf2a74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8e2a73f02418e" /><Relationship Type="http://schemas.openxmlformats.org/officeDocument/2006/relationships/notesMaster" Target="/ppt/notesMasters/notesMaster1.xml" Id="R96ecb409c53c40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b76b107f947cb" /><Relationship Type="http://schemas.openxmlformats.org/officeDocument/2006/relationships/notesMaster" Target="/ppt/notesMasters/notesMaster1.xml" Id="Rf659f13258c1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62c0aaed3b4ab1" /><Relationship Type="http://schemas.openxmlformats.org/officeDocument/2006/relationships/notesMaster" Target="/ppt/notesMasters/notesMaster1.xml" Id="R420e78b67a46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先看垂直分层，再看各层内的职责。HCCL 根据算子语义、数据规模与拓扑选择算法。HCOMM L2 是多个算子的公共资源层，L3 负责具体通信能力。底部三个引擎是选择关系。Channel 和资源准备会随引擎不同而变化，不能把三个执行入口画成串行调用。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hccl/src/ops/op_common/op_common.cc；hccl/src/common/hcomm_dlsym/；HCCL_HCOMM_CALL_CHAIN_ANALYSIS.md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当前源码明确存在版本分流、零 count 返回、单 Rank、CCU FastLaunch、AIV 缓存、资源复用、算法插件和资源不足回退。正常链路依次进入 Selector 与 HcclExecOp，但这些条件路径可以提前结束或跳过部分步骤。SelectorEngine::Global()-&gt;Run 与 ExecuteSelector::Run 是二选一。HcclGetAlgRes 的 TryReuseResource 命中后直接返回，不重新执行 CalcRes 或完整建链。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hccl/src/ops/all_reduce/all_reduce.cc:23-55,113-260；hccl/src/ops/op_common/op_common.cc:158-223,780-941,1331-1396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CommEngine 枚举：COMM_ENGINE_AICPU_TS、COMM_ENGINE_AIV、COMM_ENGINE_CCU。OpExecuteConfig 分别为 AICPU_TS、AIV、AIV_ONLY、CCU_MS、CCU_SCHED。ApplyOpExpansionMode 先建立配置，Selector 再按拓扑等因素调整最终 Engine。AIV_ONLY 最终若不是 COMM_ENGINE_AIV，返回 HCCL_E_NOT_SUPPORT。资源缓存用 algTag 作为算法级键，缓存引擎不总等于执行引擎，AIV 的上下文保存在 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hccl/src/ops/op_common/op_common.cc:158-223,1331-1396,3418-3565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本页修正了单一线性列表的表达。HcclChannelAcquire 内部调用 MyRank::CreateChannels，后者先转换描述、创建 Socket、创建 Channel，再对新通道连接并校验。EndpointPair::CreateChannel 存在缓存分支：命中时直接返回 channelHandles_[engine][reuseIdx]，有新增内存时调用 HcommChannelUpdateMemInfo。HcclChannelAcquire 内部的 FinalizeV2ChannelAcquire 在 MyRank::CreateChannels 之后调用，本页放在此备注中。随后按 Engine 需要执行 ConvertAivChannelHandlesToDevicePtrs。HcclGetChannelImpl 返回后调用 BuildChannelInfo，其中 HcclChannelGetHcclBuffer 取得远端 CCL Buffer；远端 Buffer 并不是 HcclChannelAcquire 的直接返回参数。ChannelGetStatus 是 ChannelProcess::ChannelGetStatus。编号是阅读索引，而非 32 个同层的必经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2020-2091；hcomm/src/coll_communicator_mgr/api_c_adpt/coll_comm_res_c_adpt.cc:755-858；hcomm/src/coll_communicator_mgr/resource_mgr/local/my_rank/my_rank.cc:567-613,675-773,1228-1300；hcomm/src/base_comm/resources/endpoint_pairs/endpoint_pair.cc:199-226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搬运原语完整名称为 HcommReadOnThread、HcommWriteOnThread、HcommLocalCopyOnThread；归约为 HcommReadReduceOnThread、HcommWriteReduceOnThread、HcommLocalReduceOnThread；通知为 HcommChannelNotifyRecordOnThread、HcommChannelNotifyWaitOnThread、HcommThreadNotifyRecordOnThread、HcommThreadNotifyWaitOnThread。页面个别重复前缀以斜线合并展示，备注保留完整名称。表格是能力对照，不是每种算法的逐条动态调用记录。AIV 与 CCU 的数据面调用方式见下一页。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hccl/src/ops/op_common/algorithm/template/wrapper/alg_data_trans_wrapper.cc；各算子 Template 目录；HCCL_HCOMM_CALL_CHAIN_ANALYSIS.md 第 6 节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此处只展开三条主流 Engine 路径。AICPU_TS 在 AICPU Kernel 中执行模板并调用 OnThread 原语。AIV 使用 HCOMM 生成的设备侧通信资源，Host 侧通过 aclrtLaunchKernelWithHostArgs 发射 Vector Kernel。CCU 在资源申请过程中注册 Kernel，再由 Executor / Template 调用 HcommCcuKernelLaunch。CCU 的 MS 和 SCHED 共用 COMM_ENGINE_CCU 枚举，但执行配置、可选模板与资源预算不同。其它 CPU / DPU、Legacy 和插件分支不展开为这三列。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hccl/src/ops/op_common/op_common.cc:780-941,1521+,1790+,2440-2972；hccl/src/ops/op_common/algorithm/template/aiv/hccl_aiv_utils.cc；hcomm/src/base_comm/primitives/api_c_adpt/ccu/ccu_launch.cc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普通非批量 Write 分支中，AlgDataTransWrapper 对每个 DataSlice 取 addr + offset 并调用 HcommWriteOnThread。若功能探测支持，具体算法和封装可能用 HcclHcommBatchTransferOnThread 兼容包装提交 HcommBatchTransferOnThread，而非每片一个 Write。同步版还可以融合 Notify。HcommWriteOnThread 的 A5 路径进入 BaseTransportLiteImpl::Write，兼容设备进入 HcclRemoteWrite。本页将两个分支并列显示，不表示都执行。完整同步 API 为 HcommChannelNotifyRecordOnThread、HcommChannelNotifyWaitOnThread。归约 API 增加数据类型和归约操作描述。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hccl/src/ops/op_common/algorithm/template/wrapper/alg_data_trans_wrapper.cc:358-455,629-679,897；hcomm/src/base_comm/primitives/api_c_adpt/aicpu_ts_primitives_c_adpt.cc:495-545,832-907,1006-1080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bcb18f1c0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a8bb3ee84c4362" /><Relationship Type="http://schemas.openxmlformats.org/officeDocument/2006/relationships/slideLayout" Target="/ppt/slideLayouts/slideLayout1.xml" Id="Re2d6621f9d39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6621f9d39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6313981f14715" /><Relationship Type="http://schemas.openxmlformats.org/officeDocument/2006/relationships/notesSlide" Target="/ppt/notesSlides/notesSlide1.xml" Id="R806f6752ec6b4f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3af840e8445f2" /><Relationship Type="http://schemas.openxmlformats.org/officeDocument/2006/relationships/notesSlide" Target="/ppt/notesSlides/notesSlide2.xml" Id="R740012450b86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1c06fa5d44d3b" /><Relationship Type="http://schemas.openxmlformats.org/officeDocument/2006/relationships/notesSlide" Target="/ppt/notesSlides/notesSlide3.xml" Id="R1683877f1acc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c6ac1ab034733" /><Relationship Type="http://schemas.openxmlformats.org/officeDocument/2006/relationships/notesSlide" Target="/ppt/notesSlides/notesSlide4.xml" Id="R6fa4ba3bcb68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e46c57b13493d" /><Relationship Type="http://schemas.openxmlformats.org/officeDocument/2006/relationships/notesSlide" Target="/ppt/notesSlides/notesSlide5.xml" Id="R887e7a90d37c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eab411f9b4e83" /><Relationship Type="http://schemas.openxmlformats.org/officeDocument/2006/relationships/notesSlide" Target="/ppt/notesSlides/notesSlide6.xml" Id="R591fcbff9ce244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4bc62c32a4ea6" /><Relationship Type="http://schemas.openxmlformats.org/officeDocument/2006/relationships/notesSlide" Target="/ppt/notesSlides/notesSlide7.xml" Id="R31befa73d6d04b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8FDC5B7-FCA0-43DF-A11B-DE23795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软件栈与调用边界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CC448-C404-46B3-A5F6-07ADA0B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组织集合算法，HCOMM 提供通信域、资源管理与通信原语；同一算子可选择不同执行引擎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358CA-CC25-4620-AFE9-CC0930F8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D2779-94D4-44A0-BC41-B6523101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71512-3186-4219-8E74-0B99F0B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90575"/>
            <a:ext cx="1165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3545-6225-45A1-A06E-C6DD1F6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01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28A67-B50E-48A1-86F7-4D87D97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191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上层集合通信入口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AA6D8-AE11-419E-BFBB-90A7BCE4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4CFFE-C8B2-4912-8BAA-D749CEF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 / HcclReduceScatter / HcclReduce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4F53D-9AC7-4B0B-85AD-29029D8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全归约 / 归约分发 / 归约到 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B9A7-AAF3-47E3-8FE5-17575980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D6E51-EFAE-4D0C-BA3A-A64D049C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HcclAllGather / HcclBroadcast / HcclScatter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E9BF5-0E61-465E-98D1-2A23E68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收集 / 广播 / 分发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22754-B67B-4783-8A66-4AFA8FC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2A330-0A70-4E3F-ACC6-A1D11A3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HcclAlltoAll[V/VC] / HcclSend / HcclRecv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EC880-B830-4FF2-BDB9-C7EDDE4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全交换 / 点对点；另有 BatchSendRecv、Barrier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CAAD9-084F-46A8-9FAE-DE26F5F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1DAF5-1DF6-432B-9526-0493827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477" y="147732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1772E-A488-42F3-9B77-A47BCFB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62100"/>
            <a:ext cx="116586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F20AC-F96D-4B01-BCC1-45D1973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716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39A7C-CE3C-4134-A597-696D863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906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L1：参数归一化、算法选择、Executor 与 Template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8794C-5F17-41E4-A57E-533B4FBB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FF178-17C0-4A59-A3AF-E236B1E7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InitAndCheck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3F0B3-77C6-483E-9D3A-19A3A0FB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通信域、地址、类型校验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C6A3A-8A12-42F7-B79F-8F4EA7B6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16794-DAC6-4C64-9551-E71BDF0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15553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24105-90FC-4D2D-A137-BFD3564E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2B63F-99BF-40CA-B06B-19024D7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Fill*OpParam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C3C84-2C9F-4528-BC76-583382DB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统一算子描述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CAF763-56EA-46A8-ABB5-4F23C68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7A93B-88C9-4E6D-BF54-96F9E81C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830128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FBF4E3-7876-4151-99AF-C865707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D9C26-BCAE-4F29-9F28-96A82400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13E62C-C422-4F13-B765-F97597E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决定展开配置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822DD4-A65B-4B57-B4DC-6329A20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10C6D8-58DD-4012-AC28-5D02068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144703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79636F-2F1C-4B57-AF10-144A75D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CFA9C-319D-42A3-AA29-07DE486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F5FB5-027B-4135-AD8A-B265EAA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拓扑和算法筛选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4D2471-D353-4AF5-BCCE-68240E7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E9E19A-4168-4AEF-9DEB-EF9FCAF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459278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8F1ABA-5257-49F9-88D0-881C02CE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679382-3E66-4570-92A1-F2A67FA8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535E9E-75DE-432F-AD2A-5A188C61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 Executor、分配资源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1DDAD8-34EC-4D9A-A8CC-0CECAB08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09800"/>
            <a:ext cx="11544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5D6D62-CB88-4DAE-9F97-A6001B4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28850"/>
            <a:ext cx="534962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Executor：CalcAlgHierarchyInfoV2 / CalcRes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D703F6-3478-47F7-8538-F923C64D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671" y="2228850"/>
            <a:ext cx="6070854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计算分层 Rank、Thread、Channel、Mem、Notify 需求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27B895-3372-4C40-B951-50E66F0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05075"/>
            <a:ext cx="11544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4FC853-6F71-4BC5-9DAB-098C853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24125"/>
            <a:ext cx="534962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Template：Orchestrate / AlgDataTransWrapper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415F71-7157-4059-9E4C-1F47AA4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671" y="2524125"/>
            <a:ext cx="6070854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按分片、Peer、偏移、并发线程编排搬运、归约和同步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ADE50A-01B7-479D-89E7-FDF1F63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09875"/>
            <a:ext cx="1154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跨仓 ABI：libhcomm.so + dlsym；HcclChannelAcquire、HcclRankGraphGet* 等 Hccl 前缀接口也由 HCOMM 提供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43DEC3-8BEE-4FF7-8A89-A8D8E02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0C716D-48A0-423B-BC3D-B0AB2267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096477" y="298227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F4AD36-9F4C-4D37-B50C-ED36A8B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67050"/>
            <a:ext cx="116586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7B2F00-1161-43E5-966A-FBD8C398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765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9FB909-2E48-4AA3-B0BA-B220D182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956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L2（HCCM）：通信域管理与公共资源 API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4F83F9-0E57-403D-8023-A941217F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1D6750-99E5-40C9-B8EB-780DB589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2B9EE6-3E98-4015-8A73-811EC8F3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读取通信域配置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BB5542-BEB6-4A73-8BCD-9B674BD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17BBD9-54FD-4091-BE40-AA9F13F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5E5741-CBDA-4326-8E26-AE970925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检查通信域 READY 状态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F16906-83DE-4AC9-B379-2142B47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A4ED57-1914-4484-859F-C0F9331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BBAFB1-4FBB-4A97-9B09-A2169F20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查询层级、Rank、Link、Endpoint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FC083F-6634-4A0A-8DF9-DD5A5B18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5C5DDC-C0B2-452E-B239-AF6FCED9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/ Create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7D485A-0ABD-44A9-A91B-14AF278D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tag / engine 缓存资源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123167-0B33-4D55-B71D-A16546C0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3C356C-26FC-44DE-889B-FEC4F41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 / ExportToCommEngine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D15029-A6EC-43F7-B1BD-B9A06C46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创建线程、建立跨引擎顺序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2D66E1-FE41-43B8-9C93-BE8A051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CD8FF2-71C7-4D43-9C80-35808CF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/ Query / Destroy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7446FB-5777-4485-AFAC-DB6C8DC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申请、查询复用、销毁通道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33C40D-E565-4644-8A2A-27898C77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FA6AC8-536D-4CF3-AF2B-3D17E9A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4B996D-C267-4E36-B499-0C57B25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注册通信内存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F14660-A40D-43BB-A881-C7E84CD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346AF5-7E96-45F0-92AA-941D245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/ ChannelGetHcclBuffer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F2D660-3C91-4953-83E9-2AFA4C1D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获取本端 / 远端 CCL Buffer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AE0ACB-1872-42D4-933C-AB1B196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828EBF-2F2F-4FAB-8AA1-0E22265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HcclCommAddExchangeInfo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D4C9143-AFA9-43FB-8A94-BED0DE1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登记跨 Rank 一致性检查信息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D7E826-74E7-4FFA-A49D-4CD07FC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397DF2-76A3-4991-85CE-CD30C400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6096477" y="429672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05AAE7-172F-45B8-AE98-494D2C7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1500"/>
            <a:ext cx="11658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F03B55-315F-4B5C-B08D-9C33307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910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745659-67BB-43EE-9056-751B93DA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100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 L3：Endpoint / Channel / Thread / CommMem 与执行原语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56FF1E9-0394-4DAC-9A5D-757AAA2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A0AFE1-3FE6-4513-B426-0D3D8518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 → Channel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9CF4DA-6879-4FB3-B6DA-8518864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保存端点对、协议及连接资源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09491C-13BA-49DA-A443-CD163473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2C9903-3F72-46AF-9BEA-BD349157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Read / Write / LocalCopy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ABF681-28B3-44A5-8665-7C61376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远端传输与本地搬运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D8B14BC-43F8-4822-902C-2907BEED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534825-7AAD-40BB-8D12-907E7C2D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ReadReduce / WriteReduce / LocalReduce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56D0AE-6E1C-4446-A806-A2749047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传输融合归约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5C61D1-C873-46B6-9014-21F29D1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6538A9-07B8-4BA1-887F-C92C971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Notify、Fence、Drain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71A703-0BD7-45AC-8A68-CA807E15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同步通知、顺序约束、任务排空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1EF113-5D6F-4E1F-842B-1DC47805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29200"/>
            <a:ext cx="1154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F3EC21-5D2C-4D4E-8A3D-DFF6C79A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48250"/>
            <a:ext cx="37334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底层通道按 engine + protocol 创建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584A69-5BC5-43F9-A8B9-7D2F37CB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469" y="5048250"/>
            <a:ext cx="768705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AicpuTs*Channel / Aiv*Channel / CcuUrmaChannel / HostCpu*Channel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93B55E-02E2-4361-AB5D-FA400865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67350"/>
            <a:ext cx="11658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27CE1B-AC34-4D7B-B336-D584CC8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768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1F0358E-CE25-4E67-B3BE-00CE0CE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959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执行引擎对比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C27832-F52D-4B44-BD68-BCD606EC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3096D19-C103-4224-A938-45927D4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58FEB66-D0D0-40E6-A247-DF02D23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Kernel 展开 Template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Hcomm*OnThread：逐步发出通信任务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AB3C68-4259-459A-8440-7C66A4D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5E5341F-31BA-4B88-A92E-75E1E321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53C1E6-7CF8-4640-9A2A-42E6716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发射 Vector Kernel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设备核使用 HCOMM 准备的通道与映射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B97A9A-BAFF-4FA6-824C-3A1D8C76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64836B-F66E-489B-91D4-DB8F0A3B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BCC6107-4C57-426E-AA1B-B8930732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Kernel、分配 CcuIns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HcommCcuKernelLaunch：提交 Mission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410251-7C54-4748-AEBC-7A98DF8D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F8626D9-4F3D-4FF7-8460-90E1289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基线：hccl 170ddeec539b；hcomm 87ce550f8f7c。分层依据 hccl/docs/zh/architecture/architecture-brief.md 与 hcomm_dlsym/</a:t>
            </a:r>
          </a:p>
        </p:txBody>
      </p:sp>
    </p:spTree>
    <p:extLst>
      <p:ext uri="{BB962C8B-B14F-4D97-AF65-F5344CB8AC3E}">
        <p14:creationId xmlns:p14="http://schemas.microsoft.com/office/powerpoint/2010/main" val="1447239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BF7F1AE-E7A7-4966-8819-BBC7471A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AllReduce：入口、Selector 与 HcclExecOp 的调用关系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6FD5A-7599-4A1D-B287-E644072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主流程自左向右，框内由上向下；缩进表示子调用；有条件退出的路径在下方列出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CD66A-926A-4370-A268-ECD36E9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1DC8D-98E6-40EC-A7CB-3DF3608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9001B-9707-44A1-ADA0-B56D6E4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29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B3E2-D348-4788-A448-CA7B1F1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2B40E-FA79-435E-9835-4EF3B66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入口与参数准备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63BDB-0A57-471D-B63F-8835BD6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7BA87-5026-4D69-89FE-DD7318A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A9FD1-F21B-4620-99B8-4AA1444E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公开入口；GetHcommVersion / IsOutPlaceDevice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0C421-DE65-4686-AA48-6F53EF07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7D308-5D0D-4E77-89C4-40AA1C4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AllReduceInitAndCheck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24FD7-33D4-45D5-8E2B-B19764B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校验参数并生成通信域 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DB47-33D8-4C0A-A62C-156A7938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8FA1A-31EC-421A-92CB-C0B76C0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InitEnvConfig / CheckAllReduceInputPara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27397-458E-4737-A3AF-1FC41642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初始化配置、检查指针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3BA2-EE7F-4D5C-9C1B-507A3B55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71836-C66E-486B-9706-8F9AE5F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HcclGetRankSize / GetRankId / GetCommName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DCCCC-3F99-4496-A5FF-EDAA55A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读取规模、Rank 与通信域名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F5EFB-6461-412E-B400-F9A1694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E3AFE-08C7-4345-98C0-8396731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CheckCount / CheckDataType / CheckReduceOp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2FDA1-765E-4B9E-820A-28905B0B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 count、数据类型与归约操作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7F876-6464-49B9-A785-BCE94CC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51607-BC85-4375-B429-46D5FA8E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AllReduceOutPlaceCommon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C924F-31F1-4617-ADDC-72EBA0F6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单算子与图模式共用的主体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A842F-827A-4786-8797-3BB638E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F85CF-FC70-48D3-B01C-34AF3B5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FillAllReduceOpParam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C7D45-739B-48AE-8692-EC12F5D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填写 buffer、count、opType、opMode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32224-40C7-498D-B712-2AEE29F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7B636-763B-438D-BB1C-D188A68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HcclGetOpExpansionMode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E4D39-7366-4006-B7C6-FEF1104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DecideHcclOpExpansionMode / ApplyOpExpansionMode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04836-A4FA-4F9C-BFC2-5E1CB018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920A45-E5CF-46EC-80FB-42293B6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Selector → HcclExecOp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D77AE-D411-4867-9A95-65721FA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正常多 Rank 路径继续选择与执行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0000B0-9A66-4695-85D6-A3DFB40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800100"/>
            <a:ext cx="37147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BFB49A-32F6-4FAA-BE3D-00FD75A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9625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F52519-6015-40D3-A3CC-8EEA3D5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286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Selector：拓扑与算法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F7C0BC-B226-41C6-9DAD-E6EE7DC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763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27176-3238-4390-B10A-B7E209F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858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9FCE40-0657-4A65-8D0A-FAF201A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接口可用时，要求通信域 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43744C-79C8-47AA-9C48-D7C3BFD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192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FE2E58-7B34-42AE-8A8A-C59FD62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BFF1AC-3FE7-4AC7-BE87-DD23DB91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获取或初始化缓存的 TopoInfo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1CFAA3-E6BB-4D11-8718-695D0B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2D8724-3FCB-485F-B66A-6C0B50E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HcclEngineCtxGet / Create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C8D488-D5A3-463A-8419-8C551DE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复用通信域拓扑上下文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4B0517-D384-457F-BB95-57603E2A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050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B0805F-FBB6-4955-8EE0-7A235CE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InitRankInfo → HcclRankGraphGet*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ECC18-3D6E-47B2-B1DC-F45DFF2E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查询层级、实例、Rank、Link 和 Endpoint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AD6162-69E8-4AE6-99DF-8EC507E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13468B-9741-4761-BA97-2D62653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SelectorEngine::Global()-&gt;Run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90EB4-BE77-445C-819C-1F6818E5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 Selector 启用且支持该算子时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58AEAE-C16C-45E4-A110-E972F7D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7147C9-D5CF-4CC1-BDA3-5CD17D79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或 ExecuteSelector::Run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B87FF0-96DE-4AC4-9A0B-DBC4427E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未启用 / 未支持时走此分支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F9DD5F-8909-4B97-A66A-0050E66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337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552E87-F6F7-443B-B85B-86A233BD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checkValidAlgName / SetCommEngine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8F288D-133B-4D83-AE03-6FFA232E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校验算法名，确定最终 CommEngine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302E96-7CC6-4E06-A82F-A7AFBB5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B1BE3F-20B3-44E8-94EC-63E242DD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LoadAICPUKernel / RegisterKernel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90B47E-0BAA-4138-8DCB-06A7ABC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按选择后的 Engine 加载对应 Kernel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1E199D-505B-4FA0-996A-2548E93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95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196D2D-8A09-4834-86B6-3B294D1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SetOpParamAlgTag / CheckCcuParamAndFallback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0A6874-0362-4A25-BAB1-A7194E1E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生成复用键；按版本执行 CCU 协商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BDE5E2-B1E4-42F3-BE98-1855F1A5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00100"/>
            <a:ext cx="39433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11CEB3-820E-4738-B77B-C88CF3AE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8096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F99CE9-6E34-4109-A42A-C51444DE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8286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HcclExecOp：资源与发射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854771-A88D-40AB-87DC-69D3F241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763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E374A4-223A-494D-A92C-A0184F43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085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HcclEngineCtxGet(fallbackTag)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27E13E-08AA-4A73-804E-3EDA831F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238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命中回退缓存时递归调用已回退算法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CE7CC7-D3C5-459B-BDA8-0B5C3B7B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192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FE085E-2E49-4E05-91A3-0FD58D96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28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CollAlgExecRegistryV2::GetAlgExec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4939B8-FF3C-4DFC-B07B-075211F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81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opType + algName 查找 Executor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A3F7D3-728B-4514-8561-B3B6288A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DFD2E2-589F-4D99-BD22-E6D6019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71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2E26F5-AEEC-444A-A40A-05CBC8D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924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CPU 分支关联用户 stream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749C8C-7FE2-43B3-BEE2-CF2D4C13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49B873-0E10-44AE-8C5C-91CC415E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866505-BD95-407A-8846-CE09FEC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669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导出 CPU_TS / AICPU_TS 线程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C2A29F-8AF9-43C1-AF88-4A4052A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479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4B8A0C-6045-41D8-8746-35C788DC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57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73084A-0C68-47A6-9E43-1BDC92E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09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TryReuseResource，再计算 / 申请资源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82B2738-5667-4813-80C7-1F4EEEE1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908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CE1F3E-F2AE-4D7C-BE75-116935BF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003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CalcAlgHierarchyInfoV2 / CalcRes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E81D37-40BE-4DB2-9340-73EACDD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计算分层拓扑与 AlgResourceRequest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28B47AD-A27A-49A1-8757-B69083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337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F703CF-487F-4937-BD4B-DA03166B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43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GetAlgResWithEngine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3CE2D82-CEEA-4963-96A3-4132789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95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AICPU / AIV / CCU 等分派申请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34BAF59-EC95-4F4D-98A6-CC7DE52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2F8F9FF-EDC5-49AE-A49B-9878C7C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86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HcclDfxRegOpInfoByCommId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BC84A7-8592-40B3-88C5-CA119AA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38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登记运行信息，准备跨线程同步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0F4D52-15A0-47E4-B9C2-7769010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95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F247E9-BF0A-4AFA-8AA4-92BA743C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29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发射，ReportOpProfilingInfo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6D3CEF-7B96-4FDA-BBD6-1A975A0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81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入口或 Executor::Orchestrate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59E1DDB-D43C-4C3E-B1FC-39258B2D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CE76871-B1F6-4F46-9CED-FB5A344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40967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ED2E2C7-6ABC-41EB-B062-2285FDE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D7B8C0-6FB4-45BB-8556-751F811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7897178" y="972027"/>
            <a:ext cx="7524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1F5464-24C6-45D2-8382-9527C9A2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6581775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E2EBE9-7A53-4C0D-B07A-4F0E981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52925"/>
            <a:ext cx="6562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CB367F-EA3A-4979-B996-A57CC4D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71975"/>
            <a:ext cx="6448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入口与执行中的条件退出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4D2D9E-6362-49AF-84BF-97FE3D9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196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50DA7E-531C-4500-8817-8519F62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386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旧版本 / 非 out-place 设备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F02B57-A8B6-4A11-BB5B-9239F17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46386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HcclAllReduceInner，退出新流程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B285009-6343-4844-9221-72E2CFC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053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3823DD0-0CDE-4321-A254-3129DF1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9244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count == 0 / rankSize == 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EC38D5-0313-487A-9DEB-B1E4AC1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49244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直接成功 / SingleRankProc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84F20D-BD79-4A58-A410-8A2CE76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2BABDFC-5DF1-4DD1-9147-EA9CA031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101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9.0.0 + OPBASE + CCU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960A9C5-C2BD-49EE-B76D-5292ED9A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2101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进入兼容的 HcclAllReduceInner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2C8C41-781A-47F9-B211-5286DD49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768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637EB2-E20F-4C8E-9136-220A0F7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959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FastLaunch / AIV 缓存命中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63E4C7-0D44-4A30-95DC-1A3B3ACF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4959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HcclExecOpCcuFastLaunch / CacheCheckAndReplay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DFE597E-9793-45C2-9303-965D36E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626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63154E-C0B7-452C-8971-33625AB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816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HCCL_E_UNAVAIL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C819D7-C8F4-4CB5-BF6B-A9BDF55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7816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FallbackOp，协商后重选 / 重试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8FDE72A-D615-4B98-852B-D1AB8D9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483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18E287-38BF-46FA-8235-D3B38CD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74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算法插件被选中且编译开启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6D84EA-7FB5-4ADF-BA35-F30609B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60674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ExecutePluginAlgorithm，走插件执行入口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2932A0C-42F3-4058-B99A-82AD3D9C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49911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3E2F700-CF21-45A9-A3F1-A993F44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52925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8D65B3A-B508-4FB0-ADA1-54BEBCB0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7197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一次调用需要跟踪的四组字段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E933B17-1ADA-457D-BC9F-54976C2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08CF69-573D-4378-AE1F-34D34947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291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7FB3C44-538A-4124-AB98-A338FA55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inputPtr / outputPtr、count / datatype、reduceType、stream、opMode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B53C11-0C60-415C-ACBE-E55123F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D31D0F0-7C07-4753-8C69-7163F9CE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482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算法选择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145D39B-913D-40F0-A45F-39334AF3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algName、opExecuteConfig、CommEngine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D5C09AF-1B86-4D59-876E-3BBFD73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578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8653C7E-9B52-4585-B4E0-1844506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4673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复用与回退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E5B89E-AF8C-4209-9568-51D9E62D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algTag、fallbackTag、cacheValid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C93F285-6ACA-4E4C-8B81-E011F967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769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BE120D6-72B2-4BE0-A90E-FB5976CB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8864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资源回填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5B25A29-966B-46A4-89A7-2A99317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769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threads、channels[level]、remoteCclMem、Notify 数量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F8568CE-8C35-48EC-9837-655A1D3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F11EE42-FFAF-4E3D-86B6-4360809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源码：all_reduce.cc:23-55,113-137,159-260；op_common.cc:158-223,780-941,1331-1396。本页包含条件分支，非单次执行全覆盖。</a:t>
            </a:r>
          </a:p>
        </p:txBody>
      </p:sp>
    </p:spTree>
    <p:extLst>
      <p:ext uri="{BB962C8B-B14F-4D97-AF65-F5344CB8AC3E}">
        <p14:creationId xmlns:p14="http://schemas.microsoft.com/office/powerpoint/2010/main" val="563376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7ABA24-34BC-478F-8564-D8EB701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展开配置、算法选择和资源复用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09D84-7885-4B27-B19E-159CECD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同一个公开 API 可对应多条执行路径；Engine 决定执行位置，Selector 决定具体算法及其资源请求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8ABCD-7E0A-43EB-B708-7FD8638B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21983-B154-4024-B692-EAC40EA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68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2047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04950"/>
                <a:gridCol w="1143000"/>
                <a:gridCol w="2009775"/>
                <a:gridCol w="3714750"/>
                <a:gridCol w="3286125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展开配置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执行引擎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初始化动作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 / 回退约束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AI_CPU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LoadAICPUKernel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默认兜底路径之一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展开 Hcomm*OnThread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RegisterKernel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 dtype、规模、拓扑等限制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Vector Kernel 使用设备侧资源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AIV_ONLY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RegisterKernel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选不到 AIV 则 HCCL_E_NOT_SUPPORT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禁止回退到非 AIV 引擎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CCU_MS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 CcuIns /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受指令、Buffer 等资源预算限制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 CCU Kernel，提交 Mission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CCU_SCHED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 CcuIns /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可匹配算法与资源规格不同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采用对应调度模型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/ 不支持配置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LoadAICPUKernel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ApplyOpExpansionMode 默认映射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 Selector 仍校验算法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7EDDF-A88B-4189-AD39-26C4D40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43225"/>
            <a:ext cx="58674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EA541-B1A7-4EB4-9973-FC8C7D3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952750"/>
            <a:ext cx="584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06D12-FF40-48C9-AE83-38044BA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71800"/>
            <a:ext cx="5734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 的输入与输出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E83EC-97EE-451C-816D-A6149FC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1945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4417C-F10A-4594-B4C4-07883AD8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3850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D6E6C-F947-4C53-AD0D-AE907BB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23850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层数、MESH_1D / CLOS、2-Die、PCIe 混合组网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913B0-74C8-4FB8-B2BD-011FF0B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33775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A5DF-E63B-4B98-B002-708340F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52825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23D03-CEE3-462D-AA7B-04DF5D6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552825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数、数据量、count、OneShot / TwoShot 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C6C97-DE2C-43B0-9877-1FB86138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4810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AA6C2-EFE4-46F2-BB05-94A631C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6715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D2229-E0F5-4742-A97B-72E3EFE7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86715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datatype、reduceType、Root / Peer、inplace / overlap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0A2CE-B933-4428-9D08-E7550E2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62425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77D87-F63B-4E2F-9FD6-646B322C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81475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D9BF2-E7B7-410D-A971-DC5ABE58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4181475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确定性、保序、Engine 支持、CCU / AIV 资源限制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91ACF-4D1B-449D-9E04-7439CC6D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6C0D8-9F10-49C1-92AE-6EF23618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9580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2611D-1D14-4A55-B669-8D53C08D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449580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+ CommEngine + algTag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4E377-E91B-4782-A719-13CCBEAE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38700"/>
            <a:ext cx="575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真实入口：SelectorEngine::Global()-&gt;Run 或 ExecuteSelector::Run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25D8A-115B-49A7-BAB1-9A0EACB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43225"/>
            <a:ext cx="570547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11D9A-2BDB-4640-9660-2B5CF3E8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5686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4B445-582D-45A1-860E-1861C5A0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557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TryReuseResource：复用的实际条件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250BB-56D6-4271-9B08-77A1FCD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1945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BD0FB-9227-4A13-84DC-2B7B6DDF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BatchSendRecv + OPBASE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25EA8-3047-4D05-8D78-0B40135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23850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增量建链，跳过整包资源复用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22831-86B7-43FE-932A-149C1D5C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33775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C638E-7E99-4FEB-BD4B-127899D1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OPBASE 且非 CCU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D4CD9-11EC-47AD-AB40-847FAD9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552825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不复用这一路算法资源上下文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4BFAB-EA20-426C-B3A4-559B33D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4810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8BB916-71EE-4017-9AD8-28D8F3C3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上下文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E429D-06C1-4F2B-9D09-F36B461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86715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COMM_ENGINE_CPU_TS 查 EngineCtx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2133D6-2D96-4716-9DE2-3E6BF78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62425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5C003-181A-4254-A28F-D18EE9B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81475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CPU / DPU 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3DA2F6-6AED-40F4-A95F-1616343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4181475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COMM_ENGINE_AICPU_TS 查 EngineCtx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C62393-9520-4FAD-8548-26C0C30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E4597B-F4B2-4DB7-A2A8-F715299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其余路径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C15C5D-DDCC-4D64-A4EF-27E737B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449580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algTag + engine 查 HcclEngineCtxGet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C68CA2-E913-4A9E-888B-F133F52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38700"/>
            <a:ext cx="5591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命中：cacheValid = true，返回已保存的资源上下文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90251B-1E61-4C71-B30F-3A0E04E0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48275"/>
            <a:ext cx="11658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292BC8-DF8E-48C8-B640-4AC13089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578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8A9AAB-51DC-4467-AD51-28CB6B79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768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算法名如何对应执行路径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3FFE51-0344-4B52-8909-B91F066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0"/>
            <a:ext cx="3981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AAB4F4-13F4-4E9D-ABA5-BC1C470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53402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AicpuAllReducePipeLineMeshNHR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ECCCC9-9627-417C-A95A-D2593D2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24500"/>
            <a:ext cx="7362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Aicpu：引擎    AllReduce：算子    PipeLine：流水组织    Mesh / NHR：各层算法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33CEF4-7E17-4558-98C0-3B298EC5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34CBC9-81F8-4308-9D0F-495326A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6D1188-3B8D-4B11-A7DE-7CCED2A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/ CcuMS / CcuSched / Dpu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F100CF-F21F-4DD1-A24A-E6E27318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88B942-44B4-4DF0-B3E9-9789BD5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Schedule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181C13-987A-48C3-AF4D-8E858AE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Sole / Sequence / Parallel / PipeLine / Concur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F36A9A-D5D3-480F-90CA-3243B3E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3C6167-B474-413B-9C00-BBAEFB1B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Topology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2CD153-5476-457E-A711-0F4FD3D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Mesh / NHR / MultiLink / MultiJetty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97F40F-AC41-41BC-B151-16FD4D7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218031-70A4-4CA4-A843-7D279BB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Variant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CF69D6-EDCE-4D72-AB65-8F54D5F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OneShot / TwoShot / AicpuReduce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CCC589-D5CB-4CC6-90F1-B1158DE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899D78-6121-43A0-BC0C-087E6B8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源码：op_common.cc:158-223,1331-1396,3418-3565；all_reduce_auto_selector.cc。枚举列省略公共 COMM_ENGINE_ 前缀，备注保留全称。</a:t>
            </a:r>
          </a:p>
        </p:txBody>
      </p:sp>
    </p:spTree>
    <p:extLst>
      <p:ext uri="{BB962C8B-B14F-4D97-AF65-F5344CB8AC3E}">
        <p14:creationId xmlns:p14="http://schemas.microsoft.com/office/powerpoint/2010/main" val="1568845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91ACA71-08A1-4E53-A7FB-8D83CCAA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建链调用树：请求准备、对象创建、连接校验与回填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A8FF0-985E-4684-8AB6-4611C51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V2 / 新建通道路径为主；编号用于定位，缩进表示归属；缓存命中与条件调用不要求每次全部执行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3AEEA-D94C-4D1D-A235-43408C0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D7B78-B252-4268-BFF3-E89285B9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B5A3E-B1DF-46AC-9299-8774A6B3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D28CD-697A-4E26-8B1D-9D0E8061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4716-32C2-4AB1-930B-080ADF9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B7D5A-38BD-43F4-A750-F252A1D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A897-B22D-4C7F-82AA-7F7F94C7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HcclGetChannelImpl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16115-1693-435A-916A-9FB7AD0B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发起资源请求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1551D-81DB-469E-911B-BD8D505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04CED-5F22-4666-850A-837DABCE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 AddExchangeInfo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E35A9-EF51-49AC-B703-1CF5DD4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登记本次算子交换信息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919DE-8C0D-4E46-8DA2-4617A29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4DE63-0CD0-43F3-8726-8EE28E7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 HcclChannelAcquire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43834-9F3B-4284-8C7B-1A8EF164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D1FF5-E683-4FBC-8502-4E03D63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6D881-E22E-46F5-93E9-2200BCD1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   CheckChannelResParams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5285F-7633-4934-B610-0337782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检查资源参数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EC760-3D8C-4478-84F9-5DF9A728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4C9A9-B04E-41B7-B5FC-CBFC2AC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   ProcessHcclResPackReq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3B0AE-447A-4F25-B3C9-B1A8B27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 Channel 合并资源描述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AAE83-C08F-474E-A0E8-2FBB222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DEA43-FC28-4BCF-AB15-6304FB8F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     PrepareV2ChannelAcquire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9367C-FB61-41FB-849A-BDF6EAB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V2 / A5 初始化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008C5-7B06-4203-8709-569F26FD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98971-3673-4A96-960F-37DDD18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   PrepareChannelSymMemHandles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305ED-2D5A-4293-99BF-D8CF6C2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 AICPU / AIV 准备对称内存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C32D5-E8CB-4043-ADDB-F64271B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C12B2-1DC6-4643-B11B-1082264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   MyRank::CreateChannels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902C8-7030-4F6D-8810-03BAEB4D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进入本 Rank 建链主体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3821B-99C1-4852-A307-F036131D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051AB-5F32-416D-B73B-F8A07831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1251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A5293-C42D-4A7A-9B11-4A6E3EF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0A25E-DEAE-47A1-BB1F-F73B292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D2A150-7882-45F3-872E-93BF33C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描述符与 Socket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66420B-AAF4-4A62-A1F3-DACB236E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F7ABBB-FC7F-4F94-AF7E-02013F8E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CheckChannelParam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E77FD-3463-4CC4-A1D8-FC79F51C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 Engine 与通道参数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4C892E-658E-479D-818A-B073F009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7DD381-B163-4D0E-9183-1180F099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ChannelDescHccl2Hcomm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51982E-03D5-44D2-AACA-0BC00E8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描述转 HCOMM 描述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A75FD1-6A65-4AF5-97CB-1F17E47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AE4F17-7526-4106-9D80-D7BC316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ConfigSqDepthByExpansionMode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068068-35DC-4E17-872E-720BDEB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配置发送队列深度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366D32-4AFE-41AD-A9EF-1F242D7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415346-8EFD-4711-B639-5C70BCD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 BatchCreateSockets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480BDD-029E-4D20-8AD6-D092734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先监听，再连接 / 获取 Socket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28E071-4FC6-4AC9-BE47-0431565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71CEF6-55BD-4D05-8E48-26011B8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13   BatchServerInitForChannels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5E2FAD-F21A-406B-8E47-FD49E8CD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服务端初始化与监听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85BB8D-F8DD-4DE7-91E4-827DF64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437F45-789E-49DD-87DA-1F89669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14   BatchGetSocketsForChannels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3CC24E-9DBE-4DD4-95E2-8778E18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白名单、连接和 Socket 复用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42BE20-6293-4110-963E-C5094769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FB8B91-4AFF-4EB6-9B32-F26D2DA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15 BatchCreateChannels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A9D5D2-3044-493D-9202-9612BBEC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逐通道查找 / 创建资源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F7E9B0-CD87-4AE4-950F-0A57C0AF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206575-A84B-4500-891F-0373FF2C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16   EndpointMgr::Get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915281-0295-4025-9F75-AA9CB2D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查找本地 Endpoint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97C2DC-EDD2-4681-8CB8-A07C29E1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19FFFA-49CB-4512-B16B-62A8B25D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60588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ED8483-3E8B-48C1-9275-72D3F57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1B2DA5-B0A4-4853-A14C-8CCA44B7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02E5EF-476E-43BA-B69A-F697AC8F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Endpoint 与 Channel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C618E3-5687-4BE2-B11E-473A954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8C63DA-5F49-4082-A6B6-B803274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17 HcommEndpointStartListen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5C48B7-DDB8-41AB-BBD5-9FDCB6F1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启动端点监听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BB2D87-BB75-4B67-B685-AEF9A34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AACC0A5-EFC3-4CD2-A38A-AF25327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18 PrepareMemHandles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FB89E3-9B82-40C8-A073-5DF21279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转换注册内存句柄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7BDE0E-7E9F-4B6F-AA70-D938EE0C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3C7898-B8BD-4264-B2C8-5036957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19 RankPairMgr::Get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E350C3-93CD-4CE4-B8D4-0EE35A11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RankPair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641E48-D23F-4537-A3EA-7D0336BC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A06166-25FD-4CCA-9BED-F4501C3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 RankPair::GetEndpointPair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43253D4-30DB-4397-B9CD-129E5C5D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/ 复用端点对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1AE47A-83C4-496F-B7FE-8333FC3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9A1007-83DA-4C68-BF6F-09440E2B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21 EndpointPair::CreateChannel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975E54-B237-4EF1-B18F-8812803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命中缓存则复用，否则下钻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89D089-5A58-4CD3-856D-FB7DC46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D11F71-6343-4E7E-B9FD-E7D5BF58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22   HcommCollectiveChannelCreate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488CB8-285C-4425-A4BC-C168605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BD0D380-FABD-41BE-8FDB-FAD0A71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FE15D66-77CE-41E2-9BC6-DAEA8B11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23     NormalizeHcommChannelDescs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E8EB3B-C26E-407E-8602-F697AEF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归一化通道描述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2CE8F14-A203-4C6F-8E54-8961D2B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AAFE5F-EB5C-4046-88DB-648BA62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24     ChannelProcess::CreateChannelsLoop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75F313-B39E-4385-B19D-90AB6F7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逐个创建 Channel 对象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FF855D-2605-4169-8843-46CBBD0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BAD9D3-62A5-4BB0-ABA5-D3F8BD6D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89925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E71DA0-F570-48D7-8F1E-DD762D99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7875050-FB44-41C9-A202-66B203FF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9952CE-75C7-4344-8684-B038309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④ 连接与资源回填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8148F0-768F-48EB-BF14-5DD8DC8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EFC278-712D-4382-8D12-D0F7B939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25 Channel::CreateChannel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E960AB-CDE7-4F99-9664-B41E188B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/ 协议创建实现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069C28-1CB5-4C6E-9E12-8ECAC46D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F55153-5177-4E85-9D54-607C62D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26 BatchConnectChannels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73D50EB-1986-4019-974B-8897DA5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仅有新通道时执行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CFC692-6C12-4821-A6DB-73A7DFC0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298D58-3048-46A9-9049-52E0E647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27   ChannelProcess::ChannelGetStatus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CE15E81-F5EF-4229-A1E3-B6C9C4D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查询连接完成状态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49C0A5-060F-48A4-952A-56E2CE6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FCEE83-E706-4C83-9C60-5A52DFEC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28 BatchExchangeAndCheckConsistency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A42B7F1-2C49-47FC-89DC-CB941FA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DEV_TYPE_950 执行一致性校验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3069385-DF7B-40FC-B2B2-FA5A0C54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1E997DF-EAE2-4DCC-8538-84B7990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29 FinalizeChannelsByEngine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515DB5C-AC5F-473E-81B4-9A287876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整理设备 / Host 句柄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CFD63F-E398-421F-9DDB-3158704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9DA8C16-58D0-4E64-96E5-D48223F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30 ConvertAivChannelHandlesToDevicePtrs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FEC8DAD-16EA-4CE6-8DAE-5A22645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AIV：句柄转换为设备指针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A4E469-AE9F-486D-9504-F6BB8F46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B16EC4-669F-456D-93D0-F6120AE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31 BuildChannelInfo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A8854FA-CCD8-4D92-9869-43CD7497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回到 HCCL，逐通道填写属性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3BF3BC-6252-4520-825B-3324BBE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12EF937-5468-4966-80C3-438D805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32   HcclChannelGetHcclBuffer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253183B-48D3-442E-959C-606E7BE1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取得远端 CCL Buffer 地址 / 大小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FE0C505-1075-4048-A1D5-8D24D2AB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419600"/>
            <a:ext cx="5905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1E276BD-6A40-4FD9-A314-4E353440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429125"/>
            <a:ext cx="588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4D000F4-CC5A-41F3-AEFB-73293D6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48175"/>
            <a:ext cx="5772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复用与异常发生在哪一层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019F401-1306-4507-8AD2-1A923AC9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73B9E91-FF40-4CAF-AB4B-30E4EB34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1487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算法资源缓存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2E866F-FDE2-490F-BD1E-7056B905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471487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 命中时，不再进入完整申请流程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7D51364-9B0B-45A5-9FAD-07DAB56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10150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FFEB61B-511B-4748-9207-6D81520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 缓存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5E13581-016E-47B4-9C59-450CE8C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029200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channelHandles_[engine][reuseIdx]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FDF509C-F07A-4960-883B-4E5D8721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2447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6D756B-522D-4885-856E-E9EDBED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附加注册内存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7E2A98-AFFB-4536-827F-1C2DB26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34352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复用通道时可 HcommChannelUpdateMemInfo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63AD2A6-ED0C-4690-AB38-EAAD995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38800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C331BC-6E6C-4A35-B5D7-F3DD3DE5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57850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连接失败 / CCU 资源不足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AA63739-30C7-4B90-AF6F-57A9796D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657850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HCCL_E_UNAVAIL 返回；必要时回滚新通道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FD98E63-B247-4982-8C7B-31AF70B1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5312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39665F3-381E-4720-BC2A-14AEC24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7217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一致性校验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F28BDD6-8033-4A1D-ABDD-12C4165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97217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用 Socket 交换参数，确保跨 Rank 一致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887456A-C5DD-435D-82E0-7FA4589F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5667375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B2B919-3CAC-4F36-9B71-EE563A3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5648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80B9DE1-E3F9-4541-BB6E-18FDADC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5534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返回到 HCCL 的 ChannelInfo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AF42C52-96A6-4380-93A3-35AA16BE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9582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4D22D5D-3224-4B9D-BE75-9B5B87D0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handle / remoteRank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C7B66D8-878D-4982-9953-CA946EEF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471487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本端通道句柄与对端 Rank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A8C523A-011A-46DC-BB12-4E93416B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10150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72B5CD2-FED4-4C08-A069-E513DA6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protocol / locationType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44F363E-2923-498A-9F2C-65BCCFE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029200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传输协议与远端 Endpoint 位置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17B24CF-D806-4294-92AB-BDFD7A76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2447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8556CA-604C-43E2-8C32-9A069D2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notifyNum / portGroupSize / dieId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7E78F4A-FB0F-4BF2-B0A3-697D715A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34352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同步资源、端口组和 Die 属性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EABCDD0-6FB1-4472-AF9D-1B12C6F3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38800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712D45F-EC24-4D52-BA26-268DDF5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57850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remoteCclMem.addr / size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AE27D19-B729-4464-A9B2-D294277D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657850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远端 CCL Buffer 地址与大小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69D438F-C21E-4C36-96F3-758646D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95312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34B0719-97F8-4693-89CC-F530CB05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7217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OFFLOAD 用户 Buffer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8E5EBFB-9B40-43B3-B1F0-3A504C3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97217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GetGraphModeBuffers 回填注册内存映射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0949C4C-0747-48A4-9A55-36ABE06A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E073E76-3E75-4FF7-AC9D-A8AA3B47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源码：op_common.cc:2020-2091；coll_comm_res_c_adpt.cc:755-858；my_rank.cc:567-613,675-773,1228-1300；endpoint_pair.cc:199-226</a:t>
            </a:r>
          </a:p>
        </p:txBody>
      </p:sp>
    </p:spTree>
    <p:extLst>
      <p:ext uri="{BB962C8B-B14F-4D97-AF65-F5344CB8AC3E}">
        <p14:creationId xmlns:p14="http://schemas.microsoft.com/office/powerpoint/2010/main" val="1276889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EC673-A332-48FF-9916-1079D76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跨算子复用：公共资源层、原语族与算法差异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F87C4-03CB-4B02-8DD7-EBB37DE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表中表示可能使用的能力集合；具体调用取决于选中的算法、执行引擎和拓扑，不代表每次运行全覆盖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772AC-6A73-4E4B-8697-12F5875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ED652-EBB5-4A26-B5B2-0E2B013F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2762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81200"/>
                <a:gridCol w="1219200"/>
                <a:gridCol w="666750"/>
                <a:gridCol w="1133475"/>
                <a:gridCol w="1104900"/>
                <a:gridCol w="5553075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入口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搬运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归约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同步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同步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算法编排上的差异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与 AllGather 的组合或融合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/ 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保留一个分片；V 版本支持变长布局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Root 决定数据收敛方向及相关资源 Tag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定长 / 变长收集；不需要数值归约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 / Scatter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Root 扩散，或按 Rank 切片分发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V / VC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Peer 有独立 count / displacement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 / Recv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Group 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Peer，发送 / 接收方向明确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BatchSendRecv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合并多个 P2P Item，可能增量建链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零字节或无数据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通过同步判断各 Rank 到达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FE28F-79F7-4351-8150-ACE67454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48075"/>
            <a:ext cx="116586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AE32-69D5-4396-852A-48EBFDC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6576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DB018-E933-455D-83E3-F1AFC35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766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公共层的具体 API 与作用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19344-11E4-45BF-A835-54A86EE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24300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42D07-0E73-443C-B030-650D4546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3382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配置与拓扑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BEEA7-C011-4896-B40D-17EF424D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2430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HcclConfigGetInfo；HcclRankGraphGet*；HcclGetRankId / Size / CommName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B53B8-DE8A-4471-A475-DA60432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2430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读取配置、Rank、链路和端点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5C26B-7291-4AC9-8D3B-2299A06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28CD9-A72B-4AA8-9924-BD9B7A21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4815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资源与复用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7B47F-4683-4421-BA92-6FC1FCF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38625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HcclEngineCtx*；HcclThreadAcquire*；HcclChannelAcquire / 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C7F9C-B359-4B5A-8865-5B776FA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缓存上下文，准备线程与通道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4359F-BEBD-4D86-B39C-F4F3B42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52950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3402D-EFE4-4EF3-ADA6-C11C161B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62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内存与缓冲区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9BDC8-A83A-4500-87E1-AEAF27A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5295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HcclCommMemReg；HcclChannelGetRemoteMems；HcclChannelGetHcclBuffer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CA383-32A7-48BC-9DDC-79B6DFA5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529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登记内存，取得远端映射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F60F0-DD95-4F73-9D34-5C6D214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67275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A40AD-55C8-4596-BE7B-5C79F5EE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7680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同步与观测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AAD02-1974-4B41-876C-1FAFCC1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67275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 / Drain；Profiling；DFX Op 注册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A6ECA-CA97-452A-9C92-0851C041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672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同步顺序、排空与异常定位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6FC21-2BEC-4762-B26F-CD7DA247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3525"/>
            <a:ext cx="11658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5A31F-34BE-4F7F-9C64-588E8E7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35305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E28E6-7071-471D-AF88-B2A6B27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37210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AICPU_TS 原语族：相同 API，算法改变其顺序与参数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44B70-B043-42A4-9EE3-5C793B32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B2B3A-70F9-4D69-87BB-441AC20A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搬运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86835-92D7-424A-844E-6FDEB66A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HcommReadOnThread / HcommWriteOnThread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28C45-9D7F-4736-8586-32DAEF13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AA6F3-2D61-4C19-BE52-EE38D0E8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8126EC-D008-4C05-914D-A9150BA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HcommReadReduceOnThread / WriteReduceOnThread</a:t>
            </a:r>
          </a:p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HcommLocalReduceOnThread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DA283-1D54-49ED-ABAE-9EFA24DE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1CE28E-5C46-49AE-A3F9-62A09687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15A2AB-0D46-4114-B1BD-A2747A0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</a:t>
            </a:r>
          </a:p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/ WaitOnThread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712A3-13C4-4AF8-8BDF-E2599D3B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19825"/>
            <a:ext cx="1146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算法可改变：Peer 选择、Channel 选择、src / dst 偏移、数据切片、并发 Thread、Notify 索引与调用先后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48EF76-C4D1-465B-A5A1-7F1F069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61B21-6ED0-42AA-B8FF-F53196B0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依据：各算子 src/ops/&lt;op&gt;/algorithm/template/；公共原语组合：op_common/algorithm/template/wrapper/alg_data_trans_wrapper.cc</a:t>
            </a:r>
          </a:p>
        </p:txBody>
      </p:sp>
    </p:spTree>
    <p:extLst>
      <p:ext uri="{BB962C8B-B14F-4D97-AF65-F5344CB8AC3E}">
        <p14:creationId xmlns:p14="http://schemas.microsoft.com/office/powerpoint/2010/main" val="721878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350E15E-5454-4706-B204-3D40C81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执行引擎：AICPU_TS、AIV、CCU 的资源申请与发射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3DDF-15B8-4039-9E7E-DB21DCF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按最终 CommEngine 进入对应分支；资源申请发生在发射之前，部分资源允许缓存复用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7934-E295-4601-BE8D-8D7680BA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136B1-36B2-40FE-B9EB-58EBC39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1C5DF-9D4C-4645-9FEC-ADE21EF3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19525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05943-B79D-4CF5-990D-0F769220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00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143A-1242-4A90-ADBF-427BFA8C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86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64697-06B5-4A7D-AB8D-8F773E5F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4E618-FC4C-4EF7-BB33-C6B3C863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D30C4-2ABC-48AC-B909-3E2A3E4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954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066F-7708-479C-840C-E97EC35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049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78DEC-7541-4720-977D-AF4B02D8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573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 stream 对应 CPU_TS Thread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7617B-5BC1-4864-A5E0-9FA7CD5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478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B93AB-4B3C-444C-8112-0F9A3939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573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1D86-BCA3-4FD5-866D-A79D9DDF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097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导出到 AICPU_TS，建立跨引擎顺序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FBB7A-8D83-44D8-80BF-19579B7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74301-4211-4740-9399-96E9F06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097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15DBD-1E3B-4A61-A1E8-3E2729D3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621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准备算法资源与序列化上下文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CCB11-6910-4F14-899B-0F7C4CC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526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88B8B-3EBF-45EC-B66B-0B76749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622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 / WithConfig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827AB-B2C0-44B1-A651-4327392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146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分配主 / 从 Thread 与 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DC04-FEBE-438B-A1BD-929BF7E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051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45B80-252C-4758-B7A6-2E3B889A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146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4F3BF-8DDD-4B1B-8D40-0FCF4B8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670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建链、复用并回填 ChannelInfo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C26AB-08FB-4034-9019-EA672297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86100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F0506-8B11-4831-AEAF-BFBAA91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95625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BBC6F-A233-4A7E-807F-344DE0FB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051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7195F-DD58-4B50-81CB-A1A0A41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147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C9749-088B-4D0D-8E84-245B1C67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671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取得主流与展开流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D65FC-92E8-41F9-94CE-F24B029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576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F9043-0AF7-40E3-9F67-8626C90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671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8FD2E-46A5-4B14-ABF7-0EB57A75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195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AICPU 算法入口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7E251-1272-49C5-8E3D-A3F522B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00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41816-5A83-43BC-91DC-B0151B45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195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EC8AD8-6E3D-4341-B438-746CD43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719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通过 Runtime 启动 Kernel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183B9A-7416-457B-AB93-A2A68ED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624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E024DD-48D3-4B55-BCDD-FE23532C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3719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Template::Orchestrate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7563F-D9F2-43CB-810E-95DE9AB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243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内编排通信步骤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65A61-2B52-4423-ADC4-C94B79F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43450"/>
            <a:ext cx="3629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数据面：HcommRead / Write / Reduce*OnThread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同步：Channel / Thread Notify、Fence、Drain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ABF610-5C15-435B-B21A-1FF83F3F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0100"/>
            <a:ext cx="3819525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5B5671-AD5E-4E56-A2EA-D09E7957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809625"/>
            <a:ext cx="3800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C8AC03-C678-43E7-AE78-CA82EDDD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28675"/>
            <a:ext cx="3686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402A06-E451-4EE6-B699-4A270A23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76325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67A67E-938D-4707-AB2F-6BD9576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085850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032B65-DDCD-4673-A61C-395686E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954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5FE643-128F-449C-AAD3-0EB69434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049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8921FD-E0A1-4D5C-9B62-A07D72B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573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汇总 AIV 资源需求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E18C71-F594-4E37-83E9-735F543F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478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8BF81E-673A-45BB-BE23-74E07E8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325D7B-7FC0-40C8-943B-08CC5555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分配算法资源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70658E-50EE-42DB-8F2A-3A5FDAEB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0BA1E5-3B87-4B6D-9407-E353C88B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097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B828DC-94FB-4BF2-961B-C1A21E5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621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注册设备可访问通信内存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26F7BD-2993-4A18-A7F2-CE0BCE6A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85145A-E067-4344-AC1A-A06D288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622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HcclChannelAcquire(AIV)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FBB67F-E2E3-4D50-A03A-7C97435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146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AIV 通道与远端映射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B0C5BD-D170-4820-A793-7E8274C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E30BAD-94E4-4190-BAC9-8F0692B2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570A11-1DF8-4920-9D18-7A702E1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670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把通道句柄转换为设备指针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5EFD58-B8D9-4AEA-9967-72CA896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B0E2E8-659F-4432-A0EE-2AE3CDB6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95625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CBC7ED-CA35-4D84-BED1-7FBBEA3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051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4D7AB5-4F5A-45AB-8CE1-0F5347C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147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HcclAivKernelEntranceLaunch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AE1A05-A1C3-4D59-8570-02B2A5E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671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AIV 执行入口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FC81C8-320E-4F40-966F-3E08E39F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576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8D3D33-D0AA-4C8D-8846-285EA30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671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Template 构造 AivOpArgs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3AF25E-9F07-4AC3-91E4-069D2C9D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填写 buffer、规模、通道等核参数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DE6726-47C2-4BDC-9495-1A9D0735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00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D577C4-CAEC-4D50-8A38-50F5605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195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ExecuteKernelLaunch / LaunchInner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B214A6-24D0-4771-987B-07E8982F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719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组织并发射 Vector Kernel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B76DEE-CB4A-4D1D-80D5-06B3F5A8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EAF4FA-7624-4405-9734-B18A465A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719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58AE3F-9B27-4A6B-BCF3-148D93CF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243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向 Runtime 传入 Host 参数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8E9CAE-F791-49DB-B68E-6C7587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43450"/>
            <a:ext cx="3629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设备核消费 Channel / RemoteMem 通信信息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AIV_ONLY：未选中 AIV 直接返回不支持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680E53-59AC-41B2-8538-ADBF686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800100"/>
            <a:ext cx="3810000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D3EB92-00A6-4FD5-9A6E-B1D26D81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09625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6C776B-2842-489E-A00C-8D5CAB2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828675"/>
            <a:ext cx="3676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C562AB-FDB0-4ED7-A492-56ACB5AB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76325"/>
            <a:ext cx="36957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FB4BD9-9E07-466D-B8BF-78C368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85850"/>
            <a:ext cx="3600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774AF7-AED2-45AF-9AF6-0A315C0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CADC2E-866F-4864-80CE-BC831C53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3049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HcclAllocAlgResourceCcu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3FCC13-20B6-4165-9448-60259C92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4573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CCU 算法资源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D5A93A-C39D-4061-BC8E-405D37D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642850-6869-4A49-A38F-0B882F1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HcommCcuKernelQueryResReq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3E95E7-A2BB-40A1-8424-F6F0847E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0975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Kernel 资源需求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118B6D-C155-4651-84F2-42039F0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8B10E6-DEEC-4455-904E-CF49BD5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0977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HcommCcuQueryRemainResDesc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C33FAA-A451-4A53-AE6D-5F210D3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6217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查询剩余资源预算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E045AB-F03C-4223-A3B9-ECF4904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526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97ABAA-7C51-4F3D-96F8-ABDE04B4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6220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HcommCcuInsCreate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9D75229-762F-45CE-8EA0-C772827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1460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CCU 指令实例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809881-B0A5-4EB1-AA1D-1FDB842D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92B32D-3190-42A8-97E1-22047C0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HcclCommAssignCcuIns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5CF490-892B-4998-A291-F2DA7AEF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670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将 CcuIns 绑定到通信域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FAD5D6-D441-4620-8CC2-8D11157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36957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AF6F092-5015-495A-9C4F-A7130F1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95625"/>
            <a:ext cx="3600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03079A-A773-4FBC-B649-66F3F8F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33CB786-C98A-4B12-B862-15EE27D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470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HcommCcuKernelRegisterStart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8C5160C-953A-448F-9E93-770C65A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6710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开启 Kernel 注册过程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C5BFBD-52F8-4245-9C22-E2331F9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E8D13C3-4857-4AE9-8540-FFA8477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671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CE4050-1926-4740-AE5C-76CBC237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 及资源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B9B89B-9182-457C-8F76-405AD00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002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3FE2394-D741-4CB5-8FD1-4A433977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19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HcommCcuKernelRegisterEnd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EBAE40-F0F0-4580-A33A-949B9A0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结束注册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C80E24-240E-4E9E-BBE3-AC0DD81D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477794-CC8B-4E8E-A490-F1E832B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7197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B76DB8-3030-4962-94A9-28322DFB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2437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 提交 Mission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9A10DC-2175-4A66-9C85-C07CD781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资源：Loop、Buffer、Variable、Address、Event 等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资源不足：跨 Rank 协商后选择回退算法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BE29CCC-D9D4-4E69-B13C-95D9DEC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86400"/>
            <a:ext cx="11658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150F191-0499-4EF3-A318-51D3592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959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A9A511-6248-47ED-BDF5-CC01C5C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149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三条路径共有的资源，不同的资源生命周期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54F59D1-2860-4738-AF65-4FDB891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AAC1D8F-DBF6-4847-8299-4BA63E1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AA7FD7F-A069-434D-AB93-8E09357A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 / 算法资源 / 回退状态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tag + engine 查询缓存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AD37875-7BF9-4395-9D6A-DB5F5902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16E62F-6A10-4580-98EA-8AB4A86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A05D786-83EA-4B4E-BD6E-19F09DA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线程、通道、同步资源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实际请求由 CalcRes 与模板决定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6BA9D4B-3987-44AA-9F4E-259FB78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E9B9688-56FC-4CC7-950D-26B87FA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CommMem / CCL Buffer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A58570-3878-45EA-A28D-5B880729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本端与远端通信内存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图模式另注册用户 Buffer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48F0492-09C3-48BB-8E73-15F89D8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D574DB-0A31-4E02-8661-FCB867CA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运行时日志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4D54924-9150-48BD-BDDA-E6101013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/ engine / algTag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resourceReuse 表示本次是否复用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9A0284D-A1B0-4918-8050-919B949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6CB22A3-C640-4BB7-A242-B3A00C97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源码：op_common.cc:780-941,1521+,1790+,2440-2972；hccl_aiv_utils.cc:1068-1143；ccu_launch.cc:291-335</a:t>
            </a:r>
          </a:p>
        </p:txBody>
      </p:sp>
    </p:spTree>
    <p:extLst>
      <p:ext uri="{BB962C8B-B14F-4D97-AF65-F5344CB8AC3E}">
        <p14:creationId xmlns:p14="http://schemas.microsoft.com/office/powerpoint/2010/main" val="462931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6A1D26-CE47-4AD4-AD7E-9E5077DC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一次 Write 传输：Template 如何调用 HCOMM 并落到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3246D-9869-4AC5-8830-D0D9C039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AICPU_TS 的普通 Write 路径说明；算法控制 Peer、切片和顺序，HCOMM 适配层负责通道与传输实现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E18AE-3BBB-456D-B496-23A3412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7FC66-05E3-4EA1-BB5A-3E57B3E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A60F-5758-4293-8AAA-DC18C010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5734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01A4-BB23-4CBB-86F7-C83D280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93210-A47C-4246-BE16-41A2245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5600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HCCL：算法步骤与参数形成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EA612-F010-4A68-8B62-9CAE4BE7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04352-45EF-4BB9-89A7-B0C3374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具体 Template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6304E-2807-4184-87D3-19CADD08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决定目的 Rank、Channel、分片偏移与执行顺序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5ACC7-D9A8-456B-A5AF-CD17FDF2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954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AC2C2-7EAD-443F-8427-AB71359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49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AlgDataTransWrapper::Tx / TxAsync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8BA49-A82E-41F8-9AEC-0E503909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573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把模板通信动作封装为公共传输逻辑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94900-E90E-406A-B6A1-A05B84C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145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92058-1061-41C7-9B47-2854A94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GetSliceAddr / DataSlice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C3D9D-0ED0-42F2-AA72-579B274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764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addr + offset 形成 src / dst，有效长度为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0FCE5-47E2-46A3-95AD-336085E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336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3C2BD-E474-418C-9898-AB94C16E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431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FECD6-558B-4542-826A-90B30F2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955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传入 thread、channel.handle、dst、src、len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8449A-9C04-4FA6-9A74-58544F1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能力与算法允许时，可改用 BatchTransfer 或融合 Notify 的原语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89B32-19F5-4CC3-8D4F-0382FFF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0100"/>
            <a:ext cx="58293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5B9E0-4154-4500-A25E-3040B7CF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809625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EB02D-A55E-4541-95AE-CD1DC3AE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828675"/>
            <a:ext cx="5695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HCOMM：原语适配与底层实现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7F1F8-801E-4A12-8378-D946962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763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B9E2E-A339-41BB-91A7-6014EBEF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0858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aicpu_ts_primitives_c_adpt.cc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553A7-F136-4702-93E7-1CF6DC9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382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同名 HcommWriteOnThread 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5D09F-AB00-42DB-80AC-53FF5C5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954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4BD57-8837-40A4-804E-346D630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049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A5：BuildLocRmaBufferLite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621E5-1DED-42F2-8E1B-09B51DB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57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构造本地与远端传输 Buffer 描述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A4FE5F-9482-4065-88F0-43F4913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C3BE7-A458-4766-AA3A-8BBDA381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240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32400-666F-45FF-9416-717286DA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76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把请求交给具体 Transport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61D20-9437-4DAF-BD0C-BB0BAC0E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36AF5-0D6B-4752-9063-74F0802A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兼容路径：HcclRemoteWrite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7B038A-D259-4CDE-A15C-CF136E5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95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Stream、Transport 与缓冲区描述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9C8E2-3C7E-4A79-ABFC-4A7A5358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最终协议由 Channel / Endpoint / 设备能力决定：UB、RoCE、HCCS 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6877E0-4880-48B3-9E67-F1938A95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34A28-5D39-4162-BD86-6FC3E39A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001703" y="2000727"/>
            <a:ext cx="7524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D438A"/>
            </a:solidFill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5CDE92-A619-4E83-A0DE-EB15A1A4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165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6954ED-EA78-4516-9FA5-A162FEB2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28975"/>
            <a:ext cx="1156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调用参数逐项对应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mlns:a="http://schemas.openxmlformats.org/drawingml/2006/main" x="266700" y="3467100"/>
          <a:ext xmlns:a="http://schemas.openxmlformats.org/drawingml/2006/main" cx="11658600" cy="1514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66825"/>
                <a:gridCol w="2819400"/>
                <a:gridCol w="3362325"/>
                <a:gridCol w="4210050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中的含义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算法改变什么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算法分配的 ThreadHandle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任务下发与排序的执行线程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是否多流并发、不同阶段使用哪条线程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ChannelInfo.handle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到指定 Peer 的通道与协议资源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 / Link / Channel 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src / dst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DataSlice.addr + offset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本端 / 远端的数据地址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分片偏移、inplace 布局、读写方向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len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DataSlice.size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本次传输字节数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切片大小、流水批次与有效尾片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3652F7-6AD4-4D30-A8FA-CC64FB4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67300"/>
            <a:ext cx="11658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F58918-AD25-4D83-8BB4-D6607AAA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0768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992257-CD21-4E52-A2E1-AF774608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958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同一调用结构中的归约、通知和批处理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7EF936-B44D-44E3-9B45-5936537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2E7442-F912-47E3-BE7D-2B0DD6F2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530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融合归约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8DAB06-617A-4F9E-A929-B669203B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 / HcommReadReduceOnThread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A16384-3634-4C06-B528-961CBE6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435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增加 datatype、reduceOp、count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EE46A1-FBC7-4A5E-81F6-178508C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6737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BCA274-A635-4EB8-B081-D6FA23EB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769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通知同步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26E106-9694-4D2B-91AD-30B83A7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6737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720EAE-ADC8-48C5-9761-C48EDCE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6737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落到 Transport Post / Wait 或兼容实现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4075C0-3AFF-46F5-8788-B0DDAC80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9122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ACE1F0-EA3F-47FF-9E35-5607AB9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00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批量传输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0ECB25-FD47-43D6-A956-52EF4186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9122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HcommBatchTransferOnThread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82A2C1-1F43-4758-A741-527B7098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912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批量提交多个描述，能力可用时使用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536BE5-E9A8-4A05-9E66-9B3596D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442B05-772F-4BB7-9169-8481B3E7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源码：alg_data_trans_wrapper.cc:358-455,629-679,897；aicpu_ts_primitives_c_adpt.cc:495-545,832-907,1006-1080</a:t>
            </a:r>
          </a:p>
        </p:txBody>
      </p:sp>
    </p:spTree>
    <p:extLst>
      <p:ext uri="{BB962C8B-B14F-4D97-AF65-F5344CB8AC3E}">
        <p14:creationId xmlns:p14="http://schemas.microsoft.com/office/powerpoint/2010/main" val="1053776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2026-09-19T09:19:53.5740000Z</dcterms:created>
  <dcterms:modified xsi:type="dcterms:W3CDTF">2026-09-19T09:19:53.5740000Z</dcterms:modified>
</coreProperties>
</file>