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cad39fd291f45b1" /><Relationship Type="http://schemas.openxmlformats.org/officeDocument/2006/relationships/extended-properties" Target="/docProps/app.xml" Id="Rfd29734a4c3e4ec2" /><Relationship Type="http://schemas.openxmlformats.org/officeDocument/2006/relationships/officeDocument" Target="/ppt/presentation.xml" Id="R6f21b094f7f74a9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0d83af37852492b"/>
  </p:sldMasterIdLst>
  <p:notesMasterIdLst>
    <p:notesMasterId xmlns:r="http://schemas.openxmlformats.org/officeDocument/2006/relationships" r:id="Rdfcda8fa35f34723"/>
  </p:notesMasterIdLst>
  <p:sldIdLst>
    <p:sldId xmlns:r="http://schemas.openxmlformats.org/officeDocument/2006/relationships" id="256" r:id="R8c24e8edcf4b4630"/>
    <p:sldId xmlns:r="http://schemas.openxmlformats.org/officeDocument/2006/relationships" id="257" r:id="R0aa2988a905943c9"/>
    <p:sldId xmlns:r="http://schemas.openxmlformats.org/officeDocument/2006/relationships" id="258" r:id="R40e518da6e1d4af8"/>
    <p:sldId xmlns:r="http://schemas.openxmlformats.org/officeDocument/2006/relationships" id="259" r:id="R4f7b78b4c62947a5"/>
    <p:sldId xmlns:r="http://schemas.openxmlformats.org/officeDocument/2006/relationships" id="260" r:id="Rd8fe56214a0d4cd1"/>
    <p:sldId xmlns:r="http://schemas.openxmlformats.org/officeDocument/2006/relationships" id="261" r:id="R08dde998d03945b9"/>
    <p:sldId xmlns:r="http://schemas.openxmlformats.org/officeDocument/2006/relationships" id="262" r:id="R37e438cd6bed41b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fa876356a714356" /><Relationship Type="http://schemas.openxmlformats.org/officeDocument/2006/relationships/slideMaster" Target="/ppt/slideMasters/slideMaster1.xml" Id="R10d83af37852492b" /><Relationship Type="http://schemas.openxmlformats.org/officeDocument/2006/relationships/notesMaster" Target="/ppt/notesMasters/notesMaster1.xml" Id="Rdfcda8fa35f34723" /><Relationship Type="http://schemas.openxmlformats.org/officeDocument/2006/relationships/presProps" Target="/ppt/presProps.xml" Id="R6879d15ee8154f63" /><Relationship Type="http://schemas.openxmlformats.org/officeDocument/2006/relationships/tableStyles" Target="/ppt/tableStyles.xml" Id="R67929226ed8d4052" /><Relationship Type="http://schemas.openxmlformats.org/officeDocument/2006/relationships/slide" Target="/ppt/slides/slide1.xml" Id="R8c24e8edcf4b4630" /><Relationship Type="http://schemas.openxmlformats.org/officeDocument/2006/relationships/slide" Target="/ppt/slides/slide2.xml" Id="R0aa2988a905943c9" /><Relationship Type="http://schemas.openxmlformats.org/officeDocument/2006/relationships/slide" Target="/ppt/slides/slide3.xml" Id="R40e518da6e1d4af8" /><Relationship Type="http://schemas.openxmlformats.org/officeDocument/2006/relationships/slide" Target="/ppt/slides/slide4.xml" Id="R4f7b78b4c62947a5" /><Relationship Type="http://schemas.openxmlformats.org/officeDocument/2006/relationships/slide" Target="/ppt/slides/slide5.xml" Id="Rd8fe56214a0d4cd1" /><Relationship Type="http://schemas.openxmlformats.org/officeDocument/2006/relationships/slide" Target="/ppt/slides/slide6.xml" Id="R08dde998d03945b9" /><Relationship Type="http://schemas.openxmlformats.org/officeDocument/2006/relationships/slide" Target="/ppt/slides/slide7.xml" Id="R37e438cd6bed41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e647d175e3a42e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a3b57c3c3f54e47" /><Relationship Type="http://schemas.openxmlformats.org/officeDocument/2006/relationships/notesMaster" Target="/ppt/notesMasters/notesMaster1.xml" Id="R1a60e2918c6e47e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98d168dae6a40a3" /><Relationship Type="http://schemas.openxmlformats.org/officeDocument/2006/relationships/notesMaster" Target="/ppt/notesMasters/notesMaster1.xml" Id="Ra66a668f7043469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72ed56cc7b04655" /><Relationship Type="http://schemas.openxmlformats.org/officeDocument/2006/relationships/notesMaster" Target="/ppt/notesMasters/notesMaster1.xml" Id="R9ed7d23ad2554e7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3a0824955864e3b" /><Relationship Type="http://schemas.openxmlformats.org/officeDocument/2006/relationships/notesMaster" Target="/ppt/notesMasters/notesMaster1.xml" Id="R57cf5abb7bc549f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5fd5770d3a340cc" /><Relationship Type="http://schemas.openxmlformats.org/officeDocument/2006/relationships/notesMaster" Target="/ppt/notesMasters/notesMaster1.xml" Id="R7f04f592c300497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642c74118be344c4" /><Relationship Type="http://schemas.openxmlformats.org/officeDocument/2006/relationships/notesMaster" Target="/ppt/notesMasters/notesMaster1.xml" Id="R634300d389874736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ca79ac127a848ac" /><Relationship Type="http://schemas.openxmlformats.org/officeDocument/2006/relationships/notesMaster" Target="/ppt/notesMasters/notesMaster1.xml" Id="Raf84c66f2f82491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先看左右两个面，再看 C1–C5 与 D1–D5。用户要求的十类是本汇报采用的功能口径，并不是宣称官方文档原样使用这十个目录。C1 的域资源和 C5 的基础资源可存在调用关系。C2 按主要对象把官方“通信域资源”中的 Buffer / Memory API 抽出。D5 是编程模型维度，与 D1–D4 功能交叉，不能用十类相加计算互斥 API 数量。DFX / Profiling 是横切能力，在备注与报告另列。星号 Wait 的精确符号由能力探测决定，见第 6 页。缩写全称：HcclGroupStart、HcclGroupEnd、HcclGroupStatusGet；HcommAcquireComm、HcommReleaseComm；HcommBatchModeStart、HcommBatchModeEnd；HcommAicpuTsTaskCacheLookup、HcommAicpuTsTaskCacheStart、HcommAicpuTsTaskCacheEnd、HcommAicpuTsTaskCacheExecute、HcommAicpuTsTaskCacheClear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hcomm/docs/zh/api_ref/comm_opdev/README.md</a:t>
            </a:r>
          </a:p>
          <a:p xmlns:a="http://schemas.openxmlformats.org/drawingml/2006/main">
            <a:r>
              <a:t>hcomm/include/hccl/hccl_res.h</a:t>
            </a:r>
          </a:p>
          <a:p xmlns:a="http://schemas.openxmlformats.org/drawingml/2006/main">
            <a:r>
              <a:t>hcomm/include/hcomm_res.h</a:t>
            </a:r>
          </a:p>
          <a:p xmlns:a="http://schemas.openxmlformats.org/drawingml/2006/main">
            <a:r>
              <a:t>hcomm/include/ccu/ccu_primitives.hpp:29–30,127,166,188</a:t>
            </a:r>
          </a:p>
          <a:p xmlns:a="http://schemas.openxmlformats.org/drawingml/2006/main">
            <a:r>
              <a:t>hcomm/src/base_comm/primitives/api_c_adpt/aicpu_ts_primitives_c_adpt.cc:1114–1196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本表给出所选静态路径的控制面可达接口及条件，不是一次实测调用列表。C3 中不同拓扑查询可能选择不同分支；缓存命中会跳过重建。HcclThreadAcquireWithConfig 与 HcclThreadAcquire 是新能力与兼容分支，不能画成前后两步。HcommChannelUpdateMemInfo 在 EndpointPair 复用 Channel 且存在附加内存的分支出现，不是普通路径每次执行。HcommThreadAlloc / HcommThreadAllocWithStream 有保序 / 专用线程分配调用点，普通 L2 ThreadMgr 也可以内部直接 CreateThread → Init。端点查询格使用共同前缀省略：全称为 HcclRankGraphGetEndpointNum、HcclRankGraphGetEndpointDesc、HcclRankGraphGetEndpointInfo。通信域初始化和销毁属于外围生命周期，不列成算子每次调用。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hccl/src/ops/op_common/op_common.cc:780–941,1285–1311,1331–1396,1670–1810,1979–2091,3954</a:t>
            </a:r>
          </a:p>
          <a:p xmlns:a="http://schemas.openxmlformats.org/drawingml/2006/main">
            <a:r>
              <a:t>hccl/src/ops/op_common/topo_info/topo_host.cc:75,138,326,901</a:t>
            </a:r>
          </a:p>
          <a:p xmlns:a="http://schemas.openxmlformats.org/drawingml/2006/main">
            <a:r>
              <a:t>hccl/src/ops/op_common/order_launch.cc:152,229</a:t>
            </a:r>
          </a:p>
          <a:p xmlns:a="http://schemas.openxmlformats.org/drawingml/2006/main">
            <a:r>
              <a:t>hcomm/src/coll_communicator_mgr/resource_mgr/local/my_rank/endpoints/endpoint_mgr.cc:76,138</a:t>
            </a:r>
          </a:p>
          <a:p xmlns:a="http://schemas.openxmlformats.org/drawingml/2006/main">
            <a:r>
              <a:t>hcomm/src/base_comm/resources/endpoint_pairs/endpoint_pair.cc:199–226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阅读顺序是左列、中央列、右列。右列展开中央 HcclAllocAlgResourceAICPU；不是先完成中央所有步骤才独立执行右列。AlltoAllAutoSelector::SelectAicpuAlgo 是 Selector 框架中的可选自动选择分支；框架本身还有显式配置和其它选择路径，不以设备 / 模式唯一推断算法。阈值表达式为 sendCounts[0] × datatypeSize × userRankSize &gt; 150 × 1024 × 1024。两种算法注册到同一模板，但实际多 Channel 数还取决于 CalcRes 与链路资源。HcclMemcpyCtxHostToDevice 是内部函数，实际 HCOMM API 为 HcclEngineCtxCreate 和 HcclEngineCtxCopy。对称内存探测 HcclCommSymWinGet 发生在 9.1+ 等条件满足时，即便探测未命中也可能已经调用。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hccl/src/ops/all_to_all_v/all_to_all_v.cc:23–86,705–830</a:t>
            </a:r>
          </a:p>
          <a:p xmlns:a="http://schemas.openxmlformats.org/drawingml/2006/main">
            <a:r>
              <a:t>hccl/src/ops/all_to_all_v/selector/alltoall_auto_selector.cc:131–179</a:t>
            </a:r>
          </a:p>
          <a:p xmlns:a="http://schemas.openxmlformats.org/drawingml/2006/main">
            <a:r>
              <a:t>hccl/src/ops/all_to_all_v/algorithm/executor/ins_v2_all_to_all_v_sole_executor.cc:562–578</a:t>
            </a:r>
          </a:p>
          <a:p xmlns:a="http://schemas.openxmlformats.org/drawingml/2006/main">
            <a:r>
              <a:t>hccl/src/ops/op_common/op_common.cc:780–941,1364–1422,1670–1810,1979–2091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该页展开 HcclChannelAcquire 的内部路径。列间箭头表示阅读与阶段依赖；中列是 BatchCreateChannels 的子过程，右列先执行 MyRank::CreateChannels 的后续工作，再回到 HCCL BuildChannelInfo。完整 MyRank 主干为参数检查、描述转换、BatchCreateSockets、BatchCreateChannels、BatchConnectChannels、950 BatchExchangeAndCheckConsistency、FinalizeChannelsByEngine。FinalizeChannelsByEngine 对 AICPU / AICPU_TS 使用 ChannelProcess::ChannelKernelLaunchForComm。HcclChannelAcquire 外围还会 FinalizeV2ChannelAcquire。PrepareChannelSymMemHandles 仅相关引擎 / 对称内存条件下需要，本普通未命中例不展开为必调 API。底层状态轮询是类方法，不是同名通用导出 API。普通线程分配也不必经过 HcommThreadAlloc 导出符号。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hcomm/src/coll_communicator_mgr/api_c_adpt/coll_comm_res_c_adpt.cc:755–858</a:t>
            </a:r>
          </a:p>
          <a:p xmlns:a="http://schemas.openxmlformats.org/drawingml/2006/main">
            <a:r>
              <a:t>hcomm/src/coll_communicator_mgr/resource_mgr/local/my_rank/my_rank.cc:238,675,1057,1192,1228–1320</a:t>
            </a:r>
          </a:p>
          <a:p xmlns:a="http://schemas.openxmlformats.org/drawingml/2006/main">
            <a:r>
              <a:t>hcomm/src/coll_communicator_mgr/resource_mgr/local/my_rank/endpoints/endpoint_mgr.cc:76,138–150</a:t>
            </a:r>
          </a:p>
          <a:p xmlns:a="http://schemas.openxmlformats.org/drawingml/2006/main">
            <a:r>
              <a:t>hcomm/src/base_comm/resources/endpoint_pairs/endpoint_pair.cc:199–226</a:t>
            </a:r>
          </a:p>
          <a:p xmlns:a="http://schemas.openxmlformats.org/drawingml/2006/main">
            <a:r>
              <a:t>hcomm/src/base_comm/primitives/api_c_adpt/hcomm_channel_c_adpt.cc:438</a:t>
            </a:r>
          </a:p>
          <a:p xmlns:a="http://schemas.openxmlformats.org/drawingml/2006/main">
            <a:r>
              <a:t>hcomm/src/base_comm/resources/endpoint_pairs/channels/channel.cc:38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Host 和 AICPU 两列的 Record / Wait 通过资源导出的 Thread 句柄建立依赖。Host 入队一个等待不表示 Host 线程阻塞到全体 Rank 通信结束。HcommBatchModeEnd 内部切回 EAGER，LaunchContext::HandleEagerMode 对已记录的线程调用 CommTaskLaunch；BatchModeStart / End 不是每个 Peer 的 BatchTransfer。Kernel 中还存在任务缓存判断、DFX、异常清理；本页展开未重放的路径。PostSyncInterThreads 的源码入队顺序先 main Wait 再 sub Record，但实际执行依赖是 sub Record 满足后 main Wait 才通过；表格显示依赖方向，不伪称源码顺序。完整超时 API 拼写保留 TimeOut。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hccl/src/ops/op_common/op_common.cc:1005–1132,1135–1203</a:t>
            </a:r>
          </a:p>
          <a:p xmlns:a="http://schemas.openxmlformats.org/drawingml/2006/main">
            <a:r>
              <a:t>hccl/src/ops/op_common/algorithm/template/aicpu/kernel_launch.cc:274–319,348–725</a:t>
            </a:r>
          </a:p>
          <a:p xmlns:a="http://schemas.openxmlformats.org/drawingml/2006/main">
            <a:r>
              <a:t>hccl/src/ops/all_to_all_v/algorithm/template/aicpu/ins_temp_all_to_all_v_mesh_1D.cc:217–269</a:t>
            </a:r>
          </a:p>
          <a:p xmlns:a="http://schemas.openxmlformats.org/drawingml/2006/main">
            <a:r>
              <a:t>hccl/src/ops/op_common/algorithm/template/wrapper/alg_data_trans_wrapper.cc:1010–1074</a:t>
            </a:r>
          </a:p>
          <a:p xmlns:a="http://schemas.openxmlformats.org/drawingml/2006/main">
            <a:r>
              <a:t>hcomm/src/base_comm/primitives/launch_context.cc:25–44,134–179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这是 SendRecvWrite 双向非零分支，ACK / DATA_SIGNAL 是语义标签，对应代码 HcclSignal::ACK 与 HcclSignal::DATA_SIGNAL。发送 / 接收 channel 在该模板通常取同一个 Peer 对应 curChannels[channelId]。普通非对称 Write 路径的 txSrcSlices 来自用户输入，txDstSlices 指向远端 CCL Buffer；rx 数据在本地 CCL Buffer，模板 PostCopy 进入用户输出。零方向另有 SendWrite / RecvWrite 分支，所以不能把六步强行应用到所有 AllToAllV 项。DataSlice 可有多个 slice，③可能重复。HCOMM Write API 是提交传输任务，不表示整个 AllToAll 已全局完成。完整 Thread Wait 两个候选符号：HcommThreadNotifyWaitOnThreadWithDefaultTimeout、HcommThreadNotifyWaitOnThread。通道 Wait 两个候选符号：HcommChannelNotifyWaitOnThreadWithDefaultTimeout、HcommChannelNotifyWaitOnThread。API 的能力分支在 HCCL dlsym 包装层处理。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hccl/src/ops/op_common/algorithm/template/wrapper/alg_data_trans_wrapper.cc:25–32,428–464,880–900</a:t>
            </a:r>
          </a:p>
          <a:p xmlns:a="http://schemas.openxmlformats.org/drawingml/2006/main">
            <a:r>
              <a:t>hccl/src/ops/all_to_all_v/algorithm/template/aicpu/ins_temp_all_to_all_v_mesh_1D.cc:327–380,556–590</a:t>
            </a:r>
          </a:p>
          <a:p xmlns:a="http://schemas.openxmlformats.org/drawingml/2006/main">
            <a:r>
              <a:t>hccl/src/common/hcomm_dlsym/hcomm_primitives_dl.cc:176–193</a:t>
            </a:r>
          </a:p>
          <a:p xmlns:a="http://schemas.openxmlformats.org/drawingml/2006/main">
            <a:r>
              <a:t>hcomm/src/base_comm/primitives/api_c_adpt/aicpu_ts_primitives_c_adpt.cc:127,495–545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PCIe 分支在 KernelRun 使用 IsPcieProtocol 设置 isDmaRead_。普通内存 Read 模式先 PreCopy，首轮还会进行额外主从线程同步；后续轮次按分片做前拷贝。SendRecvRead 内部为：HcommChannelNotifyRecordOnThread(sendChannel, ACK)，HcommChannelNotifyWaitOnThread*(recvChannel, ACK)，HcommReadOnThread 从远端 CCL 读到本地输出，HcommChannelNotifyRecordOnThread(recvChannel, DATA_SIGNAL)，HcommChannelNotifyWaitOnThread*(sendChannel, DATA_SIGNAL)。MultiJetty 与 Concurrent 条件属于 MESH_1D_CLOS 分支，不能套到全部 Mesh。任务缓存要求功能开启、DEV_TYPE_950、支持算子与拓扑，排除 MC2、OFFLOAD、ACL graph 和输入输出重叠等；miss 仍展开，hit 用 Execute 跳过 OpOrchestrate。当前 AICPU HcommFenceOnThread 实现返回 HCCL_E_NOT_SUPPORT。最后一列 MemReg 是指不应认为 HcclCommMemReg 在普通 OPBASE 被 HCCL 每次直接调用；底层 HcommMemReg 按需注册 CCL Buffer 已列在第 4 页。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源码定位（仓库根目录：.）</a:t>
            </a:r>
          </a:p>
          <a:p xmlns:a="http://schemas.openxmlformats.org/drawingml/2006/main">
            <a:r>
              <a:t>hccl/src/ops/all_to_all_v/algorithm/template/aicpu/ins_temp_all_to_all_v_mesh_1D.cc:167–192,217–269,327–411</a:t>
            </a:r>
          </a:p>
          <a:p xmlns:a="http://schemas.openxmlformats.org/drawingml/2006/main">
            <a:r>
              <a:t>hccl/src/ops/op_common/algorithm/template/wrapper/alg_data_trans_wrapper.cc:652–689</a:t>
            </a:r>
          </a:p>
          <a:p xmlns:a="http://schemas.openxmlformats.org/drawingml/2006/main">
            <a:r>
              <a:t>hccl/src/ops/all_to_all_v/algorithm/template/aicpu/ins_temp_ubx_all_to_all_v_mesh_1D.cc:327,456</a:t>
            </a:r>
          </a:p>
          <a:p xmlns:a="http://schemas.openxmlformats.org/drawingml/2006/main">
            <a:r>
              <a:t>hccl/src/ops/op_common/algorithm/template/aicpu/kernel_launch.cc:499–595</a:t>
            </a:r>
          </a:p>
          <a:p xmlns:a="http://schemas.openxmlformats.org/drawingml/2006/main">
            <a:r>
              <a:t>hccl/src/ops/op_common/algorithm/template/aicpu/task_cache/aicpu_task_cache_policy.cc:18–110</a:t>
            </a:r>
          </a:p>
          <a:p xmlns:a="http://schemas.openxmlformats.org/drawingml/2006/main">
            <a:r>
              <a:t>hcomm/src/base_comm/primitives/api_c_adpt/aicpu_ts_primitives_c_adpt.cc:1193–1196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完整分类、接口条件及可点击源码链接：./output/HCOMM_API_CLASSIFICATION_AICPU_ALLTOALL.md</a:t>
            </a:r>
          </a:p>
          <a:p xmlns:a="http://schemas.openxmlformats.org/drawingml/2006/main">
            <a:r>
              <a:t>静态源码分析，未上板抓取 trace。范围为 Ascend 950 / AICPU_TS / OPBASE；设备与模式不唯一决定拓扑、协议、算法或缓存状态。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5a069d72af4ed3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9fc6afecad54316" /><Relationship Type="http://schemas.openxmlformats.org/officeDocument/2006/relationships/slideLayout" Target="/ppt/slideLayouts/slideLayout1.xml" Id="R01e38c51430f4c84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1e38c51430f4c84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0132902a06478b" /><Relationship Type="http://schemas.openxmlformats.org/officeDocument/2006/relationships/notesSlide" Target="/ppt/notesSlides/notesSlide1.xml" Id="R5e9ea4d25b264ae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334974d2624ff0" /><Relationship Type="http://schemas.openxmlformats.org/officeDocument/2006/relationships/notesSlide" Target="/ppt/notesSlides/notesSlide2.xml" Id="R19f5a29f232345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02eb50855c4ca4" /><Relationship Type="http://schemas.openxmlformats.org/officeDocument/2006/relationships/notesSlide" Target="/ppt/notesSlides/notesSlide3.xml" Id="R72a8efec63254c0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847bda0a07460d" /><Relationship Type="http://schemas.openxmlformats.org/officeDocument/2006/relationships/notesSlide" Target="/ppt/notesSlides/notesSlide4.xml" Id="R3ba0beb2c6264dd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4dba8193c1d41af" /><Relationship Type="http://schemas.openxmlformats.org/officeDocument/2006/relationships/notesSlide" Target="/ppt/notesSlides/notesSlide5.xml" Id="R59f34839c885468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6dde89932e4f5f" /><Relationship Type="http://schemas.openxmlformats.org/officeDocument/2006/relationships/notesSlide" Target="/ppt/notesSlides/notesSlide6.xml" Id="R7844012056194f3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ae03927b748bb" /><Relationship Type="http://schemas.openxmlformats.org/officeDocument/2006/relationships/notesSlide" Target="/ppt/notesSlides/notesSlide7.xml" Id="R69a192042f4a413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3716867-F13C-4BB8-A2A5-CC622A084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HCOMM 接口分类：控制面准备资源，数据面执行通信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46F93-2416-4578-B287-E4D3DD74A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保留“五类控制面＋五类数据面”的汇报口径；分类按职责，L2 / L3 按实现层次，两者不是一一对应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A417A7B-2482-48E1-8B73-6053E356D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2A085C-CA5A-4DEE-A616-A0887E4A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F20837-7B6F-41B5-8639-FBF27F810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5791200" cy="410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F5A8829-95AF-41A8-897B-75A04ABFF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577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0D78212-9BA6-432B-8A9B-5E5DFBBD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5657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控制面  C1–C5｜域、内存、拓扑、编排、基础资源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121369B-29F2-46EF-A51A-C6FE4AFE9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800100"/>
            <a:ext cx="5791200" cy="410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F56450-F960-463A-B901-BB89E42CB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809625"/>
            <a:ext cx="5772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10A26D2-23C5-4097-BA90-D8C4B9836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828675"/>
            <a:ext cx="5657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数据面  D1–D5｜搬运、计算、同步、执行、CCU DSL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FCF504-0EFD-417D-AABD-C6A8C6288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D092A-BA7B-411D-AC8F-EAD4E22C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C1  通信域资源管理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2C3677F-D73C-4541-B207-B55BFBD1B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954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HcclEngineCtxGet / Create / Copy；HcclChannelAcquire</a:t>
            </a:r>
          </a:p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HcclThreadAcquire*；HcclThreadExportToCommEngine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2F5F54-8208-4D54-AC0A-CF5890B3F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6097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生命周期、配置、域内资源获取与复用；本例使用已存在的 comm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4438DFF-B497-4165-983D-9B62ACA11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81927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9ECC25-66D5-4441-BBDE-D6113FD26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82880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C2  内存管理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75594F5-25A2-4D94-BD44-A3FFB7BE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03835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HcclGetHcclBuffer；HcclChannelGetHcclBuffer</a:t>
            </a:r>
          </a:p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HcommMemReg；HcommChannelGetRemoteMems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4505F2-8192-4AB6-B346-BC5007820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35267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获取 CCL Buffer、注册内存、查询远端地址；区别于搬运用户数据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D07C43-090E-4495-AB91-2F636902A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5622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83659-926F-447A-B3AC-D904B1F9D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5717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C3  拓扑管理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E878956-A935-4407-B598-550172155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7813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HcclGetRankId / HcclGetRankSize；HcclRankGraphGetLayers</a:t>
            </a:r>
          </a:p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HcclRankGraphGetLinks；HcclRankGraphGetEndpointInfo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6AC1569-8537-4E5C-B907-693D88D05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0956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查询成员、拓扑实例、端点和链路；给 Selector / ChannelDesc 提供依据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AB73594-7608-4E26-8CC7-BA22404C4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30517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D7B3DB-C972-4A01-9CE0-35D3C1EB7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31470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 算子编排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E74E8B-8B31-4289-8D8B-690507A01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52425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HcclGroupStart / End / StatusGet；HcclTaskRegister</a:t>
            </a:r>
          </a:p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HcclAicpuKernelLaunch；HcommCcuKernelLaunch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D1FBE8-17BC-4D2A-8577-258A4D45CA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3857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任务分组、注册与发射；API 存在 ≠ 当前 AllToAll 分支调用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D5689-A0AC-474D-9D0C-C5193D6FE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0481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92F38E-DDA1-40F4-BC12-FD34E9A93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576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C5  底层通信资源管理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18A202D-C6C4-4FD8-AF84-75DB05DF7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672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HcommEndpointCreate；HcommEndpointStartListen</a:t>
            </a:r>
          </a:p>
          <a:p xmlns:a="http://schemas.openxmlformats.org/drawingml/2006/main">
            <a:pPr algn="l">
              <a:def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7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HcommCollectiveChannelCreate；HcommThreadAlloc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3CA1BA-79CC-4B71-96EC-BF3244E8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5815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基础端点、通道、线程；本例多由 HCOMM 内部管理器间接触发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90C2BB3-E1D3-42CA-8094-DDD0CF7F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0763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A2C2E8C-0529-44E1-8A1E-FCFE46781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0858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D1  数据搬运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6A30429-2CB6-4C0E-A093-0F5F3F76E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2954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HcommLocalCopyOnThread；HcommWriteOnThread</a:t>
            </a:r>
          </a:p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HcommReadOnThread；HcommBatchTransferOnThread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7A539AD3-C676-44F9-8BCF-94CB6BDB4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6097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传输字节；本例核心为 LocalCopy＋Write，PCIe 分支替换成 Read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7D194A-C4EF-4F45-8389-6FD3D35CE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1927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4CD1F69-C5B8-4019-A0DA-2771D54B1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82880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D2  数据计算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364138-7593-4ED4-987E-2328CA4CD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03835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HcommLocalReduceOnThread；HcommReadReduceOnThread</a:t>
            </a:r>
          </a:p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HcommWriteReduceOnThread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D86D8AA-83BD-4939-BA75-552DDF2D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35267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数值归约，或传输融合归约；本例 AllToAll 不调用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7B071CB-0E11-4D83-964F-3D6D53877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622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31BD946-FAAA-42DE-9EDC-7631FEEC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5717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D3  同步控制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37AD17E-DFBE-4202-827C-335D8212F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27813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HcommChannelNotifyRecordOnThread / WaitOnThread*</a:t>
            </a:r>
          </a:p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 / WaitOnThread*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87F871F-BFFF-49BF-A563-AF46680F6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0956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 间握手、主从线程汇合、Host / Device 就绪与完成通知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456FAE0-92AA-4A02-A592-DE4B4465F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30517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05017CB-8E2E-4657-8432-323A249F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31470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D4  执行控制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AA791ED9-02FA-4043-BD88-354909115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52425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 / ReleaseComm；HcommBatchModeStart / End</a:t>
            </a:r>
          </a:p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HcommAicpuTsTaskCacheLookup / Start / End / Execute / Clear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A1568A-81BB-44B0-BADD-CE72D1FCE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383857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域使用保护、批量提交、任务录制重放；不等于数据搬运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2256848-2A8F-4F05-978A-C0696AC49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56769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386673-EDB6-4F47-9CA4-13B54BC7D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057650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D5  CCU C++ 数据面操作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98CCBFD-659D-4D0B-8997-59E6E91FC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267200"/>
            <a:ext cx="55816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AscendC::ccu::Read / Write / LocalCopy / ReadReduce</a:t>
            </a:r>
          </a:p>
          <a:p xmlns:a="http://schemas.openxmlformats.org/drawingml/2006/main">
            <a:pPr algn="l">
              <a:def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4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Variable / Address；Loop / LoopGroup；CCU_IF / CCU_WHILE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FEE1A6-F74A-4EF2-8E98-14A6B972E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4581525"/>
            <a:ext cx="5581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CCU 编程模型，内部也有搬运 / 计算 / 同步；AICPU_TS 不进入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42FCA53-D0D9-4249-98E5-E46EE767B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981575"/>
            <a:ext cx="11658600" cy="1466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2F50D50-6522-4F17-A4F9-A6D7297F3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99110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FFB6CBC-67C9-49AA-871F-B3E71DBA9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01015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分类边界：以“管理对象 / 执行动作”归类，不凭函数前缀和名称猜测</a:t>
            </a:r>
          </a:p>
        </p:txBody>
      </p:sp>
      <p:graphicFrame>
        <p:nvGraphicFramePr>
          <p:cNvPr id="110" name=""/>
          <p:cNvGraphicFramePr/>
          <p:nvPr/>
        </p:nvGraphicFramePr>
        <p:xfrm>
          <a:off xmlns:a="http://schemas.openxmlformats.org/drawingml/2006/main" x="323850" y="5257800"/>
          <a:ext xmlns:a="http://schemas.openxmlformats.org/drawingml/2006/main" cx="11544300" cy="10953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362325"/>
                <a:gridCol w="2038350"/>
                <a:gridCol w="6143625"/>
              </a:tblGrid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容易混淆的接口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正确归类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判断依据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HcclEngineCtxCopy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通信域资源管理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复制算法资源描述到引擎上下文，不是 AllToAll 的用户 Tensor 搬运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HcommAcquireComm / ReleaseComm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执行控制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保护正在运行的通信域，不是 CommInit / CommDestroy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HcommBatchModeStart / End ≠ BatchTransfer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提交模式 ≠ D1 批量搬运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进入批模式并不意味着调用 HcommBatchTransferOnThread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HcclExecOp / HcclGetOpExpansionMode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 内部函数，不是 HCOMM API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63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另有 Hccl* 导出符号；必须依据实现仓库与实际调用点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EB328F6-0904-4037-BA24-1F57C79AF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9F0D7103-336F-486B-BCA9-08B1317A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分类依据 hcomm/docs/zh/api_ref/comm_opdev/；CCU 命名空间 include/ccu/ccu_primitives.hpp；本页为典型接口族，非全库枚举。</a:t>
            </a:r>
          </a:p>
        </p:txBody>
      </p:sp>
    </p:spTree>
    <p:extLst>
      <p:ext uri="{BB962C8B-B14F-4D97-AF65-F5344CB8AC3E}">
        <p14:creationId xmlns:p14="http://schemas.microsoft.com/office/powerpoint/2010/main" val="18825712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B8B486-2A87-423A-8557-91282FE0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AllToAll 控制面：逐项标出接口、用途与触发条件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952E57-2524-4BD9-96A7-4F9C6FE0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实例：Ascend 950 / AICPU_TS / OPBASE，多 Rank、非零数据；以普通 Mesh 模板为例，缓存与能力分支单列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7DAC50D-D022-43A2-B209-CFBEAAA5E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474DD7B-C6FA-4338-988B-BA1EEBC40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266700" y="800100"/>
          <a:ext xmlns:a="http://schemas.openxmlformats.org/drawingml/2006/main" cx="11658600" cy="50577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428750"/>
                <a:gridCol w="4419600"/>
                <a:gridCol w="3486150"/>
                <a:gridCol w="2324100"/>
              </a:tblGrid>
              <a:tr h="2571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 / 边界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接口（同格同族；不表示全部连续调用）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中文含义 / 产物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触发条件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· HCCL 直调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HcclGetCommName；HcclConfigGetInfo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HcclCommGetStatus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域名、展开配置、READY 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状态 / 配置按接口能力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· HCCL 直调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HcclEngineCtxGet；HcclEngineCtxCreate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HcclEngineCtxCopy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查询 / 缓存拓扑、线程及算法资源；复制至 AICPU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Get 查缓存；Create / Copy 按需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· HCCL 直调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HcclThreadAcquireWithStream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HcclThreadExportToCommEngine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关联用户 stream；导出跨引擎线程句柄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执行入口 / Host–AICPU 同步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· HCCL 直调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HcclThreadAcquireWithConfig 或 HcclThreadAcquire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HcclChannelAcquire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申请主从线程、Notify；获取 Peer 通道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资源缺失时；两种 Thread API 互斥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C1 · 条件调用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HcclCommAddExchangeInfo；HcclCommGetExchangeInfo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HcclDedicatedThreadAcquire；HcclThreadResGetInfo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登记 / 读取一致性信息；保序线程、底层 stream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一致性 / 保序 / 发射各自条件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· HCCL 直调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HcclGetHcclBuffer；HcclChannelGetHcclBuffer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HcclCommSymWinGet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本地 / 远端 CCL Buffer；探测对称窗口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资源构造；9.1+ 可探测对称内存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· HCOMM 内调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HcommMemReg；HcommChannelGetRemoteMems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HcommChannelUpdateMemInfo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注册端点内存；查询远端映射；更新附加内存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注册未命中；更新仅对应复用分支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· HCCL 直调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HcclGetRankSize；HcclGetRankId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HcclRankGraphGetLayers；HcclRankGraphGetLinks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取得规模、本 Rank、网络层、Peer 可用链路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入口与请求构造；拓扑重建按缓存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· 按拓扑查询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HcclRankGraphGetRanksByLayer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HcclRankGraphGetInstSizeListByLayer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层内 Rank 成员；各实例规模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具体拓扑构建分支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· 按拓扑查询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HcclRankGraphGetTopoInstsByLayer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HcclRankGraphGetTopoType；HcclRankGraphGetRanksByTopoInst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枚举实例、拓扑形态及实例成员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具体拓扑构建分支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C3 · HCCL 直调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HcclRankGraphGetEndpointNum / GetEndpointDesc / GetEndpointInfo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枚举端点；回填带宽系数 / Die 等属性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拓扑与 ChannelInfo 构造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C4 · 条件查询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HcclGroupStatusGet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收尾 Profiling 查询 Group 状态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不等于主动 GroupStart / GroupEnd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· HCOMM 内调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HcommEndpointCreate；HcommEndpointStartListen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HcommCollectiveChannelCreate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创建 / 监听端点；创建集合通信通道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 / Channel 缓存未命中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429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C5 · 条件调用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HcommThreadAlloc；HcommThreadAllocWithStream</a:t>
                      </a:r>
                    </a:p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HcommThreadResGetInfo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专用 / 保序线程分配；查询基础线程信息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普通 ThreadAcquire 不保证经过它们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10B8F4-97A1-4F44-88DD-150CC0306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972175"/>
            <a:ext cx="11658600" cy="2190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9AB0AB-67F0-491A-B1AC-E0A0285FD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981700"/>
            <a:ext cx="1156335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82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82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重要边界：资源申请 ≠ 每次物理新建；参数探测 ≠ 命中该优化；函数声明 ≠ 本次已执行。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E4CD95-8245-48A4-BDD7-B1A4FCB3C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" y="6229350"/>
            <a:ext cx="11582400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7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本例主要编排在 HCCL 内部。HcclAicpuKernelLaunch（P2P 专用）、HcclTaskRegister（CPU / DPU）、CCU Kernel API 不在此主链。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56C077-D0AC-4459-AEED-AFF1E0F2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640DA8A-C054-42A1-99E2-3F5B0E32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op_common.cc:780,1285,1364,1670,1744,1979；topo_host.cc / physical_level_build.cc；order_launch.cc；Endpoint / Thread 管理器。</a:t>
            </a:r>
          </a:p>
        </p:txBody>
      </p:sp>
    </p:spTree>
    <p:extLst>
      <p:ext uri="{BB962C8B-B14F-4D97-AF65-F5344CB8AC3E}">
        <p14:creationId xmlns:p14="http://schemas.microsoft.com/office/powerpoint/2010/main" val="3156192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A51CD846-852A-471D-B44A-FF6302EB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从 HcclAlltoAll 到资源上下文：先选择，再申请，最后发射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FC362C-E66A-46D2-9EAD-8F4C4CB2D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列间表示阶段推进；列内缩进表示父子归属。〔内〕= HCCL 内部函数，〔C#〕= HCOMM 控制面 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8EE8137-BBB5-4B4C-B76C-F91DA3D87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FE83272-7E07-403C-993E-DDBA179A1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013CB3-AD1C-4294-AB93-B5F271056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382905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562517F-27A9-45E6-911A-5917CB4D8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3810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4345E9-DE5C-4908-8A38-99AB6F3CB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入口 / Selector：确定算法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12ECBA-89B8-4D87-916F-49DF7EC4E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095147-3BD7-428F-974E-1F594469F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HcclAlltoAll〔HCCL 对外〕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55F43E1-2EC2-467E-9850-455EEA67D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校验输入；非零、多 Rank 进入本例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E0B705-AF85-45E9-99C1-DB3954B59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192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02D5DA-17A5-43C9-A91A-D96362F84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287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HcclGetRankSize / HcclGetRankId〔C3〕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35C8C49-5040-48EA-A476-E11BAE453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81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取得成员规模与本 Rank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6B63F4-9846-4AED-B027-B001CD82B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AEFCDDB-6839-4CCB-86E9-AFAA112C76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771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HcclGetCommName〔C1〕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E2B7D4-B7CD-4DD0-AF25-6997CE5DE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取得域名，构造算子 tag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B8B995B-1312-430F-95B0-9EC673D1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050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58725F-B535-4A58-852B-EB5D343A2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145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ConvertAlltoAllParam〔内〕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A9182DD-0321-42CA-9655-A4B583249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669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等长参数 → counts / displacements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324A7F-7359-49F2-AB3C-2BEFF494F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479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352313-ED32-4FA7-A504-B2C8E0481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57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AlltoAllVOutPlaceCommon〔内〕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4BF7748-CDF1-4D4D-9CBD-229AC6B97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098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opType 仍为 ALLTOALL，不变成 ALLTOALLV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39CA165-399C-443F-B6E8-9B9C1E585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908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620C8E-3B31-41C7-BBFA-F89F26D1B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003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HcclGetOpExpansionMode〔内〕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0E4943E-E2AD-4062-8561-F92E0EA50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527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HcclConfigGetInfo〔C1〕读展开配置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D278343-15C3-4FA1-9B0A-6883AD597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337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2A7145-7358-49AF-B089-6AAFCBAA0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432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AlltoAllVExecDispatch → Selector〔内〕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6F5E4EE-FAE0-4B0E-8CA2-C81301FE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956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查状态〔C1〕；HcclCalcTopoInfo〔内〕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DA63DAC-45CB-49B5-8F4C-3192BBF44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F3B34B9-51EE-4940-97D6-D97317814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  HcclEngineCtxGet〔C1〕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CA2961B-766A-47DE-ABCC-D5A827591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拓扑 miss：RankGraph 查询〔C3〕＋Create〔C1〕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50FD482-C668-4D09-A9DF-3A32C3731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9525"/>
            <a:ext cx="37147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9A736EA-25B7-4434-B7B7-027DBDB7F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290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  SelectAicpuAlgo〔内；相应分支〕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012CE33-354D-40B0-BA5F-70356A6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81450"/>
            <a:ext cx="36195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选择算法名；主例落到普通 Mesh 模板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92BB182-0072-4E64-9846-C2F6C8FAD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6709CF3-D915-4D36-B34B-1C35E002A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47" name=""/>
          <p:cNvCxnSpPr>
            <a:stCxn xmlns:a="http://schemas.openxmlformats.org/drawingml/2006/main" id="35" idx="3"/>
            <a:endCxn xmlns:a="http://schemas.openxmlformats.org/drawingml/2006/main" id="36" idx="1"/>
          </p:cNvCxnSpPr>
          <p:nvPr/>
        </p:nvCxnSpPr>
        <p:spPr>
          <a:xfrm xmlns:a="http://schemas.openxmlformats.org/drawingml/2006/main">
            <a:off x="4096703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tailEnd type="triangle" w="sm" len="sm"/>
          </a:ln>
        </p:spPr>
      </p:cxn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3549790-9409-4C87-B995-7193802CA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1475" y="800100"/>
            <a:ext cx="38100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A645D23-E04F-46DA-B1FA-5D4BAE28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809625"/>
            <a:ext cx="37909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B8F69E0-08C8-4AFD-8C7D-0BF35EF72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828675"/>
            <a:ext cx="36766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② HcclExecOp：获取 / 复用资源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7BC0DFC-8F8E-4D9D-8E66-3356F7A63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0763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C3ED603-0404-420C-BBA1-047641AD2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0858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HcclThreadAcquireWithStream〔C1〕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D996529-FCFE-4CFF-8977-1B5550D74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2382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 stream 关联 CPU_TS Thread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D00E9E7-1024-473F-B230-69ECA1EE9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4192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EF69482-BAE1-4E7E-AABF-0B2BF2501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4287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HcclThreadExportToCommEngine〔C1〕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BC39FF4-5B0F-4330-BAAB-90D48FCBA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5811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CPU_TS → AICPU_TS，供就绪通知使用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6800D13-0D31-48C1-87F5-DE510420C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17621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62A6F071-BEA4-498F-9B9D-3541F09A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7716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HcclGetAlgRes〔内〕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6D2EA57-47D4-463B-BF9F-757A0F537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19240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 TryReuseResource，资源 hit 直接复用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5232BF-C13D-4195-89D3-376A29D19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1050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7450E59-BB3D-4355-A9FB-4D091C1EB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1145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HcclEngineCtxGet〔C1〕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5AB96C00-4699-4D5C-B750-6227601D6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2669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algTag / engine 查询算法资源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6333BAE6-3BF6-4397-83DC-6491CD78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479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689A42B-3033-4F98-9007-E9DE1C17C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574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仅 miss：CalcAlgHierarchyInfoV2〔内〕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6A29EED-499C-4AA4-92EF-B314D132D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098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计算算法层级与 Rank 映射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B12B4E2-F366-4033-A4E0-2E3AEC79C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7908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0469FEB-C3A3-4E9E-9FA2-8CD5B83A3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8003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Executor::CalcRes〔内〕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E8502D39-3715-466E-A187-6CF0D5554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9527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计算 Thread / Channel / Notify 需求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F90FDB0-5664-41FD-B8C5-5EF44926C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1337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F0F4694-E688-4E65-8236-0921892F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1432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GetAlgResWithEngine〔内〕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25051DE-652F-4BBA-9E16-7C89FE037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2956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分派到 AICPU 资源申请分支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45C21846-DB0F-4147-9135-DEE484BB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4766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32268D8D-E575-4278-8EC3-1DC75E9F7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4861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  HcclAllocAlgResourceAICPU〔内〕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11037F-03DC-49E3-B862-DE9AB03F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6385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详见右列：Buffer → Thread → Channel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DEA39D5-48BA-4428-BB38-D742575E6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3819525"/>
            <a:ext cx="3695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3AD2C24-A6E7-481E-80D2-FECD9D71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8290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  HcclMemcpyCtxHostToDevice〔内〕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628CF2AE-202C-4DDA-886C-02822E567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981450"/>
            <a:ext cx="3600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EngineCtxCreate / EngineCtxCopy〔C1〕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0727602-9C3D-40ED-9BF3-DD56D1AC2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914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4CC95CB0-E209-4969-8D61-C68E0C8E7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0" name=""/>
          <p:cNvCxnSpPr>
            <a:stCxn xmlns:a="http://schemas.openxmlformats.org/drawingml/2006/main" id="68" idx="3"/>
            <a:endCxn xmlns:a="http://schemas.openxmlformats.org/drawingml/2006/main" id="69" idx="1"/>
          </p:cNvCxnSpPr>
          <p:nvPr/>
        </p:nvCxnSpPr>
        <p:spPr>
          <a:xfrm xmlns:a="http://schemas.openxmlformats.org/drawingml/2006/main">
            <a:off x="7992428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tailEnd type="triangle" w="sm" len="sm"/>
          </a:ln>
        </p:spPr>
      </p:cxn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9D1B0FE-F49B-470E-AC83-F823BA515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800100"/>
            <a:ext cx="3848100" cy="3486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73DC14AB-4088-43A1-9766-E56CC78DF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809625"/>
            <a:ext cx="38290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8CBC5F8-930A-41C7-8E76-57BB3B48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828675"/>
            <a:ext cx="37147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③ AICPU 资源：填入 AlgResource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283509B-8079-4C9A-973A-2AA9B2B2C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0763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A2088EDF-6577-48A6-9B9F-73AA0BF89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0858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HcclGetHcclBuffer〔C2〕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7A939D5E-EA8F-4FC5-AD3C-7EFD9071F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2382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得到本地 CCL 中转区地址与大小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9BC5EFB6-3601-4E96-9B0F-4E51716E5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4192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638534D1-0765-456A-81FD-9937F78C3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4287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HcclGetThread〔内〕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445B65A4-4599-4C66-A7B1-A189C536F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5811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 / 从 / 展开 Thread 与 Notify 数量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5F28078-12EE-4E32-8698-65827AD4F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17621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2C5ECCA9-7AEE-4E32-9C94-144985C98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7716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HcclThreadAcquireWithConfig〔C1〕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4C96325-8D9C-4043-B0B8-956637871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19240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不支持时改用 HcclThreadAcquire〔C1〕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7D143622-5C92-483D-AA55-43492FAD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1050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D54EC4C6-C8E8-4884-A29E-6387E1D1B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1145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HcclGetChannel → HcclGetChannelImpl〔内〕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5BA1FD9-2863-4AFC-BC4F-FC5ECD3C7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2669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空请求列表跳过；按 Peer / Link 申请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144F832-CA93-4C87-AD16-6BC5F913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4479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C0F05DB3-0F4D-45DA-916F-F69BE74A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4574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HcclCommAddExchangeInfo〔C1·条件〕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AFAE1503-424B-47C2-A770-E1121085D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6098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为建链一致性检查注入算子信息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4E2540C6-4DD5-42F9-BD41-E5DB7B5F6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27908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37935643-5D0E-46FF-8D67-BF6013BB6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003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HcclChannelAcquire〔C1〕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E2EB293C-F9CA-4122-AB80-BCD2213EC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9527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HCOMM；内部展开见下一页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DADF1AFF-AF10-497B-858F-EC0E71D3C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1337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8BB14C8C-3200-40CC-AD55-E7DA11992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1432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BuildChannelInfo〔内〕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E6238BCF-82B3-4CCA-93B5-B0F01AD5E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2956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 HcclRankGraphGetEndpointInfo〔C3〕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B6BA606-42F7-412C-AEE7-20C19A3C3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4766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DDFE4251-971F-4DAC-8D9D-02FEC39E6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4861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HcclChannelGetHcclBuffer〔C2〕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95BA306-22A0-4372-ACEC-1E125D3C3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6385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保存远端 CCL 地址 / size 到 ChannelInfo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82229664-7446-48C1-8D6D-CBFCB0702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819525"/>
            <a:ext cx="37338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52B3ACCF-F949-4DBC-B4C3-C30F54123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290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6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CompareOpExchangeInfos〔内·条件〕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3015ABFE-3E55-407A-8DBC-9E448FEAE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981450"/>
            <a:ext cx="36385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HcclCommGetExchangeInfo〔C1〕核对信息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A754A1AD-6132-47B1-9973-A38A8D94C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362450"/>
            <a:ext cx="11658600" cy="1295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2297210-7791-4532-B738-9621D823F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37197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5E43B115-F21F-4B92-BEA7-764866ECC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39102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算法名与资源变化：不要把“不同算法名”直接等同于“不同 HCOMM API 族”</a:t>
            </a:r>
          </a:p>
        </p:txBody>
      </p:sp>
      <p:graphicFrame>
        <p:nvGraphicFramePr>
          <p:cNvPr id="214" name=""/>
          <p:cNvGraphicFramePr/>
          <p:nvPr/>
        </p:nvGraphicFramePr>
        <p:xfrm>
          <a:off xmlns:a="http://schemas.openxmlformats.org/drawingml/2006/main" x="323850" y="4638675"/>
          <a:ext xmlns:a="http://schemas.openxmlformats.org/drawingml/2006/main" cx="11544300" cy="91440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3657600"/>
                <a:gridCol w="3648075"/>
                <a:gridCol w="4238625"/>
              </a:tblGrid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自动选择器普通 MESH_1D / CLOS 分支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选中算法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Executor / Template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Rank 总发送字节数 ≤ 150 MiB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AicpuAllToAllSoleMeshSingleChannel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同为 InsV2AlltoAllVSoleExecutor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每 Rank 总发送字节数 &gt; 150 MiB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AicpuAllToAllSoleMesh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同为 InsTempAlltoAllVMesh1D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主要差别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 / Thread 数、分片、Notify 组织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85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Read / Write 则由模板的协议判断决定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</a:tbl>
          </a:graphicData>
        </a:graphic>
      </p:graphicFrame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34207D95-D2E9-4020-AF3E-0F5DDFE7E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734050"/>
            <a:ext cx="1165860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3EA94A5-F886-4B17-8289-191192521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743575"/>
            <a:ext cx="115633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5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资源产物 → threads / channels / local CCL / remote CCL / engineCtx → 序列化 → AICPU Kernel 使用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004D2721-9B9D-4730-A483-B274CAC07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067425"/>
            <a:ext cx="115633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随后 HcclAicpuKernelEntranceLaunch〔HCCL 内部〕→ AicpuKernelLaunch → aclrtLaunchKernelWithConfig〔ACL Runtime〕。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91D27F9-1726-413F-8095-6454FA734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267450"/>
            <a:ext cx="1156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条件边界：通信域已建立；对称窗口探测未命中；资源缓存命中会跳过对应申请。上方编号不是全库 API 的统一时序。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C5CB81B-6B67-40B2-BED8-605830913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6CD8686E-4353-41A8-A5BF-EC79BC213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all_to_all_v.cc:23,730,781；alltoall_auto_selector.cc:131；ins_v2_all_to_all_v_sole_executor.cc:562；op_common.cc:780,1364,1670。</a:t>
            </a:r>
          </a:p>
        </p:txBody>
      </p:sp>
    </p:spTree>
    <p:extLst>
      <p:ext uri="{BB962C8B-B14F-4D97-AF65-F5344CB8AC3E}">
        <p14:creationId xmlns:p14="http://schemas.microsoft.com/office/powerpoint/2010/main" val="33828068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EF4FB79-6373-48F3-BBFD-19998BB343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HcclChannelAcquire 下钻：C1 域资源如何落到 C2 / C5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794EF0-AED9-4ABD-941D-9431AE204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普通 AICPU_TS 新通道路径；HCOMM 内部方法以〔内〕标注。依赖阶段有序，缓存分支不重复创建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95466-AEAD-440E-B485-E787534F1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A06A575-6840-4749-9528-CBE012B2C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0074878-67DB-4856-BD7D-BC3FFE3D9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3676650" cy="351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72B012-293A-4C4E-A409-D7272CF2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3657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DCC65C-2193-442B-A1DB-C3D83448F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35433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HCOMM L2：验证请求、准备连接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F5B571-1990-4504-A1B9-60EDEB321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800100"/>
            <a:ext cx="4305300" cy="351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836826-939D-4718-B421-DBB3ED299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8600" y="809625"/>
            <a:ext cx="4286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0E7533-F3EB-4430-9CC6-F67C11BC4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828675"/>
            <a:ext cx="41719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② BatchCreateChannels：逐通道资源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471B4F-033B-4DB7-93D1-D3DBECF2B4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800100"/>
            <a:ext cx="3505200" cy="35147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ED9E9DE-4586-4FBA-A79D-BD4F32C7D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809625"/>
            <a:ext cx="3486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B19DD45-BD89-473A-B1A7-DE787BC5A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828675"/>
            <a:ext cx="33718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③ 连接完成，再回填 HCCL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1BFF00-19A3-4022-BB7D-E6F9C8A62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927BD-44E9-473B-944B-32C30B78B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HcclChannelAcquire〔C1 / L2〕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236D7D7-1101-49E6-AC23-B32696A8A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输入 comm、engine、ChannelDesc → handles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1A3A57-81AA-49A3-89B7-B24415F59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192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2B1B25-ED75-4270-A740-65F06C656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287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CheckChannelResParams〔内〕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2E315D-3FD2-4F36-95CB-B992AFE73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811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校验请求资源参数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F6B677-4C49-4CC5-9F91-223884A3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84F7AF-E84B-4223-8C5A-DD21F7EFB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7716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ProcessHcclResPackReq〔内〕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34644F-4427-403E-BC45-40A03EF0B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合并每个通道的资源描述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729373-87C1-4BE4-B99E-BC10B5F0E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050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5348C88-029D-4B81-BBF0-F85B153DAD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145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PrepareV2ChannelAcquire〔内〕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D24B9B0-812F-49BE-BF21-76900494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669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初始化 V2 建链所需状态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6078E93-DFE2-4270-9C63-245C33824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479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407CF0C-C544-417A-89AA-A4C8CAD6E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574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MyRank::CreateChannels〔内〕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B1AEB85-440A-4F20-A733-F191BD3E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098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组织下方的描述、Socket、通道与连接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F3CBFF-1C69-41C2-BFAA-F8F620381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908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3E2D12C-279A-416F-A1D8-9427D2A54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003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ChannelDescHccl2Hcomm〔内〕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0C408C1-754B-42AF-B46A-BAFC39BD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527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转换描述符，确定协议 / 端点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690AA15-B14D-44E4-BDE3-F82184CC0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337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1786CEC-FE37-4D3C-BFD5-CD3D9ED6C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432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BatchCreateSockets〔内〕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4E1B97F-2B35-43B0-A75D-5974EF4B2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956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先服务端监听，再连接 / 复用 Socket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610C52B-05A0-47A9-8AAB-4352860A2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BAE8FA1-F0BF-4DF1-A923-EB0B45E89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BatchCreateChannels〔内〕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E1835AE-AB56-47DF-8668-3540EC9A9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进入中列逐通道循环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E0F7A9B-3B1F-49BD-87B6-7A0FCFF87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19525"/>
            <a:ext cx="3562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2C89191-75E6-4E06-A63C-6147A7960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8290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BatchConnectChannels〔内〕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70A2893-0589-42C3-8052-520E04E4C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81450"/>
            <a:ext cx="34671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中列资源返回后，进入右列连接阶段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406C5529-05FE-47B3-AD5B-BCFBACB6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0763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FC190A7-63A6-45C3-B826-FCF086A54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0858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EndpointMgr::Get〔内〕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AFF8620-0D02-485E-A8AA-7A69C2062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2382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查本地端点缓存；缺失才创建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481D10A-07B2-42AA-8137-F4C5F32C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4192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41319FC-5341-42EF-AC2F-9337E05A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4287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HcommEndpointCreate〔C5〕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10FC6734-C2F3-4E5F-B0C8-34480CEF7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581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创建 Endpoint；缓存命中不调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492EEDB-3961-4554-A03D-A0142E133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7621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F249549-8AAD-4C6F-A95B-0C9E43FE3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7716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HcommEndpointStartListen〔C5〕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342493F-C4BA-4077-AFAB-2EA26BE46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1924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为端点启动监听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AC7AFFF-F074-4737-89CE-57C218EDD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1050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7C12DC9-23DB-4201-8793-C42103ED1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1145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PrepareMemHandles〔内〕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1FA0FF12-2694-44B5-B2E0-EAEA04408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2669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准备 tag 对应的通信内存句柄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2B73EDB-601D-42F0-AA30-B838A53F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4479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844033E-23E9-4518-823A-307AD7C5C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4574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RegisterCommMemsToEndpoint〔内〕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81A10AFE-9BD2-45AA-A734-C56C6EB4F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6098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→ HcommMemReg〔C2〕；注册命中则复用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AD45C2E6-434F-4F84-A26A-58F864DB6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7908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FAF9F4B-F89F-45D8-A60B-893D571E8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8003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RankPairMgr::Get → GetEndpointPair〔内〕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BE92E464-8C03-4B99-9D2F-34CAF44E6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29527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定位本 / 远端的 EndpointPair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B8E6417-F9AB-4BCE-9DCD-DE0F2CBDF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1337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5E835A3F-B78C-4BC1-BF96-CE57DFDAF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1432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EndpointPair::CreateChannel〔内〕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F11E5E0-5631-40BC-804C-1CCB22109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956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engine / reuseIdx 查通道缓存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EB5980A8-4D97-4D9F-AA2B-3386E3BAB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766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542A97F-B555-4FF2-B33F-A0189A9E1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4861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HcommCollectiveChannelCreate〔C5〕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EAF234-C578-418E-86F8-427F59CD7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6385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仅缺失：Normalize → CreateChannelsLoop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4156A029-3F06-45A4-8AE5-ACA520B12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819525"/>
            <a:ext cx="41910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08ACA476-7542-442D-88CE-31DAE1A94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290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00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Channel::CreateChannel〔内〕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D7FDB150-7517-4BB6-9FFE-6D28DD203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981450"/>
            <a:ext cx="4095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 AICPU_TS＋protocol 构造具体通道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65F81C58-62BB-41CF-BD0F-8C4DC3E0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0763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983855AD-15D1-4760-A52B-F0F7CE6CF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0858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BatchConnectChannels〔内〕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35AFAE49-12A9-43B5-97E6-F0DB13CC1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2382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针对新通道进行连接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C923967-C2BB-4FA0-A9A1-565393476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4192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240EB994-F86F-41DA-A094-3432E5204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4287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ChannelProcess::ChannelGetStatus〔内〕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005A9530-3926-4B14-AA2F-750ADFE87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5811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轮询状态；不是 HcommChannelGetStatus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5182B82D-A9E6-4E51-AFF9-732A93D02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621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6B01F9CD-F3AA-4873-90BA-AB25AD46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716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BatchExchangeAndCheckConsistency〔内〕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41945BE2-12E8-4C83-BD63-CF008868AD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9240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950：交换并验证跨 Rank 参数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3A33A9AA-73E4-473C-997D-24782EBF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050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9954F77D-9452-49DE-8952-11C723567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145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FinalizeChannelsByEngine〔内〕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3297993-4B5F-4F57-BFFD-57AC6952D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2669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 侧资源准备，返回设备通道句柄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BA75E78-BCF0-42E4-94A5-B9C53CD9A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479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129E5821-9A00-49C5-994C-12E7D475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4574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回到 HCCL：BuildChannelInfo〔内〕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00BE9D9C-1862-4DC2-BB29-E9D1FE92A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6098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下面才是构造算法可用 ChannelInfo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B24C8B4-C23E-42EE-8C2A-66023AC6E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7908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9E4042C-311A-4EB3-B051-9A5239095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8003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HcclRankGraphGetEndpointInfo〔C3〕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7227AF51-E9B2-45AF-A87D-4B0BE3725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9527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取得带宽系数、Die 等端点属性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367209CA-8892-47D1-B809-E74122EC8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1337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305B6A49-BF66-4367-9783-E5CC7BFAE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1432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HcclChannelGetHcclBuffer〔C2〕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4FC65291-1753-41A6-89FF-BACD1F851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2956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查询 Peer CCL Buffer 地址 / size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E730D7A4-4DB2-4040-9167-6572700AE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766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8A6654CC-BD86-47B1-8A36-E831A131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4861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HcommChannelGetRemoteMems〔C2〕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1F4433F6-E59E-4999-B69E-4245E4B7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6385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读取远端注册内存映射，并非搬运数据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FA84F1BF-1886-4CE4-B732-F84C0A082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819525"/>
            <a:ext cx="33909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EF7F5F70-B0AC-424F-9784-3E738BFD5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8290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21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ChannelInfo 回填〔HCCL 内部〕</a:t>
            </a:r>
          </a:p>
        </p:txBody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2309C145-966A-45DC-B70A-33A4A111E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3981450"/>
            <a:ext cx="3295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handle / rank / protocol / remoteCclMem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2396D4DB-E3A0-4252-B74A-9F5FCECB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90733A0B-D4E8-4524-AB47-C02534AAB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00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2" name=""/>
          <p:cNvCxnSpPr>
            <a:stCxn xmlns:a="http://schemas.openxmlformats.org/drawingml/2006/main" id="95" idx="3"/>
            <a:endCxn xmlns:a="http://schemas.openxmlformats.org/drawingml/2006/main" id="96" idx="1"/>
          </p:cNvCxnSpPr>
          <p:nvPr/>
        </p:nvCxnSpPr>
        <p:spPr>
          <a:xfrm xmlns:a="http://schemas.openxmlformats.org/drawingml/2006/main">
            <a:off x="3944303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tailEnd type="triangle" w="sm" len="sm"/>
          </a:ln>
        </p:spPr>
      </p:cxn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AFE3A73-D0CC-4C7C-93AB-E3B5388D5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E769442-56EE-420F-8D18-E31E8F067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205" name=""/>
          <p:cNvCxnSpPr>
            <a:stCxn xmlns:a="http://schemas.openxmlformats.org/drawingml/2006/main" id="98" idx="3"/>
            <a:endCxn xmlns:a="http://schemas.openxmlformats.org/drawingml/2006/main" id="99" idx="1"/>
          </p:cNvCxnSpPr>
          <p:nvPr/>
        </p:nvCxnSpPr>
        <p:spPr>
          <a:xfrm xmlns:a="http://schemas.openxmlformats.org/drawingml/2006/main">
            <a:off x="8335328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graphicFrame>
        <p:nvGraphicFramePr>
          <p:cNvPr id="206" name=""/>
          <p:cNvGraphicFramePr/>
          <p:nvPr/>
        </p:nvGraphicFramePr>
        <p:xfrm>
          <a:off xmlns:a="http://schemas.openxmlformats.org/drawingml/2006/main" x="266700" y="4400550"/>
          <a:ext xmlns:a="http://schemas.openxmlformats.org/drawingml/2006/main" cx="11658600" cy="15906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533650"/>
                <a:gridCol w="3457575"/>
                <a:gridCol w="5667375"/>
              </a:tblGrid>
              <a:tr h="2571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缓存 / 条件所在层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命中 / 条件成立时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 API 调用集合的影响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 算法资源缓存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TryReuseResource 返回已有算法上下文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可整体跳过本页建链；不是每次 AllToAll 都走此页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Endpoint / Mem / Channel 局部缓存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分别复用端点、注册句柄、通道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HcommEndpointCreate / HcommMemReg / HcommCollectiveChannelCreate 分别可跳过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Channel 复用且有附加注册内存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HcommChannelUpdateMemInfo〔C2〕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只在对应更新分支出现，不能列成每次必调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333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AICPU 协议选择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PCIE、ROCE、UB_CTP / UBC_TP、UB_RTP 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资源管理入口可相同，具体 Channel / Transport 实现不同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04033F49-83F2-426D-83A1-A66D8C84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076950"/>
            <a:ext cx="11658600" cy="352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719FC2E4-DAEA-4B55-8770-D279B013F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086475"/>
            <a:ext cx="115633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2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同名近似不能替代真实调用：CollectiveChannelCreate ≠ ChannelCreate；内部 ChannelGetStatus ≠ 导出 HcommChannelGetStatus。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9C127FB4-2EFC-4F94-912E-5C2CAE7E4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5C72D54-96B5-4DB1-B1C1-01D5B7BB6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coll_comm_res_c_adpt.cc:755；my_rank.cc:675,1192,1228,1303；endpoint_mgr.cc:76,138；endpoint_pair.cc:199；channel.cc:38。</a:t>
            </a:r>
          </a:p>
        </p:txBody>
      </p:sp>
    </p:spTree>
    <p:extLst>
      <p:ext uri="{BB962C8B-B14F-4D97-AF65-F5344CB8AC3E}">
        <p14:creationId xmlns:p14="http://schemas.microsoft.com/office/powerpoint/2010/main" val="76420872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2C4A5DC6-7C0A-4DD5-B9A3-B3C502532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AICPU 执行期：D4 管提交，D3 管依赖，D1 搬数据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D72675-BE98-4626-BF57-818ED0538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主例：Task Cache 未重放；从 Host 发射到 AICPU 展开。箭头表示调用 / 就绪依赖，不代表 Host 同步等待全网完成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58B28B-AE60-47B1-866F-C5210A3FF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8AD835-FF3A-4579-A72F-174A04D3C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291AA4-B126-4003-BA00-C43564F4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36385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25B9A0-5A70-4728-A2C8-178327920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809625"/>
            <a:ext cx="3619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48A36-1C2B-4979-A92F-624E494D0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828675"/>
            <a:ext cx="35052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① Host：准备就绪并发射 Kernel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F06F73-F8C7-42DF-9FBE-B88DDA5B4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0975" y="800100"/>
            <a:ext cx="39433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94C41C-F257-4C05-98F4-59492FE67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809625"/>
            <a:ext cx="39243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57D94C-70C2-472D-AAF6-C753145C6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828675"/>
            <a:ext cx="3810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② AICPU Kernel：运行生命周期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FC1A97-8619-4736-8EFC-24C0805D4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800100"/>
            <a:ext cx="3905250" cy="3209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D438A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43D52EC-29EB-4BEC-B853-8A2556A7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9575" y="809625"/>
            <a:ext cx="38862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821D81-3854-4AFA-84DD-FB78506FA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828675"/>
            <a:ext cx="37719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2D438A"/>
                </a:solidFill>
                <a:latin typeface="PingFang SC"/>
                <a:ea typeface="PingFang SC"/>
                <a:cs typeface="PingFang SC"/>
              </a:rPr>
              <a:t>③ OpOrchestrate：展开集合算法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5152EC-E2E5-4BDF-8458-CFD5363C9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0763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F424B4-6613-4BF5-B3A5-2C4090E28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0858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HcclAicpuKernelEntranceLaunch〔内〕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EAF981F-79A7-4425-BCE3-A3B1508C6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2382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的 AICPU 执行入口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1EA4205-5E8E-4EC9-8AEA-53D6E5EF7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4192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2722460-BD7F-4A0E-864E-16F384D99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4287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HcommThreadNotifyRecordOnThread〔D3〕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0602C3A-59E9-4271-8381-F1F0A140D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581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用户流发出数据就绪通知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7EDE74C-986B-45CB-A7BF-F8782CF7E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17621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C33BDE3-B533-469C-B46D-0407048B6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7716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HcclOrderLaunchToOrderStream〔内·条件〕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9530FF-5E5D-4B87-9962-A733D84EB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19240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保序 Thread〔C1〕＋Notify〔D3〕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371D88-7AAD-4BE7-8F4D-B645E169C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1050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426AFDD-7D0D-4065-9F6B-D628970E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1145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AicpuKernelLaunch〔内〕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284B42-B944-4D9A-A369-CD3E5C704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2669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 stream，构造 Kernel 入参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F95818-D58E-49A7-ACDA-DC2BC998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4479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DB56EB4-6DEF-4C3C-B259-D83E6EAD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4574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aclrtLaunchKernelWithConfig〔ACL〕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601E66E-59B0-4BE9-A73F-DDFDBB6F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6098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Runtime 发射；不是 HCOMM C4 API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6A616A-1754-4B58-BA33-AFDD61E59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27908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D0EF6D7-87D1-4D84-96F8-DC4FBB666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8003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HcclOrderLaunchToKernelStream〔内·条件〕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5720AE4-3A87-403F-93A6-7BF4389DB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29527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保序线程与 Kernel stream 的依赖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6A4B3EE-49A2-46E5-9E6F-74D5409F90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1337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A1E4431-3910-49B8-A8B0-AA9D4D2AA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1432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HcommSetNotifyWaitTimeOut〔D3·条件〕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C17A376-E06A-49B3-81AA-9EF797DE5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2956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配置默认 Notify 等待超时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3F46848-C042-4302-A11F-40382F740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476625"/>
            <a:ext cx="3524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9EED5AE-9EFC-4309-B422-572E6CB4F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4861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HcommThreadNotifyWaitOnThread*〔D3〕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E97177A-6111-496B-8388-250CD8712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638550"/>
            <a:ext cx="3429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用户流排入完成等待，不阻塞整个 Host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0EFF45C-7B08-4B5B-B22B-769D3669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0763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0C85D3D-ECEB-4BCC-8508-D2FE870C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0858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HcclLaunchAicpuKernel〔HCCL 内〕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2839CB4-3C72-4610-B55D-C948D0876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2382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入口；反序列化资源与 counts 向量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C926D15-5E7B-4AD0-A9F9-9B824B09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4192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E9C97A2-AE53-4885-A94A-A99CCE289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4287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HcommAcquireComm〔D4〕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D7F92AF-CDBF-491A-BDA8-468F2B5B5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5811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取得正在运行的通信域使用保护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C0F34DC-1A7F-43CB-A7CD-AD810D575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17621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6B1509D1-DF5C-4AA2-94F0-8A91451DD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716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HcommBatchModeStart〔D4〕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ADCFC36-98CA-4E60-9E11-0D3D3AF62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240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进入批量任务提交模式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941FD68A-22BF-438E-B3B8-385A1D0F0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1050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4D95928-FAC0-4B7F-9097-EAB3CDDFC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1145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OpOrchestrate〔HCCL 内〕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F86673B-5046-4084-BC4C-8A4E183C0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669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缓存关闭 / miss 才逐条展开 → 右列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2882565-B3BC-4FFB-AF97-0EE75DF26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4479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60C7E19-7589-4385-A2AB-71D1E4A5E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574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HcommThreadNotifyRecordOnThread〔D3〕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727F7985-DAE2-4157-B093-6258E9E47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6098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安排完成通知，供用户 stream 等待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75F698B-6561-49C2-A288-31B3EFF2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27908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284522B-F5BF-4ED8-9600-CE1660027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8003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HcommBatchModeEnd〔D4〕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477A3F3-D691-4312-A656-06E8BC61F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9527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结束批模式，提交已登记线程中的任务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13558A8-D189-4314-8D83-662F55F7C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1337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0135FCAF-2F75-4370-9F75-B77F8CDB1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1432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HcommReleaseComm〔D4〕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CD435CD-87CB-4523-81BE-750C0A24E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2956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释放本次运行的通信域使用保护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5550602F-7834-4F3F-B5B7-52334CAE4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476625"/>
            <a:ext cx="38290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D40E8714-FB8A-4416-8FC1-2E694EF5A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4861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DFX / Profiling〔横切能力〕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DAB03E02-61A6-4167-AFF4-E0BDCA1C1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638550"/>
            <a:ext cx="37338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Kernel 开始 / 结束与 DeviceOp 观测上报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2B25870E-65CD-4CC0-9525-D4DD98BF4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0763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6B0369C-B08B-401B-BA33-60ACA885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0858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HcommThreadResAcquireTimeOut〔D4〕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08BF45ED-7C30-40EC-85F1-FD897B163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2382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能力支持时设置资源等待超时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02546129-8639-4154-9AE6-268C7DFE2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4192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89A11EF4-BD2F-4C40-904E-2C61DB266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4287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HcommSetNotifyWaitTimeOut〔D3〕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3E9D55E0-7455-4755-8314-4008CF287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5811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能力支持时设置默认 Notify 超时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90D98A37-6DC4-4721-AED9-C62B6206D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621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FB2FB9ED-EAEA-4923-A55F-0FFB624EC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7716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HcommThreadNotifyWaitOnThread*〔D3〕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B6664AC1-A5A6-42AC-A78D-713A3AFEC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19240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等待 Host 数据就绪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2765E68-20BC-4FE8-BF76-C5714BD78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1050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190C4D10-6E7D-49E3-8778-3E6F20041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1145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InsV2AlltoAllVSoleExecutor::Orchestrate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CCD83FF-76BE-487A-9A02-37054117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2669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HCCL Executor 组织整体执行</a:t>
            </a:r>
          </a:p>
        </p:txBody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6BCAAF5-54DD-4937-A351-4ED0A37AC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4479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4A6BFF70-5BD9-4429-A2AB-CA38FDCA7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4574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OrchestrateLoop → KernelRun〔内〕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B196F04F-F35E-4356-A43B-7D1B5120B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098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进入 InsTempAlltoAllVMesh1D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4B0FD4B-8F4F-4853-AE3E-BDDB91806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7908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660C81E-0B43-49FB-9613-B74C4D26C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8003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RunALLtoALL〔内〕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1485682E-B43D-4351-ADF2-E8CA11E9B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527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按通信轮次、Peer、Channel 执行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B2861822-DD09-4953-B4E5-7953B4698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1337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772C653-5F2C-446E-B813-F0F8EAAE6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1432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SendRecvWrite / SendRecvRead〔内〕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87657C23-7BC1-4312-98C9-3E4F5E975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2956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调用搬运〔D1〕与 Channel Notify〔D3〕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42CBEC51-4557-4C11-83B7-E8D45F57E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476625"/>
            <a:ext cx="37909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CEEEB"/>
          </a:solidFill>
          <a:ln xmlns:a="http://schemas.openxmlformats.org/drawingml/2006/main" w="0">
            <a:noFill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1503B16-60F2-43EA-9019-46501860F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4861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    LocalCopy → HcommLocalCopyOnThread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C10E5A9B-EE79-4322-A443-23EF1248F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3638550"/>
            <a:ext cx="36957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本 Rank 分片 / CCL 中转拷贝〔D1〕</a:t>
            </a:r>
          </a:p>
        </p:txBody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EA871FEC-C165-4657-94B6-DE61AD00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20D60082-1C70-480F-B10B-CF9A9357C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19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89" name=""/>
          <p:cNvCxnSpPr>
            <a:stCxn xmlns:a="http://schemas.openxmlformats.org/drawingml/2006/main" id="86" idx="3"/>
            <a:endCxn xmlns:a="http://schemas.openxmlformats.org/drawingml/2006/main" id="87" idx="1"/>
          </p:cNvCxnSpPr>
          <p:nvPr/>
        </p:nvCxnSpPr>
        <p:spPr>
          <a:xfrm xmlns:a="http://schemas.openxmlformats.org/drawingml/2006/main">
            <a:off x="3906203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931C25"/>
            </a:solidFill>
            <a:tailEnd type="triangle" w="sm" len="sm"/>
          </a:ln>
        </p:spPr>
      </p:cxn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D3FA803E-4B66-4864-B24B-1EE81DC2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4325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536BE6B0-CD7D-4116-82F1-6C2B94797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9715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192" name=""/>
          <p:cNvCxnSpPr>
            <a:stCxn xmlns:a="http://schemas.openxmlformats.org/drawingml/2006/main" id="89" idx="3"/>
            <a:endCxn xmlns:a="http://schemas.openxmlformats.org/drawingml/2006/main" id="90" idx="1"/>
          </p:cNvCxnSpPr>
          <p:nvPr/>
        </p:nvCxnSpPr>
        <p:spPr>
          <a:xfrm xmlns:a="http://schemas.openxmlformats.org/drawingml/2006/main">
            <a:off x="7935278" y="972027"/>
            <a:ext cx="657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BBA10F52-17AC-4828-9EF6-A5744B595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095750"/>
            <a:ext cx="11658600" cy="1581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CB41267C-4FDD-40C6-ACC6-9116154C3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10527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07DF4E1E-C5A0-4777-BF84-165DB4369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12432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模板内部的线程依赖：Notify 约束的是执行先后，不是数据内容</a:t>
            </a:r>
          </a:p>
        </p:txBody>
      </p:sp>
      <p:graphicFrame>
        <p:nvGraphicFramePr>
          <p:cNvPr id="196" name=""/>
          <p:cNvGraphicFramePr/>
          <p:nvPr/>
        </p:nvGraphicFramePr>
        <p:xfrm>
          <a:off xmlns:a="http://schemas.openxmlformats.org/drawingml/2006/main" x="323850" y="4371975"/>
          <a:ext xmlns:a="http://schemas.openxmlformats.org/drawingml/2006/main" cx="11544300" cy="12001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990725"/>
                <a:gridCol w="6315075"/>
                <a:gridCol w="3238500"/>
              </a:tblGrid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阶段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 API 与方向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发生条件 / 意义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PreSyncInterThreads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HcommThreadNotifyRecordOnThread（main → sub）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HcommThreadNotifyWaitOnThread*（sub 等 main）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threadNum &gt; 1：主线程就绪后，从线程开始执行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Peer 通信与本地拷贝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HcommLocalCopyOnThread；HcommWriteOnThread / HcommReadOnThread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HcommChannelNotifyRecordOnThread；HcommChannelNotifyWaitOnThread*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循环：round → Peer → Channel → slice；握手细节见下一页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2385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PostSyncInterThreads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HcommThreadNotifyRecordOnThread（sub → main）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HcommThreadNotifyWaitOnThread*（main 等 sub）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threadNum &gt; 1：从线程完成后，主线程汇合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FFE183B-CEA0-4120-A3F1-79462F8AD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753100"/>
            <a:ext cx="1165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C2433C17-200F-48D9-99D6-72B9A1B4D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5762625"/>
            <a:ext cx="1156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4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C4 不是空缺：算子编排主要由 HCCL Executor / Template 完成；本例 HCOMM GroupStatusGet 仅为条件查询。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57CFD23-AFDD-4C6D-A33E-10604DA45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076950"/>
            <a:ext cx="1156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1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勿混淆：当前 HcclAicpuKernelLaunch 调用点限定 Send / Recv；AllToAll 走上面的 HCCL 内部 launch → ACL Runtime。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46EA3FD-C22F-4E98-8FD9-0FA1DFD14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6276975"/>
            <a:ext cx="11563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8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* WaitWithDefaultTimeout 与显式 timeout 版本二选一；不同分支的函数不得串接为统一必经链。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37680E3-9C67-4240-9852-73A7F9994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7CD366F-07A3-433F-B3E3-0EF211DA7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op_common.cc:1005–1203；kernel_launch.cc:274,348–725；ins_temp_all_to_all_v_mesh_1D.cc:217；alg_data_trans_wrapper.cc:1010–1074。</a:t>
            </a:r>
          </a:p>
        </p:txBody>
      </p:sp>
    </p:spTree>
    <p:extLst>
      <p:ext uri="{BB962C8B-B14F-4D97-AF65-F5344CB8AC3E}">
        <p14:creationId xmlns:p14="http://schemas.microsoft.com/office/powerpoint/2010/main" val="208399860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82E7D225-BFDA-4F04-8981-F0A3C8E2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一个 Peer 的真实交换：六个动作展开到 HCOMM API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140A7E-E0D8-41A1-BAF3-A8CFFB9E8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普通 Mesh / 非 PCIe / 非对称内存 / send 与 recv 均非零。以 Rank i 观察 Rank j，双方执行对称动作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AA411D-5A95-4698-92F3-5FE55E03C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6C4D57-112F-4431-935C-D536EEAA20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E25D6BD-6669-4A54-905F-549CD7645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800100"/>
            <a:ext cx="11658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6649B0-373B-4452-8518-1A3953282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" y="809625"/>
            <a:ext cx="115633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01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读图：①② ACK 握手 → ③ 写入远端 CCL Buffer → ④⑤ DATA_SIGNAL 握手 → ⑥ 拷到本地用户输出</a:t>
            </a:r>
          </a:p>
        </p:txBody>
      </p:sp>
      <p:graphicFrame>
        <p:nvGraphicFramePr>
          <p:cNvPr id="57" name=""/>
          <p:cNvGraphicFramePr/>
          <p:nvPr/>
        </p:nvGraphicFramePr>
        <p:xfrm>
          <a:off xmlns:a="http://schemas.openxmlformats.org/drawingml/2006/main" x="266700" y="1143000"/>
          <a:ext xmlns:a="http://schemas.openxmlformats.org/drawingml/2006/main" cx="11658600" cy="23812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619250"/>
                <a:gridCol w="3600450"/>
                <a:gridCol w="5429250"/>
                <a:gridCol w="1009650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步骤 / 所属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完整 API 名称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Rank i 的动作与数据去向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类别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 SendRecvWrite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recvChannel, ACK：通知 j“我的接收区已就绪”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 SendRecvWrite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sendChannel, ACK：等 j 的接收区就绪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 每个有效 slice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sendChannel：i.userIn[j] → j.CCL[i]；len = slice.size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④ SendRecvWrite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HcommChannelNotifyRecordOnThread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sendChannel, DATA_SIGNAL：通知 j 本方向传输阶段完成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⑤ SendRecvWrite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HcommChannelNotifyWaitOnThread*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recvChannel, DATA_SIGNAL：等待 j → i 的传输完成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D3 同步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3524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⑥ 模板 PostCopy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HcommLocalCopyOnThread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i.CCL[j] → i.userOut[j]；取出本轮收到的分片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911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搬运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</a:tbl>
          </a:graphicData>
        </a:graphic>
      </p:graphicFrame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30D96F-F185-4794-AF27-DF499155E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3619500"/>
            <a:ext cx="11658600" cy="1076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0A7F0D-85FE-4BA2-B015-693C34B16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362902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7DBB8B-DAC0-48BB-9DE9-1C8EC36C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4807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Buffer 路径：上行是 i 发送，下行是 i 接收；本 Rank 自分片另行 LocalCopy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7DAB80-D67B-4247-B2D1-DBCCE8711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389572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2629E-4E84-414E-B25E-691BEEE83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39052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i.userIn[j]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892B462-F659-4904-BB55-679241F89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0576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用户输入里要发给 j 的分片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A60404B-D676-4A73-A72A-62E93C9E2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9572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FC8502-4C42-409A-887D-C92AD32DF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9052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j.CCL[i]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6771A7-C6C9-4483-AE36-C957CC92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0576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写入 j 的通信中转区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6946DC1-36C5-4EFD-863A-86764ABB5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3895725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C4FA433-8EFD-4985-B345-7CDB3651E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39052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j.userOut[i]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FD2BE-CF50-4212-A708-C0CC2E395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057650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由 j 自己 PostCopy 到输出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7B3F974-E5C2-4738-A2D2-EC7C00464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42672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23DE94-025F-49E9-8D4A-C14F6961D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2767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j.userIn[i]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D227AC4-AE19-489C-BE7D-F702CC6A6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44291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对端发给 i 的分片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20CA5DF-ECCC-4BF6-9045-67092EE1F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2672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EAC914B-CC31-4350-B9C0-9F94EFAAF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767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i.CCL[j]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AF48D39-2B74-4112-9BFF-DFDFBB870F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4291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等待⑤，确保接收阶段完成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A1DE9C-CF26-4EFE-B941-BB4E30211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267200"/>
            <a:ext cx="33147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9BBEFA-8159-4635-B3CA-042A61FC20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2767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7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i.userOut[j]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960EC3D-1CFE-4AC6-AC3D-CFAC71FA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01075" y="4429125"/>
            <a:ext cx="32194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由 i 在⑥ PostCopy 到输出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3D9E8F-20D8-4008-A247-1581B5A66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48C81F2-2A48-4509-A7E8-18146AE27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1" name=""/>
          <p:cNvCxnSpPr>
            <a:stCxn xmlns:a="http://schemas.openxmlformats.org/drawingml/2006/main" id="29" idx="3"/>
            <a:endCxn xmlns:a="http://schemas.openxmlformats.org/drawingml/2006/main" id="30" idx="1"/>
          </p:cNvCxnSpPr>
          <p:nvPr/>
        </p:nvCxnSpPr>
        <p:spPr>
          <a:xfrm xmlns:a="http://schemas.openxmlformats.org/drawingml/2006/main">
            <a:off x="3668078" y="4058127"/>
            <a:ext cx="7134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E773F87-4143-4A63-9039-BC6A1BD0B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A6FE4F0-ED94-49C2-9C65-417734CD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057650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4" name=""/>
          <p:cNvCxnSpPr>
            <a:stCxn xmlns:a="http://schemas.openxmlformats.org/drawingml/2006/main" id="32" idx="3"/>
            <a:endCxn xmlns:a="http://schemas.openxmlformats.org/drawingml/2006/main" id="33" idx="1"/>
          </p:cNvCxnSpPr>
          <p:nvPr/>
        </p:nvCxnSpPr>
        <p:spPr>
          <a:xfrm xmlns:a="http://schemas.openxmlformats.org/drawingml/2006/main">
            <a:off x="7773353" y="4058127"/>
            <a:ext cx="732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B2CF990-C43E-4435-B949-F08696479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390525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③ Write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F3EB961-E26E-4BB5-BC08-E71EE6074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3905250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Copy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CA0D4D-AFC1-4E12-BE8E-9D713213A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CD213D7-8282-4D8F-B99E-3296B31D34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89" name=""/>
          <p:cNvCxnSpPr>
            <a:stCxn xmlns:a="http://schemas.openxmlformats.org/drawingml/2006/main" id="37" idx="3"/>
            <a:endCxn xmlns:a="http://schemas.openxmlformats.org/drawingml/2006/main" id="38" idx="1"/>
          </p:cNvCxnSpPr>
          <p:nvPr/>
        </p:nvCxnSpPr>
        <p:spPr>
          <a:xfrm xmlns:a="http://schemas.openxmlformats.org/drawingml/2006/main">
            <a:off x="3668078" y="4429602"/>
            <a:ext cx="71342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1CC9C6B8-3B02-4561-9D5B-F9A037915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E020F1C6-8630-4DB2-AD80-BD8A5483E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5825" y="4429125"/>
            <a:ext cx="953" cy="9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</p:sp>
      <p:cxnSp>
        <p:nvCxnSpPr>
          <p:cNvPr id="92" name=""/>
          <p:cNvCxnSpPr>
            <a:stCxn xmlns:a="http://schemas.openxmlformats.org/drawingml/2006/main" id="40" idx="3"/>
            <a:endCxn xmlns:a="http://schemas.openxmlformats.org/drawingml/2006/main" id="41" idx="1"/>
          </p:cNvCxnSpPr>
          <p:nvPr/>
        </p:nvCxnSpPr>
        <p:spPr>
          <a:xfrm xmlns:a="http://schemas.openxmlformats.org/drawingml/2006/main">
            <a:off x="7773353" y="4429602"/>
            <a:ext cx="732472" cy="0"/>
          </a:xfrm>
          <a:prstGeom xmlns:a="http://schemas.openxmlformats.org/drawingml/2006/main" prst="straightConnector1">
            <a:avLst/>
          </a:prstGeom>
          <a:ln xmlns:a="http://schemas.openxmlformats.org/drawingml/2006/main" w="10478">
            <a:solidFill>
              <a:srgbClr val="2D438A"/>
            </a:solidFill>
            <a:tailEnd type="triangle" w="sm" len="sm"/>
          </a:ln>
        </p:spPr>
      </p:cxn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D4A20613-1F9E-40B8-8DCC-5E9C24CFF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76650" y="42767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j Write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FB85AFB-5DE4-4961-A2C7-33A989A8A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276725"/>
            <a:ext cx="68580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⑥ Copy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82403D2-AF64-4223-8FB1-66088BEF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772025"/>
            <a:ext cx="116586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884A0F57-F757-432D-9023-24C68EB7D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78155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D60F24E-059D-4E0D-AABE-4326D8F2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80060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函数名、地址参数、底层实现：每一层各负责什么</a:t>
            </a:r>
          </a:p>
        </p:txBody>
      </p:sp>
      <p:graphicFrame>
        <p:nvGraphicFramePr>
          <p:cNvPr id="98" name=""/>
          <p:cNvGraphicFramePr/>
          <p:nvPr/>
        </p:nvGraphicFramePr>
        <p:xfrm>
          <a:off xmlns:a="http://schemas.openxmlformats.org/drawingml/2006/main" x="323850" y="5048250"/>
          <a:ext xmlns:a="http://schemas.openxmlformats.org/drawingml/2006/main" cx="11544300" cy="1362075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1781175"/>
                <a:gridCol w="9763125"/>
              </a:tblGrid>
              <a:tr h="2190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边界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精确展开 / 解释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Wait* 精确符号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优先 HcommChannelNotifyWaitOnThreadWithDefaultTimeout；不支持则 HcommChannelNotifyWaitOnThread(...timeout)；Thread Wait 同理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 Write 参数来源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thread = Peer / Channel 的执行线程；channel = ChannelInfo.handle；src / dst = DataSlice.addr + offset；len = DataSlice.size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950 HCOMM 实现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HcommWriteOnThread → 解包 Channel → BuildLocRmaBufferLite → BaseTransportLiteImpl::Write(...StreamLite)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⑤ 与⑥的调用归属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①–⑤在 SendRecvWrite 内部；⑥在上层模板 RunSendRecvByChannel 中，紧随 RunSendRecv 返回之后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  <a:tr h="2286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不应推导出的 API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44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没有数值归约；该包装器不是 BatchTransfer / WriteWithNotify / Nbi 路径；零 slice 可跳过搬运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B2E5868-075E-4D32-A843-39928DBBF3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55F0C7C5-7BE4-4606-A9C0-14CC1B3F8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alg_data_trans_wrapper.cc:428–464,880–900；ins_temp_all_to_all_v_mesh_1D.cc:327–380；hcomm_primitives_dl.cc:176；AICPU 适配:495。</a:t>
            </a:r>
          </a:p>
        </p:txBody>
      </p:sp>
    </p:spTree>
    <p:extLst>
      <p:ext uri="{BB962C8B-B14F-4D97-AF65-F5344CB8AC3E}">
        <p14:creationId xmlns:p14="http://schemas.microsoft.com/office/powerpoint/2010/main" val="118202577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AF7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1B09DA1-B918-499A-A205-266FB5AA6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123825"/>
            <a:ext cx="116586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20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同为 AICPU_TS AllToAll，哪些条件会改变 API 集合？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D9AA4D3-8DC9-4782-BBFE-96B6EA7F6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504825"/>
            <a:ext cx="110490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38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设备＋执行模式只是范围；协议、算法变体、对称内存、资源缓存和任务缓存共同决定本次实际调用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E8A89C-EF59-4530-96C9-B6160400F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82400" y="514350"/>
            <a:ext cx="323850" cy="161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75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220D4BC-C1D7-403A-81A3-E590AD76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7143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graphicFrame>
        <p:nvGraphicFramePr>
          <p:cNvPr id="32" name=""/>
          <p:cNvGraphicFramePr/>
          <p:nvPr/>
        </p:nvGraphicFramePr>
        <p:xfrm>
          <a:off xmlns:a="http://schemas.openxmlformats.org/drawingml/2006/main" x="266700" y="800100"/>
          <a:ext xmlns:a="http://schemas.openxmlformats.org/drawingml/2006/main" cx="11658600" cy="3638550"/>
        </p:xfrm>
        <a:graphic xmlns:a="http://schemas.openxmlformats.org/drawingml/2006/main">
          <a:graphicData uri="http://schemas.openxmlformats.org/drawingml/2006/table">
            <a:tbl>
              <a:tblPr firstRow="0" bandRow="0"/>
              <a:tblGrid>
                <a:gridCol w="2200275"/>
                <a:gridCol w="5734050"/>
                <a:gridCol w="3724275"/>
              </a:tblGrid>
              <a:tr h="266700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变化条件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调用 / 数据路径如何变化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分类影响与边界</a:t>
                      </a:r>
                    </a:p>
                  </a:txBody>
                  <a:tcPr marL="91440" marR="91440" marT="45720" marB="45720" anchor="ctr">
                    <a:solidFill>
                      <a:srgbClr val="D9DCD8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PCIe → 模板 isDmaRead_ = true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PreCopy：userIn → localCCL；然后 HcommReadOnThread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读取 remoteCCL → userOut；Channel Notify 仍负责握手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的 Write 换为 Read，普通内存拷贝位置前移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不是同一分片同时必经 Read＋Write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 Channel → 多 Channel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仍可选 InsTempAlltoAllVMesh1D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改变并发 Thread、分片、Notify 和调用次数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API 族可以相同；改变的是参数与组织方式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476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MESH_1D_CLOS / MultiJetty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改用 InsTempUbxAlltoAllVMesh1D；部分分支 SendRecvBatchRead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 HcommBatchTransferOnThread（能力不足可回退）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D1 可能新增批量搬运；普通 Mesh 不能据此标成必调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对称内存命中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允许直接访问已注册窗口与远端地址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可省去部分 CCL PreCopy / PostCopy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C2 映射来源改变；D1 中转拷贝可能减少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拓扑 / 算法资源缓存 hit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HcclEngineCtxGet 命中后复用上下文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跳过相应拓扑重建 / CalcRes / 建链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减少 C1 / C2 / C3 / C5 冷启动操作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Cache：开启＋miss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HcommAicpuTsTaskCacheLookup → Start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→ OpOrchestrate → End（全称见下方）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D4 录制任务；仍会展开 D1 / D3 原语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  <a:tr h="40957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Task Cache：开启＋hit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HcommAicpuTsTaskCacheLookup → Execute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刷新地址后重放，跳过本次 OpOrchestrate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逐条 API 未重新调用，不等于没有数据通信</a:t>
                      </a:r>
                    </a:p>
                  </a:txBody>
                  <a:tcPr marL="91440" marR="91440" marT="45720" marB="45720" anchor="ctr">
                    <a:solidFill>
                      <a:srgbClr val="F1E8AA"/>
                    </a:solidFill>
                  </a:tcPr>
                </a:tc>
              </a:tr>
              <a:tr h="428625"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1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rankSize = 1 / 收发 count 都为 0</a:t>
                      </a:r>
                    </a:p>
                  </a:txBody>
                  <a:tcPr marL="91440" marR="91440" marT="45720" marB="45720" anchor="ctr">
                    <a:solidFill>
                      <a:srgbClr val="ECEEEB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单 Rank：SingleRankProc；双零 count：直接返回成功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不会执行上述多 Rank 普通 Mesh 主链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  <a:tc>
                  <a:txBody>
                    <a:bodyPr>
                      <a:noAutofit/>
                    </a:bodyPr>
                    <a:lstStyle/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不能用多 Rank 的 Peer 建链 / 握手清单</a:t>
                      </a:r>
                    </a:p>
                    <a:p>
                      <a:pPr algn="l"/>
                      <a:r>
                        <a:rPr sz="878" b="0">
                          <a:solidFill>
                            <a:srgbClr val="111111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解释所有输入参数场景</a:t>
                      </a:r>
                    </a:p>
                  </a:txBody>
                  <a:tcPr marL="91440" marR="91440" marT="45720" marB="4572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8097A6-74F5-4CBB-8B8A-8D40AA1F6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4514850"/>
            <a:ext cx="116586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6FA24E-8E82-432F-91AF-0AF62AB93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4524375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417A10D-6DC4-4CB9-9B57-4D73B50A0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4543425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Task Cache 完整符号 / 用途：与“算法资源缓存”是两件事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97489AA-62D6-4816-8BDF-4AA9E426C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791075"/>
            <a:ext cx="11487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HcommAicpuTsTaskCacheLookup（查找）   HcommAicpuTsTaskCacheStart（开始录制）   HcommAicpuTsTaskCacheEnd（结束录制）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8BBCD3D-F9B1-4C11-A376-F14D1534F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" y="4981575"/>
            <a:ext cx="11487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93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HcommAicpuTsTaskCacheExecute（重放）   HcommAicpuTsTaskCacheClear（出错 / 清理）；要求开关、950、支持的算子 / 拓扑等条件。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5DDEB8-E618-4718-91A5-D1F9E9A51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5400675"/>
            <a:ext cx="116586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931C2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F806D5-8ED9-4378-9D6A-0FD64D451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" y="5410200"/>
            <a:ext cx="11639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C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A6A92F5-CB1E-4451-9C82-6D33786C9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5429250"/>
            <a:ext cx="1152525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defRPr>
            </a:pPr>
            <a:r>
              <a:rPr sz="1125" b="1">
                <a:solidFill>
                  <a:srgbClr val="931C25"/>
                </a:solidFill>
                <a:latin typeface="PingFang SC"/>
                <a:ea typeface="PingFang SC"/>
                <a:cs typeface="PingFang SC"/>
              </a:rPr>
              <a:t>本例没有命中的类别 / 不能列成必调的接口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0FC1A-4C75-4E72-A8DC-6AC9498C1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3850" y="567690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A5AF1B-77EA-43F5-B7AD-9C3691ED5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" y="568642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D2 数据计算：不调用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FFEAE66-94C4-44F3-964D-6224654C1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59055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LocalReduce / ReadReduce / WriteReduce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B9D079-C4BD-4702-9925-AB37F328A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6096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AllToAll 交换数据，不做数值归约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CB739B-182F-4E1C-BFEC-0C06F70D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7690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087E311-605F-42B8-8538-C847405B7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568642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D5 CCU C++：不进入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BC6A74F-1EA0-45D2-986B-AE59FEA4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59055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AscendC::ccu 的 DSL 与 CCU Kernel API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9E469F-C0CA-4ED1-A17C-530E8ECF9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6096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AICPU_TS 与 CCU 是不同执行路径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0F9AF6-69A2-4B97-B91D-6812E958C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676900"/>
            <a:ext cx="379095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1E8AA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BA380C7-D7C3-4D4C-9D3D-84AECB28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7675" y="5686425"/>
            <a:ext cx="3695700" cy="1809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953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其它非必经 API：按条件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7B3E06-0AA0-468E-BE4E-49027DF42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9055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48" b="1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CommInit / Destroy、MemReg、Fence / Drain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A503D3-0A3E-4FC5-8D71-E0BECD695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6096000"/>
            <a:ext cx="3714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defRPr>
            </a:pPr>
            <a:r>
              <a:rPr sz="855" b="0">
                <a:solidFill>
                  <a:srgbClr val="111111"/>
                </a:solidFill>
                <a:latin typeface="PingFang SC"/>
                <a:ea typeface="PingFang SC"/>
                <a:cs typeface="PingFang SC"/>
              </a:rPr>
              <a:t>通信域生命周期、注册与同步能力不能凭名字推断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EFCFE9B-5E55-4B11-9DAF-F241A93EC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" y="6543675"/>
            <a:ext cx="11658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11111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F04C63D-2C1D-45D4-952B-C4398C176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" y="6581775"/>
            <a:ext cx="11306175" cy="142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defRPr>
            </a:pPr>
            <a:r>
              <a:rPr sz="630" b="0">
                <a:solidFill>
                  <a:srgbClr val="575D60"/>
                </a:solidFill>
                <a:latin typeface="PingFang SC"/>
                <a:ea typeface="PingFang SC"/>
                <a:cs typeface="PingFang SC"/>
              </a:rPr>
              <a:t>源码基线 HCCL 170ddeec / HCOMM 87ce550f ｜ Mesh 模板:167,327,383；UBX 模板:327,456；kernel_launch.cc:499–595；aicpu_task_cache_policy.cc；基于源码，不是运行时 trace。</a:t>
            </a:r>
          </a:p>
        </p:txBody>
      </p:sp>
    </p:spTree>
    <p:extLst>
      <p:ext uri="{BB962C8B-B14F-4D97-AF65-F5344CB8AC3E}">
        <p14:creationId xmlns:p14="http://schemas.microsoft.com/office/powerpoint/2010/main" val="18972221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2026-09-19T11:33:44.9810000Z</dcterms:created>
  <dcterms:modified xsi:type="dcterms:W3CDTF">2026-09-19T11:33:44.9810000Z</dcterms:modified>
</coreProperties>
</file>