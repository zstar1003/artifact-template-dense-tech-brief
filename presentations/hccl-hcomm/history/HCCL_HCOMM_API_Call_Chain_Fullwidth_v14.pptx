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a8b66ae037b4f4d" /><Relationship Type="http://schemas.openxmlformats.org/officeDocument/2006/relationships/extended-properties" Target="/docProps/app.xml" Id="R2daa786f29eb4d3c" /><Relationship Type="http://schemas.openxmlformats.org/officeDocument/2006/relationships/officeDocument" Target="/ppt/presentation.xml" Id="R67421ecfe9e44c8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2066b74c5db4d98"/>
  </p:sldMasterIdLst>
  <p:notesMasterIdLst>
    <p:notesMasterId xmlns:r="http://schemas.openxmlformats.org/officeDocument/2006/relationships" r:id="R40c382f255414f88"/>
  </p:notesMasterIdLst>
  <p:sldIdLst>
    <p:sldId xmlns:r="http://schemas.openxmlformats.org/officeDocument/2006/relationships" id="256" r:id="Re15786a59e914ade"/>
    <p:sldId xmlns:r="http://schemas.openxmlformats.org/officeDocument/2006/relationships" id="257" r:id="Rd83e8b54a5544c25"/>
    <p:sldId xmlns:r="http://schemas.openxmlformats.org/officeDocument/2006/relationships" id="258" r:id="R1355d782c2fd4461"/>
    <p:sldId xmlns:r="http://schemas.openxmlformats.org/officeDocument/2006/relationships" id="259" r:id="R487210b5bb6e41d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b8f04dee89b4065" /><Relationship Type="http://schemas.openxmlformats.org/officeDocument/2006/relationships/slideMaster" Target="/ppt/slideMasters/slideMaster1.xml" Id="R12066b74c5db4d98" /><Relationship Type="http://schemas.openxmlformats.org/officeDocument/2006/relationships/notesMaster" Target="/ppt/notesMasters/notesMaster1.xml" Id="R40c382f255414f88" /><Relationship Type="http://schemas.openxmlformats.org/officeDocument/2006/relationships/presProps" Target="/ppt/presProps.xml" Id="R6fb6f9c3b4c24136" /><Relationship Type="http://schemas.openxmlformats.org/officeDocument/2006/relationships/tableStyles" Target="/ppt/tableStyles.xml" Id="R0ded983955434657" /><Relationship Type="http://schemas.openxmlformats.org/officeDocument/2006/relationships/slide" Target="/ppt/slides/slide1.xml" Id="Re15786a59e914ade" /><Relationship Type="http://schemas.openxmlformats.org/officeDocument/2006/relationships/slide" Target="/ppt/slides/slide2.xml" Id="Rd83e8b54a5544c25" /><Relationship Type="http://schemas.openxmlformats.org/officeDocument/2006/relationships/slide" Target="/ppt/slides/slide3.xml" Id="R1355d782c2fd4461" /><Relationship Type="http://schemas.openxmlformats.org/officeDocument/2006/relationships/slide" Target="/ppt/slides/slide4.xml" Id="R487210b5bb6e41d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e38232c8f744a0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e654fb415274c9a" /><Relationship Type="http://schemas.openxmlformats.org/officeDocument/2006/relationships/notesMaster" Target="/ppt/notesMasters/notesMaster1.xml" Id="Rd55b6b5d073240e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e9c4b8f34254394" /><Relationship Type="http://schemas.openxmlformats.org/officeDocument/2006/relationships/notesMaster" Target="/ppt/notesMasters/notesMaster1.xml" Id="R04f2d975c1bd49c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5bb7663eb6249bf" /><Relationship Type="http://schemas.openxmlformats.org/officeDocument/2006/relationships/notesMaster" Target="/ppt/notesMasters/notesMaster1.xml" Id="Rca8b5db268a840b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4688fb5b9ed4c10" /><Relationship Type="http://schemas.openxmlformats.org/officeDocument/2006/relationships/notesMaster" Target="/ppt/notesMasters/notesMaster1.xml" Id="Rafd048e3e81840c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本页从上到下阅读。第一泳道是 HCCL 入口、模式和算法选择。第二泳道是 HCOMM 建链。第三泳道按 CommEngine 进入 AICPU、AIV 或 CCU。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关键关系：GetAlgResource 计算并申请算法资源。如果资源请求包含通信连接，HCCL 调用 HcclChannelAcquire。HcclChannelAcquire 把 HCCL 描述符转换为 HCOMM 描述符，创建 Socket、EndpointPair 和 Channel。HCOMM 返回 ChannelHandle、Remote CCL Buffer 和 Engine 需要的设备侧资源。执行框架随后按 CommEngine 选择一个分支。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HcclAllReduce：集合规约公开入口。AllReduceInitAndCheck：校验参数和通信域。FillAllReduceOpParam：生成统一 OpParam。HcclGetOpExpansionMode：读取展开模式。Selector：选择 algName、CommEngine、algTag。HcclExecOp：进入统一执行。GetAlgResource：申请线程、Channel、内存和同步资源。HcclChannelAcquire：HCCL 建链入口。ChannelDescHccl2Hcomm：把 HCCL Channel 描述符转换为 HCOMM 描述符。BatchCreateSockets：创建对端 Socket。GetEndpointPair：获取或复用 Rank 间 EndpointPair。HcommCollectiveChannelCreate：创建集合通信 Channel。Channel L3：承接原语并落到 Transport。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源码：hccl/src/ops/all_reduce/all_reduce.cc；hccl/src/ops/op_common/op_common.cc；hcomm RankGraph、Channel、EndpointPair 与 Engine 相关实现。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四个阶段严格串行。阶段 1 把公开 API 参数变成 OpParam。阶段 2 决定 AICPU、AIV 或 CCU 展开模式。阶段 3 读取通信域状态、EngineCtx 与 RankGraph。阶段 4 选择算法并计算资源需求。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SelectorEngine 与 ExecuteSelector 是两个可选入口，不是先后调用。Selector 综合设备类型、Rank 数、数据量、datatype、reduceType、内存布局和 CCU 资源，输出 algName、CommEngine、algTag。CalcResRequest 计算 Thread、Channel、内存和 Notify。GetAlgResource 申请或复用资源。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RankGraph API：GetLayers 获取拓扑层级。GetTopoInstsByLayer 获取层内拓扑实例。GetTopoType 获取拓扑类型。GetRanksByTopoInst 获取实例内 Rank 分组。GetEndpointNum/Desc 获取端点数量和描述。GetLinks/GetEndpointInfo 获取链路与端点详情。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源码：hccl/src/ops/all_reduce/all_reduce.cc；hccl/src/ops/op_common/op_common.cc；hcomm/.../coll_comm_rank_graph_a_adpt.cc。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阅读顺序：每列自上而下，完成后进入右侧下一列。黄色步骤是跨层转换、核心 HCOMM 创建点、一致性检查和资源回填点。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01 至 08：HCCL 检查资源参数、组织交换信息、准备 V2 申请和对称内存句柄。09 至 16：把 HCCL 描述符转换为 HCOMM 描述符，配置 SQ，创建 Socket 并取得 EndpointMgr。17 至 24：启动监听，准备内存句柄，获取 RankPair 和 EndpointPair，创建集合通信 Channel。25 至 32：创建底层 Channel，批量连接，查询状态，校验一致性，按 Engine 回填资源。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完整函数释义已经标在每个步骤中。关键边界：03 是 HCCL 建链入口。10 完成 HCCL 到 HCOMM 的描述符转换。17 启动 HCOMM Endpoint。22 创建集合通信 Channel。28 校验跨 Rank 一致性。30 把 AIV 句柄转换为设备指针。32 返回 ChannelHandle 和 Remote CCL Buffer。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源码：coll_comm_res_c_adpt.cc:755-858；my_rank.cc:567-1300；endpoint_pair.cc:199-226；channel_process.cc:89-133。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顶部资源由三种 Engine 共用。CommEngine 只选择一条路径，不会依次执行三列。底部三条路径最终汇入 Channel L3 和 Transport。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AICPU_TS：HcclThreadAcquire 申请执行线程。AicpuKernelLaunch 发射 AICPU Kernel。HcclThreadResGetInfo 查询线程资源。aclrtLaunchKernelWithConfig 启动 Kernel。随后 AICPU Kernel 逐步调用 HcommLocalCopy、LocalReduce、Read、Write、ReadReduce、WriteReduce、BatchTransfer、Notify、Fence、Drain 等 OnThread 原语。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AIV：GetAlgResAiv 汇总资源。HcclAllocAlgResourceAiv 分配资源。HcclCommMemReg 注册设备可访问内存。HcclChannelAcquire(AIV) 申请通道。ConvertAivChannelHandlesToDevicePtrs 把句柄转成设备指针。HcclAivKernelEntranceLaunch 进入 AIV 发射，最终调用 aclrtLaunchKernelWithHostArgs。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CCU：GetAlgResCcu 汇总资源。HcclAllocAlgResourceCcu 分配资源。HcclChannelQuery/Acquire 获取通道。HcclGetCcuKernel 获取静态或动态 Kernel。HcommCcuInsCreate 和 HcclCommAssignCcuIns 创建并绑定实例。HcommCcuKernelRegisterStart/Register/End 完成注册。HcommCcuKernelLaunch 提交 Mission。资源不足时各 Rank 协商后回退。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源码：aicpu_ts_primitives_c_adpt.cc；op_common.cc:1216-1247,2200-2990；hccl_aiv_utils.cc:1068-1223；ccu_launch.cc。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ddcb9d757a4df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9812e2bb2914670" /><Relationship Type="http://schemas.openxmlformats.org/officeDocument/2006/relationships/slideLayout" Target="/ppt/slideLayouts/slideLayout1.xml" Id="R3e82681cc2ef4ce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e82681cc2ef4ce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bcb05916bd46ee" /><Relationship Type="http://schemas.openxmlformats.org/officeDocument/2006/relationships/notesSlide" Target="/ppt/notesSlides/notesSlide1.xml" Id="R063ffa77fa724ff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cdc45d284547b1" /><Relationship Type="http://schemas.openxmlformats.org/officeDocument/2006/relationships/notesSlide" Target="/ppt/notesSlides/notesSlide2.xml" Id="Rbdc0de51feac437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8be00e1d184504" /><Relationship Type="http://schemas.openxmlformats.org/officeDocument/2006/relationships/notesSlide" Target="/ppt/notesSlides/notesSlide3.xml" Id="R5f7a44ccfc3243c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c207cf6fe340a3" /><Relationship Type="http://schemas.openxmlformats.org/officeDocument/2006/relationships/notesSlide" Target="/ppt/notesSlides/notesSlide4.xml" Id="R7044fcd348d44bb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3BD0F88-3DCE-4544-AE33-968E41CB8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23825"/>
            <a:ext cx="114109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9F111B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9F111B"/>
                </a:solidFill>
                <a:latin typeface="PingFang SC"/>
                <a:ea typeface="PingFang SC"/>
                <a:cs typeface="PingFang SC"/>
              </a:rPr>
              <a:t>一次集合算子调用由 HCCL 选择算法，经 HCOMM 建链后进入指定执行引擎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3DED71-D0CD-4295-B1D6-00E388C6B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42925"/>
            <a:ext cx="11410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356"/>
          </a:bodyPr>
          <a:lstStyle xmlns:a="http://schemas.openxmlformats.org/drawingml/2006/main"/>
          <a:p xmlns:a="http://schemas.openxmlformats.org/drawingml/2006/main">
            <a:pPr algn="ctr">
              <a:defRPr sz="138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38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AllReduce 新流程的跨层调用与资源返回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151099-5D53-405E-A52B-02DE54978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5429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6B7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66B70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66843B-D921-4C7C-9A73-0C2EE7252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33475"/>
            <a:ext cx="113538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111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59A1E6-5B2E-4E3C-BDBC-1D391B896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23925"/>
            <a:ext cx="11201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9743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9F111B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9F111B"/>
                </a:solidFill>
                <a:latin typeface="PingFang SC"/>
                <a:ea typeface="PingFang SC"/>
                <a:cs typeface="PingFang SC"/>
              </a:rPr>
              <a:t>HCCL 算子入口与算法选择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AD2B61-3DFA-4F74-A835-640DDFD0D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1428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HcclAllReduce()</a:t>
            </a:r>
          </a:p>
          <a:p xmlns:a="http://schemas.openxmlformats.org/drawingml/2006/main">
            <a:pPr algn="ctr">
              <a:defRPr sz="75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集合规约入口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5B997C-FD63-43BE-9362-71BC5714E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409700"/>
            <a:ext cx="1428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AllReduceInitAndCheck()</a:t>
            </a:r>
          </a:p>
          <a:p xmlns:a="http://schemas.openxmlformats.org/drawingml/2006/main">
            <a:pPr algn="ctr">
              <a:defRPr sz="75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校验参数与通信域</a:t>
            </a:r>
          </a:p>
        </p:txBody>
      </p:sp>
      <p:cxnSp>
        <p:nvCxnSpPr>
          <p:cNvPr id="59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1981200" y="1733550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04447"/>
            </a:solidFill>
            <a:prstDash val="solid"/>
            <a:tailEnd type="triangle" w="sm" len="sm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625DF6-6B3F-480E-AE77-054E33234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409700"/>
            <a:ext cx="1428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FillAllReduceOpParam()</a:t>
            </a:r>
          </a:p>
          <a:p xmlns:a="http://schemas.openxmlformats.org/drawingml/2006/main">
            <a:pPr algn="ctr">
              <a:defRPr sz="75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组装统一 OpParam</a:t>
            </a:r>
          </a:p>
        </p:txBody>
      </p:sp>
      <p:cxnSp>
        <p:nvCxnSpPr>
          <p:cNvPr id="61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562350" y="1733550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04447"/>
            </a:solidFill>
            <a:prstDash val="solid"/>
            <a:tailEnd type="triangle" w="sm" len="sm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7997D6-8166-42DA-BCCD-632BF09C4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1409700"/>
            <a:ext cx="1428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HcclGetOpExpansionMode()</a:t>
            </a:r>
          </a:p>
          <a:p xmlns:a="http://schemas.openxmlformats.org/drawingml/2006/main">
            <a:pPr algn="ctr">
              <a:defRPr sz="75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读取展开模式</a:t>
            </a:r>
          </a:p>
        </p:txBody>
      </p:sp>
      <p:cxnSp>
        <p:nvCxnSpPr>
          <p:cNvPr id="63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5143500" y="1733550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04447"/>
            </a:solidFill>
            <a:prstDash val="solid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1FDEFA-64B7-4420-9F7E-8D3AACDAF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409700"/>
            <a:ext cx="1428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Selector()</a:t>
            </a:r>
          </a:p>
          <a:p xmlns:a="http://schemas.openxmlformats.org/drawingml/2006/main">
            <a:pPr algn="ctr">
              <a:defRPr sz="75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选择算法与 Engine</a:t>
            </a:r>
          </a:p>
        </p:txBody>
      </p:sp>
      <p:cxnSp>
        <p:nvCxnSpPr>
          <p:cNvPr id="65" name=""/>
          <p:cNvCxnSpPr>
            <a:stCxn xmlns:a="http://schemas.openxmlformats.org/drawingml/2006/main" id="11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6724650" y="1733550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04447"/>
            </a:solidFill>
            <a:prstDash val="solid"/>
            <a:tail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0E5CDF-3313-410D-B225-64C8EA9B9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409700"/>
            <a:ext cx="1428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HcclExecOp()</a:t>
            </a:r>
          </a:p>
          <a:p xmlns:a="http://schemas.openxmlformats.org/drawingml/2006/main">
            <a:pPr algn="ctr">
              <a:defRPr sz="75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进入统一执行框架</a:t>
            </a:r>
          </a:p>
        </p:txBody>
      </p:sp>
      <p:cxnSp>
        <p:nvCxnSpPr>
          <p:cNvPr id="67" name=""/>
          <p:cNvCxnSpPr>
            <a:stCxn xmlns:a="http://schemas.openxmlformats.org/drawingml/2006/main" id="13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305800" y="1733550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04447"/>
            </a:solidFill>
            <a:prstDash val="solid"/>
            <a:tail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BF65F2-523B-4E20-9418-5019B741A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1409700"/>
            <a:ext cx="1428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14288">
            <a:solidFill>
              <a:srgbClr val="9F111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GetAlgResource()</a:t>
            </a:r>
          </a:p>
          <a:p xmlns:a="http://schemas.openxmlformats.org/drawingml/2006/main">
            <a:pPr algn="ctr">
              <a:defRPr sz="75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申请算法资源</a:t>
            </a:r>
          </a:p>
        </p:txBody>
      </p:sp>
      <p:cxnSp>
        <p:nvCxnSpPr>
          <p:cNvPr id="69" name=""/>
          <p:cNvCxnSpPr>
            <a:stCxn xmlns:a="http://schemas.openxmlformats.org/drawingml/2006/main" id="15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9886950" y="1733550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04447"/>
            </a:solidFill>
            <a:prstDash val="solid"/>
            <a:tailEnd type="triangle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411ACC-B31F-447A-AE97-9B9F17FC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43125"/>
            <a:ext cx="5010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输入：sendBuf、recvBuf、count、datatype、reduceType、stream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2473B3-741E-4F9E-B492-413108674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143125"/>
            <a:ext cx="4857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选择输出：algName、CommEngine、algTag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023445-F97D-4B40-BFE1-35CA183CE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67025"/>
            <a:ext cx="113538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33E9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7BF91D-8887-4BA9-8563-7990FEBCF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57475"/>
            <a:ext cx="11201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9743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233E93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233E93"/>
                </a:solidFill>
                <a:latin typeface="PingFang SC"/>
                <a:ea typeface="PingFang SC"/>
                <a:cs typeface="PingFang SC"/>
              </a:rPr>
              <a:t>HCOMM 建链与通信资源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4BCB61-7ABF-4F45-B279-1266A3199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33725"/>
            <a:ext cx="17240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14288">
            <a:solidFill>
              <a:srgbClr val="9F111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2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HcclChannelAcquire()</a:t>
            </a:r>
          </a:p>
          <a:p xmlns:a="http://schemas.openxmlformats.org/drawingml/2006/main">
            <a:pPr algn="ctr">
              <a:defRPr sz="72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HCCL 建链入口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B4E104-F31D-40DB-8190-192559C0C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133725"/>
            <a:ext cx="17240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ChannelDescHccl2Hcomm()</a:t>
            </a:r>
          </a:p>
          <a:p xmlns:a="http://schemas.openxmlformats.org/drawingml/2006/main">
            <a:pPr algn="ctr">
              <a:def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描述符跨层转换</a:t>
            </a:r>
          </a:p>
        </p:txBody>
      </p:sp>
      <p:cxnSp>
        <p:nvCxnSpPr>
          <p:cNvPr id="76" name=""/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2276475" y="3443288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33E93"/>
            </a:solidFill>
            <a:prstDash val="solid"/>
            <a:tailEnd type="triangle" w="sm" len="sm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2D349C-DD2D-4D02-8FF8-7A5A0440D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133725"/>
            <a:ext cx="17240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BatchCreateSockets()</a:t>
            </a:r>
          </a:p>
          <a:p xmlns:a="http://schemas.openxmlformats.org/drawingml/2006/main">
            <a:pPr algn="ctr">
              <a:def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批量创建 Socket</a:t>
            </a:r>
          </a:p>
        </p:txBody>
      </p:sp>
      <p:cxnSp>
        <p:nvCxnSpPr>
          <p:cNvPr id="78" name=""/>
          <p:cNvCxnSpPr>
            <a:stCxn xmlns:a="http://schemas.openxmlformats.org/drawingml/2006/main" id="24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4171950" y="3443288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33E93"/>
            </a:solidFill>
            <a:prstDash val="solid"/>
            <a:tailEnd type="triangle" w="sm" len="sm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916109E-04AD-4808-9765-8558014F6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133725"/>
            <a:ext cx="17240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GetEndpointPair()</a:t>
            </a:r>
          </a:p>
          <a:p xmlns:a="http://schemas.openxmlformats.org/drawingml/2006/main">
            <a:pPr algn="ctr">
              <a:def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获取或复用端点对</a:t>
            </a:r>
          </a:p>
        </p:txBody>
      </p:sp>
      <p:cxnSp>
        <p:nvCxnSpPr>
          <p:cNvPr id="80" name=""/>
          <p:cNvCxnSpPr>
            <a:stCxn xmlns:a="http://schemas.openxmlformats.org/drawingml/2006/main" id="26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6067425" y="3443288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33E93"/>
            </a:solidFill>
            <a:prstDash val="solid"/>
            <a:tailEnd type="triangle" w="sm" len="sm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4E2E23-E4A8-4DC8-B81B-AF3C6B6AE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33725"/>
            <a:ext cx="17240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14288">
            <a:solidFill>
              <a:srgbClr val="233E9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1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1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HcommCollectiveChannelCreate()</a:t>
            </a:r>
          </a:p>
          <a:p xmlns:a="http://schemas.openxmlformats.org/drawingml/2006/main">
            <a:pPr algn="ctr">
              <a:defRPr sz="61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1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创建集合通信 Channel</a:t>
            </a:r>
          </a:p>
        </p:txBody>
      </p:sp>
      <p:cxnSp>
        <p:nvCxnSpPr>
          <p:cNvPr id="82" name=""/>
          <p:cNvCxnSpPr>
            <a:stCxn xmlns:a="http://schemas.openxmlformats.org/drawingml/2006/main" id="28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7962900" y="3443288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33E93"/>
            </a:solidFill>
            <a:prstDash val="solid"/>
            <a:tailEnd type="triangle" w="sm" len="sm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D8A2665-92C3-40CE-AC57-2620ED080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3133725"/>
            <a:ext cx="17240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2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Channel L3</a:t>
            </a:r>
          </a:p>
          <a:p xmlns:a="http://schemas.openxmlformats.org/drawingml/2006/main">
            <a:pPr algn="ctr">
              <a:defRPr sz="72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统一传输通道</a:t>
            </a:r>
          </a:p>
        </p:txBody>
      </p:sp>
      <p:cxnSp>
        <p:nvCxnSpPr>
          <p:cNvPr id="84" name=""/>
          <p:cNvCxnSpPr>
            <a:stCxn xmlns:a="http://schemas.openxmlformats.org/drawingml/2006/main" id="30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9858375" y="3443288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33E93"/>
            </a:solidFill>
            <a:prstDash val="solid"/>
            <a:tailEnd type="triangle" w="sm" len="sm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F707D9A-E1CF-403A-8E23-7D78FD8B3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905250"/>
            <a:ext cx="63817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A"/>
          </a:solidFill>
          <a:ln xmlns:a="http://schemas.openxmlformats.org/drawingml/2006/main" w="8573">
            <a:solidFill>
              <a:srgbClr val="233E9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返回 HCCL：ChannelHandle、Remote CCL Buffer、设备侧资源</a:t>
            </a:r>
          </a:p>
        </p:txBody>
      </p:sp>
      <p:cxnSp>
        <p:nvCxnSpPr>
          <p:cNvPr id="86" name=""/>
          <p:cNvCxnSpPr>
            <a:stCxn xmlns:a="http://schemas.openxmlformats.org/drawingml/2006/main" id="32" idx="2"/>
            <a:endCxn xmlns:a="http://schemas.openxmlformats.org/drawingml/2006/main" id="34" idx="3"/>
          </p:cNvCxnSpPr>
          <p:nvPr/>
        </p:nvCxnSpPr>
        <p:spPr>
          <a:xfrm xmlns:a="http://schemas.openxmlformats.org/drawingml/2006/main" flipH="1">
            <a:off x="9286875" y="3752850"/>
            <a:ext cx="1604963" cy="290513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14288">
            <a:solidFill>
              <a:srgbClr val="4C6D54"/>
            </a:solidFill>
            <a:prstDash val="dash"/>
            <a:tailEnd type="triangle" w="sm" len="sm"/>
          </a:ln>
        </p:spPr>
      </p:cxnSp>
      <p:cxnSp>
        <p:nvCxnSpPr>
          <p:cNvPr id="87" name=""/>
          <p:cNvCxnSpPr>
            <a:stCxn xmlns:a="http://schemas.openxmlformats.org/drawingml/2006/main" id="17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 flipH="1">
            <a:off x="1414463" y="2057400"/>
            <a:ext cx="9339263" cy="10763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3813">
            <a:solidFill>
              <a:srgbClr val="9F111B"/>
            </a:solidFill>
            <a:prstDash val="solid"/>
            <a:tailEnd type="triangle" w="sm" len="sm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0B7B18B-D332-4C2D-9B71-EE9E57518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81275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967"/>
          </a:bodyPr>
          <a:lstStyle xmlns:a="http://schemas.openxmlformats.org/drawingml/2006/main"/>
          <a:p xmlns:a="http://schemas.openxmlformats.org/drawingml/2006/main">
            <a:pPr algn="ctr">
              <a:defRPr sz="765" b="1">
                <a:solidFill>
                  <a:srgbClr val="9F111B"/>
                </a:solidFill>
                <a:latin typeface="PingFang SC"/>
                <a:ea typeface="PingFang SC"/>
                <a:cs typeface="PingFang SC"/>
              </a:defRPr>
            </a:pPr>
            <a:r>
              <a:rPr sz="765" b="1">
                <a:solidFill>
                  <a:srgbClr val="9F111B"/>
                </a:solidFill>
                <a:latin typeface="PingFang SC"/>
                <a:ea typeface="PingFang SC"/>
                <a:cs typeface="PingFang SC"/>
              </a:rPr>
              <a:t>需要通信连接时进入 HCOMM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8E3C141-7BD6-4344-8C0C-B6136B05B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72025"/>
            <a:ext cx="1135380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33E9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7518A71-2A8B-438C-9692-70858E3B8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62475"/>
            <a:ext cx="11201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9743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233E93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233E93"/>
                </a:solidFill>
                <a:latin typeface="PingFang SC"/>
                <a:ea typeface="PingFang SC"/>
                <a:cs typeface="PingFang SC"/>
              </a:rPr>
              <a:t>执行引擎分支：由 CommEngine 三选一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67C756C-72BE-4513-9097-3F551A48E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838700"/>
            <a:ext cx="2000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14288">
            <a:solidFill>
              <a:srgbClr val="9F111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CommEngine</a:t>
            </a:r>
          </a:p>
          <a:p xmlns:a="http://schemas.openxmlformats.org/drawingml/2006/main">
            <a:pPr algn="ctr">
              <a:defRPr sz="82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三选一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632E8F6-50F6-4E79-908F-815D8468C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67350"/>
            <a:ext cx="31432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13335">
            <a:solidFill>
              <a:srgbClr val="9F111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1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1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AICPU_TS</a:t>
            </a:r>
          </a:p>
          <a:p xmlns:a="http://schemas.openxmlformats.org/drawingml/2006/main">
            <a:pPr algn="ctr">
              <a:defRPr sz="81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1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Hcomm*OnThread　逐原语执行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C68B7A0-6B9E-40BD-91A5-39B1AB8DB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467350"/>
            <a:ext cx="31432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13335">
            <a:solidFill>
              <a:srgbClr val="233E9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2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AIV / AIV_ONLY</a:t>
            </a:r>
          </a:p>
          <a:p xmlns:a="http://schemas.openxmlformats.org/drawingml/2006/main">
            <a:pPr algn="ctr">
              <a:defRPr sz="72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aclrtLaunchKernelWithHostArgs　发射 Vector Kernel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9790855-70AD-44FA-A4E9-4A2714DEF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467350"/>
            <a:ext cx="31432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13335">
            <a:solidFill>
              <a:srgbClr val="233E9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2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CCU_MS / CCU_SCHED</a:t>
            </a:r>
          </a:p>
          <a:p xmlns:a="http://schemas.openxmlformats.org/drawingml/2006/main">
            <a:pPr algn="ctr">
              <a:defRPr sz="72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HcommCcuKernelLaunch　提交 CCU Mission</a:t>
            </a:r>
          </a:p>
        </p:txBody>
      </p:sp>
      <p:cxnSp>
        <p:nvCxnSpPr>
          <p:cNvPr id="95" name=""/>
          <p:cNvCxnSpPr>
            <a:stCxn xmlns:a="http://schemas.openxmlformats.org/drawingml/2006/main" id="40" idx="2"/>
            <a:endCxn xmlns:a="http://schemas.openxmlformats.org/drawingml/2006/main" id="41" idx="0"/>
          </p:cNvCxnSpPr>
          <p:nvPr/>
        </p:nvCxnSpPr>
        <p:spPr>
          <a:xfrm xmlns:a="http://schemas.openxmlformats.org/drawingml/2006/main" flipH="1">
            <a:off x="2238375" y="5248275"/>
            <a:ext cx="3857625" cy="2190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9F111B"/>
            </a:solidFill>
            <a:prstDash val="solid"/>
            <a:tailEnd type="triangle" w="sm" len="sm"/>
          </a:ln>
        </p:spPr>
      </p:cxnSp>
      <p:cxnSp>
        <p:nvCxnSpPr>
          <p:cNvPr id="96" name=""/>
          <p:cNvCxnSpPr>
            <a:stCxn xmlns:a="http://schemas.openxmlformats.org/drawingml/2006/main" id="40" idx="2"/>
            <a:endCxn xmlns:a="http://schemas.openxmlformats.org/drawingml/2006/main" id="42" idx="0"/>
          </p:cNvCxnSpPr>
          <p:nvPr/>
        </p:nvCxnSpPr>
        <p:spPr>
          <a:xfrm xmlns:a="http://schemas.openxmlformats.org/drawingml/2006/main">
            <a:off x="6096000" y="5248275"/>
            <a:ext cx="0" cy="2190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33E93"/>
            </a:solidFill>
            <a:prstDash val="solid"/>
            <a:tailEnd type="triangle" w="sm" len="sm"/>
          </a:ln>
        </p:spPr>
      </p:cxnSp>
      <p:cxnSp>
        <p:nvCxnSpPr>
          <p:cNvPr id="97" name=""/>
          <p:cNvCxnSpPr>
            <a:stCxn xmlns:a="http://schemas.openxmlformats.org/drawingml/2006/main" id="40" idx="2"/>
            <a:endCxn xmlns:a="http://schemas.openxmlformats.org/drawingml/2006/main" id="43" idx="0"/>
          </p:cNvCxnSpPr>
          <p:nvPr/>
        </p:nvCxnSpPr>
        <p:spPr>
          <a:xfrm xmlns:a="http://schemas.openxmlformats.org/drawingml/2006/main">
            <a:off x="6096000" y="5248275"/>
            <a:ext cx="3857625" cy="2190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33E93"/>
            </a:solidFill>
            <a:prstDash val="solid"/>
            <a:tailEnd type="triangle" w="sm" len="sm"/>
          </a:ln>
        </p:spPr>
      </p:cxnSp>
      <p:cxnSp>
        <p:nvCxnSpPr>
          <p:cNvPr id="98" name=""/>
          <p:cNvCxnSpPr>
            <a:stCxn xmlns:a="http://schemas.openxmlformats.org/drawingml/2006/main" id="34" idx="2"/>
            <a:endCxn xmlns:a="http://schemas.openxmlformats.org/drawingml/2006/main" id="40" idx="0"/>
          </p:cNvCxnSpPr>
          <p:nvPr/>
        </p:nvCxnSpPr>
        <p:spPr>
          <a:xfrm xmlns:a="http://schemas.openxmlformats.org/drawingml/2006/main">
            <a:off x="6096000" y="4181475"/>
            <a:ext cx="0" cy="65722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4C6D54"/>
            </a:solidFill>
            <a:prstDash val="dash"/>
            <a:tailEnd type="triangle" w="sm" len="sm"/>
          </a:ln>
        </p:spPr>
      </p:cxn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C9B27CA-4A3A-483E-B854-FE6085BE0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6191250"/>
            <a:ext cx="8191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主调用：粗实线　条件选择：分支箭头　资源返回：绿色虚线　红色边界：HCCL　蓝色边界：HCOMM / Engine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ACEF486-EE9B-48DE-9FF1-90BCA10F0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62725"/>
            <a:ext cx="11468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404447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92EAECD-D07F-4615-BF7F-4F313DE04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91300"/>
            <a:ext cx="103346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5833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66B70"/>
                </a:solidFill>
                <a:latin typeface="PingFang SC"/>
                <a:ea typeface="PingFang SC"/>
                <a:cs typeface="PingFang SC"/>
              </a:defRPr>
            </a:pPr>
            <a:r>
              <a:rPr sz="600" b="0">
                <a:solidFill>
                  <a:srgbClr val="666B70"/>
                </a:solidFill>
                <a:latin typeface="PingFang SC"/>
                <a:ea typeface="PingFang SC"/>
                <a:cs typeface="PingFang SC"/>
              </a:rPr>
              <a:t>分析范围：hccl 170ddeec539b；hcomm 87ce550f8f7c；以 AllReduce 新流程为代表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0FE393B-2478-4DF5-B2E6-D151461C4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91300"/>
            <a:ext cx="1409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5833"/>
          </a:bodyPr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66B70"/>
                </a:solidFill>
                <a:latin typeface="PingFang SC"/>
                <a:ea typeface="PingFang SC"/>
                <a:cs typeface="PingFang SC"/>
              </a:defRPr>
            </a:pPr>
            <a:r>
              <a:rPr sz="600" b="0">
                <a:solidFill>
                  <a:srgbClr val="666B70"/>
                </a:solidFill>
                <a:latin typeface="PingFang SC"/>
                <a:ea typeface="PingFang SC"/>
                <a:cs typeface="PingFang SC"/>
              </a:rPr>
              <a:t>HCCL / HCOMM 源码分析</a:t>
            </a:r>
          </a:p>
        </p:txBody>
      </p:sp>
    </p:spTree>
    <p:extLst>
      <p:ext uri="{BB962C8B-B14F-4D97-AF65-F5344CB8AC3E}">
        <p14:creationId xmlns:p14="http://schemas.microsoft.com/office/powerpoint/2010/main" val="2924645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8A497BE-B035-472C-A6AF-496770B9B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23825"/>
            <a:ext cx="114109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9F111B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9F111B"/>
                </a:solidFill>
                <a:latin typeface="PingFang SC"/>
                <a:ea typeface="PingFang SC"/>
                <a:cs typeface="PingFang SC"/>
              </a:rPr>
              <a:t>HCCL 通过四个串行阶段把公开算子参数转换为可执行算法和资源请求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B9AECB-92DD-4EAB-A29D-7576B086A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42925"/>
            <a:ext cx="11410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356"/>
          </a:bodyPr>
          <a:lstStyle xmlns:a="http://schemas.openxmlformats.org/drawingml/2006/main"/>
          <a:p xmlns:a="http://schemas.openxmlformats.org/drawingml/2006/main">
            <a:pPr algn="ctr">
              <a:defRPr sz="138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38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入口、展开模式、RankGraph 与 Selector 的具象调用关系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DE8522-68B6-4D76-B692-2B03738E1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5429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6B7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66B70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7D1871-622C-4A7E-BFE1-90052CEE2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200150"/>
            <a:ext cx="342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9F111B"/>
          </a:solidFill>
          <a:ln xmlns:a="http://schemas.openxmlformats.org/drawingml/2006/main" w="0">
            <a:solidFill>
              <a:srgbClr val="9F111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9D9A84-A40E-4D24-80FA-09926141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43000"/>
            <a:ext cx="110299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111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9499AD-2506-4D82-A207-0E1E1A56C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33450"/>
            <a:ext cx="10877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9743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9F111B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9F111B"/>
                </a:solidFill>
                <a:latin typeface="PingFang SC"/>
                <a:ea typeface="PingFang SC"/>
                <a:cs typeface="PingFang SC"/>
              </a:rPr>
              <a:t>阶段 1　参数归一化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041282-FBC6-47F4-BC29-427550D36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362075"/>
            <a:ext cx="2095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HcclAllReduce()</a:t>
            </a:r>
          </a:p>
          <a:p xmlns:a="http://schemas.openxmlformats.org/drawingml/2006/main">
            <a:pPr algn="ctr">
              <a:defRPr sz="90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公开入口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2D592F-B3D5-455E-9C20-2702C3BCE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362075"/>
            <a:ext cx="2381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AllReduceInitAndCheck()</a:t>
            </a:r>
          </a:p>
          <a:p xmlns:a="http://schemas.openxmlformats.org/drawingml/2006/main">
            <a:pPr algn="ctr">
              <a:defRPr sz="90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校验通信域、指针与类型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307CCD-D3E9-4934-86B6-1BE48AB8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362075"/>
            <a:ext cx="2381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FillAllReduceOpParam()</a:t>
            </a:r>
          </a:p>
          <a:p xmlns:a="http://schemas.openxmlformats.org/drawingml/2006/main">
            <a:pPr algn="ctr">
              <a:defRPr sz="90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生成统一 OpParam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E7CD6E-831B-4C4C-A5F4-703A1697C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362075"/>
            <a:ext cx="2571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OpParam</a:t>
            </a:r>
          </a:p>
          <a:p xmlns:a="http://schemas.openxmlformats.org/drawingml/2006/main">
            <a:pPr algn="ctr">
              <a:defRPr sz="90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算法无关输入</a:t>
            </a:r>
          </a:p>
        </p:txBody>
      </p:sp>
      <p:cxnSp>
        <p:nvCxnSpPr>
          <p:cNvPr id="69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000375" y="1576388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04447"/>
            </a:solidFill>
            <a:prstDash val="solid"/>
            <a:tailEnd type="triangle" w="sm" len="sm"/>
          </a:ln>
        </p:spPr>
      </p:cxnSp>
      <p:cxnSp>
        <p:nvCxnSpPr>
          <p:cNvPr id="70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762625" y="1576388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04447"/>
            </a:solidFill>
            <a:prstDash val="solid"/>
            <a:tailEnd type="triangle" w="sm" len="sm"/>
          </a:ln>
        </p:spPr>
      </p:cxnSp>
      <p:cxnSp>
        <p:nvCxnSpPr>
          <p:cNvPr id="71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524875" y="1576388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04447"/>
            </a:solidFill>
            <a:prstDash val="solid"/>
            <a:tailEnd type="triangle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15564B-9417-4597-924F-3AEC37E08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362200"/>
            <a:ext cx="342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9F111B"/>
          </a:solidFill>
          <a:ln xmlns:a="http://schemas.openxmlformats.org/drawingml/2006/main" w="0">
            <a:solidFill>
              <a:srgbClr val="9F111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C524F1-BFE2-4667-B87E-22551E3F4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05050"/>
            <a:ext cx="110299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111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E373DE-DC70-4B64-A63C-B1E028614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10877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9743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9F111B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9F111B"/>
                </a:solidFill>
                <a:latin typeface="PingFang SC"/>
                <a:ea typeface="PingFang SC"/>
                <a:cs typeface="PingFang SC"/>
              </a:rPr>
              <a:t>阶段 2　展开模式决策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BC1899-9FB5-47FE-B807-80F09B18D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05075"/>
            <a:ext cx="2476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HcclGetOpExpansionMode()</a:t>
            </a:r>
          </a:p>
          <a:p xmlns:a="http://schemas.openxmlformats.org/drawingml/2006/main">
            <a:pPr algn="ctr">
              <a:defRPr sz="90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读取支持模式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CA5DF1-B471-408B-A8CD-86804CF65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505075"/>
            <a:ext cx="2857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DecideHcclOpExpansionMode()</a:t>
            </a:r>
          </a:p>
          <a:p xmlns:a="http://schemas.openxmlformats.org/drawingml/2006/main">
            <a:pPr algn="ctr">
              <a:defRPr sz="90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结合配置与资源做决策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0DC60E-AAEF-4BA8-AA81-0AD0E53D7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505075"/>
            <a:ext cx="2476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ApplyOpExpansionMode()</a:t>
            </a:r>
          </a:p>
          <a:p xmlns:a="http://schemas.openxmlformats.org/drawingml/2006/main">
            <a:pPr algn="ctr">
              <a:defRPr sz="90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写入执行上下文</a:t>
            </a:r>
          </a:p>
        </p:txBody>
      </p:sp>
      <p:cxnSp>
        <p:nvCxnSpPr>
          <p:cNvPr id="78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3381375" y="26955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04447"/>
            </a:solidFill>
            <a:prstDash val="solid"/>
            <a:tailEnd type="triangle" w="sm" len="sm"/>
          </a:ln>
        </p:spPr>
      </p:cxnSp>
      <p:cxnSp>
        <p:nvCxnSpPr>
          <p:cNvPr id="79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6715125" y="26955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04447"/>
            </a:solidFill>
            <a:prstDash val="solid"/>
            <a:tailEnd type="triangle" w="sm" len="sm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E006AB-4CF7-4017-92FF-E7B12A961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90850"/>
            <a:ext cx="1809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AICPU_TS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61AF1B-DED0-4ACE-858C-913C838C8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990850"/>
            <a:ext cx="2000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AIV / AIV_ONLY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D8C0A1-FBDB-4F24-9217-A429F4003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990850"/>
            <a:ext cx="2190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CCU_MS / CCU_SCHED</a:t>
            </a:r>
          </a:p>
        </p:txBody>
      </p:sp>
      <p:cxnSp>
        <p:nvCxnSpPr>
          <p:cNvPr id="83" name=""/>
          <p:cNvCxnSpPr>
            <a:stCxn xmlns:a="http://schemas.openxmlformats.org/drawingml/2006/main" id="18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 flipH="1">
            <a:off x="4238625" y="2886075"/>
            <a:ext cx="1047750" cy="1047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1430">
            <a:solidFill>
              <a:srgbClr val="9F111B"/>
            </a:solidFill>
            <a:prstDash val="dash"/>
            <a:tailEnd type="triangle" w="sm" len="sm"/>
          </a:ln>
        </p:spPr>
      </p:cxnSp>
      <p:cxnSp>
        <p:nvCxnSpPr>
          <p:cNvPr id="84" name=""/>
          <p:cNvCxnSpPr>
            <a:stCxn xmlns:a="http://schemas.openxmlformats.org/drawingml/2006/main" id="18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5286375" y="2886075"/>
            <a:ext cx="1143000" cy="1047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1430">
            <a:solidFill>
              <a:srgbClr val="9F111B"/>
            </a:solidFill>
            <a:prstDash val="dash"/>
            <a:tailEnd type="triangle" w="sm" len="sm"/>
          </a:ln>
        </p:spPr>
      </p:cxnSp>
      <p:cxnSp>
        <p:nvCxnSpPr>
          <p:cNvPr id="85" name=""/>
          <p:cNvCxnSpPr>
            <a:stCxn xmlns:a="http://schemas.openxmlformats.org/drawingml/2006/main" id="18" idx="2"/>
            <a:endCxn xmlns:a="http://schemas.openxmlformats.org/drawingml/2006/main" id="24" idx="0"/>
          </p:cNvCxnSpPr>
          <p:nvPr/>
        </p:nvCxnSpPr>
        <p:spPr>
          <a:xfrm xmlns:a="http://schemas.openxmlformats.org/drawingml/2006/main">
            <a:off x="5286375" y="2886075"/>
            <a:ext cx="3524250" cy="1047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1430">
            <a:solidFill>
              <a:srgbClr val="9F111B"/>
            </a:solidFill>
            <a:prstDash val="dash"/>
            <a:tailEnd type="triangle" w="sm" len="sm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43567D-95AB-46DA-914C-785FD2A4A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714750"/>
            <a:ext cx="342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33E93"/>
          </a:solidFill>
          <a:ln xmlns:a="http://schemas.openxmlformats.org/drawingml/2006/main" w="0">
            <a:solidFill>
              <a:srgbClr val="233E9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C496476-6B2F-4BC0-9E56-593600F9C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57600"/>
            <a:ext cx="110299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33E9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C2AA00E-EF84-4762-B361-9A3D67BBD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48050"/>
            <a:ext cx="10877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9743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233E93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233E93"/>
                </a:solidFill>
                <a:latin typeface="PingFang SC"/>
                <a:ea typeface="PingFang SC"/>
                <a:cs typeface="PingFang SC"/>
              </a:rPr>
              <a:t>阶段 3　通信域与 RankGraph 查询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3F67EBC-4D8C-4211-906C-92092F5D7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57625"/>
            <a:ext cx="21907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88194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HcclCommGetStatus()</a:t>
            </a:r>
          </a:p>
          <a:p xmlns:a="http://schemas.openxmlformats.org/drawingml/2006/main">
            <a:pPr algn="ctr">
              <a:defRPr sz="90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确认通信域可用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9C35C1B-06EA-47D3-8BB6-EE1578746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857625"/>
            <a:ext cx="2476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88194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HcclEngineCtxGet / Create()</a:t>
            </a:r>
          </a:p>
          <a:p xmlns:a="http://schemas.openxmlformats.org/drawingml/2006/main">
            <a:pPr algn="ctr">
              <a:defRPr sz="90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获取或创建 EngineCtx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886BE4F-7963-49C9-B862-F8CE9DB76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053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6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6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GetLayers</a:t>
            </a:r>
          </a:p>
          <a:p xmlns:a="http://schemas.openxmlformats.org/drawingml/2006/main">
            <a:pPr algn="ctr">
              <a:defRPr sz="66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6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拓扑层级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0818DEA-76CE-4C67-802B-E0962E7A7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3053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6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6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GetTopoInstsByLayer</a:t>
            </a:r>
          </a:p>
          <a:p xmlns:a="http://schemas.openxmlformats.org/drawingml/2006/main">
            <a:pPr algn="ctr">
              <a:defRPr sz="66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6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层内实例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BE21396-67F7-42B3-96E9-C72A2F10D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3053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6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6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GetTopoType</a:t>
            </a:r>
          </a:p>
          <a:p xmlns:a="http://schemas.openxmlformats.org/drawingml/2006/main">
            <a:pPr algn="ctr">
              <a:defRPr sz="66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6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拓扑类型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15F75FF-6380-4D64-835A-65FDEB884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053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6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6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GetRanksByTopoInst</a:t>
            </a:r>
          </a:p>
          <a:p xmlns:a="http://schemas.openxmlformats.org/drawingml/2006/main">
            <a:pPr algn="ctr">
              <a:defRPr sz="66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6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Rank 分组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A9EB5DF-37F0-4171-B1B3-D67FDCBDB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3053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6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6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GetEndpointNum / Desc</a:t>
            </a:r>
          </a:p>
          <a:p xmlns:a="http://schemas.openxmlformats.org/drawingml/2006/main">
            <a:pPr algn="ctr">
              <a:defRPr sz="66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6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端点数量与描述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B84A75D-E213-41C1-A443-F164983FA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3053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6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6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GetLinks / GetEndpointInfo</a:t>
            </a:r>
          </a:p>
          <a:p xmlns:a="http://schemas.openxmlformats.org/drawingml/2006/main">
            <a:pPr algn="ctr">
              <a:defRPr sz="66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6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链路与端点详情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78930EE-EEB9-4A7D-B4AF-1EA180E10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105400"/>
            <a:ext cx="342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9F111B"/>
          </a:solidFill>
          <a:ln xmlns:a="http://schemas.openxmlformats.org/drawingml/2006/main" w="0">
            <a:solidFill>
              <a:srgbClr val="9F111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4399A24-4024-48DF-9465-C6DD27E9C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1102995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111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931306F-475D-4A6B-B4A0-13AA6DC21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38700"/>
            <a:ext cx="10877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9743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9F111B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9F111B"/>
                </a:solidFill>
                <a:latin typeface="PingFang SC"/>
                <a:ea typeface="PingFang SC"/>
                <a:cs typeface="PingFang SC"/>
              </a:rPr>
              <a:t>阶段 4　算法选择、执行入口与资源请求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2E56052-17A4-4B1B-97A4-A28BC74C4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295900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Selector()</a:t>
            </a:r>
          </a:p>
          <a:p xmlns:a="http://schemas.openxmlformats.org/drawingml/2006/main">
            <a:pPr algn="ctr">
              <a:defRPr sz="90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算法选择总入口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F27BC7A-1806-4E9A-85EC-B6CAEF9C3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162550"/>
            <a:ext cx="18573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SelectorEngine()</a:t>
            </a:r>
          </a:p>
          <a:p xmlns:a="http://schemas.openxmlformats.org/drawingml/2006/main">
            <a:pPr algn="ctr">
              <a:defRPr sz="90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按 Engine 选择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F83663E-C87A-4663-A31F-2F1F928C1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638800"/>
            <a:ext cx="18573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ExecuteSelector()</a:t>
            </a:r>
          </a:p>
          <a:p xmlns:a="http://schemas.openxmlformats.org/drawingml/2006/main">
            <a:pPr algn="ctr">
              <a:defRPr sz="90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按执行模板选择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8F42FCB-7D68-44CF-B551-50CBC3527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295900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HcclExecOp()</a:t>
            </a:r>
          </a:p>
          <a:p xmlns:a="http://schemas.openxmlformats.org/drawingml/2006/main">
            <a:pPr algn="ctr">
              <a:defRPr sz="90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进入统一执行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11715EF-711A-4A5C-86E3-3128A4437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29590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CalcResRequest()</a:t>
            </a:r>
          </a:p>
          <a:p xmlns:a="http://schemas.openxmlformats.org/drawingml/2006/main">
            <a:pPr algn="ctr">
              <a:defRPr sz="90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计算资源需求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7C46EBB-34C0-47EC-B086-2AD2B2AA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295900"/>
            <a:ext cx="1857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13335">
            <a:solidFill>
              <a:srgbClr val="9F111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GetAlgResource()</a:t>
            </a:r>
          </a:p>
          <a:p xmlns:a="http://schemas.openxmlformats.org/drawingml/2006/main">
            <a:pPr algn="ctr">
              <a:defRPr sz="75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申请或复用算法资源</a:t>
            </a:r>
          </a:p>
        </p:txBody>
      </p:sp>
      <p:cxnSp>
        <p:nvCxnSpPr>
          <p:cNvPr id="106" name=""/>
          <p:cNvCxnSpPr>
            <a:stCxn xmlns:a="http://schemas.openxmlformats.org/drawingml/2006/main" id="42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 flipV="1">
            <a:off x="2524125" y="5343525"/>
            <a:ext cx="476250" cy="1809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404447"/>
            </a:solidFill>
            <a:prstDash val="solid"/>
            <a:tailEnd type="triangle" w="sm" len="sm"/>
          </a:ln>
        </p:spPr>
      </p:cxnSp>
      <p:cxnSp>
        <p:nvCxnSpPr>
          <p:cNvPr id="107" name=""/>
          <p:cNvCxnSpPr>
            <a:stCxn xmlns:a="http://schemas.openxmlformats.org/drawingml/2006/main" id="42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>
            <a:off x="2524125" y="5524500"/>
            <a:ext cx="476250" cy="2952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404447"/>
            </a:solidFill>
            <a:prstDash val="solid"/>
            <a:tailEnd type="triangle" w="sm" len="sm"/>
          </a:ln>
        </p:spPr>
      </p:cxnSp>
      <p:cxnSp>
        <p:nvCxnSpPr>
          <p:cNvPr id="108" name=""/>
          <p:cNvCxnSpPr>
            <a:stCxn xmlns:a="http://schemas.openxmlformats.org/drawingml/2006/main" id="43" idx="3"/>
            <a:endCxn xmlns:a="http://schemas.openxmlformats.org/drawingml/2006/main" id="45" idx="1"/>
          </p:cNvCxnSpPr>
          <p:nvPr/>
        </p:nvCxnSpPr>
        <p:spPr>
          <a:xfrm xmlns:a="http://schemas.openxmlformats.org/drawingml/2006/main">
            <a:off x="4857750" y="5343525"/>
            <a:ext cx="476250" cy="1809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404447"/>
            </a:solidFill>
            <a:prstDash val="solid"/>
            <a:tailEnd type="triangle" w="sm" len="sm"/>
          </a:ln>
        </p:spPr>
      </p:cxnSp>
      <p:cxnSp>
        <p:nvCxnSpPr>
          <p:cNvPr id="109" name=""/>
          <p:cNvCxnSpPr>
            <a:stCxn xmlns:a="http://schemas.openxmlformats.org/drawingml/2006/main" id="44" idx="3"/>
            <a:endCxn xmlns:a="http://schemas.openxmlformats.org/drawingml/2006/main" id="45" idx="1"/>
          </p:cNvCxnSpPr>
          <p:nvPr/>
        </p:nvCxnSpPr>
        <p:spPr>
          <a:xfrm xmlns:a="http://schemas.openxmlformats.org/drawingml/2006/main" flipV="1">
            <a:off x="4857750" y="5524500"/>
            <a:ext cx="476250" cy="2952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404447"/>
            </a:solidFill>
            <a:prstDash val="solid"/>
            <a:tailEnd type="triangle" w="sm" len="sm"/>
          </a:ln>
        </p:spPr>
      </p:cxnSp>
      <p:cxnSp>
        <p:nvCxnSpPr>
          <p:cNvPr id="110" name=""/>
          <p:cNvCxnSpPr>
            <a:stCxn xmlns:a="http://schemas.openxmlformats.org/drawingml/2006/main" id="45" idx="3"/>
            <a:endCxn xmlns:a="http://schemas.openxmlformats.org/drawingml/2006/main" id="46" idx="1"/>
          </p:cNvCxnSpPr>
          <p:nvPr/>
        </p:nvCxnSpPr>
        <p:spPr>
          <a:xfrm xmlns:a="http://schemas.openxmlformats.org/drawingml/2006/main">
            <a:off x="6953250" y="55245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04447"/>
            </a:solidFill>
            <a:prstDash val="solid"/>
            <a:tailEnd type="triangle" w="sm" len="sm"/>
          </a:ln>
        </p:spPr>
      </p:cxnSp>
      <p:cxnSp>
        <p:nvCxnSpPr>
          <p:cNvPr id="111" name=""/>
          <p:cNvCxnSpPr>
            <a:stCxn xmlns:a="http://schemas.openxmlformats.org/drawingml/2006/main" id="46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>
            <a:off x="9144000" y="55245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F111B"/>
            </a:solidFill>
            <a:prstDash val="solid"/>
            <a:tailEnd type="triangle" w="sm" len="sm"/>
          </a:ln>
        </p:spPr>
      </p:cxn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002D5EC-E17D-47F8-81A1-7EF27AC38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55245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967"/>
          </a:bodyPr>
          <a:lstStyle xmlns:a="http://schemas.openxmlformats.org/drawingml/2006/main"/>
          <a:p xmlns:a="http://schemas.openxmlformats.org/drawingml/2006/main">
            <a:pPr algn="ctr">
              <a:defRPr sz="765" b="1">
                <a:solidFill>
                  <a:srgbClr val="9F111B"/>
                </a:solidFill>
                <a:latin typeface="PingFang SC"/>
                <a:ea typeface="PingFang SC"/>
                <a:cs typeface="PingFang SC"/>
              </a:defRPr>
            </a:pPr>
            <a:r>
              <a:rPr sz="765" b="1">
                <a:solidFill>
                  <a:srgbClr val="9F111B"/>
                </a:solidFill>
                <a:latin typeface="PingFang SC"/>
                <a:ea typeface="PingFang SC"/>
                <a:cs typeface="PingFang SC"/>
              </a:rPr>
              <a:t>二选一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7C89668-9AEC-464E-9EB4-E54434AA4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905500"/>
            <a:ext cx="8858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输出：algName、CommEngine、algTag　资源请求：Thread、Channel、通信内存、Notify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86E853E-0C5A-4637-A0D6-B91694474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62725"/>
            <a:ext cx="11468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404447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9FA0703-C076-4CE2-A9B4-0A5824B56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91300"/>
            <a:ext cx="103346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5833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66B70"/>
                </a:solidFill>
                <a:latin typeface="PingFang SC"/>
                <a:ea typeface="PingFang SC"/>
                <a:cs typeface="PingFang SC"/>
              </a:defRPr>
            </a:pPr>
            <a:r>
              <a:rPr sz="600" b="0">
                <a:solidFill>
                  <a:srgbClr val="666B70"/>
                </a:solidFill>
                <a:latin typeface="PingFang SC"/>
                <a:ea typeface="PingFang SC"/>
                <a:cs typeface="PingFang SC"/>
              </a:rPr>
              <a:t>源码：hccl/src/ops/all_reduce/all_reduce.cc；hccl/src/ops/op_common/op_common.cc；hcomm/.../coll_comm_rank_graph_a_adpt.cc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7D50123-D3AF-45A7-8B95-1A64C8351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91300"/>
            <a:ext cx="1409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5833"/>
          </a:bodyPr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66B70"/>
                </a:solidFill>
                <a:latin typeface="PingFang SC"/>
                <a:ea typeface="PingFang SC"/>
                <a:cs typeface="PingFang SC"/>
              </a:defRPr>
            </a:pPr>
            <a:r>
              <a:rPr sz="600" b="0">
                <a:solidFill>
                  <a:srgbClr val="666B70"/>
                </a:solidFill>
                <a:latin typeface="PingFang SC"/>
                <a:ea typeface="PingFang SC"/>
                <a:cs typeface="PingFang SC"/>
              </a:rPr>
              <a:t>HCCL / HCOMM 源码分析</a:t>
            </a:r>
          </a:p>
        </p:txBody>
      </p:sp>
    </p:spTree>
    <p:extLst>
      <p:ext uri="{BB962C8B-B14F-4D97-AF65-F5344CB8AC3E}">
        <p14:creationId xmlns:p14="http://schemas.microsoft.com/office/powerpoint/2010/main" val="16464450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FE00670A-39C9-4495-916D-20D38A9D5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23825"/>
            <a:ext cx="114109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9F111B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9F111B"/>
                </a:solidFill>
                <a:latin typeface="PingFang SC"/>
                <a:ea typeface="PingFang SC"/>
                <a:cs typeface="PingFang SC"/>
              </a:rPr>
              <a:t>HcclChannelAcquire 通过 32 个有序步骤完成描述符转换、对象创建、连接确认与资源回填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B8A45B-DE3C-44F5-8654-5F5C082EF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42925"/>
            <a:ext cx="11410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356"/>
          </a:bodyPr>
          <a:lstStyle xmlns:a="http://schemas.openxmlformats.org/drawingml/2006/main"/>
          <a:p xmlns:a="http://schemas.openxmlformats.org/drawingml/2006/main">
            <a:pPr algn="ctr">
              <a:defRPr sz="138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38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四阶段连续调用轨道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ABC23B-5E9D-4341-B8EF-06E3A3959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5429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6B7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66B70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D8FB30-97DA-4083-AFCD-8C4ACD541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09650"/>
            <a:ext cx="11391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045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9F111B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9F111B"/>
                </a:solidFill>
                <a:latin typeface="PingFang SC"/>
                <a:ea typeface="PingFang SC"/>
                <a:cs typeface="PingFang SC"/>
              </a:rPr>
              <a:t>整体顺序：01 到 08，进入 09 到 16，再进入 17 到 24，最后执行 25 到 32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5F8F93-C23E-4249-9B09-9F507ED28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62075"/>
            <a:ext cx="27622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DEE"/>
          </a:solidFill>
          <a:ln xmlns:a="http://schemas.openxmlformats.org/drawingml/2006/main" w="14288">
            <a:solidFill>
              <a:srgbClr val="9F111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① HCCL 准备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806712-D041-44D0-9D77-F44596789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342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9F111B"/>
          </a:solidFill>
          <a:ln xmlns:a="http://schemas.openxmlformats.org/drawingml/2006/main" w="0">
            <a:solidFill>
              <a:srgbClr val="9F111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D6F98F-5122-43DB-99D4-4B47EE93D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2362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7620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HcclGetChannelImpl()</a:t>
            </a:r>
          </a:p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获取通道实现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2A92C4-00D2-4C0D-B186-0066DCE51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13360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111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07AD77-0E20-4B9F-A8DF-CF7F688A9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0"/>
            <a:ext cx="342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9F111B"/>
          </a:solidFill>
          <a:ln xmlns:a="http://schemas.openxmlformats.org/drawingml/2006/main" w="0">
            <a:solidFill>
              <a:srgbClr val="9F111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FD8C7B-B9E3-48B2-B1C9-95C2A5DEA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2362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7620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AddExchangeInfo()</a:t>
            </a:r>
          </a:p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添加跨 Rank 交换信息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5C109F-B30B-4A64-BD17-0E9D5D900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60985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111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C1778A-5603-4D26-AAB9-3D1F6B8D9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62250"/>
            <a:ext cx="342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9F111B"/>
          </a:solidFill>
          <a:ln xmlns:a="http://schemas.openxmlformats.org/drawingml/2006/main" w="0">
            <a:solidFill>
              <a:srgbClr val="9F111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4A8E0E-B8C9-4E64-8EC6-5CDE9C8ED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62250"/>
            <a:ext cx="2362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13335">
            <a:solidFill>
              <a:srgbClr val="9F111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HcclChannelAcquire()</a:t>
            </a:r>
          </a:p>
          <a:p xmlns:a="http://schemas.openxmlformats.org/drawingml/2006/main">
            <a:pPr algn="l">
              <a:defRPr sz="64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申请或复用 Channel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BEAE23-C5B7-4C41-BFD3-84A523F3A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08610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111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60334F-EA93-4969-B3BF-0D7410483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0"/>
            <a:ext cx="342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9F111B"/>
          </a:solidFill>
          <a:ln xmlns:a="http://schemas.openxmlformats.org/drawingml/2006/main" w="0">
            <a:solidFill>
              <a:srgbClr val="9F111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D25400-8085-4713-A894-A0C719E5A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38500"/>
            <a:ext cx="2362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7620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CheckChannelResParams()</a:t>
            </a:r>
          </a:p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校验资源参数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A2A059-8B5C-42EF-88CB-3A174BDC8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56235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111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4C344D-5E57-4438-BE0D-14EAF57A0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342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9F111B"/>
          </a:solidFill>
          <a:ln xmlns:a="http://schemas.openxmlformats.org/drawingml/2006/main" w="0">
            <a:solidFill>
              <a:srgbClr val="9F111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A149C6-71C3-4094-9CAD-FBDFB12F9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2362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7620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ProcessHcclResPackReq()</a:t>
            </a:r>
          </a:p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处理资源打包请求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21E475-E5CE-4CB8-81B5-8F94F11FF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3860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111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7E0AE4-53DD-4B1A-9FE3-B30034586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0"/>
            <a:ext cx="342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9F111B"/>
          </a:solidFill>
          <a:ln xmlns:a="http://schemas.openxmlformats.org/drawingml/2006/main" w="0">
            <a:solidFill>
              <a:srgbClr val="9F111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9335F4-9EBF-4304-A1D0-642F1B394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91000"/>
            <a:ext cx="2362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7620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PrepareV2ChannelAcquire()</a:t>
            </a:r>
          </a:p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准备 V2 通道申请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1A0525-8A83-4B7E-9335-5D9FFEC6F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51485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111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3E9889-B236-4526-8991-0FC635732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67250"/>
            <a:ext cx="342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9F111B"/>
          </a:solidFill>
          <a:ln xmlns:a="http://schemas.openxmlformats.org/drawingml/2006/main" w="0">
            <a:solidFill>
              <a:srgbClr val="9F111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B426D1-B783-49DF-AE1B-4FD47EFDC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67250"/>
            <a:ext cx="2362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7620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PrepareChannelSymMemHandles()</a:t>
            </a:r>
          </a:p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准备对称内存句柄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9315A5-8D36-4201-B265-9B0F35FB6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99110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111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DADFFE-AADA-4562-A5DF-5028859A5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0"/>
            <a:ext cx="342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9F111B"/>
          </a:solidFill>
          <a:ln xmlns:a="http://schemas.openxmlformats.org/drawingml/2006/main" w="0">
            <a:solidFill>
              <a:srgbClr val="9F111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546D51-B6B6-4C78-868C-266A7090F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0"/>
            <a:ext cx="2362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7620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MyRank::CreateChannels()</a:t>
            </a:r>
          </a:p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创建本 Rank 通道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0F1313-992D-4AD0-B70D-D745AADD5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362075"/>
            <a:ext cx="27622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DEE"/>
          </a:solidFill>
          <a:ln xmlns:a="http://schemas.openxmlformats.org/drawingml/2006/main" w="14288">
            <a:solidFill>
              <a:srgbClr val="9F111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② Socket / 描述符</a:t>
            </a:r>
          </a:p>
        </p:txBody>
      </p:sp>
      <p:cxnSp>
        <p:nvCxnSpPr>
          <p:cNvPr id="140" name=""/>
          <p:cNvCxnSpPr>
            <a:stCxn xmlns:a="http://schemas.openxmlformats.org/drawingml/2006/main" id="5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3162300" y="1528763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9F111B"/>
            </a:solidFill>
            <a:prstDash val="solid"/>
            <a:tailEnd type="triangle" w="sm" len="sm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44CEFAC-B676-47E1-AC2F-4AF65801C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809750"/>
            <a:ext cx="342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9F111B"/>
          </a:solidFill>
          <a:ln xmlns:a="http://schemas.openxmlformats.org/drawingml/2006/main" w="0">
            <a:solidFill>
              <a:srgbClr val="9F111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9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06CD70F-0745-4C97-8764-884E729F1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809750"/>
            <a:ext cx="2362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7620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CheckChannelParam()</a:t>
            </a:r>
          </a:p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校验 HCOMM 通道参数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7E8C769-8157-47A1-9C05-50FF93EAC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13360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111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668B1D2-5B41-4E5B-90F9-DC27B25D0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286000"/>
            <a:ext cx="342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9F111B"/>
          </a:solidFill>
          <a:ln xmlns:a="http://schemas.openxmlformats.org/drawingml/2006/main" w="0">
            <a:solidFill>
              <a:srgbClr val="9F111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42A059D-E5AD-4449-AF31-360AD4603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286000"/>
            <a:ext cx="2362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13335">
            <a:solidFill>
              <a:srgbClr val="9F111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ChannelDescHccl2Hcomm()</a:t>
            </a:r>
          </a:p>
          <a:p xmlns:a="http://schemas.openxmlformats.org/drawingml/2006/main">
            <a:pPr algn="l">
              <a:defRPr sz="64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描述符跨层转换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F408EE5-B1C9-41D0-AB74-877267ACD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60985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111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3DB3D7C-9149-4473-826A-C3479E1AC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62250"/>
            <a:ext cx="342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9F111B"/>
          </a:solidFill>
          <a:ln xmlns:a="http://schemas.openxmlformats.org/drawingml/2006/main" w="0">
            <a:solidFill>
              <a:srgbClr val="9F111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BDE03D9-D722-4ED4-B382-6626B3B4D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762250"/>
            <a:ext cx="2362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7620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ConfigSqDepthByExpansionMode()</a:t>
            </a:r>
          </a:p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按模式配置 SQ 深度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C48B93A-6169-4B46-9FF8-5CAF84EE3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08610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111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2F2CC5E-AA4C-49D1-A0AB-AC799163C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238500"/>
            <a:ext cx="342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9F111B"/>
          </a:solidFill>
          <a:ln xmlns:a="http://schemas.openxmlformats.org/drawingml/2006/main" w="0">
            <a:solidFill>
              <a:srgbClr val="9F111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D514A3C-C674-4F7B-B581-B8B0815DE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238500"/>
            <a:ext cx="2362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7620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BatchCreateSockets()</a:t>
            </a:r>
          </a:p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批量创建 Socket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80EAF64-90D7-4D56-9CB0-C97E993CC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56235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111B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76F0CBD-961C-4A4C-A10A-BB6113581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714750"/>
            <a:ext cx="342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9F111B"/>
          </a:solidFill>
          <a:ln xmlns:a="http://schemas.openxmlformats.org/drawingml/2006/main" w="0">
            <a:solidFill>
              <a:srgbClr val="9F111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13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0D1E1C0-C838-48DD-BD1B-0A2B53C0C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714750"/>
            <a:ext cx="2362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7620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BatchServerInitForChannels()</a:t>
            </a:r>
          </a:p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初始化服务端 Socket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89B37BA-CBAB-4D25-98CF-A427B8F64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403860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111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3392CBC-E97D-40A2-AC43-F2BBA07A9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191000"/>
            <a:ext cx="342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9F111B"/>
          </a:solidFill>
          <a:ln xmlns:a="http://schemas.openxmlformats.org/drawingml/2006/main" w="0">
            <a:solidFill>
              <a:srgbClr val="9F111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14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51FC3B7-5C45-4724-A144-BBF5BDD13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191000"/>
            <a:ext cx="2362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7620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BatchGetSocketsForChannels()</a:t>
            </a:r>
          </a:p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获取通道 Socket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F7EAC35-1D60-4066-BBE0-60A103FE2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451485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111B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7D246A2-B6B8-4FEB-9BE4-BB33809C0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667250"/>
            <a:ext cx="342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9F111B"/>
          </a:solidFill>
          <a:ln xmlns:a="http://schemas.openxmlformats.org/drawingml/2006/main" w="0">
            <a:solidFill>
              <a:srgbClr val="9F111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15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56DAA27-2D52-430B-96BD-09C879597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667250"/>
            <a:ext cx="2362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7620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BatchCreateChannels()</a:t>
            </a:r>
          </a:p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批量创建 Channel 对象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C503D84-6CF5-4404-95E7-E1E4215D1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499110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111B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A6BDAB5-97A4-4B2A-921B-B7782ECD4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143500"/>
            <a:ext cx="342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9F111B"/>
          </a:solidFill>
          <a:ln xmlns:a="http://schemas.openxmlformats.org/drawingml/2006/main" w="0">
            <a:solidFill>
              <a:srgbClr val="9F111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16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DC0161B-E827-4E7F-9E7D-600E71E53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143500"/>
            <a:ext cx="2362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7620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EndpointMgr::Get()</a:t>
            </a:r>
          </a:p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获取 Endpoint 管理器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1A7AC22-A7D6-4DEA-95DB-234C569A1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62075"/>
            <a:ext cx="27622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A"/>
          </a:solidFill>
          <a:ln xmlns:a="http://schemas.openxmlformats.org/drawingml/2006/main" w="14288">
            <a:solidFill>
              <a:srgbClr val="233E9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③ Endpoint / Channel</a:t>
            </a:r>
          </a:p>
        </p:txBody>
      </p:sp>
      <p:cxnSp>
        <p:nvCxnSpPr>
          <p:cNvPr id="165" name=""/>
          <p:cNvCxnSpPr>
            <a:stCxn xmlns:a="http://schemas.openxmlformats.org/drawingml/2006/main" id="29" idx="3"/>
            <a:endCxn xmlns:a="http://schemas.openxmlformats.org/drawingml/2006/main" id="54" idx="1"/>
          </p:cNvCxnSpPr>
          <p:nvPr/>
        </p:nvCxnSpPr>
        <p:spPr>
          <a:xfrm xmlns:a="http://schemas.openxmlformats.org/drawingml/2006/main">
            <a:off x="6057900" y="1528763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33E93"/>
            </a:solidFill>
            <a:prstDash val="solid"/>
            <a:tailEnd type="triangle" w="sm" len="sm"/>
          </a:ln>
        </p:spPr>
      </p:cxn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3514B31-FC4E-473E-9458-99BC7C432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342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33E93"/>
          </a:solidFill>
          <a:ln xmlns:a="http://schemas.openxmlformats.org/drawingml/2006/main" w="0">
            <a:solidFill>
              <a:srgbClr val="233E9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17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19C6FB5-7427-4127-AC68-111DD6CF3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809750"/>
            <a:ext cx="2362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13335">
            <a:solidFill>
              <a:srgbClr val="233E9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HcommEndpointStartListen()</a:t>
            </a:r>
          </a:p>
          <a:p xmlns:a="http://schemas.openxmlformats.org/drawingml/2006/main">
            <a:pPr algn="l">
              <a:defRPr sz="64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启动 Endpoint 监听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30CFD6E-B560-4EBC-BD94-61054911B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13360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33E93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4A18FE4-F92D-49D8-A202-3DCA5EF4C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86000"/>
            <a:ext cx="342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33E93"/>
          </a:solidFill>
          <a:ln xmlns:a="http://schemas.openxmlformats.org/drawingml/2006/main" w="0">
            <a:solidFill>
              <a:srgbClr val="233E9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18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2F950E3-DDA0-4F57-90B9-573DE7225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86000"/>
            <a:ext cx="2362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7620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PrepareMemHandles()</a:t>
            </a:r>
          </a:p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准备内存句柄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9C9BF03-046A-4BAF-990F-8FBD7AD92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60985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33E9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2108B31-55DF-4E93-BAAF-532E5D36B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62250"/>
            <a:ext cx="342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33E93"/>
          </a:solidFill>
          <a:ln xmlns:a="http://schemas.openxmlformats.org/drawingml/2006/main" w="0">
            <a:solidFill>
              <a:srgbClr val="233E9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19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2267189-C859-4DBC-A4D7-63B78C487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762250"/>
            <a:ext cx="2362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7620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RankPairMgr::Get()</a:t>
            </a:r>
          </a:p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获取 RankPair 管理器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2205922-A7DF-4C37-AF68-F061325C6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08610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33E93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E25E4FE-B780-4A2D-BEF2-B6EAE791A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38500"/>
            <a:ext cx="342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33E93"/>
          </a:solidFill>
          <a:ln xmlns:a="http://schemas.openxmlformats.org/drawingml/2006/main" w="0">
            <a:solidFill>
              <a:srgbClr val="233E93"/>
            </a:solidFill>
          </a:ln>
        </p:spPr>
        <p:txBody>
          <a:bodyPr xmlns:a="http://schemas.openxmlformats.org/drawingml/2006/main" anchor="ctr">
            <a:normAutofit fontScale="96486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20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76E185B-C23B-4A0A-8F23-75436623A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238500"/>
            <a:ext cx="2362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7620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RankPair::GetEndpointPair()</a:t>
            </a:r>
          </a:p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获取或复用 EndpointPair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7512C76-D480-4D2D-9828-AA754DFA9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56235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33E93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E079641-AA10-4326-AA6F-477AE727C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14750"/>
            <a:ext cx="342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33E93"/>
          </a:solidFill>
          <a:ln xmlns:a="http://schemas.openxmlformats.org/drawingml/2006/main" w="0">
            <a:solidFill>
              <a:srgbClr val="233E9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21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7F09AFE-3FF9-453C-BA3A-CFD4DFA07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714750"/>
            <a:ext cx="2362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7620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EndpointPair::CreateChannel()</a:t>
            </a:r>
          </a:p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创建具体 Channel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0A2CED4-E4B2-4C82-A298-B2C9C39E5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03860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33E93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B49E6F1-88CC-4176-A200-1F5CBE435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342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33E93"/>
          </a:solidFill>
          <a:ln xmlns:a="http://schemas.openxmlformats.org/drawingml/2006/main" w="0">
            <a:solidFill>
              <a:srgbClr val="233E93"/>
            </a:solidFill>
          </a:ln>
        </p:spPr>
        <p:txBody>
          <a:bodyPr xmlns:a="http://schemas.openxmlformats.org/drawingml/2006/main" anchor="ctr">
            <a:normAutofit fontScale="96486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22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6CE9995-3E2C-4C09-9734-73BEB2A4B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191000"/>
            <a:ext cx="2362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13335">
            <a:solidFill>
              <a:srgbClr val="233E9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HcommCollectiveChannelCreate()</a:t>
            </a:r>
          </a:p>
          <a:p xmlns:a="http://schemas.openxmlformats.org/drawingml/2006/main">
            <a:pPr algn="l">
              <a:defRPr sz="64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创建集合通信 Channel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7958479-3587-459D-950D-954B5332F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51485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33E93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1DF5229-8264-4222-BED9-59C0BE04D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67250"/>
            <a:ext cx="342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33E93"/>
          </a:solidFill>
          <a:ln xmlns:a="http://schemas.openxmlformats.org/drawingml/2006/main" w="0">
            <a:solidFill>
              <a:srgbClr val="233E93"/>
            </a:solidFill>
          </a:ln>
        </p:spPr>
        <p:txBody>
          <a:bodyPr xmlns:a="http://schemas.openxmlformats.org/drawingml/2006/main" anchor="ctr">
            <a:normAutofit fontScale="96486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23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F421CF0-FDF2-493F-A55E-82D4987DB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667250"/>
            <a:ext cx="2362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7620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NormalizeHcommChannelDescs()</a:t>
            </a:r>
          </a:p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归一化描述符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DDFC9DA-3A22-4A61-958F-EB1746AC0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99110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33E93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23E5413-BE8D-489E-B475-F5439B2EB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43500"/>
            <a:ext cx="342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33E93"/>
          </a:solidFill>
          <a:ln xmlns:a="http://schemas.openxmlformats.org/drawingml/2006/main" w="0">
            <a:solidFill>
              <a:srgbClr val="233E93"/>
            </a:solidFill>
          </a:ln>
        </p:spPr>
        <p:txBody>
          <a:bodyPr xmlns:a="http://schemas.openxmlformats.org/drawingml/2006/main" anchor="ctr">
            <a:normAutofit fontScale="96486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24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0AE776C-0212-47FE-9BCE-37F7AD258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143500"/>
            <a:ext cx="2362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7620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ChannelProcess::CreateChannelsLoop()</a:t>
            </a:r>
          </a:p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循环创建 Channel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A8E94FE4-AB54-4EAA-89E6-5CA502F9E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362075"/>
            <a:ext cx="27622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A"/>
          </a:solidFill>
          <a:ln xmlns:a="http://schemas.openxmlformats.org/drawingml/2006/main" w="14288">
            <a:solidFill>
              <a:srgbClr val="233E9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④ 连接 / 回填</a:t>
            </a:r>
          </a:p>
        </p:txBody>
      </p:sp>
      <p:cxnSp>
        <p:nvCxnSpPr>
          <p:cNvPr id="190" name=""/>
          <p:cNvCxnSpPr>
            <a:stCxn xmlns:a="http://schemas.openxmlformats.org/drawingml/2006/main" id="54" idx="3"/>
            <a:endCxn xmlns:a="http://schemas.openxmlformats.org/drawingml/2006/main" id="79" idx="1"/>
          </p:cNvCxnSpPr>
          <p:nvPr/>
        </p:nvCxnSpPr>
        <p:spPr>
          <a:xfrm xmlns:a="http://schemas.openxmlformats.org/drawingml/2006/main">
            <a:off x="8953500" y="1528763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33E93"/>
            </a:solidFill>
            <a:prstDash val="solid"/>
            <a:tailEnd type="triangle" w="sm" len="sm"/>
          </a:ln>
        </p:spPr>
      </p:cxn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0CC440D8-DAD5-4C10-A1DC-374287D60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809750"/>
            <a:ext cx="342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33E93"/>
          </a:solidFill>
          <a:ln xmlns:a="http://schemas.openxmlformats.org/drawingml/2006/main" w="0">
            <a:solidFill>
              <a:srgbClr val="233E93"/>
            </a:solidFill>
          </a:ln>
        </p:spPr>
        <p:txBody>
          <a:bodyPr xmlns:a="http://schemas.openxmlformats.org/drawingml/2006/main" anchor="ctr">
            <a:normAutofit fontScale="96486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25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D2FBE03E-E102-4757-99B9-CCC654C66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809750"/>
            <a:ext cx="2362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7620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Channel::CreateChannel()</a:t>
            </a:r>
          </a:p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创建底层 Channel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D4D5E23C-E76C-493F-B71B-5E96E211E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13360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33E93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70CFB6A4-6CF8-490F-8E24-4552F202B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286000"/>
            <a:ext cx="342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33E93"/>
          </a:solidFill>
          <a:ln xmlns:a="http://schemas.openxmlformats.org/drawingml/2006/main" w="0">
            <a:solidFill>
              <a:srgbClr val="233E93"/>
            </a:solidFill>
          </a:ln>
        </p:spPr>
        <p:txBody>
          <a:bodyPr xmlns:a="http://schemas.openxmlformats.org/drawingml/2006/main" anchor="ctr">
            <a:normAutofit fontScale="96486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26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1DF543C6-C50B-4184-B331-2B1FCAAF7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286000"/>
            <a:ext cx="2362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7620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BatchConnectChannels()</a:t>
            </a:r>
          </a:p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批量发起连接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D18146F2-9D06-47F0-91EB-F3BF7E9BF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60985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33E93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DB0206B7-C669-49F6-850F-9BC9B9114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762250"/>
            <a:ext cx="342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33E93"/>
          </a:solidFill>
          <a:ln xmlns:a="http://schemas.openxmlformats.org/drawingml/2006/main" w="0">
            <a:solidFill>
              <a:srgbClr val="233E93"/>
            </a:solidFill>
          </a:ln>
        </p:spPr>
        <p:txBody>
          <a:bodyPr xmlns:a="http://schemas.openxmlformats.org/drawingml/2006/main" anchor="ctr">
            <a:normAutofit fontScale="99018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27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E8CFBC3A-BF1E-4290-A96E-34BC79A0E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762250"/>
            <a:ext cx="2362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7620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ChannelProcess::ChannelGetStatus()</a:t>
            </a:r>
          </a:p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查询连接状态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C4BE1131-E757-4DDA-B5ED-EE9ADE954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08610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33E93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C507633E-429C-41AA-8A61-B8F1CF46F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238500"/>
            <a:ext cx="342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33E93"/>
          </a:solidFill>
          <a:ln xmlns:a="http://schemas.openxmlformats.org/drawingml/2006/main" w="0">
            <a:solidFill>
              <a:srgbClr val="233E93"/>
            </a:solidFill>
          </a:ln>
        </p:spPr>
        <p:txBody>
          <a:bodyPr xmlns:a="http://schemas.openxmlformats.org/drawingml/2006/main" anchor="ctr">
            <a:normAutofit fontScale="96486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28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6340DFFC-AA29-42AA-A4EB-BF2EA0E38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238500"/>
            <a:ext cx="2362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13335">
            <a:solidFill>
              <a:srgbClr val="233E9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BatchExchangeAndCheckConsistency()</a:t>
            </a:r>
          </a:p>
          <a:p xmlns:a="http://schemas.openxmlformats.org/drawingml/2006/main">
            <a:pPr algn="l">
              <a:defRPr sz="64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交换并校验一致性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E35DEFB4-27C1-4228-B25E-D6C54AE46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56235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33E93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6EFAE448-E1F5-4F67-907D-F875ACBE3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714750"/>
            <a:ext cx="342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33E93"/>
          </a:solidFill>
          <a:ln xmlns:a="http://schemas.openxmlformats.org/drawingml/2006/main" w="0">
            <a:solidFill>
              <a:srgbClr val="233E93"/>
            </a:solidFill>
          </a:ln>
        </p:spPr>
        <p:txBody>
          <a:bodyPr xmlns:a="http://schemas.openxmlformats.org/drawingml/2006/main" anchor="ctr">
            <a:normAutofit fontScale="96486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29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904ED112-7B62-4620-8EA7-607ED1680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714750"/>
            <a:ext cx="2362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7620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FinalizeChannelsByEngine()</a:t>
            </a:r>
          </a:p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按 Engine 封装资源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00740793-AEBA-41FF-99C2-1233328A3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403860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33E9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88AF3114-0C6D-4140-9914-133332533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191000"/>
            <a:ext cx="342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33E93"/>
          </a:solidFill>
          <a:ln xmlns:a="http://schemas.openxmlformats.org/drawingml/2006/main" w="0">
            <a:solidFill>
              <a:srgbClr val="233E93"/>
            </a:solidFill>
          </a:ln>
        </p:spPr>
        <p:txBody>
          <a:bodyPr xmlns:a="http://schemas.openxmlformats.org/drawingml/2006/main" anchor="ctr">
            <a:normAutofit fontScale="96486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30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35DC06A7-5946-4A93-BB87-E03FD4257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191000"/>
            <a:ext cx="2362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13335">
            <a:solidFill>
              <a:srgbClr val="233E9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57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ConvertAivChannelHandlesToDevicePtrs()</a:t>
            </a:r>
          </a:p>
          <a:p xmlns:a="http://schemas.openxmlformats.org/drawingml/2006/main">
            <a:pPr algn="l">
              <a:defRPr sz="57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57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AIV 句柄转设备指针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E1226014-2691-4936-B3F4-33431264B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451485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33E93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075C9C4E-5D5D-4E91-A9FC-769FC2C7E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667250"/>
            <a:ext cx="342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33E93"/>
          </a:solidFill>
          <a:ln xmlns:a="http://schemas.openxmlformats.org/drawingml/2006/main" w="0">
            <a:solidFill>
              <a:srgbClr val="233E9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31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625FCD4F-7CB1-40E6-BFAC-382F098D2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667250"/>
            <a:ext cx="2362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7620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HcclChannelGetHcclBuffer()</a:t>
            </a:r>
          </a:p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获取通信缓冲区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DED1F821-60FD-464F-9CA0-CD03EC9EE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499110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33E93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AEA55558-F5FA-4D58-B4BE-35716A802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143500"/>
            <a:ext cx="342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33E93"/>
          </a:solidFill>
          <a:ln xmlns:a="http://schemas.openxmlformats.org/drawingml/2006/main" w="0">
            <a:solidFill>
              <a:srgbClr val="233E93"/>
            </a:solidFill>
          </a:ln>
        </p:spPr>
        <p:txBody>
          <a:bodyPr xmlns:a="http://schemas.openxmlformats.org/drawingml/2006/main" anchor="ctr">
            <a:normAutofit fontScale="96486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32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2916D09E-2A7F-4ED2-BE7E-C205ECDB5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143500"/>
            <a:ext cx="2362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13335">
            <a:solidFill>
              <a:srgbClr val="233E9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57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return ChannelHandle + Remote CCL Buffer</a:t>
            </a:r>
          </a:p>
          <a:p xmlns:a="http://schemas.openxmlformats.org/drawingml/2006/main">
            <a:pPr algn="l">
              <a:defRPr sz="57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57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返回句柄和远端缓冲区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F73628E6-11C8-4C5A-AD2F-1EC6FFAE1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667375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967"/>
          </a:bodyPr>
          <a:lstStyle xmlns:a="http://schemas.openxmlformats.org/drawingml/2006/main"/>
          <a:p xmlns:a="http://schemas.openxmlformats.org/drawingml/2006/main">
            <a:pPr algn="ctr">
              <a:defRPr sz="765" b="1">
                <a:solidFill>
                  <a:srgbClr val="9F111B"/>
                </a:solidFill>
                <a:latin typeface="PingFang SC"/>
                <a:ea typeface="PingFang SC"/>
                <a:cs typeface="PingFang SC"/>
              </a:defRPr>
            </a:pPr>
            <a:r>
              <a:rPr sz="765" b="1">
                <a:solidFill>
                  <a:srgbClr val="9F111B"/>
                </a:solidFill>
                <a:latin typeface="PingFang SC"/>
                <a:ea typeface="PingFang SC"/>
                <a:cs typeface="PingFang SC"/>
              </a:rPr>
              <a:t>08 完成后进入 09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46A9F159-37AD-4805-BB7C-68ACF2E0F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5667375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967"/>
          </a:bodyPr>
          <a:lstStyle xmlns:a="http://schemas.openxmlformats.org/drawingml/2006/main"/>
          <a:p xmlns:a="http://schemas.openxmlformats.org/drawingml/2006/main">
            <a:pPr algn="ctr">
              <a:defRPr sz="765" b="1">
                <a:solidFill>
                  <a:srgbClr val="233E93"/>
                </a:solidFill>
                <a:latin typeface="PingFang SC"/>
                <a:ea typeface="PingFang SC"/>
                <a:cs typeface="PingFang SC"/>
              </a:defRPr>
            </a:pPr>
            <a:r>
              <a:rPr sz="765" b="1">
                <a:solidFill>
                  <a:srgbClr val="233E93"/>
                </a:solidFill>
                <a:latin typeface="PingFang SC"/>
                <a:ea typeface="PingFang SC"/>
                <a:cs typeface="PingFang SC"/>
              </a:rPr>
              <a:t>16 完成后进入 17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CA87CE31-D997-4F58-A671-72C7FB6D1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667375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967"/>
          </a:bodyPr>
          <a:lstStyle xmlns:a="http://schemas.openxmlformats.org/drawingml/2006/main"/>
          <a:p xmlns:a="http://schemas.openxmlformats.org/drawingml/2006/main">
            <a:pPr algn="ctr">
              <a:defRPr sz="765" b="1">
                <a:solidFill>
                  <a:srgbClr val="9F111B"/>
                </a:solidFill>
                <a:latin typeface="PingFang SC"/>
                <a:ea typeface="PingFang SC"/>
                <a:cs typeface="PingFang SC"/>
              </a:defRPr>
            </a:pPr>
            <a:r>
              <a:rPr sz="765" b="1">
                <a:solidFill>
                  <a:srgbClr val="9F111B"/>
                </a:solidFill>
                <a:latin typeface="PingFang SC"/>
                <a:ea typeface="PingFang SC"/>
                <a:cs typeface="PingFang SC"/>
              </a:rPr>
              <a:t>24 完成后进入 25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B0C00FE9-732C-42A2-851E-348D779FE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81700"/>
            <a:ext cx="11391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8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条件调用：AICPU / AIV 交换对称内存　AIV 转换设备侧句柄　950 执行一致性校验　CCU 资源不足返回 HCCL_E_UNAVAIL 并协商回退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7B243DCC-9C30-44D5-9B98-B12607A19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62725"/>
            <a:ext cx="11468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404447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4A4BB209-41A3-4016-BF5F-DB7D35913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91300"/>
            <a:ext cx="103346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5833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66B70"/>
                </a:solidFill>
                <a:latin typeface="PingFang SC"/>
                <a:ea typeface="PingFang SC"/>
                <a:cs typeface="PingFang SC"/>
              </a:defRPr>
            </a:pPr>
            <a:r>
              <a:rPr sz="600" b="0">
                <a:solidFill>
                  <a:srgbClr val="666B70"/>
                </a:solidFill>
                <a:latin typeface="PingFang SC"/>
                <a:ea typeface="PingFang SC"/>
                <a:cs typeface="PingFang SC"/>
              </a:rPr>
              <a:t>源码：coll_comm_res_c_adpt.cc:755-858；my_rank.cc:567-1300；endpoint_pair.cc:199-226；channel_process.cc:89-133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35F9600C-F034-4A60-8C92-FFF76C97B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91300"/>
            <a:ext cx="1409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5833"/>
          </a:bodyPr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66B70"/>
                </a:solidFill>
                <a:latin typeface="PingFang SC"/>
                <a:ea typeface="PingFang SC"/>
                <a:cs typeface="PingFang SC"/>
              </a:defRPr>
            </a:pPr>
            <a:r>
              <a:rPr sz="600" b="0">
                <a:solidFill>
                  <a:srgbClr val="666B70"/>
                </a:solidFill>
                <a:latin typeface="PingFang SC"/>
                <a:ea typeface="PingFang SC"/>
                <a:cs typeface="PingFang SC"/>
              </a:rPr>
              <a:t>HCCL / HCOMM 源码分析</a:t>
            </a:r>
          </a:p>
        </p:txBody>
      </p:sp>
    </p:spTree>
    <p:extLst>
      <p:ext uri="{BB962C8B-B14F-4D97-AF65-F5344CB8AC3E}">
        <p14:creationId xmlns:p14="http://schemas.microsoft.com/office/powerpoint/2010/main" val="2245847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16DE3FE-A8CC-431D-8F61-BB7EC8A89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23825"/>
            <a:ext cx="114109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9F111B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9F111B"/>
                </a:solidFill>
                <a:latin typeface="PingFang SC"/>
                <a:ea typeface="PingFang SC"/>
                <a:cs typeface="PingFang SC"/>
              </a:rPr>
              <a:t>CommEngine 选择一条执行路径，三种 Engine 共享建链结果并最终汇入同一传输层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76F8F7-6168-4490-95FB-605F85A87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42925"/>
            <a:ext cx="11410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356"/>
          </a:bodyPr>
          <a:lstStyle xmlns:a="http://schemas.openxmlformats.org/drawingml/2006/main"/>
          <a:p xmlns:a="http://schemas.openxmlformats.org/drawingml/2006/main">
            <a:pPr algn="ctr">
              <a:defRPr sz="138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38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AICPU_TS、AIV 与 CCU 的分叉、执行与汇合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3E9FB6-2AD5-47C3-9394-925DE04ED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5429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6B7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66B70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E29C7E-C499-4DB7-A122-F28276BE4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共享资源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943DD5-C6BF-4768-A616-40B0172C9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104900"/>
            <a:ext cx="2143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RankGraph</a:t>
            </a:r>
          </a:p>
          <a:p xmlns:a="http://schemas.openxmlformats.org/drawingml/2006/main">
            <a:pPr algn="ctr">
              <a:defRPr sz="713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通信拓扑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0C096D-5B4E-4156-AC9E-9AFB280EB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104900"/>
            <a:ext cx="2143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EngineCtx</a:t>
            </a:r>
          </a:p>
          <a:p xmlns:a="http://schemas.openxmlformats.org/drawingml/2006/main">
            <a:pPr algn="ctr">
              <a:defRPr sz="713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引擎上下文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F0A910-6B52-49CF-951D-11086F750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104900"/>
            <a:ext cx="2143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Thread / Channel</a:t>
            </a:r>
          </a:p>
          <a:p xmlns:a="http://schemas.openxmlformats.org/drawingml/2006/main">
            <a:pPr algn="ctr">
              <a:defRPr sz="713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线程与通道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5AC238-3047-4D74-BBF3-4C1B7D482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104900"/>
            <a:ext cx="2143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通信内存 / Notify</a:t>
            </a:r>
          </a:p>
          <a:p xmlns:a="http://schemas.openxmlformats.org/drawingml/2006/main">
            <a:pPr algn="ctr">
              <a:defRPr sz="713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缓冲区与同步</a:t>
            </a:r>
          </a:p>
        </p:txBody>
      </p:sp>
      <p:cxnSp>
        <p:nvCxnSpPr>
          <p:cNvPr id="75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952875" y="1266825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404447"/>
            </a:solidFill>
            <a:prstDash val="solid"/>
            <a:tailEnd type="triangle" w="sm" len="sm"/>
          </a:ln>
        </p:spPr>
      </p:cxnSp>
      <p:cxnSp>
        <p:nvCxnSpPr>
          <p:cNvPr id="76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6429375" y="1266825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404447"/>
            </a:solidFill>
            <a:prstDash val="solid"/>
            <a:tailEnd type="triangle" w="sm" len="sm"/>
          </a:ln>
        </p:spPr>
      </p:cxnSp>
      <p:cxnSp>
        <p:nvCxnSpPr>
          <p:cNvPr id="77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905875" y="1266825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404447"/>
            </a:solidFill>
            <a:prstDash val="solid"/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C38DC3-3328-42EA-B621-1C2BD2048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581150"/>
            <a:ext cx="2000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969"/>
          </a:solidFill>
          <a:ln xmlns:a="http://schemas.openxmlformats.org/drawingml/2006/main" w="14288">
            <a:solidFill>
              <a:srgbClr val="9F111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CommEngine</a:t>
            </a:r>
          </a:p>
          <a:p xmlns:a="http://schemas.openxmlformats.org/drawingml/2006/main">
            <a:pPr algn="ctr">
              <a:defRPr sz="90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三选一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8D5331-CE60-4A2A-AF5E-B12AB2ACD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36385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DEE"/>
          </a:solidFill>
          <a:ln xmlns:a="http://schemas.openxmlformats.org/drawingml/2006/main" w="15240">
            <a:solidFill>
              <a:srgbClr val="9F111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1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1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AICPU_TS</a:t>
            </a:r>
          </a:p>
          <a:p xmlns:a="http://schemas.openxmlformats.org/drawingml/2006/main">
            <a:pPr algn="ctr">
              <a:defRPr sz="81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1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CommEngine = AICPU_TS</a:t>
            </a:r>
          </a:p>
        </p:txBody>
      </p:sp>
      <p:cxnSp>
        <p:nvCxnSpPr>
          <p:cNvPr id="80" name=""/>
          <p:cNvCxnSpPr>
            <a:stCxn xmlns:a="http://schemas.openxmlformats.org/drawingml/2006/main" id="12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 flipH="1">
            <a:off x="2219325" y="1990725"/>
            <a:ext cx="3876675" cy="2762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9F111B"/>
            </a:solidFill>
            <a:prstDash val="solid"/>
            <a:tail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6D2078-FD48-4BEC-8C6E-026BA1D35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90850"/>
            <a:ext cx="36385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111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9EACC7-26E9-486B-A40F-CA6D0A649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781300"/>
            <a:ext cx="3486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9743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9F111B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9F111B"/>
                </a:solidFill>
                <a:latin typeface="PingFang SC"/>
                <a:ea typeface="PingFang SC"/>
                <a:cs typeface="PingFang SC"/>
              </a:rPr>
              <a:t>资源准备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D7E269-1A37-4660-94EE-8EB7BAF42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05150"/>
            <a:ext cx="3448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01  HcclThreadAcquire — 申请执行线程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237B42-382A-4B45-9CA6-732C0CF5C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52800"/>
            <a:ext cx="3448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02  AicpuKernelLaunch — 发射 AICPU Kernel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16E08D-5255-4EC0-ADDA-14112A19A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00450"/>
            <a:ext cx="3448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03  HcclThreadResGetInfo — 查询线程资源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FACCF9-7A5F-498A-A296-CE5A8EDE2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48100"/>
            <a:ext cx="3448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04  aclrtLaunchKernelWithConfig — 启动 Kernel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D9575B-63C2-42EB-8E9F-8CF46504F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0"/>
            <a:ext cx="36385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111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42B8FC-D367-4074-9D33-DAF2F981D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62450"/>
            <a:ext cx="3486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9743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9F111B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9F111B"/>
                </a:solidFill>
                <a:latin typeface="PingFang SC"/>
                <a:ea typeface="PingFang SC"/>
                <a:cs typeface="PingFang SC"/>
              </a:rPr>
              <a:t>执行与发射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F2E984-E609-413F-861C-6B0FE4940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95825"/>
            <a:ext cx="3448050" cy="1409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49770"/>
          </a:bodyPr>
          <a:lstStyle xmlns:a="http://schemas.openxmlformats.org/drawingml/2006/main"/>
          <a:p xmlns:a="http://schemas.openxmlformats.org/drawingml/2006/main">
            <a:pPr algn="l">
              <a:defRPr sz="653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53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05  HcommLocalCopy / Reduce — 本地拷贝 / 规约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2C595C-E241-417A-ADB9-F8EB9C083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55845"/>
            <a:ext cx="3448050" cy="1409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49770"/>
          </a:bodyPr>
          <a:lstStyle xmlns:a="http://schemas.openxmlformats.org/drawingml/2006/main"/>
          <a:p xmlns:a="http://schemas.openxmlformats.org/drawingml/2006/main">
            <a:pPr algn="l">
              <a:defRPr sz="653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53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06  HcommRead / Write — 通道读写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AB157F-1BC0-46AF-AA19-FC294663A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15865"/>
            <a:ext cx="3448050" cy="1409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49770"/>
          </a:bodyPr>
          <a:lstStyle xmlns:a="http://schemas.openxmlformats.org/drawingml/2006/main"/>
          <a:p xmlns:a="http://schemas.openxmlformats.org/drawingml/2006/main">
            <a:pPr algn="l">
              <a:defRPr sz="653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53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07  ReadReduce / WriteReduce — 融合规约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F008E5-E82D-4762-838A-AA1AAF17F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75885"/>
            <a:ext cx="3448050" cy="1409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49770"/>
          </a:bodyPr>
          <a:lstStyle xmlns:a="http://schemas.openxmlformats.org/drawingml/2006/main"/>
          <a:p xmlns:a="http://schemas.openxmlformats.org/drawingml/2006/main">
            <a:pPr algn="l">
              <a:defRPr sz="653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53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08  BatchTransfer — 批量传输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B5507E-3433-428C-BC3D-6124DDFF3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5905"/>
            <a:ext cx="3448050" cy="1409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49770"/>
          </a:bodyPr>
          <a:lstStyle xmlns:a="http://schemas.openxmlformats.org/drawingml/2006/main"/>
          <a:p xmlns:a="http://schemas.openxmlformats.org/drawingml/2006/main">
            <a:pPr algn="l">
              <a:defRPr sz="653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53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09  Notify / Fence / Drain — 同步与排空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0AB349-9616-47ED-AD07-9D75A6500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29300"/>
            <a:ext cx="3448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13335">
            <a:solidFill>
              <a:srgbClr val="9F111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2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Hcomm*OnThread</a:t>
            </a:r>
          </a:p>
          <a:p xmlns:a="http://schemas.openxmlformats.org/drawingml/2006/main">
            <a:pPr algn="ctr">
              <a:defRPr sz="72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逐原语执行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4E64A0-19B1-4771-A2E1-11BFE4F2E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266950"/>
            <a:ext cx="36385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A"/>
          </a:solidFill>
          <a:ln xmlns:a="http://schemas.openxmlformats.org/drawingml/2006/main" w="15240">
            <a:solidFill>
              <a:srgbClr val="233E9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1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1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AIV / AIV_ONLY</a:t>
            </a:r>
          </a:p>
          <a:p xmlns:a="http://schemas.openxmlformats.org/drawingml/2006/main">
            <a:pPr algn="ctr">
              <a:defRPr sz="81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1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CommEngine = AIV 或 AIV_ONLY</a:t>
            </a:r>
          </a:p>
        </p:txBody>
      </p:sp>
      <p:cxnSp>
        <p:nvCxnSpPr>
          <p:cNvPr id="96" name=""/>
          <p:cNvCxnSpPr>
            <a:stCxn xmlns:a="http://schemas.openxmlformats.org/drawingml/2006/main" id="12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>
            <a:off x="6096000" y="1990725"/>
            <a:ext cx="0" cy="2762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33E93"/>
            </a:solidFill>
            <a:prstDash val="solid"/>
            <a:tailEnd type="triangle" w="sm" len="sm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3BB856C-8CDD-4C34-8DA2-0D394DEEF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990850"/>
            <a:ext cx="36385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33E9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F294D3D-162A-4EEE-BC20-FB7EF95EE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781300"/>
            <a:ext cx="3486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9743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233E93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233E93"/>
                </a:solidFill>
                <a:latin typeface="PingFang SC"/>
                <a:ea typeface="PingFang SC"/>
                <a:cs typeface="PingFang SC"/>
              </a:rPr>
              <a:t>资源准备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973F761-6243-4A9B-8D9F-82A266B34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105150"/>
            <a:ext cx="3448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01  GetAlgResAiv — 汇总 AIV 资源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6EB80FB-E253-4E56-A717-C67531FB0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352800"/>
            <a:ext cx="3448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02  HcclAllocAlgResourceAiv — 分配算法资源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E10FE6E-01A4-4CE2-B60E-9C8A7EEB3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600450"/>
            <a:ext cx="3448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03  HcclCommMemReg — 注册通信内存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52B931A-B1FE-42D9-8EEA-E230CE82B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848100"/>
            <a:ext cx="3448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04  HcclChannelAcquire(AIV) — 申请通道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D092162-2CE4-46FC-B11E-42886D9AF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095750"/>
            <a:ext cx="3448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05  ConvertAivChannelHandlesToDevicePtrs — 转设备指针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340A4EE-E12B-4E48-9EAC-A0BC0B33B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572000"/>
            <a:ext cx="36385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33E9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A440020-3DD6-456A-90B9-2F9BA0B71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4362450"/>
            <a:ext cx="3486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9743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233E93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233E93"/>
                </a:solidFill>
                <a:latin typeface="PingFang SC"/>
                <a:ea typeface="PingFang SC"/>
                <a:cs typeface="PingFang SC"/>
              </a:rPr>
              <a:t>执行与发射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449A0C7-F67B-4FB0-A6E1-738234326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695825"/>
            <a:ext cx="34480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89969"/>
          </a:bodyPr>
          <a:lstStyle xmlns:a="http://schemas.openxmlformats.org/drawingml/2006/main"/>
          <a:p xmlns:a="http://schemas.openxmlformats.org/drawingml/2006/main">
            <a:pPr algn="l">
              <a:defRPr sz="653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53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06  HcclAivKernelEntranceLaunch — AIV 核入口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E8265FB-2AD7-4249-B645-12DEB3065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895850"/>
            <a:ext cx="34480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89969"/>
          </a:bodyPr>
          <a:lstStyle xmlns:a="http://schemas.openxmlformats.org/drawingml/2006/main"/>
          <a:p xmlns:a="http://schemas.openxmlformats.org/drawingml/2006/main">
            <a:pPr algn="l">
              <a:defRPr sz="653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53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07  GetAivParamStorageByComm — 获取参数区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AFA8026-53E1-4345-85C0-BF0CF1420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5095875"/>
            <a:ext cx="34480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89969"/>
          </a:bodyPr>
          <a:lstStyle xmlns:a="http://schemas.openxmlformats.org/drawingml/2006/main"/>
          <a:p xmlns:a="http://schemas.openxmlformats.org/drawingml/2006/main">
            <a:pPr algn="l">
              <a:defRPr sz="653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53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08  ExecuteKernelLaunch — 组装并发射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7E19EA0-41B8-4E6B-BE09-5B70792EE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5295900"/>
            <a:ext cx="34480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89969"/>
          </a:bodyPr>
          <a:lstStyle xmlns:a="http://schemas.openxmlformats.org/drawingml/2006/main"/>
          <a:p xmlns:a="http://schemas.openxmlformats.org/drawingml/2006/main">
            <a:pPr algn="l">
              <a:defRPr sz="653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53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09  ExecuteKernelLaunchInner — Runtime 底层发射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5284E53-6454-456C-870E-CB944E4C3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5829300"/>
            <a:ext cx="3448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13335">
            <a:solidFill>
              <a:srgbClr val="233E9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2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aclrtLaunchKernelWithHostArgs</a:t>
            </a:r>
          </a:p>
          <a:p xmlns:a="http://schemas.openxmlformats.org/drawingml/2006/main">
            <a:pPr algn="ctr">
              <a:defRPr sz="72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携带 Host 参数发射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4FFEE1C-4213-4892-92BF-E5ED3ADC2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266950"/>
            <a:ext cx="36385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A"/>
          </a:solidFill>
          <a:ln xmlns:a="http://schemas.openxmlformats.org/drawingml/2006/main" w="15240">
            <a:solidFill>
              <a:srgbClr val="233E9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1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1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CCU_MS / CCU_SCHED</a:t>
            </a:r>
          </a:p>
          <a:p xmlns:a="http://schemas.openxmlformats.org/drawingml/2006/main">
            <a:pPr algn="ctr">
              <a:defRPr sz="81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1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CommEngine = CCU_MS 或 CCU_SCHED</a:t>
            </a:r>
          </a:p>
        </p:txBody>
      </p:sp>
      <p:cxnSp>
        <p:nvCxnSpPr>
          <p:cNvPr id="112" name=""/>
          <p:cNvCxnSpPr>
            <a:stCxn xmlns:a="http://schemas.openxmlformats.org/drawingml/2006/main" id="12" idx="2"/>
            <a:endCxn xmlns:a="http://schemas.openxmlformats.org/drawingml/2006/main" id="45" idx="0"/>
          </p:cNvCxnSpPr>
          <p:nvPr/>
        </p:nvCxnSpPr>
        <p:spPr>
          <a:xfrm xmlns:a="http://schemas.openxmlformats.org/drawingml/2006/main">
            <a:off x="6096000" y="1990725"/>
            <a:ext cx="3876675" cy="2762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33E93"/>
            </a:solidFill>
            <a:prstDash val="solid"/>
            <a:tailEnd type="triangle" w="sm" len="sm"/>
          </a:ln>
        </p:spPr>
      </p:cxn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F14BA9D-C55B-4CB2-A526-88A766DD7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990850"/>
            <a:ext cx="36385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33E9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68A19BA-B1F2-4EAF-9946-79AEE7A08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81300"/>
            <a:ext cx="3486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9743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233E93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233E93"/>
                </a:solidFill>
                <a:latin typeface="PingFang SC"/>
                <a:ea typeface="PingFang SC"/>
                <a:cs typeface="PingFang SC"/>
              </a:rPr>
              <a:t>资源准备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479F50A-3DC6-43C3-83DC-04D6D53EE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105150"/>
            <a:ext cx="3448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01  GetAlgResCcu — 汇总 CCU 资源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AC36248-460B-4C99-9647-81BA98E0C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352800"/>
            <a:ext cx="3448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02  HcclAllocAlgResourceCcu — 分配算法资源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1AD7B56-D4E6-4A39-87FA-54184CC62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00450"/>
            <a:ext cx="3448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03  HcclChannelQuery / Acquire — 查询或申请通道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EE5684A-F8E8-45ED-97DE-26251D9B6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848100"/>
            <a:ext cx="3448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04  HcclGetCcuKernel / Dynamic — 获取 Kernel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FDE80C3-A9F0-4541-94FA-AA4B84AD0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095750"/>
            <a:ext cx="3448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05  HcommCcuInsCreate / Assign — 创建并绑定实例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82E4513-10B7-4374-92B2-A3FF67D92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572000"/>
            <a:ext cx="36385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33E93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0B39843-621A-4377-8163-462A79CC5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362450"/>
            <a:ext cx="3486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9743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233E93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233E93"/>
                </a:solidFill>
                <a:latin typeface="PingFang SC"/>
                <a:ea typeface="PingFang SC"/>
                <a:cs typeface="PingFang SC"/>
              </a:rPr>
              <a:t>执行与发射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EDEE76F-D353-4AFB-8942-423391246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695825"/>
            <a:ext cx="3448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53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53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06  HcommCcuKernelRegisterStart — 开始注册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E6928C9-FC9B-4C54-91FA-15D1DD564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962525"/>
            <a:ext cx="3448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53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53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07  HcommCcuKernelRegister — 注册 Kernel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9D23FB6-064F-4F73-8F70-B6F076B77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229225"/>
            <a:ext cx="3448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53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53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08  HcommCcuKernelRegisterEnd — 完成注册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10CC8F1-7E5A-4217-BFC1-F4262D858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829300"/>
            <a:ext cx="3448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13335">
            <a:solidFill>
              <a:srgbClr val="233E9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2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HcommCcuKernelLaunch</a:t>
            </a:r>
          </a:p>
          <a:p xmlns:a="http://schemas.openxmlformats.org/drawingml/2006/main">
            <a:pPr algn="ctr">
              <a:defRPr sz="72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提交 CCU Mission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A9E9CEB-9F62-40E8-B13F-C5242F191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6267450"/>
            <a:ext cx="8001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共同汇入 Channel L3，最终使用 UB、RoCE、HCCS 等 Transport</a:t>
            </a:r>
          </a:p>
        </p:txBody>
      </p:sp>
      <p:cxnSp>
        <p:nvCxnSpPr>
          <p:cNvPr id="127" name=""/>
          <p:cNvCxnSpPr>
            <a:stCxn xmlns:a="http://schemas.openxmlformats.org/drawingml/2006/main" id="28" idx="2"/>
            <a:endCxn xmlns:a="http://schemas.openxmlformats.org/drawingml/2006/main" id="60" idx="0"/>
          </p:cNvCxnSpPr>
          <p:nvPr/>
        </p:nvCxnSpPr>
        <p:spPr>
          <a:xfrm xmlns:a="http://schemas.openxmlformats.org/drawingml/2006/main">
            <a:off x="2219325" y="6191250"/>
            <a:ext cx="3876675" cy="762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7145">
            <a:solidFill>
              <a:srgbClr val="9F111B"/>
            </a:solidFill>
            <a:prstDash val="solid"/>
            <a:tailEnd type="triangle" w="sm" len="sm"/>
          </a:ln>
        </p:spPr>
      </p:cxnSp>
      <p:cxnSp>
        <p:nvCxnSpPr>
          <p:cNvPr id="128" name=""/>
          <p:cNvCxnSpPr>
            <a:stCxn xmlns:a="http://schemas.openxmlformats.org/drawingml/2006/main" id="44" idx="2"/>
            <a:endCxn xmlns:a="http://schemas.openxmlformats.org/drawingml/2006/main" id="60" idx="0"/>
          </p:cNvCxnSpPr>
          <p:nvPr/>
        </p:nvCxnSpPr>
        <p:spPr>
          <a:xfrm xmlns:a="http://schemas.openxmlformats.org/drawingml/2006/main">
            <a:off x="6096000" y="6191250"/>
            <a:ext cx="0" cy="762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33E93"/>
            </a:solidFill>
            <a:prstDash val="solid"/>
            <a:tailEnd type="triangle" w="sm" len="sm"/>
          </a:ln>
        </p:spPr>
      </p:cxnSp>
      <p:cxnSp>
        <p:nvCxnSpPr>
          <p:cNvPr id="129" name=""/>
          <p:cNvCxnSpPr>
            <a:stCxn xmlns:a="http://schemas.openxmlformats.org/drawingml/2006/main" id="59" idx="2"/>
            <a:endCxn xmlns:a="http://schemas.openxmlformats.org/drawingml/2006/main" id="60" idx="0"/>
          </p:cNvCxnSpPr>
          <p:nvPr/>
        </p:nvCxnSpPr>
        <p:spPr>
          <a:xfrm xmlns:a="http://schemas.openxmlformats.org/drawingml/2006/main" flipH="1">
            <a:off x="6096000" y="6191250"/>
            <a:ext cx="3876675" cy="762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7145">
            <a:solidFill>
              <a:srgbClr val="233E93"/>
            </a:solidFill>
            <a:prstDash val="solid"/>
            <a:tailEnd type="triangle" w="sm" len="sm"/>
          </a:ln>
        </p:spPr>
      </p:cxn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F08A7F6-A346-43E5-A773-59C7DCA6D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62725"/>
            <a:ext cx="11468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404447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C4B3CC2-842C-4F74-BC34-BBDCF95DE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91300"/>
            <a:ext cx="103346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5833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66B70"/>
                </a:solidFill>
                <a:latin typeface="PingFang SC"/>
                <a:ea typeface="PingFang SC"/>
                <a:cs typeface="PingFang SC"/>
              </a:defRPr>
            </a:pPr>
            <a:r>
              <a:rPr sz="600" b="0">
                <a:solidFill>
                  <a:srgbClr val="666B70"/>
                </a:solidFill>
                <a:latin typeface="PingFang SC"/>
                <a:ea typeface="PingFang SC"/>
                <a:cs typeface="PingFang SC"/>
              </a:rPr>
              <a:t>源码：aicpu_ts_primitives_c_adpt.cc；op_common.cc:1216-1247,2200-2990；hccl_aiv_utils.cc:1068-1223；ccu_launch.cc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F8137A0-D4BD-478C-887C-654EFC7AD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91300"/>
            <a:ext cx="1409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5833"/>
          </a:bodyPr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66B70"/>
                </a:solidFill>
                <a:latin typeface="PingFang SC"/>
                <a:ea typeface="PingFang SC"/>
                <a:cs typeface="PingFang SC"/>
              </a:defRPr>
            </a:pPr>
            <a:r>
              <a:rPr sz="600" b="0">
                <a:solidFill>
                  <a:srgbClr val="666B70"/>
                </a:solidFill>
                <a:latin typeface="PingFang SC"/>
                <a:ea typeface="PingFang SC"/>
                <a:cs typeface="PingFang SC"/>
              </a:rPr>
              <a:t>HCCL / HCOMM 源码分析</a:t>
            </a:r>
          </a:p>
        </p:txBody>
      </p:sp>
    </p:spTree>
    <p:extLst>
      <p:ext uri="{BB962C8B-B14F-4D97-AF65-F5344CB8AC3E}">
        <p14:creationId xmlns:p14="http://schemas.microsoft.com/office/powerpoint/2010/main" val="2805324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2026-09-19T06:26:03.3010000Z</dcterms:created>
  <dcterms:modified xsi:type="dcterms:W3CDTF">2026-09-19T06:26:03.3010000Z</dcterms:modified>
</coreProperties>
</file>