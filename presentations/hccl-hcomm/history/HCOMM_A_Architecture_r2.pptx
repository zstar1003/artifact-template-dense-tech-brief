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f3efa357e64ccd" /><Relationship Type="http://schemas.openxmlformats.org/officeDocument/2006/relationships/extended-properties" Target="/docProps/app.xml" Id="R873ef789e59f46a5" /><Relationship Type="http://schemas.openxmlformats.org/officeDocument/2006/relationships/officeDocument" Target="/ppt/presentation.xml" Id="R4e4b7b2d60f843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d24dc795fd4fb7"/>
  </p:sldMasterIdLst>
  <p:notesMasterIdLst>
    <p:notesMasterId xmlns:r="http://schemas.openxmlformats.org/officeDocument/2006/relationships" r:id="R24eb13097d044171"/>
  </p:notesMasterIdLst>
  <p:sldIdLst>
    <p:sldId xmlns:r="http://schemas.openxmlformats.org/officeDocument/2006/relationships" id="256" r:id="R49f0b922b0d94a81"/>
    <p:sldId xmlns:r="http://schemas.openxmlformats.org/officeDocument/2006/relationships" id="257" r:id="Rc622b071415d4780"/>
    <p:sldId xmlns:r="http://schemas.openxmlformats.org/officeDocument/2006/relationships" id="258" r:id="Ra0ebc75a29ee4cab"/>
    <p:sldId xmlns:r="http://schemas.openxmlformats.org/officeDocument/2006/relationships" id="259" r:id="Rcc84f1d7c5aa4a58"/>
    <p:sldId xmlns:r="http://schemas.openxmlformats.org/officeDocument/2006/relationships" id="260" r:id="Rb821bd4ef1314e35"/>
    <p:sldId xmlns:r="http://schemas.openxmlformats.org/officeDocument/2006/relationships" id="261" r:id="Rf714c989f3e64d76"/>
    <p:sldId xmlns:r="http://schemas.openxmlformats.org/officeDocument/2006/relationships" id="262" r:id="R11b83149b92b4b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fea78967684388" /><Relationship Type="http://schemas.openxmlformats.org/officeDocument/2006/relationships/slideMaster" Target="/ppt/slideMasters/slideMaster1.xml" Id="R4bd24dc795fd4fb7" /><Relationship Type="http://schemas.openxmlformats.org/officeDocument/2006/relationships/notesMaster" Target="/ppt/notesMasters/notesMaster1.xml" Id="R24eb13097d044171" /><Relationship Type="http://schemas.openxmlformats.org/officeDocument/2006/relationships/presProps" Target="/ppt/presProps.xml" Id="R74ee73212ca445e4" /><Relationship Type="http://schemas.openxmlformats.org/officeDocument/2006/relationships/tableStyles" Target="/ppt/tableStyles.xml" Id="R46f3ee9cb8234993" /><Relationship Type="http://schemas.openxmlformats.org/officeDocument/2006/relationships/slide" Target="/ppt/slides/slide1.xml" Id="R49f0b922b0d94a81" /><Relationship Type="http://schemas.openxmlformats.org/officeDocument/2006/relationships/slide" Target="/ppt/slides/slide2.xml" Id="Rc622b071415d4780" /><Relationship Type="http://schemas.openxmlformats.org/officeDocument/2006/relationships/slide" Target="/ppt/slides/slide3.xml" Id="Ra0ebc75a29ee4cab" /><Relationship Type="http://schemas.openxmlformats.org/officeDocument/2006/relationships/slide" Target="/ppt/slides/slide4.xml" Id="Rcc84f1d7c5aa4a58" /><Relationship Type="http://schemas.openxmlformats.org/officeDocument/2006/relationships/slide" Target="/ppt/slides/slide5.xml" Id="Rb821bd4ef1314e35" /><Relationship Type="http://schemas.openxmlformats.org/officeDocument/2006/relationships/slide" Target="/ppt/slides/slide6.xml" Id="Rf714c989f3e64d76" /><Relationship Type="http://schemas.openxmlformats.org/officeDocument/2006/relationships/slide" Target="/ppt/slides/slide7.xml" Id="R11b83149b92b4b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1e7a42a20749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a226f8cb164ab9" /><Relationship Type="http://schemas.openxmlformats.org/officeDocument/2006/relationships/notesMaster" Target="/ppt/notesMasters/notesMaster1.xml" Id="R5b3338f32d2845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231966a4fd47fb" /><Relationship Type="http://schemas.openxmlformats.org/officeDocument/2006/relationships/notesMaster" Target="/ppt/notesMasters/notesMaster1.xml" Id="R2557b4184ccc42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2487eaa641482c" /><Relationship Type="http://schemas.openxmlformats.org/officeDocument/2006/relationships/notesMaster" Target="/ppt/notesMasters/notesMaster1.xml" Id="R4127dc4db05147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7ee223c8d2486c" /><Relationship Type="http://schemas.openxmlformats.org/officeDocument/2006/relationships/notesMaster" Target="/ppt/notesMasters/notesMaster1.xml" Id="Rbce03a35333c4e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1ddf15340047c9" /><Relationship Type="http://schemas.openxmlformats.org/officeDocument/2006/relationships/notesMaster" Target="/ppt/notesMasters/notesMaster1.xml" Id="R96402057109c40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c992c98fd34993" /><Relationship Type="http://schemas.openxmlformats.org/officeDocument/2006/relationships/notesMaster" Target="/ppt/notesMasters/notesMaster1.xml" Id="R622f4dd8933d47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28a76979fc42ca" /><Relationship Type="http://schemas.openxmlformats.org/officeDocument/2006/relationships/notesMaster" Target="/ppt/notesMasters/notesMaster1.xml" Id="Re4c3d4e5581b47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本页是职责与资源交接图，横向同层表示并列职责，并不表示左侧四类控制面资源在一次调用里严格串行。HCOMM C1 的 Thread / Channel 是域级获取接口，C5 是内部下钻的基础资源。L2/L3 与控制面/数据面是独立分类维度。图中的短数据面名称完整符号见备注中的分类清单。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分析范围与分类口径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用户确认的范围：Ascend 950、AICPU_TS、单算子 OPBASE。</a:t>
            </a:r>
          </a:p>
          <a:p xmlns:a="http://schemas.openxmlformats.org/drawingml/2006/main">
            <a:r>
              <a:t>- 源码基线：HCCL `170ddeec539b4d693028ce6e0cf5c58933e4d46d`，HCOMM `87ce550f8f7c584e0ed89b0ec56699553d9c332d`。没有拉取新版本，也没有上板采集运行时 trace。</a:t>
            </a:r>
          </a:p>
          <a:p xmlns:a="http://schemas.openxmlformats.org/drawingml/2006/main">
            <a:r>
              <a:t>- 具体展开例子：多 Rank、非零 count、普通 Mesh 模板 `InsTempAlltoAllVMesh1D`、普通用户内存（未命中对称内存）、未使用算法插件。正文先解释资源缺失且任务缓存关闭的路径，再列条件变化。</a:t>
            </a:r>
          </a:p>
          <a:p xmlns:a="http://schemas.openxmlformats.org/drawingml/2006/main">
            <a:r>
              <a:t>- 这是一份有源码证据的静态调用分析。设备/模式仍不能唯一决定算法和每次 API 调用次数，还需要拓扑、协议、数据量、配置及缓存状态。</a:t>
            </a:r>
          </a:p>
          <a:p xmlns:a="http://schemas.openxmlformats.org/drawingml/2006/main">
            <a:r>
              <a:t>- 下文按用户提供的五类控制面、五类数据面组织。它是**功能归类**，不是声称仓库官方目录恰好就是这十类。官方目录首先区分控制面/数据面，再按通信域资源、基础资源以及 CPU/CCU 编程模型组织。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三个互相独立的维度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**控制面/数据面**：前者准备、配置和管理资源，后者执行本次通信的搬运、计算、同步及任务提交。</a:t>
            </a:r>
          </a:p>
          <a:p xmlns:a="http://schemas.openxmlformats.org/drawingml/2006/main">
            <a:r>
              <a:t>2. **L2/L3**：HCOMM 的通信域管理层与基础通信层。二者都可以提供控制面接口，不能把 L2/L3 等同于控制面/数据面。</a:t>
            </a:r>
          </a:p>
          <a:p xmlns:a="http://schemas.openxmlformats.org/drawingml/2006/main">
            <a:r>
              <a:t>3. **调用者/实现者**：`HcclChannelAcquire`、`HcclEngineCtxGet` 等虽然以 Hccl 开头，但实现属于 HCOMM。`HcclExecOp`、`HcclGetThread`、`HcclAicpuKernelEntranceLaunch` 则是 HCCL 内部函数。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来源：[官方 API 目录](./hcomm/docs/zh/api_ref/comm_opdev/README.md)、[架构分层](./hcomm/docs/zh/architecture/architecture-brief.md:253)。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汇报时的简短结论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 950 的 AICPU_TS AllToAll 先通过 HCOMM 的控制面查询域配置与拓扑，获取/复用 Thread、Channel、CCL Buffer 和引擎上下文；HCCL 在 AICPU 上用 Executor/Template 组织每个 Peer 的交换，再调用 HCOMM 的搬运、同步、批量提交接口。普通 Mesh 的核心是 LocalCopy、Write（PCIe 分支为 Read）与 Thread/Channel Notify。该算子不使用归约原语，也不进入 CCU C++ 数据面。精确调用集合必须同时标明拓扑、协议、对称内存及两层缓存状态。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此页按阶段展示嵌套调用及依赖，并不是每个格子同层串行。AICPU 的折返路线为 Kernel → AcquireComm/BatchModeStart → OpOrchestrate → 同步/搬运 → 完成 Record → BatchModeEnd/ReleaseComm。Host 端就绪 Record 在 Kernel 发射前，完成 Wait 在发射后入队；指向 Host Wait 的线表示消费完成通知，不能理解成 Host 在此刻才调用 Wait。资源查询框是资源准备的子调用。确切顺序和全部 Wait 符号见报告第5节。HcclAicpuKernelEntranceLaunch 是 HCCL 内部函数；当前 HcclAicpuKernelLaunch 导出调用点仅 Send / Recv。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AllToAll 如何选到本例算法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HcclAlltoAll                                      [HCCL 对外入口]</a:t>
            </a:r>
          </a:p>
          <a:p xmlns:a="http://schemas.openxmlformats.org/drawingml/2006/main">
            <a:r>
              <a:t>  ├─ HcclGetRankSize / HcclGetRankId                [C3，HCOMM]</a:t>
            </a:r>
          </a:p>
          <a:p xmlns:a="http://schemas.openxmlformats.org/drawingml/2006/main">
            <a:r>
              <a:t>  ├─ HcclGetCommName                               [C1，HCOMM]</a:t>
            </a:r>
          </a:p>
          <a:p xmlns:a="http://schemas.openxmlformats.org/drawingml/2006/main">
            <a:r>
              <a:t>  ├─ ConvertAlltoAllParam                          [HCCL 内部]</a:t>
            </a:r>
          </a:p>
          <a:p xmlns:a="http://schemas.openxmlformats.org/drawingml/2006/main">
            <a:r>
              <a:t>  │    把等长 AllToAll 参数变为 counts/displacements 四组向量</a:t>
            </a:r>
          </a:p>
          <a:p xmlns:a="http://schemas.openxmlformats.org/drawingml/2006/main">
            <a:r>
              <a:t>  └─ AlltoAllVOutPlace → AlltoAllVOutPlaceCommon     [HCCL 内部]</a:t>
            </a:r>
          </a:p>
          <a:p xmlns:a="http://schemas.openxmlformats.org/drawingml/2006/main">
            <a:r>
              <a:t>       ├─ PreCheckSymmetricMemory</a:t>
            </a:r>
          </a:p>
          <a:p xmlns:a="http://schemas.openxmlformats.org/drawingml/2006/main">
            <a:r>
              <a:t>       │    └─ HcclCommSymWinGet                    [C2，9.1+ 等条件满足时探测]</a:t>
            </a:r>
          </a:p>
          <a:p xmlns:a="http://schemas.openxmlformats.org/drawingml/2006/main">
            <a:r>
              <a:t>       ├─ AlltoAllVConstructOpParam                 [HCCL 内部，opType 仍为 ALLTOALL]</a:t>
            </a:r>
          </a:p>
          <a:p xmlns:a="http://schemas.openxmlformats.org/drawingml/2006/main">
            <a:r>
              <a:t>       ├─ HcclGetOpExpansionMode                    [HCCL 内部]</a:t>
            </a:r>
          </a:p>
          <a:p xmlns:a="http://schemas.openxmlformats.org/drawingml/2006/main">
            <a:r>
              <a:t>       │    └─ HcclConfigGetInfo                    [C1，读取展开模式]</a:t>
            </a:r>
          </a:p>
          <a:p xmlns:a="http://schemas.openxmlformats.org/drawingml/2006/main">
            <a:r>
              <a:t>       └─ AlltoAllVExecDispatch</a:t>
            </a:r>
          </a:p>
          <a:p xmlns:a="http://schemas.openxmlformats.org/drawingml/2006/main">
            <a:r>
              <a:t>            ├─ Selector                             [HCCL 内部]</a:t>
            </a:r>
          </a:p>
          <a:p xmlns:a="http://schemas.openxmlformats.org/drawingml/2006/main">
            <a:r>
              <a:t>            │    ├─ HcclCommGetStatus               [C1，接口支持时]</a:t>
            </a:r>
          </a:p>
          <a:p xmlns:a="http://schemas.openxmlformats.org/drawingml/2006/main">
            <a:r>
              <a:t>            │    ├─ HcclCalcTopoInfo                 [HCCL 内部]</a:t>
            </a:r>
          </a:p>
          <a:p xmlns:a="http://schemas.openxmlformats.org/drawingml/2006/main">
            <a:r>
              <a:t>            │    │    ├─ HcclEngineCtxGet            [C1，查拓扑缓存]</a:t>
            </a:r>
          </a:p>
          <a:p xmlns:a="http://schemas.openxmlformats.org/drawingml/2006/main">
            <a:r>
              <a:t>            │    │    └─ 未命中：RankGraph 查询 → HcclEngineCtxCreate</a:t>
            </a:r>
          </a:p>
          <a:p xmlns:a="http://schemas.openxmlformats.org/drawingml/2006/main">
            <a:r>
              <a:t>            │    └─ 选择框架 → AlltoAllAutoSelector::SelectAicpuAlgo</a:t>
            </a:r>
          </a:p>
          <a:p xmlns:a="http://schemas.openxmlformats.org/drawingml/2006/main">
            <a:r>
              <a:t>            │         （该自动选择器分支命中时；还存在其它选择/配置分支）</a:t>
            </a:r>
          </a:p>
          <a:p xmlns:a="http://schemas.openxmlformats.org/drawingml/2006/main">
            <a:r>
              <a:t>            └─ HcclExecOp                          [HCCL 内部]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`MESH_1D/CLOS` 的 Selector 分支：每 Rank 总发送字节数大于 `150 * 1024 * 1024` 时选 `AicpuAllToAllSoleMesh`，否则选 `AicpuAllToAllSoleMeshSingleChannel`。两者都注册到 `InsV2AlltoAllVSoleExecutor&lt;TopoMatchOneLevel, InsTempAlltoAllVMesh1D&gt;`。因此“不同算法名”在这里主要改变 Channel/Thread 数和分片，不必然改变 API 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`MESH_1D_CLOS` 还有 MultiJetty/Concurrent 等分支；这不是所有 AICPU AllToAll 必经同一个模板。rankSize=1、count=0、旧版本兼容和插件分支也不能混入本例主链。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来源：[入口与参数转换](./hccl/src/ops/all_to_all_v/all_to_all_v.cc:23)、[调度](./hccl/src/ops/all_to_all_v/all_to_all_v.cc:730)、[AICPU 算法选择](./hccl/src/ops/all_to_all_v/selector/alltoall_auto_selector.cc:131)、[模板注册](./hccl/src/ops/all_to_all_v/algorithm/executor/ins_v2_all_to_all_v_sole_executor.cc:562)。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顶部是 HCCL 调用 HCOMM 再回到 HCCL。中间大框是 HcclChannelAcquire 内 MyRank::CreateChannels 的顺序依赖，③向下展开。框内 API 是否触发取决于对象局部缓存。HcclChannelAcquire 还含 V2 准备与结束步骤，本页保留在顶部说明和备注。950 的连接后一致性校验使用 BatchExchangeAndCheckConsistency。FinalizeChannelsByEngine 为 AICPU 准备设备侧句柄。BuildChannelInfo 还调用 HcclRankGraphGetEndpointInfo〔C3〕。HcommChannelUpdateMemInfo 仅在复用通道且新增附加注册内存时调用。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先读左侧 API 和参数，再读两条生命线间的动作方向。步骤2、5箭头表示远端通知被本地 Wait 消费，并非本地 Wait 主动向远端发数据。Rank j 的对称 Write 没有另外画成第7步，以免改变本端调用次序。两个方向的实际入队可并行，该图不表示跨 Rank 全局串行。非零 slice 逐个 Write，零 slice 可跳过。Wait 的完整默认超时符号为 HcommChannelNotifyWaitOnThreadWithDefaultTimeout；否则调用 HcommChannelNotifyWaitOnThread(...timeout)。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图中的 i → j 始终指数据方向。Write 由发送方 i 发起，Read 由接收方 j 发起，不能将 Read 的数据方向误画为其调用方向。本页对称地重排了本 Rank 视角，以保持比较坐标一致。实际 Read 模式首轮 PreCopyByLoop 后有额外线程同步，后续轮次按分片 PreCopy；普通非对称内存的 Read 直接到用户输出。本页只比较普通内存，命中对称内存时可减少中转。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这两幅图是独立分支。资源命中并不自动意味着任务缓存命中。上图 miss 时通过 HcclGetAlgRes 计算资源，下图 miss 时执行 HcommAicpuTsTaskCacheStart、OpOrchestrate、HcommAicpuTsTaskCacheEnd；hit 为 HcommAicpuTsTaskCacheExecute。录制出错可 HcommAicpuTsTaskCacheClear。箭头表示逻辑分流，不含每个异常清理调用。Clear、Start、End、Execute 的公共前缀都是 HcommAicpuTsTaskCache。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矩阵列并非互斥的所有场景：对称内存、资源缓存和任务缓存属于可叠加条件。用文字状态确保黑白打印仍能理解。“使用”表示能力涉及，不是承诺每次都走同一个导出符号或调用固定次数。MultiJetty 对应 InsTempUbxAlltoAllVMesh1D，部分 SendRecvBatchRead 可使用 HcommBatchTransferOnThread，兼容能力不足有回退。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本例不应标成“已调用”的接口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D2 的 LocalReduce/ReadReduce/WriteReduce：普通 AllToAll 没有归约语义，该模板未调用。</a:t>
            </a:r>
          </a:p>
          <a:p xmlns:a="http://schemas.openxmlformats.org/drawingml/2006/main">
            <a:r>
              <a:t>- D5 CCU C++ DSL 以及 `HcommCcuKernelRegister* / HcommCcuKernelLaunch`：未走 CCU。</a:t>
            </a:r>
          </a:p>
          <a:p xmlns:a="http://schemas.openxmlformats.org/drawingml/2006/main">
            <a:r>
              <a:t>- `HcclAicpuKernelLaunch`：当前 HCCL 调用条件限定 Send/Recv，本例 AllToAll 不经过它。</a:t>
            </a:r>
          </a:p>
          <a:p xmlns:a="http://schemas.openxmlformats.org/drawingml/2006/main">
            <a:r>
              <a:t>- `HcclTaskRegister`：该调用点在 CPU/DPU engine 分支，本例 AICPU_TS 不经过它。</a:t>
            </a:r>
          </a:p>
          <a:p xmlns:a="http://schemas.openxmlformats.org/drawingml/2006/main">
            <a:r>
              <a:t>- `HcclCommMemReg`：不能直接从“算子要访问用户内存”推断必调，本例普通 OPBASE 资源函数没有该直接调用。底层 CCL Buffer 的 `HcommMemReg` 是另一回事。</a:t>
            </a:r>
          </a:p>
          <a:p xmlns:a="http://schemas.openxmlformats.org/drawingml/2006/main">
            <a:r>
              <a:t>- `HcommChannelCreate` / `HcommChannelGetStatus`：不能用通用公开 API 的名字替代本例实际的 `HcommCollectiveChannelCreate` / `ChannelProcess::ChannelGetStatus`。</a:t>
            </a:r>
          </a:p>
          <a:p xmlns:a="http://schemas.openxmlformats.org/drawingml/2006/main">
            <a:r>
              <a:t>- `HcommBatchTransferOnThread`、WriteWithNotify、Nbi、Fence、Drain：不是所选普通 Mesh Write 包装器的必经调用。</a:t>
            </a:r>
          </a:p>
          <a:p xmlns:a="http://schemas.openxmlformats.org/drawingml/2006/main">
            <a:r>
              <a:t>- `HcclCommInit*` / `HcclCommDestroy`：通信域生命周期属于外围工作，不是把 AllToAll 主链从创建一直画到销毁。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当前可见的辅助观测调用包括 `HcclDfxRegOpInfoByCommId`、`HcommProfilingReportKernelStartTask`、`HcommProfilingReportKernelEndTask`、`HcommProfilingReportDeviceOp`、`HcclProfilingReportOp` 等。它们属于 DFX/Profiling 横切能力，和十类主通信功能分开标注。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61c15ebd0a48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17574700b64126" /><Relationship Type="http://schemas.openxmlformats.org/officeDocument/2006/relationships/slideLayout" Target="/ppt/slideLayouts/slideLayout1.xml" Id="R299c21a33efa4d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9c21a33efa4d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094c4407834a56" /><Relationship Type="http://schemas.openxmlformats.org/officeDocument/2006/relationships/notesSlide" Target="/ppt/notesSlides/notesSlide1.xml" Id="R04f1e376044d44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6a9fc4b604860" /><Relationship Type="http://schemas.openxmlformats.org/officeDocument/2006/relationships/notesSlide" Target="/ppt/notesSlides/notesSlide2.xml" Id="R4065330251124a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792dba0404f4c" /><Relationship Type="http://schemas.openxmlformats.org/officeDocument/2006/relationships/notesSlide" Target="/ppt/notesSlides/notesSlide3.xml" Id="R957c6031761645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e94302bee489e" /><Relationship Type="http://schemas.openxmlformats.org/officeDocument/2006/relationships/notesSlide" Target="/ppt/notesSlides/notesSlide4.xml" Id="R3df204c751a844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318ba92294d84" /><Relationship Type="http://schemas.openxmlformats.org/officeDocument/2006/relationships/notesSlide" Target="/ppt/notesSlides/notesSlide5.xml" Id="R55e0456ff0b542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106a5370b4aca" /><Relationship Type="http://schemas.openxmlformats.org/officeDocument/2006/relationships/notesSlide" Target="/ppt/notesSlides/notesSlide6.xml" Id="R6b13db4408ec4b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e9f8ec91a4e9d" /><Relationship Type="http://schemas.openxmlformats.org/officeDocument/2006/relationships/notesSlide" Target="/ppt/notesSlides/notesSlide7.xml" Id="R6509976e189742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28F578C-38D4-4ABA-BEB2-D1E9A677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rPr>
              <a:t>HCCL / HCOMM 分工与接口边界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0AEE0-1CD5-4925-BA1F-974AB0E5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Ascend 950 · AICPU_TS · 单算子 OPBASE；多 Rank、非零数据，普通 Mesh 实例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CEBC6-3CDF-4565-B9D7-790DCC1C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44338-4E81-4CD2-A83B-AF789C26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33450"/>
            <a:ext cx="1162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345B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3AC12-69D6-49BD-ACBB-0A7A1841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971550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5B8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45B8C"/>
                </a:solidFill>
                <a:latin typeface="PingFang SC"/>
                <a:ea typeface="PingFang SC"/>
                <a:cs typeface="PingFang SC"/>
              </a:rPr>
              <a:t>HCCL：集合算法与执行组织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65EC4-999F-4E0C-8874-1F58146B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21431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80CDB-F3BC-47E4-912D-79885465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52550"/>
            <a:ext cx="2009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502C6-1030-4701-B166-655BCFBF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2009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等长参数归一化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0AA2C-867E-4409-B431-A512A594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323975"/>
            <a:ext cx="23336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34F8ED-3AFF-436A-8EBC-4336AFB8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352550"/>
            <a:ext cx="2200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Selector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8D305-A00F-49FF-927D-78E9FD0A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71625"/>
            <a:ext cx="2200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拓扑与数据量决定算法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CD954-7428-487B-83C2-403FB433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323975"/>
            <a:ext cx="29432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EDACFF-D554-4DA5-A4DC-69BBAC25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352550"/>
            <a:ext cx="2809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Executor / Template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47E1F-9778-4595-80B8-7263EDA3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571625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计算资源需求、编排每个 Peer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23D413-0170-42B2-9746-47161F27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323975"/>
            <a:ext cx="23622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18B3F-E27E-4E31-932F-05075D70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35255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Kernel 发射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8EBC2E-0195-47D4-9F4F-69DC7DD6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571625"/>
            <a:ext cx="2228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 内部函数调用 ACL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C6BA46-0B68-4077-A78A-D0ED8BF1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5EB170-9556-43BD-87B7-541EC9AC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95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601278" y="1686402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73C728-E0C1-4176-94AA-8751019B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46F763-24C5-48C9-8618-94DA6FA7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98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430203" y="1686402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ABC55A-9AC9-4210-9E08-1C898EB8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677771-75FF-443C-A1BE-49CF4EAF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1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868728" y="1686402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CF0FEC-E7C8-43E6-A7D9-F7B49147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19375"/>
            <a:ext cx="1162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37E8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D78861-DE60-4CA0-B0B5-070C8527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65747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HCOMM 控制面：准备与复用资源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45A036-B893-4994-AC46-EEE95391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C3 拓扑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E1BFAB-CF90-405F-B32E-B25F59AE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2657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Rank / Layer / Endpoint / Link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7BD0F0-3766-49C8-947A-203C069A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2657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HcclRankGraphGetLinks</a:t>
            </a:r>
          </a:p>
          <a:p xmlns:a="http://schemas.openxmlformats.org/drawingml/2006/main">
            <a:pPr algn="l">
              <a:def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HcclRankGraphGetEndpointInfo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D1D95A-A68D-49CA-A754-8CABF862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32B432-4756-4EF9-8DDB-344E4084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9" name=""/>
          <p:cNvCxnSpPr>
            <a:stCxn xmlns:a="http://schemas.openxmlformats.org/drawingml/2006/main" id="32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3219927" y="2982278"/>
            <a:ext cx="0" cy="1256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889397"/>
            </a:solidFill>
            <a:prstDash val="soli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7A5EF8-9735-4BE1-84B2-9CE5A3FA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9718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C1 通信域资源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DF1B09-BEC7-4A5F-84B4-3861CC42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200400"/>
            <a:ext cx="2657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EngineCtx / Thread / Channel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484AE7-2A32-482A-8AAC-E332A2F6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476625"/>
            <a:ext cx="2657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HcclEngineCtxGet</a:t>
            </a:r>
          </a:p>
          <a:p xmlns:a="http://schemas.openxmlformats.org/drawingml/2006/main">
            <a:pPr algn="l">
              <a:def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HcclThreadAcquireWithConfig</a:t>
            </a:r>
          </a:p>
          <a:p xmlns:a="http://schemas.openxmlformats.org/drawingml/2006/main">
            <a:pPr algn="l">
              <a:def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818447-3CA6-46D1-9D5A-A0ABA61F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32AA4B-29F1-4C9A-8D15-9E2A2ACD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15" name=""/>
          <p:cNvCxnSpPr>
            <a:stCxn xmlns:a="http://schemas.openxmlformats.org/drawingml/2006/main" id="38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6067902" y="2982278"/>
            <a:ext cx="0" cy="1256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889397"/>
            </a:solidFill>
            <a:prstDash val="soli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B6C6CA-66D0-40E9-9924-F9D272EA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718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C2 内存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34F488-88B4-48E0-8FFD-4C2C5C3A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00400"/>
            <a:ext cx="2657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本地 / 远端 CCL Buffer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E8B105-FCD6-4D82-AFD7-B4B01E0F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76625"/>
            <a:ext cx="2657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HcclGetHcclBuffer</a:t>
            </a:r>
          </a:p>
          <a:p xmlns:a="http://schemas.openxmlformats.org/drawingml/2006/main">
            <a:pPr algn="l">
              <a:def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</a:p>
          <a:p xmlns:a="http://schemas.openxmlformats.org/drawingml/2006/main">
            <a:pPr algn="l">
              <a:def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HcommMemReg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37AF3D-57F2-4707-964F-3CF0DC37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EF3CA7F-CE76-48C6-99DB-F3FFBFCD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1" name=""/>
          <p:cNvCxnSpPr>
            <a:stCxn xmlns:a="http://schemas.openxmlformats.org/drawingml/2006/main" id="44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8915877" y="2982278"/>
            <a:ext cx="0" cy="1256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889397"/>
            </a:solidFill>
            <a:prstDash val="solid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46A450-D4D0-4CAB-8287-C91BCB75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9718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C5 基础通信资源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F2072C-C45F-4279-89EE-B84EB52E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00400"/>
            <a:ext cx="2657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Endpoint / 底层 Channel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A83F81D-573F-47FE-A995-58BAE6DE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476625"/>
            <a:ext cx="2657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HcommEndpointCreate</a:t>
            </a:r>
          </a:p>
          <a:p xmlns:a="http://schemas.openxmlformats.org/drawingml/2006/main">
            <a:pPr algn="l">
              <a:def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HcommEndpointStartListen</a:t>
            </a:r>
          </a:p>
          <a:p xmlns:a="http://schemas.openxmlformats.org/drawingml/2006/main">
            <a:pPr algn="l">
              <a:def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EE6138C-926D-4CB0-A5FF-8B721799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D145803-05B5-4824-9AAC-227EE84F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19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7" name=""/>
          <p:cNvCxnSpPr>
            <a:stCxn xmlns:a="http://schemas.openxmlformats.org/drawingml/2006/main" id="50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7372827" y="2267903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98301B3-6927-4102-A2A1-0798270B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305050"/>
            <a:ext cx="809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资源请求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C192E63-3E56-4034-833A-726F38D0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F636F70-9554-4D6D-8BE8-667EB606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1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7668102" y="4430078"/>
            <a:ext cx="0" cy="2752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A728947-3193-48F8-811A-50558711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3865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资源句柄 / 地址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36285D2-BB5D-46BB-BF76-D9F68420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05350"/>
            <a:ext cx="11620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345B8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2255F51-D86A-401E-B5AA-94912C20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743450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5B8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45B8C"/>
                </a:solidFill>
                <a:latin typeface="PingFang SC"/>
                <a:ea typeface="PingFang SC"/>
                <a:cs typeface="PingFang SC"/>
              </a:rPr>
              <a:t>AICPU 执行：HCCL 展开算法，调用 HCOMM 数据面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F14A383-CC0F-46D1-B96F-BA03EA38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3A871A1-A459-47FF-9D93-04FE1FCA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2445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D4 执行控制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81AAFCC-0051-4B76-96C5-F8B3FDE9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43525"/>
            <a:ext cx="3676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AcquireComm / BatchModeStart / End / ReleaseComm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EF0AA3C-BC95-4D9B-828A-F546E997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095875"/>
            <a:ext cx="295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C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12B266A-EFC6-4B5D-A95E-65193661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244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D3 同步控制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5CEF23A-55AC-49E9-883E-FC31E6F0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43525"/>
            <a:ext cx="2819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Thread Notify 与 Channel Notify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3DD08C3-5E45-4CA5-9BCD-7602A08C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95875"/>
            <a:ext cx="40290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4C84276-A170-48ED-A94B-814A3034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124450"/>
            <a:ext cx="3895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D1 数据搬运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4D94558-934D-444B-97AD-C030D3EF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343525"/>
            <a:ext cx="3895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LocalCopy / Write；PCIe 分支用 Read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9D71A56-E034-4ABA-B768-3A550F0F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19800"/>
            <a:ext cx="1162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E8F658F-BA03-4BE5-AA86-6B022F5C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057900"/>
            <a:ext cx="149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本例范围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F77BAB9-9D58-410E-B6AF-1B84E2DA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057900"/>
            <a:ext cx="987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C4 的主要算法编排位于 HCCL 内部，HCOMM 仅有条件查询。D2 归约原语、D5 CCU C++ 数据面不进入该主路径。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A8EC391-0B9B-4C87-9F5E-3C20E523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C35C0AF-A365-4D5D-A2A6-9229BD8F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49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889397"/>
            </a:solidFill>
            <a:prstDash val="solid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F356224-F96B-4FF9-8359-4BFE8201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源码：op_common.cc:780,1670；hcomm/include/hccl/hccl_res.h；AICPU Kernel / primitive 适配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21027961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15D81C3-59B5-4487-BFDC-A09B9C5C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rPr>
              <a:t>AllToAll 的跨层执行流程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8F82F6-70D3-4DEC-A683-15595615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横向为执行阶段，纵向为调用归属；冷启动、未重放任务缓存的主例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730D0-2E7E-4DD3-B4FF-1151E32D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C8591E-1DD3-4050-B879-172483FA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942975"/>
            <a:ext cx="1981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FC430-6B96-43EC-AFEA-2D8EA672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62025"/>
            <a:ext cx="1866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① 入口 / 算法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802A7-26FB-4F89-8898-D59607CA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942975"/>
            <a:ext cx="1981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8E942-3A67-414B-8AF8-16C3071F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962025"/>
            <a:ext cx="1866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② 资源获取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927E8-9D91-4502-945B-17D75F0D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942975"/>
            <a:ext cx="1981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931842-BF9D-4547-AB53-4691941D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962025"/>
            <a:ext cx="1866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③ Kernel 发射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73ACB1-F895-47BF-B014-C4A30C1C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942975"/>
            <a:ext cx="1981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53D76B-FCE9-4ABD-A471-91988650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962025"/>
            <a:ext cx="1866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④ Peer 交换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283FD5-409E-45CD-B478-20AB0DF0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42975"/>
            <a:ext cx="1981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D02CD6-DD3F-4DEB-90EF-D3437930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62025"/>
            <a:ext cx="1866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⑤ 完成 / 收尾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33BDC-0581-4C01-884F-894A7663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52550"/>
            <a:ext cx="1162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8939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6FE981-12DD-4D5B-A913-C9AE360B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52550"/>
            <a:ext cx="1104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AF1026-2BDE-41FD-A09C-A8D8BF18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43050"/>
            <a:ext cx="914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Host</a:t>
            </a:r>
          </a:p>
          <a:p xmlns:a="http://schemas.openxmlformats.org/drawingml/2006/main">
            <a:pPr algn="l">
              <a:def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8438B-9513-4C8E-A777-2BD56DA7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47925"/>
            <a:ext cx="11620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8939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16FBF9-77AA-4E9C-908F-616F5F22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47925"/>
            <a:ext cx="11049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CD01FF-4E7E-48FF-A122-9AD19F25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38425"/>
            <a:ext cx="914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l">
              <a:def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2C5F3D-721B-463D-B1B8-F4305B2F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48075"/>
            <a:ext cx="11620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8939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57D34C-0FA8-4B8E-82BB-EB910ABD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48075"/>
            <a:ext cx="11049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84C8BC-4926-42FD-86F7-DC418840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38575"/>
            <a:ext cx="914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AICPU</a:t>
            </a:r>
          </a:p>
          <a:p xmlns:a="http://schemas.openxmlformats.org/drawingml/2006/main">
            <a:pPr algn="l">
              <a:def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DCFDF0-B255-4F59-AD1D-777182AE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38700"/>
            <a:ext cx="11620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8939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A2FB47-78A4-461E-B359-EE7FAD97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38700"/>
            <a:ext cx="11049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3856D3-A5EB-4A05-9AE7-DEA4B28B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29200"/>
            <a:ext cx="914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l">
              <a:def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数据面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DD4714-76B4-4087-926C-09EC7ED5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495425"/>
            <a:ext cx="1790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D93FCC-98B9-4BD9-BB3D-0A54B5F7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15240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0FB8E9-4D4D-402D-8677-3F85DEFA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1743075"/>
            <a:ext cx="1657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归一化 → Selector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D3925C-1244-4457-BFEC-3D104A90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95425"/>
            <a:ext cx="1790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7BD104-9EB5-4393-AAD9-56367B9A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5240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HcclExecOp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A06213-EDFA-482D-9466-E4885E67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743075"/>
            <a:ext cx="1657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HcclGetAlgRes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482AF1-D579-4749-9A8A-DDBD9728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495425"/>
            <a:ext cx="1790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0D9AD3-8C50-4DF9-9467-0DD319FF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5240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AicpuKernelLaunch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E55269-135B-43EA-BB98-F98CC6A2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743075"/>
            <a:ext cx="1657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aclrtLaunchKernelWithConfig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F247E7-E2CC-4D4D-A527-189A255E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495425"/>
            <a:ext cx="1790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EC7B24-40B5-40D1-8253-0DFEE101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5240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用户流等待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8661D9-3ED8-4986-93F7-7EEE8F31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743075"/>
            <a:ext cx="1657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Thread Notify Wait*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5D7217-3DCE-49A2-8E6F-6B1551FA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38425"/>
            <a:ext cx="1790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72E4C1-8554-4B6F-A9EA-EF4B803B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670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查询拓扑 / 配置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E44A3F-450F-4354-A3B4-67FD40B6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886075"/>
            <a:ext cx="1657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RankGraph / EngineCtx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3689EF-4C3F-49C9-B610-7DF3167B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38425"/>
            <a:ext cx="1790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B26BA2-4ECD-4206-80DC-4AFD93D7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6670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申请 / 复用资源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CECA11-8B06-47C4-AB05-C9A2D655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886075"/>
            <a:ext cx="1657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Thread、Channel、CCL</a:t>
            </a:r>
          </a:p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保存 EngineCtx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A8FEC51-E05F-4CBA-9953-59AF8EDA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829050"/>
            <a:ext cx="1790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6A62EF-9E77-4EAA-9948-71B1A140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85762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HcclLaunchAicpuKernel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1ACB8C3-D45B-4EB6-ACEE-7097B15A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076700"/>
            <a:ext cx="1657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反序列化资源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7C3152-DCCA-4B82-B4E0-6F859DEC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29050"/>
            <a:ext cx="1790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7FECAB-48EF-4BE1-B910-66D8C0A4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85762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OpOrchestrate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09A50DD-AB57-4529-A375-E0EAB4AB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076700"/>
            <a:ext cx="1657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Executor → Template</a:t>
            </a:r>
          </a:p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RunALLtoALL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66B04D7-4999-4670-A266-627A46EA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829050"/>
            <a:ext cx="1790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9E4D77B-CE4C-40F0-A0C0-B0B5C493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85762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完成通知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2E9C467-9E47-4CF8-A4E6-5C34912D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76700"/>
            <a:ext cx="1657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Thread Notify Record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E270426-6636-474F-A4F6-211F0C74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029200"/>
            <a:ext cx="1790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C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E688632-6594-421B-B4D4-C5B65394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505777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运行保护 / 批模式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489D738-436E-417C-B6E8-9E6D5F99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5276850"/>
            <a:ext cx="1657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HcommAcquireComm</a:t>
            </a:r>
          </a:p>
          <a:p xmlns:a="http://schemas.openxmlformats.org/drawingml/2006/main">
            <a:pPr algn="l">
              <a:defRPr sz="885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HcommBatchModeStart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3ECFB1B-1C19-4FDC-AE52-5D02BA2F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029200"/>
            <a:ext cx="1790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57D8F5E-4F95-468F-AB7E-39E162C8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05777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同步 / 搬运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2410ACF-DBE0-44DE-8E57-93EEAB4D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276850"/>
            <a:ext cx="1657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Channel Notify</a:t>
            </a:r>
          </a:p>
          <a:p xmlns:a="http://schemas.openxmlformats.org/drawingml/2006/main">
            <a:pPr algn="l">
              <a:defRPr sz="863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Write / Read / LocalCopy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B9623F9-ED7C-4DE2-B98D-1671B377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029200"/>
            <a:ext cx="1790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C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A92E830-7914-4E77-A83B-25EA3B7F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05777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任务提交 / 释放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7312591-FACE-4ED8-8C94-24461F76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276850"/>
            <a:ext cx="1657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HcommBatchModeEnd</a:t>
            </a:r>
          </a:p>
          <a:p xmlns:a="http://schemas.openxmlformats.org/drawingml/2006/main">
            <a:pPr algn="l">
              <a:defRPr sz="885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HcommReleaseComm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0A37E56-870A-4267-9EDD-8690CCAE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DF83E68-5FCC-45AE-BB07-0D5B97F4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6" name=""/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>
            <a:off x="3449003" y="183880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  <a:tailEnd type="triangle" w="sm" len="sm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DA424A0-FA81-4512-A3C1-92376E46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7DF31A3-E1A3-4AF4-B49A-7B42F749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9" name=""/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5506403" y="183880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  <a:tailEnd type="triangle" w="sm" len="sm"/>
          </a:ln>
        </p:spPr>
      </p:cxn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F590CC6-F061-4501-A1CA-9CE29789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81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E7D4776-9202-4AF8-8E6F-548E5315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2" name=""/>
          <p:cNvCxnSpPr>
            <a:stCxn xmlns:a="http://schemas.openxmlformats.org/drawingml/2006/main" id="68" idx="2"/>
            <a:endCxn xmlns:a="http://schemas.openxmlformats.org/drawingml/2006/main" id="69" idx="0"/>
          </p:cNvCxnSpPr>
          <p:nvPr/>
        </p:nvCxnSpPr>
        <p:spPr>
          <a:xfrm xmlns:a="http://schemas.openxmlformats.org/drawingml/2006/main">
            <a:off x="2553177" y="2182178"/>
            <a:ext cx="0" cy="4562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B8ACEC9-F346-463C-B99D-88A9AEAE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81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A6C67D9-B017-4A6E-8953-D1E9C52D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5" name=""/>
          <p:cNvCxnSpPr>
            <a:stCxn xmlns:a="http://schemas.openxmlformats.org/drawingml/2006/main" id="71" idx="2"/>
            <a:endCxn xmlns:a="http://schemas.openxmlformats.org/drawingml/2006/main" id="72" idx="0"/>
          </p:cNvCxnSpPr>
          <p:nvPr/>
        </p:nvCxnSpPr>
        <p:spPr>
          <a:xfrm xmlns:a="http://schemas.openxmlformats.org/drawingml/2006/main">
            <a:off x="4610577" y="2182178"/>
            <a:ext cx="0" cy="4562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DFFFECF-1E57-409E-905A-A2F34F97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184744E-3DF4-4E12-8B0F-37D586AF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8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5506403" y="3000852"/>
            <a:ext cx="94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1FB6320-8E58-4A1D-97DF-8162BC9A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24B29FA-2824-42CB-8EB8-B9DD4C57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3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1" name=""/>
          <p:cNvCxnSpPr>
            <a:stCxn xmlns:a="http://schemas.openxmlformats.org/drawingml/2006/main" id="77" idx="0"/>
            <a:endCxn xmlns:a="http://schemas.openxmlformats.org/drawingml/2006/main" id="78" idx="2"/>
          </p:cNvCxnSpPr>
          <p:nvPr/>
        </p:nvCxnSpPr>
        <p:spPr>
          <a:xfrm xmlns:a="http://schemas.openxmlformats.org/drawingml/2006/main" flipV="1">
            <a:off x="5601177" y="2334578"/>
            <a:ext cx="0" cy="6657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F0EC8CC-B9EC-46E1-A6F5-C1F3C839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3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EFB2FF8-70C3-40E4-A227-7CC02B14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33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4" name=""/>
          <p:cNvCxnSpPr>
            <a:stCxn xmlns:a="http://schemas.openxmlformats.org/drawingml/2006/main" id="80" idx="3"/>
            <a:endCxn xmlns:a="http://schemas.openxmlformats.org/drawingml/2006/main" id="81" idx="1"/>
          </p:cNvCxnSpPr>
          <p:nvPr/>
        </p:nvCxnSpPr>
        <p:spPr>
          <a:xfrm xmlns:a="http://schemas.openxmlformats.org/drawingml/2006/main">
            <a:off x="5601653" y="2334102"/>
            <a:ext cx="10563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</a:ln>
        </p:spPr>
      </p:cxn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DF7412A-3725-4CC4-B18E-FBF8246D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33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D53CFF4-514D-4D7F-A7A9-DC1C7074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81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7" name=""/>
          <p:cNvCxnSpPr>
            <a:stCxn xmlns:a="http://schemas.openxmlformats.org/drawingml/2006/main" id="83" idx="0"/>
            <a:endCxn xmlns:a="http://schemas.openxmlformats.org/drawingml/2006/main" id="84" idx="2"/>
          </p:cNvCxnSpPr>
          <p:nvPr/>
        </p:nvCxnSpPr>
        <p:spPr>
          <a:xfrm xmlns:a="http://schemas.openxmlformats.org/drawingml/2006/main" flipV="1">
            <a:off x="6658452" y="2182178"/>
            <a:ext cx="0" cy="1514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1F8D156-F34B-4BD6-8D0C-F7B44627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81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9E8CA80-646B-4E32-92AD-A4D96CB1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29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0" name=""/>
          <p:cNvCxnSpPr>
            <a:stCxn xmlns:a="http://schemas.openxmlformats.org/drawingml/2006/main" id="86" idx="2"/>
            <a:endCxn xmlns:a="http://schemas.openxmlformats.org/drawingml/2006/main" id="87" idx="0"/>
          </p:cNvCxnSpPr>
          <p:nvPr/>
        </p:nvCxnSpPr>
        <p:spPr>
          <a:xfrm xmlns:a="http://schemas.openxmlformats.org/drawingml/2006/main">
            <a:off x="6667977" y="2182178"/>
            <a:ext cx="0" cy="16468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  <a:tailEnd type="triangle" w="sm" len="sm"/>
          </a:ln>
        </p:spPr>
      </p:cxn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7651731-7670-48B6-A3A2-BF34E1CC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4956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5B8C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345B8C"/>
                </a:solidFill>
                <a:latin typeface="PingFang SC"/>
                <a:ea typeface="PingFang SC"/>
                <a:cs typeface="PingFang SC"/>
              </a:rPr>
              <a:t>启动 AICPU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E548F45-6488-4002-8B81-FCC2239C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391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E9B8F12-0182-4885-B4AD-4EE35D70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391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4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7563803" y="5391627"/>
            <a:ext cx="1133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1621DC0-497A-4575-8AC2-A2EC229B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391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A6B880C-8EB3-49D9-B10E-821EA717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81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7" name=""/>
          <p:cNvCxnSpPr>
            <a:stCxn xmlns:a="http://schemas.openxmlformats.org/drawingml/2006/main" id="93" idx="0"/>
            <a:endCxn xmlns:a="http://schemas.openxmlformats.org/drawingml/2006/main" id="94" idx="2"/>
          </p:cNvCxnSpPr>
          <p:nvPr/>
        </p:nvCxnSpPr>
        <p:spPr>
          <a:xfrm xmlns:a="http://schemas.openxmlformats.org/drawingml/2006/main" flipV="1">
            <a:off x="7677627" y="4182428"/>
            <a:ext cx="0" cy="120872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</a:ln>
        </p:spPr>
      </p:cxn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277C7E6-9EA2-46C7-AB53-452C2099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81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69B47F9-C7BB-4C9A-BE0C-88EBB7AC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81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0" name=""/>
          <p:cNvCxnSpPr>
            <a:stCxn xmlns:a="http://schemas.openxmlformats.org/drawingml/2006/main" id="96" idx="3"/>
            <a:endCxn xmlns:a="http://schemas.openxmlformats.org/drawingml/2006/main" id="97" idx="1"/>
          </p:cNvCxnSpPr>
          <p:nvPr/>
        </p:nvCxnSpPr>
        <p:spPr>
          <a:xfrm xmlns:a="http://schemas.openxmlformats.org/drawingml/2006/main">
            <a:off x="7678103" y="4181952"/>
            <a:ext cx="1514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  <a:tailEnd type="triangle" w="sm" len="sm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D7EE9C3-18F3-4080-B5C7-0C071382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391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62BD241-1DCC-49D2-AFA5-2AA4E26B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5391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3" name=""/>
          <p:cNvCxnSpPr>
            <a:stCxn xmlns:a="http://schemas.openxmlformats.org/drawingml/2006/main" id="99" idx="3"/>
            <a:endCxn xmlns:a="http://schemas.openxmlformats.org/drawingml/2006/main" id="100" idx="1"/>
          </p:cNvCxnSpPr>
          <p:nvPr/>
        </p:nvCxnSpPr>
        <p:spPr>
          <a:xfrm xmlns:a="http://schemas.openxmlformats.org/drawingml/2006/main">
            <a:off x="9621203" y="5391627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68D265D-BAA0-4F85-B62D-18A40879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5391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747211A-1524-44A8-A189-EBC4E389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181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6" name=""/>
          <p:cNvCxnSpPr>
            <a:stCxn xmlns:a="http://schemas.openxmlformats.org/drawingml/2006/main" id="102" idx="0"/>
            <a:endCxn xmlns:a="http://schemas.openxmlformats.org/drawingml/2006/main" id="103" idx="2"/>
          </p:cNvCxnSpPr>
          <p:nvPr/>
        </p:nvCxnSpPr>
        <p:spPr>
          <a:xfrm xmlns:a="http://schemas.openxmlformats.org/drawingml/2006/main" flipV="1">
            <a:off x="9744552" y="4182428"/>
            <a:ext cx="0" cy="120872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4DF01E5-BDD1-421D-9C5F-02DD92DA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181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9A538E4-67DC-4F13-9012-4E2700C2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81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9" name=""/>
          <p:cNvCxnSpPr>
            <a:stCxn xmlns:a="http://schemas.openxmlformats.org/drawingml/2006/main" id="105" idx="3"/>
            <a:endCxn xmlns:a="http://schemas.openxmlformats.org/drawingml/2006/main" id="106" idx="1"/>
          </p:cNvCxnSpPr>
          <p:nvPr/>
        </p:nvCxnSpPr>
        <p:spPr>
          <a:xfrm xmlns:a="http://schemas.openxmlformats.org/drawingml/2006/main">
            <a:off x="9745028" y="4181952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  <a:tailEnd type="triangle" w="sm" len="sm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9FC5CA6-B2B5-4BA7-AD3C-347C9165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5ACAA25-0B97-49C3-BED9-34973D2F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29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2" name=""/>
          <p:cNvCxnSpPr>
            <a:stCxn xmlns:a="http://schemas.openxmlformats.org/drawingml/2006/main" id="108" idx="2"/>
            <a:endCxn xmlns:a="http://schemas.openxmlformats.org/drawingml/2006/main" id="109" idx="0"/>
          </p:cNvCxnSpPr>
          <p:nvPr/>
        </p:nvCxnSpPr>
        <p:spPr>
          <a:xfrm xmlns:a="http://schemas.openxmlformats.org/drawingml/2006/main">
            <a:off x="6667977" y="4534853"/>
            <a:ext cx="0" cy="4943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76C22"/>
            </a:solidFill>
            <a:prstDash val="solid"/>
            <a:tailEnd type="triangle" w="sm" len="sm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D1CD566-C7C2-4356-BAC6-F7B0116A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B8B56D7-B119-421C-8149-73754BE1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029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5" name=""/>
          <p:cNvCxnSpPr>
            <a:stCxn xmlns:a="http://schemas.openxmlformats.org/drawingml/2006/main" id="111" idx="2"/>
            <a:endCxn xmlns:a="http://schemas.openxmlformats.org/drawingml/2006/main" id="112" idx="0"/>
          </p:cNvCxnSpPr>
          <p:nvPr/>
        </p:nvCxnSpPr>
        <p:spPr>
          <a:xfrm xmlns:a="http://schemas.openxmlformats.org/drawingml/2006/main">
            <a:off x="8725377" y="4534853"/>
            <a:ext cx="0" cy="4943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76C22"/>
            </a:solidFill>
            <a:prstDash val="solid"/>
            <a:tailEnd type="triangle" w="sm" len="sm"/>
          </a:ln>
        </p:spPr>
      </p:cxn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82B2A03-9C2E-4BFE-B9EC-8BE84657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CDDF8B5-BBF2-408E-B117-3084F4F4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029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8" name=""/>
          <p:cNvCxnSpPr>
            <a:stCxn xmlns:a="http://schemas.openxmlformats.org/drawingml/2006/main" id="114" idx="2"/>
            <a:endCxn xmlns:a="http://schemas.openxmlformats.org/drawingml/2006/main" id="115" idx="0"/>
          </p:cNvCxnSpPr>
          <p:nvPr/>
        </p:nvCxnSpPr>
        <p:spPr>
          <a:xfrm xmlns:a="http://schemas.openxmlformats.org/drawingml/2006/main">
            <a:off x="10782777" y="4534853"/>
            <a:ext cx="0" cy="4943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76C22"/>
            </a:solidFill>
            <a:prstDash val="solid"/>
            <a:tailEnd type="triangle" w="sm" len="sm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203C05E-D2AA-4521-BE7D-BD608017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4181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BB62940-5279-4232-8988-6C04EAB0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4181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1" name=""/>
          <p:cNvCxnSpPr>
            <a:stCxn xmlns:a="http://schemas.openxmlformats.org/drawingml/2006/main" id="117" idx="3"/>
            <a:endCxn xmlns:a="http://schemas.openxmlformats.org/drawingml/2006/main" id="118" idx="1"/>
          </p:cNvCxnSpPr>
          <p:nvPr/>
        </p:nvCxnSpPr>
        <p:spPr>
          <a:xfrm xmlns:a="http://schemas.openxmlformats.org/drawingml/2006/main">
            <a:off x="11678603" y="4181952"/>
            <a:ext cx="1514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76C22"/>
            </a:solidFill>
            <a:prstDash val="solid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3E6C621-6BA9-44F3-B478-4343F4D9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4181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EFF87D3-D5D4-41C0-AB02-8F3331B8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4" name=""/>
          <p:cNvCxnSpPr>
            <a:stCxn xmlns:a="http://schemas.openxmlformats.org/drawingml/2006/main" id="120" idx="0"/>
            <a:endCxn xmlns:a="http://schemas.openxmlformats.org/drawingml/2006/main" id="121" idx="2"/>
          </p:cNvCxnSpPr>
          <p:nvPr/>
        </p:nvCxnSpPr>
        <p:spPr>
          <a:xfrm xmlns:a="http://schemas.openxmlformats.org/drawingml/2006/main" flipV="1">
            <a:off x="11830527" y="1839278"/>
            <a:ext cx="0" cy="23421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76C22"/>
            </a:solidFill>
            <a:prstDash val="solid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C81C766-550E-4EE6-9C9E-ECAF081E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7D835F7-6EAD-427C-99AC-84462C79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7" name=""/>
          <p:cNvCxnSpPr>
            <a:stCxn xmlns:a="http://schemas.openxmlformats.org/drawingml/2006/main" id="123" idx="1"/>
            <a:endCxn xmlns:a="http://schemas.openxmlformats.org/drawingml/2006/main" id="124" idx="3"/>
          </p:cNvCxnSpPr>
          <p:nvPr/>
        </p:nvCxnSpPr>
        <p:spPr>
          <a:xfrm xmlns:a="http://schemas.openxmlformats.org/drawingml/2006/main" flipH="1">
            <a:off x="11678603" y="1838802"/>
            <a:ext cx="1514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76C22"/>
            </a:solidFill>
            <a:prstDash val="solid"/>
            <a:tailEnd type="triangle" w="sm" len="sm"/>
          </a:ln>
        </p:spPr>
      </p:cxn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4CAEBFC-E168-46C6-B607-1DEC8472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76950"/>
            <a:ext cx="1162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E8734C7-343B-4C56-A0BE-197DCD59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15050"/>
            <a:ext cx="149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两处同步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06E1FCD-1CF7-4B63-A811-31B003EA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987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Host Record / AICPU Wait 表示输入就绪；AICPU Record / Host Wait 表示本次执行完成。API 入队返回不等于全网同步完成。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5D344D3-9982-4171-8AF7-467F9586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673FC81-4228-4660-BF93-83622B78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3" name=""/>
          <p:cNvCxnSpPr>
            <a:stCxn xmlns:a="http://schemas.openxmlformats.org/drawingml/2006/main" id="129" idx="3"/>
            <a:endCxn xmlns:a="http://schemas.openxmlformats.org/drawingml/2006/main" id="130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889397"/>
            </a:solidFill>
            <a:prstDash val="solid"/>
          </a:ln>
        </p:spPr>
      </p:cxn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E8D2533-54A1-4FC6-8333-1EAA76B2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源码：op_common.cc:780,1005–1203；aicpu/kernel_launch.cc:348–725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20644004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1460208-059E-48CA-90D8-B2697DEB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rPr>
              <a:t>HcclChannelAcquire 的建链展开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03E26-420E-40F7-824D-92EE7ACF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C1 域级资源获取下钻到 C5 基础通道和 C2 内存；灰色名称为内部方法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2B67C-2C2B-45CC-BF1A-35F12F26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6D4D6-D9B4-41C1-9CB3-5A0FAC51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42975"/>
            <a:ext cx="32766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BC3C6-6DA1-4D7C-BCBB-04419F28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9715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HCCL：HcclGetChannelImpl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0F27A-8B7C-4024-8E48-C68D157F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1906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构造 ChannelDesc、登记一致性信息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47784-50C4-4953-99A3-FAD863AF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42975"/>
            <a:ext cx="43338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F63DD-209F-42B5-8B82-029CD505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971550"/>
            <a:ext cx="42005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HcclChannelAcquire 〔C1〕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8468C-192A-4885-9A9A-27F0CEF0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190625"/>
            <a:ext cx="4200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校验 / 归一化请求，调用 MyRank::CreateChannels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DA77B-1CE4-4A3F-A9E2-5E44D1FF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942975"/>
            <a:ext cx="29527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63A8A7-4BBB-4F8C-94F8-ABDD9716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9715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BuildChannelInfo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6518FD-D8F7-438D-871F-F4EBFE19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190625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回填 handle / protocol / remoteCclMem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0E7C5-036C-4E13-96CD-04B4C70A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27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6402A8-6F14-4719-B06E-9FA0A953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27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8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563303" y="1276827"/>
            <a:ext cx="5324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1243FD-B4B7-486A-B189-0A740763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27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CF0013-D9E6-43F2-928E-2097C1E2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7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11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430578" y="1276827"/>
            <a:ext cx="522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07F2E2-4D67-48BB-B6F6-585FE489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0668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返回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308D3F-F4A6-4B1E-BB72-BC1E5A03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81200"/>
            <a:ext cx="116205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37E8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C1B2EF-BD08-4A62-A088-3A14EAE2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019300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MyRank::CreateChannels 内部依赖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6C56D0-B72A-4A53-AA75-D4B16EA7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95144E-3895-47E4-B7B2-855F26D9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1  描述转换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315719-704B-48E2-9132-59A9D205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ChannelDescHccl2Hcomm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497CF1-A8B2-46A2-8E27-A4E278B2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9F6158-EF6A-4DBC-81AA-9A0141AF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0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2544128" y="2743677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4E7C73-66D9-43CA-A3DA-DD854685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B764AD-EE58-43FC-A257-6FC381ED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2  Socket 准备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6DB819-8A6F-4DF1-ACBA-CDF234FC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BatchCreateSockets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D30D11-9AAE-43D7-A9A9-CDE2B9ED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8CB36F-25CC-44B8-BB23-CFC55029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6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4811078" y="2743677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AEBA6D-8610-4575-BB35-068C12A4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92351C-354B-42BE-B41A-E57E3484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3  Channel 准备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354C4A-56DC-47BF-919E-36F3B63D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BatchCreateChannels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B32A1B-5375-4C63-84B1-BAEF001E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FFF4D7-338F-430B-BE2E-A8BC6EA6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2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7078028" y="2743677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291503-7FFD-4E49-BD4D-4D37DCCF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2D1C06-33FF-41B9-8E83-26F171B6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4  连接 / 校验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3D1629-D4D7-4AF8-AFEE-75B2966D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BatchConnectChannels</a:t>
            </a:r>
          </a:p>
          <a:p xmlns:a="http://schemas.openxmlformats.org/drawingml/2006/main">
            <a:pPr algn="l">
              <a:defRPr sz="78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BatchExchangeAndCheckConsistency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131108-DB41-463C-A079-1E812075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7031F3-9C73-48EB-9763-7E685276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8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9344978" y="2743677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30C279-9432-4C19-8B18-2C58CD25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131133-0042-476A-A973-9539A890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5  引擎回填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FAA2C5-82E1-4561-94FD-609ECBC1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FinalizeChannelsByEngine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FCCB03B-5388-4729-8FCB-C92B29A5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38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2BB5F4A-3E0C-40D4-A058-DFE0DF7D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44" name=""/>
          <p:cNvCxnSpPr>
            <a:stCxn xmlns:a="http://schemas.openxmlformats.org/drawingml/2006/main" id="49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6267927" y="1639253"/>
            <a:ext cx="0" cy="3419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50E4D78-3A1E-4212-8BFF-39F8AD49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11277600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4262E73-77FD-440F-A040-463470D1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409950"/>
            <a:ext cx="11106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③ BatchCreateChannels：对每个 Peer / Link 处理，局部缓存命中可复用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536704-67F0-4D5D-8F99-40611237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819525"/>
            <a:ext cx="2609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9178E0D-16C4-440D-987B-49973FB3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EndpointMgr::Get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55B17A-ADBD-4C14-8671-26FF10B4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HcommEndpointCreate 〔C5〕</a:t>
            </a:r>
          </a:p>
          <a:p xmlns:a="http://schemas.openxmlformats.org/drawingml/2006/main">
            <a:pPr algn="l">
              <a:defRPr sz="885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仅端点缺失时创建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F00DA0C-A6C6-40D1-A12A-E427FAD0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B6E57B2-634A-4C38-950A-603EB2B7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2" name="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3191828" y="428672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9D767EC-BF9B-4EE5-877B-B9E54539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19525"/>
            <a:ext cx="2609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FBD1A49-BBE3-4381-ABFD-C660EC4C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84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端点监听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A1652B3-E488-41B9-A14F-FB75766C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671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HcommEndpointStartListen 〔C5〕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82BACD4-E66D-40CC-9301-FAD9A968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22B49CD-C750-40B2-A1C9-F1DC4115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8" name=""/>
          <p:cNvCxnSpPr>
            <a:stCxn xmlns:a="http://schemas.openxmlformats.org/drawingml/2006/main" id="63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>
            <a:off x="5963603" y="428672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BBAA4BA-D165-4DC1-9A88-A6706F56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819525"/>
            <a:ext cx="2609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5966240-2228-4E16-8D42-3558F01E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PrepareMemHandles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F808EE3-19B0-4709-B819-84FCF0B2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671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HcommMemReg 〔C2〕</a:t>
            </a:r>
          </a:p>
          <a:p xmlns:a="http://schemas.openxmlformats.org/drawingml/2006/main">
            <a:pPr algn="l">
              <a:defRPr sz="885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仅注册缺失时调用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7AD2418-61E8-4B17-ABC9-A24DCBAA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E9B6AB5-44A4-4435-A6D0-D9CC16E2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4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8735378" y="428672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8D66C0D-8B62-4E0B-A64C-EC41A3FE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19525"/>
            <a:ext cx="2609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8FF33F0-0895-400C-8645-D805D0BB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84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EndpointPair::CreateChannel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E4E59D4-1FD5-4CF8-9D8E-70290AC8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0671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HcommCollectiveChannelCreate 〔C5〕</a:t>
            </a:r>
          </a:p>
          <a:p xmlns:a="http://schemas.openxmlformats.org/drawingml/2006/main">
            <a:pPr algn="l">
              <a:defRPr sz="81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仅通道缺失时创建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A953C2A-CB6E-47B7-92B0-F4DF0BD0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FEB43FA-9F3B-4196-865A-18E4EAAC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371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0" name=""/>
          <p:cNvCxnSpPr>
            <a:stCxn xmlns:a="http://schemas.openxmlformats.org/drawingml/2006/main" id="75" idx="2"/>
            <a:endCxn xmlns:a="http://schemas.openxmlformats.org/drawingml/2006/main" id="76" idx="0"/>
          </p:cNvCxnSpPr>
          <p:nvPr/>
        </p:nvCxnSpPr>
        <p:spPr>
          <a:xfrm xmlns:a="http://schemas.openxmlformats.org/drawingml/2006/main">
            <a:off x="6029802" y="3096578"/>
            <a:ext cx="0" cy="2752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8F9E44F-6F21-4CAF-AFC9-BAEA82BB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911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5B8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45B8C"/>
                </a:solidFill>
                <a:latin typeface="PingFang SC"/>
                <a:ea typeface="PingFang SC"/>
                <a:cs typeface="PingFang SC"/>
              </a:rPr>
              <a:t>返回 HCCL 后的地址查询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48CCD8C-1D03-4700-B421-B21FEE09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4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A522450-7330-4F7A-841C-887343F0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4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4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286703" y="5648802"/>
            <a:ext cx="5904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345B8C"/>
            </a:solidFill>
            <a:prstDash val="solid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DDC8933-83F7-4189-B1AB-0EF8EE02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05475"/>
            <a:ext cx="3752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HcclChannelGetHcclBuffer 〔C2〕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AD90E0E-61D1-406C-8AF7-382CD14C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962650"/>
            <a:ext cx="576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内部 HcommChannelGetRemoteMems 读取 Peer 注册映射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B94F937-B9DB-4212-9876-5D6F12CB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391150"/>
            <a:ext cx="5362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1262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A1262D"/>
                </a:solidFill>
                <a:latin typeface="PingFang SC"/>
                <a:ea typeface="PingFang SC"/>
                <a:cs typeface="PingFang SC"/>
              </a:rPr>
              <a:t>连接状态查询的精确边界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47CDBF6-79E9-4928-B11C-9C68D4BB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64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6621F6B-4029-446C-96EA-1A0862AD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64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0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6544628" y="5648802"/>
            <a:ext cx="536162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A1262D"/>
            </a:solidFill>
            <a:prstDash val="solid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1D4BCC4-6AA5-40E5-97C3-70BD1216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705475"/>
            <a:ext cx="525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ChannelProcess::ChannelGetStatus 是内部方法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B1F2CE6-71CD-4133-8133-D1CBBABC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972175"/>
            <a:ext cx="525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本链路不应替换成导出 API HcommChannelGetStatus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9B60E5C-49A2-4ED3-81B9-C87FC50F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5010F23-CDD6-4D5F-BA8E-65AEB856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5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889397"/>
            </a:solidFill>
            <a:prstDash val="solid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AE76F3E-37E5-47E8-B272-19561774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源码：coll_comm_res_c_adpt.cc:755；my_rank.cc:675,1228,1303；endpoint_mgr.cc:76,138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9861983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FDE8760-6E98-4E33-ACE4-3722F0AA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rPr>
              <a:t>普通 Mesh Write：一个 Peer 的握手与数据传输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8621F-DC34-4E47-A210-24E6895F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Rank i 视角；非 PCIe、普通内存，双向 count 非零。实线箭头表示对应方向的通知或数据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09BAC-C0A6-43E8-8D1B-627771A6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DDA2A-883B-498D-B0BE-FC60D961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5250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B5614-4128-4429-806C-6F16A228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71550"/>
            <a:ext cx="1809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Rank i（本端）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BED5A-98F7-4522-8979-062F93F8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95250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6E4A4-CE70-45A1-A4A7-E583F149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971550"/>
            <a:ext cx="1809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Rank j（对端）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44BD6-3853-4F88-82ED-1B7A8AB3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69196-FF2D-445A-B0D9-4D5EA534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11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2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7191852" y="1305878"/>
            <a:ext cx="0" cy="3809047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345B8C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F3EA2F-7A38-4D5E-90FD-8F172794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97C43-AB86-458F-BE2B-91D907F4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11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5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0525602" y="1305878"/>
            <a:ext cx="0" cy="3809047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237E80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AEA837-31FA-4A7C-8BDA-F3C56372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906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76C22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76C22"/>
                </a:solidFill>
                <a:latin typeface="PingFang SC"/>
                <a:ea typeface="PingFang SC"/>
                <a:cs typeface="PingFang SC"/>
              </a:rPr>
              <a:t>① 接收区就绪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731CE-717E-42D0-B05F-814463C1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3906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2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HcommChannelNotifyRecordOnThread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2C3EC4-8A77-4E62-96B6-A3013FD7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628775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recvChannel, 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94E7B1-9B85-4FA9-9627-240F3177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09242A-20B0-471A-9E41-A07C71FA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11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192328" y="1714977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976C22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00EADD-0FF7-4D97-A162-DD5D9F84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42875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76C2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976C22"/>
                </a:solidFill>
                <a:latin typeface="PingFang SC"/>
                <a:ea typeface="PingFang SC"/>
                <a:cs typeface="PingFang SC"/>
              </a:rPr>
              <a:t>ACK：i 可接收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98F4C7-50C0-46E6-9401-54BEEFE2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4024DE-B7D4-4AA0-A141-E8B2EF3F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15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286703" y="1953102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E1E2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E89615-F712-45B1-BEB3-C781C06E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0977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76C22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76C22"/>
                </a:solidFill>
                <a:latin typeface="PingFang SC"/>
                <a:ea typeface="PingFang SC"/>
                <a:cs typeface="PingFang SC"/>
              </a:rPr>
              <a:t>② 等对端就绪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0F426D-8D81-4B33-A7F8-7FC084C1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097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2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HcommChannelNotifyWaitOnThread*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CF1A3C-7E68-4506-8563-C8F57DD9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47900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sendChannel, 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4F5DAF-CD6E-42CD-AB37-2DCF27B1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33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ADACA0-C80F-4A4A-9B40-CFC8B9B1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3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1" name=""/>
          <p:cNvCxnSpPr>
            <a:stCxn xmlns:a="http://schemas.openxmlformats.org/drawingml/2006/main" id="27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7192328" y="2334102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976C22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68F62F-7F73-41E1-95B5-67F2385C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47875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76C2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976C22"/>
                </a:solidFill>
                <a:latin typeface="PingFang SC"/>
                <a:ea typeface="PingFang SC"/>
                <a:cs typeface="PingFang SC"/>
              </a:rPr>
              <a:t>ACK：j 可接收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E06A6F-EAF5-4E45-AB1B-5FEB264F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7705F8-DD55-4C33-BE5D-44B56374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5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286703" y="2572227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E1E2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A4279B-2912-411E-B2B7-F2095CDC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289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③ 写远端数据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536910-7B37-4EB5-8E0F-F59120AD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289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2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6A36EF-F1C0-4C91-9D35-3479F887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67025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thread, sendChannel, dst, src, len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9BFB46-A0B2-4CF9-8FD8-DE444EF8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9283EB-018C-484A-9567-434789F0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1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7192328" y="2953227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386352-934E-416D-BDFF-0DF2B060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6700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i.userIn[j] → j.CCL[i]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12970D-1D77-4A1B-B946-6D451479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190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CB9C27-F466-4513-AA5A-9A7A3A13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190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5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286703" y="3191352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E1E2"/>
            </a:solidFill>
            <a:prstDash val="soli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EE1763-EA52-4216-A3A0-2FB54EAF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4802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76C22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76C22"/>
                </a:solidFill>
                <a:latin typeface="PingFang SC"/>
                <a:ea typeface="PingFang SC"/>
                <a:cs typeface="PingFang SC"/>
              </a:rPr>
              <a:t>④ 通知写入阶段完成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54F0EA-D2F1-4A7A-9746-D90F21D3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4802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2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HcommChannelNotifyRecordOnThread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FB777F-945F-4193-828A-722E3FD3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86150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sendChannel, DATA_SIGNAL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3764F6-6395-4105-9867-17B4B01B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A3B5CC-9CC6-43A4-AB73-72FD2B79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41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7192328" y="3572352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976C22"/>
            </a:solidFill>
            <a:prstDash val="solid"/>
            <a:tailEnd type="triangle" w="sm" len="sm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BB7211A-627A-4624-A598-69125908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86125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76C2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976C22"/>
                </a:solidFill>
                <a:latin typeface="PingFang SC"/>
                <a:ea typeface="PingFang SC"/>
                <a:cs typeface="PingFang SC"/>
              </a:rPr>
              <a:t>DATA_SIGNAL：i → j 完成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C9EBCAB-EF84-472E-B519-7B70249A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8EDF93C-B2CC-4E90-85F7-62123E74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45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286703" y="3810477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E1E2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AC01279-5832-479D-AFDA-3C6EA2A3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671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76C22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76C22"/>
                </a:solidFill>
                <a:latin typeface="PingFang SC"/>
                <a:ea typeface="PingFang SC"/>
                <a:cs typeface="PingFang SC"/>
              </a:rPr>
              <a:t>⑤ 等本端接收完成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9F705D4-2D67-4D92-AC5F-34057661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671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2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HcommChannelNotifyWaitOnThread*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F2A9400-354B-4430-8214-CEA89931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105275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recvChannel, DATA_SIGNAL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C1C632B-6538-49BE-A027-DA242D17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191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F6BB0E2-48C3-49B8-B1AD-769AA3FD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91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1" name=""/>
          <p:cNvCxnSpPr>
            <a:stCxn xmlns:a="http://schemas.openxmlformats.org/drawingml/2006/main" id="57" idx="1"/>
            <a:endCxn xmlns:a="http://schemas.openxmlformats.org/drawingml/2006/main" id="58" idx="3"/>
          </p:cNvCxnSpPr>
          <p:nvPr/>
        </p:nvCxnSpPr>
        <p:spPr>
          <a:xfrm xmlns:a="http://schemas.openxmlformats.org/drawingml/2006/main" flipH="1">
            <a:off x="7192328" y="4191477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976C22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01917A6-1DBF-4E6B-AFB7-C63FCAC4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0525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76C2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976C22"/>
                </a:solidFill>
                <a:latin typeface="PingFang SC"/>
                <a:ea typeface="PingFang SC"/>
                <a:cs typeface="PingFang SC"/>
              </a:rPr>
              <a:t>DATA_SIGNAL：j → i 完成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89A30EA-237B-4E6A-9B6B-ECE8F08F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73C5679-B202-412A-9288-A466C486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5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286703" y="4429602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E1E2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FDBCEE4-38AB-471E-8814-C4711B10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8627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⑥ 从中转区取出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878A171-F3D6-46B4-8B06-8E0B59F7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4862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2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C90133D-4DF3-48C3-BAC5-55A680DF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24400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i.CCL[j] → i.userOut[j]，模板 PostCopy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69E65DD-A638-489B-82E5-3D7A6E7C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B09FFBF-A724-45F1-B13C-AEAE32B4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1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7192328" y="4534377"/>
            <a:ext cx="17897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296D858-75CF-4E74-8803-DF8097A4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895CB12-DC60-493A-A6AA-95CB11B7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38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4" name=""/>
          <p:cNvCxnSpPr>
            <a:stCxn xmlns:a="http://schemas.openxmlformats.org/drawingml/2006/main" id="70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8982552" y="4534853"/>
            <a:ext cx="0" cy="3038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027A30D-81C3-44DA-9C2F-674A9B4E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38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9416D30-628D-47B1-BEBD-1C989AD5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838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7" name=""/>
          <p:cNvCxnSpPr>
            <a:stCxn xmlns:a="http://schemas.openxmlformats.org/drawingml/2006/main" id="73" idx="1"/>
            <a:endCxn xmlns:a="http://schemas.openxmlformats.org/drawingml/2006/main" id="74" idx="3"/>
          </p:cNvCxnSpPr>
          <p:nvPr/>
        </p:nvCxnSpPr>
        <p:spPr>
          <a:xfrm xmlns:a="http://schemas.openxmlformats.org/drawingml/2006/main" flipH="1">
            <a:off x="7192328" y="4839177"/>
            <a:ext cx="17897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969057F-E53D-4C2B-8A26-44132D6D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本地拷贝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F733545-B198-46A9-BBB9-5B2D88DD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48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F7A8553-5C95-4F43-8BB1-30CA56F3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5048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1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286703" y="5048727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E1E2"/>
            </a:solidFill>
            <a:prstDash val="solid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CAD68A5-CBDE-4185-874A-30A3D5B4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48275"/>
            <a:ext cx="57340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D06A967-CEBA-447C-B0A9-3D7AB95F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286375"/>
            <a:ext cx="5562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对称执行与索引口径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7553C40-856B-4640-9F13-9520CCF0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53075"/>
            <a:ext cx="550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j 也执行对称 Write。第五步等待的正是 j 写入 i 的数据。</a:t>
            </a:r>
          </a:p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CCL[j] 表示 Peer j 的逻辑分片，实际槽位由轮次与分片计算。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C566383-1C71-404D-8C9C-552BBEEA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248275"/>
            <a:ext cx="57721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027EB9B-5AF6-4245-B21D-7A9D41E5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286375"/>
            <a:ext cx="5600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API 归属与 Wait 分支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7E09F9F-E5F1-4B4B-8211-739E4974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553075"/>
            <a:ext cx="554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①–⑤位于 SendRecvWrite；⑥位于上层模板的 PostCopy。</a:t>
            </a:r>
          </a:p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Wait* 在默认超时 / 显式超时接口之间按能力二选一。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9D59FB7-F997-4F46-A9B6-0483AAF9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86475"/>
            <a:ext cx="1162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F07C265-911F-43DA-839C-8E5D12E1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24575"/>
            <a:ext cx="149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950 底层实现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75845C4-D0B6-4301-ACA5-73977539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87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HcommWriteOnThread 解包 Channel，构造 RmaBufferLite，再进入 BaseTransportLiteImpl::Write(...StreamLite)。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681192D-FAAF-4ECA-87EE-4462CABD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6FC58DC-2E1D-4D92-8D3B-BF3679B4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3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889397"/>
            </a:solidFill>
            <a:prstDash val="solid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4CFAFC6-211E-4E01-9CDE-E8060CFA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源码：alg_data_trans_wrapper.cc:428–464；Mesh 模板:327–380；AICPU primitive:495–545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12760315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B97797B-4DA4-45F3-9923-4CBD092C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rPr>
              <a:t>Read / Write 分支的数据路径差异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0689A-BBBF-480A-93FE-68D10D33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普通 Mesh 模板按链路协议设置 isDmaRead_；两图使用同一发送方向 i → j，便于比较中转位置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32F36-42FD-497B-8F04-5319F706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0AF043-4DBD-4A55-86F3-06C4579A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42975"/>
            <a:ext cx="1162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Write 分支：发送方写入远端 CCL，接收方再取出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FA73F-B6AC-4E17-8CA9-BEDE04D7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295400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345B8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0D90F-6065-4816-A112-40BB0EE2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333500"/>
            <a:ext cx="5114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5B8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45B8C"/>
                </a:solidFill>
                <a:latin typeface="PingFang SC"/>
                <a:ea typeface="PingFang SC"/>
                <a:cs typeface="PingFang SC"/>
              </a:rPr>
              <a:t>Rank i（发送方）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C420E-E3F9-49EB-8852-0ACD0D7E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295400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37E8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DD5B4-E896-42CB-95B0-E2EB16B6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33500"/>
            <a:ext cx="5114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Rank j（接收方）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EF1E6-E584-4A8F-855E-43AEE448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81175"/>
            <a:ext cx="333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1FD2EB-EEDC-4C14-8122-02D6CB3A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i.userIn[j]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99C3CF-396D-4038-8AC3-13C647E2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28825"/>
            <a:ext cx="320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用户输入分片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6E05F-5E79-4F21-A0EB-1C25F78F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81175"/>
            <a:ext cx="22764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C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647F9-27F1-4545-AFFA-0F5746D9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809750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j.CCL[i]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4F8233-9C6F-4354-ABB5-12F99499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028825"/>
            <a:ext cx="2143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接收端通信中转区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CD2B4-9E79-4D90-A22F-52DCF779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781175"/>
            <a:ext cx="2247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228CB-F919-4B74-A264-A7508FA7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0975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j.userOut[i]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27CE8-55D7-454A-8883-7CA6B135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28825"/>
            <a:ext cx="2114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用户输出位置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980A5B-F45D-4C57-B21F-3386CF68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1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A28C72-6588-4D77-B4EE-4A19BBC4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1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4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268153" y="2115027"/>
            <a:ext cx="2589847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864E0B-10E9-4F2C-B7BC-77680B2F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11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C1ADE9-D36B-4E79-9B93-0824F7BA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1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7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135428" y="2115027"/>
            <a:ext cx="341947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976C22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39B7CE-AA51-4AC8-89C0-49A10FF1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38325"/>
            <a:ext cx="2428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2A3A1B-806A-4411-8891-E6370DD2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43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76C2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76C22"/>
                </a:solidFill>
                <a:latin typeface="PingFang SC"/>
                <a:ea typeface="PingFang SC"/>
                <a:cs typeface="PingFang SC"/>
              </a:rPr>
              <a:t>PostCopy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26EA6A-D10D-4143-92D5-0CBFE2EA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52700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发送 / 接收缓冲就绪后执行 Write；接收方等 DATA_SIGNAL，再 PostCopy 到自己的输出。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85FA72-C2EC-44C0-8EF7-A92E9A7D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95625"/>
            <a:ext cx="1162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45B8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45B8C"/>
                </a:solidFill>
                <a:latin typeface="PingFang SC"/>
                <a:ea typeface="PingFang SC"/>
                <a:cs typeface="PingFang SC"/>
              </a:rPr>
              <a:t>PCIe Read 分支：发送方先放入本地 CCL，接收方主动读取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03DF54-D8CC-49A4-A4F0-3335AA2C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48050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345B8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4BDE53-31F0-4847-9D32-C4019212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486150"/>
            <a:ext cx="5114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5B8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45B8C"/>
                </a:solidFill>
                <a:latin typeface="PingFang SC"/>
                <a:ea typeface="PingFang SC"/>
                <a:cs typeface="PingFang SC"/>
              </a:rPr>
              <a:t>Rank i（发送方）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56E316-2518-4FC0-B8C1-48D885A1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48050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37E8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EB9A57-042D-4601-B548-8B0C229F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86150"/>
            <a:ext cx="5114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Rank j（接收方）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6E259C-B5B0-42E6-9965-F56ABB46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33825"/>
            <a:ext cx="2076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8BBE5D-1BC9-4352-B0DB-9F9A0CB1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962400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i.userIn[j]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1C7E6D-C39B-4596-9CE9-853929FB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181475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用户输入分片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5EE266-AE49-47EC-B089-7E06CF76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33825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C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2F1CB8-E58D-44EE-A65A-6915B649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9624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i.CCL[j]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AF3831-E30A-4CB9-91F0-673BF555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181475"/>
            <a:ext cx="2133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发送端通信中转区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D78232-7F69-4D52-AB65-4AB64489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933825"/>
            <a:ext cx="29432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36E3C8-F55F-464C-91C1-47D2468A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62400"/>
            <a:ext cx="2809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j.userOut[i]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3738D8-E20C-456A-A554-116D090E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81475"/>
            <a:ext cx="2809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j 从 i 的 CCL 主动读取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2FFBAC-4B43-4269-8AD5-CB5D652C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67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6B6926-D184-454E-B3E4-7DFD8802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67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97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2572703" y="4267677"/>
            <a:ext cx="513397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976C22"/>
            </a:solidFill>
            <a:prstDash val="solid"/>
            <a:tailEnd type="triangle" w="sm" len="sm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B3E053D-1F7F-4A90-A05A-1B607072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267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00B1F2-71F3-4282-98A4-EB07EDF0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67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0" name="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5354003" y="4267677"/>
            <a:ext cx="25803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45B8C"/>
            </a:solidFill>
            <a:prstDash val="solid"/>
            <a:tailEnd type="triangle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9343B8-694D-4580-B463-083E5516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95700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76C2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76C22"/>
                </a:solidFill>
                <a:latin typeface="PingFang SC"/>
                <a:ea typeface="PingFang SC"/>
                <a:cs typeface="PingFang SC"/>
              </a:rPr>
              <a:t>PreCopy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BD378F-1310-4BE8-BCC0-73AAFF7D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90975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345B8C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345B8C"/>
                </a:solidFill>
                <a:latin typeface="PingFang SC"/>
                <a:ea typeface="PingFang SC"/>
                <a:cs typeface="PingFang SC"/>
              </a:rPr>
              <a:t>HcommReadOnThread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05E007-AF0D-47ED-BB22-732B5244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705350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发送方先 PreCopy；接收方等 ACK 后执行 Read。完成握手约束双方的缓冲区复用。</a:t>
            </a:r>
          </a:p>
        </p:txBody>
      </p:sp>
      <p:graphicFrame>
        <p:nvGraphicFramePr>
          <p:cNvPr id="104" name=""/>
          <p:cNvGraphicFramePr/>
          <p:nvPr/>
        </p:nvGraphicFramePr>
        <p:xfrm>
          <a:off xmlns:a="http://schemas.openxmlformats.org/drawingml/2006/main" x="285750" y="5276850"/>
          <a:ext xmlns:a="http://schemas.openxmlformats.org/drawingml/2006/main" cx="11620500" cy="1123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24025"/>
                <a:gridCol w="4943475"/>
                <a:gridCol w="4953000"/>
              </a:tblGrid>
              <a:tr h="2667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比较项</a:t>
                      </a:r>
                    </a:p>
                  </a:txBody>
                  <a:tcPr marL="57150" marR="57150" marT="9525" marB="9525" anchor="ctr">
                    <a:solidFill>
                      <a:srgbClr val="345B8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普通 Write</a:t>
                      </a:r>
                    </a:p>
                  </a:txBody>
                  <a:tcPr marL="57150" marR="57150" marT="9525" marB="9525" anchor="ctr">
                    <a:solidFill>
                      <a:srgbClr val="345B8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PCIe Read</a:t>
                      </a:r>
                    </a:p>
                  </a:txBody>
                  <a:tcPr marL="57150" marR="57150" marT="9525" marB="9525" anchor="ctr">
                    <a:solidFill>
                      <a:srgbClr val="345B8C"/>
                    </a:solidFill>
                  </a:tcPr>
                </a:tc>
              </a:tr>
              <a:tr h="2857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5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 数据搬运 API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5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HcommWriteOnThread ＋ HcommLocalCopyOnThread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5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HcommLocalCopyOnThread ＋ HcommReadOnThread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5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中转拷贝位置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5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接收侧 PostCopy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5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发送侧 PreCopy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5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共同同步能力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5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Thread Notify / Channel Notify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5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Thread Notify / Channel Notify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F79C219-8B32-464D-92A3-CAB73364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9FCDA4-8264-4B20-9E03-0A3DE1E0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7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889397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C0A7B7B-0D17-4832-BFA5-0230F1F0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源码：Mesh 模板:167–192,217–269,327–411；SendRecvRead:652–689；LocalCopy:880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14831954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6927505-F7E3-4C91-8598-A4879E7D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rPr>
              <a:t>资源缓存与任务缓存的两层复用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51B7B-28B9-482D-ACE1-0B541C6A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资源缓存减少准备工作；任务缓存命中后跳过本次逐条展开，两者可以分别命中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CB109-DF8E-4170-8127-ACFECE50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925DE-38D2-4EE3-AB69-9CB9FB10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33450"/>
            <a:ext cx="1162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控制面：算法资源缓存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6FE04-CB80-4A97-B54A-42D50667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90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08102-71E5-4D0B-8BA6-F2AAAD20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190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6703" y="1191102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237E80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551E51-22E4-4FAB-8CE7-1DDCDCAD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90650"/>
            <a:ext cx="29241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60714-2127-486F-A753-8215A6EA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419225"/>
            <a:ext cx="2790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TryReuseResource〔HCCL〕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F8A20-5ACD-48F6-BFDE-2EC1A0E5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638300"/>
            <a:ext cx="2790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HcclEngineCtxGet 〔C1〕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5BA84D-1CAC-4111-A0DA-D4F5A722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90650"/>
            <a:ext cx="32004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DD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98A63E-DECA-4574-A1EA-A135A454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419225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hit：取已有上下文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AF52C-2FAB-41E6-B571-8F7FAFC4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63830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复用 Thread / Channel / Buffer 描述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E555D-0748-4046-A57B-64C317C1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47925"/>
            <a:ext cx="4857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3C22E-BCAB-4E11-8999-21F5E3A3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476500"/>
            <a:ext cx="472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miss：重新计算资源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FFE56-8008-4C84-ADD2-0F33F159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695575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CalcRes，申请 Thread / Channel，保存 EngineCtx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DD26C4-F4B7-4645-9B5E-10B15A4E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05000"/>
            <a:ext cx="2286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FA20D5-CBF8-4312-84D3-C8716672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93357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交付 AICPU 资源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50FC84-F6C9-4CDA-8EF8-14F1BBBA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1526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继续 Kernel 发射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9893D6-9AA0-4B05-BE68-40DA8753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EF013B-9EDB-47FF-AB70-06DB239D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16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210878" y="1753077"/>
            <a:ext cx="8848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8D466A-B651-4363-A1FC-EFC54358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49542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命中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E7DC4C-DE73-446B-B627-4EC84775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24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204B74-76FA-48B9-AAF2-5B33EFC3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0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714977" y="2125028"/>
            <a:ext cx="0" cy="6943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E3C629-463E-452C-8B64-10854B4F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283E5E-EB33-4CF7-8F2B-478B27AB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3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1715453" y="2819877"/>
            <a:ext cx="2380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605C0E-A4E0-43E4-9065-91E5699E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5270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E343D1-4516-42F4-9345-0418A4F0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ED01C4-2552-42C1-97AB-8D01BA87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7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7297103" y="1753077"/>
            <a:ext cx="2046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2786DF-7846-49FF-840A-35181CF3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EEBB0E-5133-49D6-92DE-8693A3F9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0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9344502" y="1753553"/>
            <a:ext cx="0" cy="5133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E5DED3-0992-4E3F-A93A-4A96DAB2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754C24-4689-4ECF-B295-8DA1DB32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3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9344978" y="2267427"/>
            <a:ext cx="2752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7CEFEE-256B-4A3B-BD2C-6EDF812D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868CBB-81D5-498D-871B-505A6988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6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954453" y="2819877"/>
            <a:ext cx="3895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E7AC64-430F-4308-9FEA-403DADA8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42592E-C0CE-4BA7-8473-04DC06C4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9" name=""/>
          <p:cNvCxnSpPr>
            <a:stCxn xmlns:a="http://schemas.openxmlformats.org/drawingml/2006/main" id="43" idx="0"/>
            <a:endCxn xmlns:a="http://schemas.openxmlformats.org/drawingml/2006/main" id="44" idx="2"/>
          </p:cNvCxnSpPr>
          <p:nvPr/>
        </p:nvCxnSpPr>
        <p:spPr>
          <a:xfrm xmlns:a="http://schemas.openxmlformats.org/drawingml/2006/main" flipV="1">
            <a:off x="9344502" y="2267903"/>
            <a:ext cx="0" cy="5514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F4AF8F-2B9E-44C4-B15B-3E9740BD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57575"/>
            <a:ext cx="1162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5B8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45B8C"/>
                </a:solidFill>
                <a:latin typeface="PingFang SC"/>
                <a:ea typeface="PingFang SC"/>
                <a:cs typeface="PingFang SC"/>
              </a:rPr>
              <a:t>数据面：AICPU 任务缓存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9C0861-0CFC-4D36-9564-C9FE08BC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E15BBB-F7BE-4099-BB5A-5989E871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43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286703" y="37152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345B8C"/>
            </a:solidFill>
            <a:prstDash val="solid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341D935-D1EB-4454-94AC-CB34C381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14775"/>
            <a:ext cx="29241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ECF9CF2-2F4E-40AE-8F5B-548848D9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943350"/>
            <a:ext cx="2790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Lookup：查任务缓存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B2CF24-0B28-4273-B8A0-E50DB251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162425"/>
            <a:ext cx="2790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HcommAicpuTsTaskCacheLookup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613D9A0-42E0-4F81-BADD-C554840F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14775"/>
            <a:ext cx="32004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DD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9DEFD5E-16F4-4D0C-9811-539B6E0F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9433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hit：Execute 重放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09C1E1B-64F1-47B8-B704-5DE63F05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62425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刷新地址，跳过本次 OpOrchestrate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1D4AA4D-12CC-488F-A94E-3D45BDC7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72050"/>
            <a:ext cx="4857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5199B3F-2D98-4AFE-84AC-4DB17BA0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000625"/>
            <a:ext cx="472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miss：Start → 编排 → End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0D87635-91F5-448F-9FFC-D6CC231F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2197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录制期间仍生成搬运和同步任务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D44F5D8-E67D-469F-896A-FBEE0765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29125"/>
            <a:ext cx="2286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F149E81-626C-4E3C-A93C-46F5AEC6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45770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数据通信继续执行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2880F87-382A-48A8-BD3E-D90641AE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676775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D1 搬运 / D3 同步依赖仍存在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D483D6B-20E7-48C6-93D3-98C27A67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F621E4F-55E8-4D2C-842C-2023F175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8" name=""/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>
            <a:off x="3210878" y="4277202"/>
            <a:ext cx="8848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  <a:tailEnd type="triangle" w="sm" len="sm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6FE6EC9-B98C-46AA-A558-A5D32BDD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195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命中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6BAB34C-EB2C-4204-B851-E6E07532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48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8ED5950-85A8-4489-94FE-47658E40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2" name=""/>
          <p:cNvCxnSpPr>
            <a:stCxn xmlns:a="http://schemas.openxmlformats.org/drawingml/2006/main" id="66" idx="2"/>
            <a:endCxn xmlns:a="http://schemas.openxmlformats.org/drawingml/2006/main" id="67" idx="0"/>
          </p:cNvCxnSpPr>
          <p:nvPr/>
        </p:nvCxnSpPr>
        <p:spPr>
          <a:xfrm xmlns:a="http://schemas.openxmlformats.org/drawingml/2006/main">
            <a:off x="1714977" y="4649153"/>
            <a:ext cx="0" cy="6848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424FEE9-B1E5-489D-8CB8-3DF11361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163B0AC-7814-488C-98A6-92218330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5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1715453" y="5334477"/>
            <a:ext cx="2380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  <a:tailEnd type="triangle" w="sm" len="sm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FAC6039-3647-4B8B-A592-8B7DD676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6730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F26D1A8-68F0-4BF1-97FD-55875F61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0078443-9339-4A75-90AF-92BE3809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9" name=""/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7297103" y="4277202"/>
            <a:ext cx="2046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489C23C-E4E9-4204-BBE8-F9ECED98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DF1AF58-E18A-413F-9B19-53B1F209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2" name=""/>
          <p:cNvCxnSpPr>
            <a:stCxn xmlns:a="http://schemas.openxmlformats.org/drawingml/2006/main" id="76" idx="2"/>
            <a:endCxn xmlns:a="http://schemas.openxmlformats.org/drawingml/2006/main" id="77" idx="0"/>
          </p:cNvCxnSpPr>
          <p:nvPr/>
        </p:nvCxnSpPr>
        <p:spPr>
          <a:xfrm xmlns:a="http://schemas.openxmlformats.org/drawingml/2006/main">
            <a:off x="9344502" y="4277678"/>
            <a:ext cx="0" cy="5133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99FA60F-F992-4175-8384-EF1BA818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DE6A4F5-A3A5-4FC0-99F8-7C83F012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5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9344978" y="4791552"/>
            <a:ext cx="2752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C87CFB8-2113-4648-9F4E-91352B32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55CA9A9-50BA-4081-9C09-8DFA51C7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8" name=""/>
          <p:cNvCxnSpPr>
            <a:stCxn xmlns:a="http://schemas.openxmlformats.org/drawingml/2006/main" id="82" idx="3"/>
            <a:endCxn xmlns:a="http://schemas.openxmlformats.org/drawingml/2006/main" id="83" idx="1"/>
          </p:cNvCxnSpPr>
          <p:nvPr/>
        </p:nvCxnSpPr>
        <p:spPr>
          <a:xfrm xmlns:a="http://schemas.openxmlformats.org/drawingml/2006/main">
            <a:off x="8954453" y="5334477"/>
            <a:ext cx="3895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6D11C03-08D2-4F2B-99FB-73663F42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68DC8B5-7AF3-42AB-A6C5-519B70BD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1" name=""/>
          <p:cNvCxnSpPr>
            <a:stCxn xmlns:a="http://schemas.openxmlformats.org/drawingml/2006/main" id="85" idx="0"/>
            <a:endCxn xmlns:a="http://schemas.openxmlformats.org/drawingml/2006/main" id="86" idx="2"/>
          </p:cNvCxnSpPr>
          <p:nvPr/>
        </p:nvCxnSpPr>
        <p:spPr>
          <a:xfrm xmlns:a="http://schemas.openxmlformats.org/drawingml/2006/main" flipV="1">
            <a:off x="9344502" y="4792028"/>
            <a:ext cx="0" cy="5419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2A44FAF-3113-4C52-83F3-B74FAF62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19800"/>
            <a:ext cx="1162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2A50DB2-02EC-4FE1-9B02-39F3BE61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057900"/>
            <a:ext cx="149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任务缓存条件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E9BBBFA-8179-44CB-8FE8-5C777998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057900"/>
            <a:ext cx="987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要求开关、950、支持的算子和拓扑等。MC2、OFFLOAD、ACL graph、输入输出重叠等场景受限；关闭时直接编排。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41E0789-3F84-4080-A656-ADF1FFD3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47AF13F-D34A-4E42-B55C-F52DE98D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7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889397"/>
            </a:solidFill>
            <a:prstDash val="solid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2664CA0-E90F-4A0E-B304-CE19E9D8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源码：op_common.cc:1331–1422；kernel_launch.cc:499–595；aicpu_task_cache_policy.cc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9657882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CA774-D03D-4B0A-AD79-D3E11738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rPr>
              <a:t>接口变化的条件矩阵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9EA3B-B67C-4F9D-8390-E98C8F95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“使用”表示该路径涉及此能力；具体次数还取决于 Peer、Channel、分片与缓存，不是实测 trace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E09E1-6109-45AF-9491-31127538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285750" y="952500"/>
          <a:ext xmlns:a="http://schemas.openxmlformats.org/drawingml/2006/main" cx="11620500" cy="3943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33700"/>
                <a:gridCol w="1609725"/>
                <a:gridCol w="1504950"/>
                <a:gridCol w="2076450"/>
                <a:gridCol w="1743075"/>
                <a:gridCol w="1752600"/>
              </a:tblGrid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能力 / API 族</a:t>
                      </a:r>
                    </a:p>
                  </a:txBody>
                  <a:tcPr marL="57150" marR="57150" marT="9525" marB="9525" anchor="ctr">
                    <a:solidFill>
                      <a:srgbClr val="345B8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普通 Mesh Write</a:t>
                      </a:r>
                    </a:p>
                  </a:txBody>
                  <a:tcPr marL="57150" marR="57150" marT="9525" marB="9525" anchor="ctr">
                    <a:solidFill>
                      <a:srgbClr val="345B8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PCIe Read</a:t>
                      </a:r>
                    </a:p>
                  </a:txBody>
                  <a:tcPr marL="57150" marR="57150" marT="9525" marB="9525" anchor="ctr">
                    <a:solidFill>
                      <a:srgbClr val="345B8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MultiJetty 相关分支</a:t>
                      </a:r>
                    </a:p>
                  </a:txBody>
                  <a:tcPr marL="57150" marR="57150" marT="9525" marB="9525" anchor="ctr">
                    <a:solidFill>
                      <a:srgbClr val="345B8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对称内存命中</a:t>
                      </a:r>
                    </a:p>
                  </a:txBody>
                  <a:tcPr marL="57150" marR="57150" marT="9525" marB="9525" anchor="ctr">
                    <a:solidFill>
                      <a:srgbClr val="345B8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Task Cache hit</a:t>
                      </a:r>
                    </a:p>
                  </a:txBody>
                  <a:tcPr marL="57150" marR="57150" marT="9525" marB="9525" anchor="ctr">
                    <a:solidFill>
                      <a:srgbClr val="345B8C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· HcommWriteOnThread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改用 Read</a:t>
                      </a:r>
                    </a:p>
                  </a:txBody>
                  <a:tcPr marL="57150" marR="57150" marT="9525" marB="9525" anchor="ctr">
                    <a:solidFill>
                      <a:srgbClr val="F6EFC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按模板分支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可直接访问窗口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通过任务重放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· HcommReadOnThread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本分支不用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可批量 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按模板 / 协议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通过任务重放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· HcommLocalCopyOnThread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自分片 / PostCopy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自分片 / PreCopy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按模板分支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可减少中转拷贝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通过任务重放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· HcommBatchTransferOnThread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非此包装器必经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非普通 Mesh 必经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部分 BatchRead 可用</a:t>
                      </a:r>
                    </a:p>
                  </a:txBody>
                  <a:tcPr marL="57150" marR="57150" marT="9525" marB="9525" anchor="ctr">
                    <a:solidFill>
                      <a:srgbClr val="F6EFC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不能仅据内存判断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取决于录制内容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· Channel / Thread Notify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握手 / 线程汇合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握手 / 线程汇合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按并发组织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仍需顺序约束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依赖随任务重放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· 批模式 / 使用保护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仍保留运行控制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/ C2 / C3 / C5 · 准备资源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按缺失补充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按缺失补充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请求形态可变化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窗口 / 地址来源改变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还取决于资源缓存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D2 · 数值归约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不使用</a:t>
                      </a:r>
                    </a:p>
                  </a:txBody>
                  <a:tcPr marL="57150" marR="57150" marT="9525" marB="9525" anchor="ctr">
                    <a:solidFill>
                      <a:srgbClr val="E5E7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不使用</a:t>
                      </a:r>
                    </a:p>
                  </a:txBody>
                  <a:tcPr marL="57150" marR="57150" marT="9525" marB="9525" anchor="ctr">
                    <a:solidFill>
                      <a:srgbClr val="E5E7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 非归约</a:t>
                      </a:r>
                    </a:p>
                  </a:txBody>
                  <a:tcPr marL="57150" marR="57150" marT="9525" marB="9525" anchor="ctr">
                    <a:solidFill>
                      <a:srgbClr val="E5E7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不因窗口改变</a:t>
                      </a:r>
                    </a:p>
                  </a:txBody>
                  <a:tcPr marL="57150" marR="57150" marT="9525" marB="9525" anchor="ctr">
                    <a:solidFill>
                      <a:srgbClr val="E5E7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不因重放增加</a:t>
                      </a:r>
                    </a:p>
                  </a:txBody>
                  <a:tcPr marL="57150" marR="57150" marT="9525" marB="9525" anchor="ctr">
                    <a:solidFill>
                      <a:srgbClr val="E5E7E7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D5 · CCU C++ DSL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不进入</a:t>
                      </a:r>
                    </a:p>
                  </a:txBody>
                  <a:tcPr marL="57150" marR="57150" marT="9525" marB="9525" anchor="ctr">
                    <a:solidFill>
                      <a:srgbClr val="E5E7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不进入</a:t>
                      </a:r>
                    </a:p>
                  </a:txBody>
                  <a:tcPr marL="57150" marR="57150" marT="9525" marB="9525" anchor="ctr">
                    <a:solidFill>
                      <a:srgbClr val="E5E7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仍为 AICPU 路径</a:t>
                      </a:r>
                    </a:p>
                  </a:txBody>
                  <a:tcPr marL="57150" marR="57150" marT="9525" marB="9525" anchor="ctr">
                    <a:solidFill>
                      <a:srgbClr val="E5E7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仍看执行引擎</a:t>
                      </a:r>
                    </a:p>
                  </a:txBody>
                  <a:tcPr marL="57150" marR="57150" marT="9525" marB="9525" anchor="ctr">
                    <a:solidFill>
                      <a:srgbClr val="E5E7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不因缓存切换引擎</a:t>
                      </a:r>
                    </a:p>
                  </a:txBody>
                  <a:tcPr marL="57150" marR="57150" marT="9525" marB="9525" anchor="ctr">
                    <a:solidFill>
                      <a:srgbClr val="E5E7E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6C747-E4B6-46AE-9652-534B45FB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95875"/>
            <a:ext cx="1162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1262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A1262D"/>
                </a:solidFill>
                <a:latin typeface="PingFang SC"/>
                <a:ea typeface="PingFang SC"/>
                <a:cs typeface="PingFang SC"/>
              </a:rPr>
              <a:t>汇报时需要保留的调用边界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4868B-EAD0-4D3C-A00D-666EECC8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5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D24C2-F1B8-48B9-A62D-BEB858CA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35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6703" y="53535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A1262D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95353-F38E-4A3A-9A60-8BBA3E01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486400"/>
            <a:ext cx="1148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HcclAicpuKernelLaunch：当前调用点为 Send / Recv。AllToAll 由 HCCL 内部 launch 调用 ACL Runtime。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78B8E-365B-4B2A-B999-F442716F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800725"/>
            <a:ext cx="1148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HcclCommMemReg：普通 OPBASE 路径不能推断每次直调。底层按需调用的 HcommMemReg 是另一个接口。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83C72F-97ED-45D1-A935-9D5CCA06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6115050"/>
            <a:ext cx="1148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C4 编排主要由 HCCL Executor / Template 完成；HcclGroupStatusGet 仅为能力支持时的 Group 状态查询。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AC2BA4-DD07-4C1E-94F5-98C02B2E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534F89-A250-4CF6-A91D-50016A9B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889397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724B98-E3E4-4A79-A25A-D9DDD632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源码：Mesh / UBX Template；hcomm_primitives_dl.cc；op_common.cc:1005；Task Cache policy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18141143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2026-09-27T10:54:24.8580000Z</dcterms:created>
  <dcterms:modified xsi:type="dcterms:W3CDTF">2026-09-27T10:54:24.8580000Z</dcterms:modified>
</coreProperties>
</file>