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719cbfc89d4eef" /><Relationship Type="http://schemas.openxmlformats.org/officeDocument/2006/relationships/extended-properties" Target="/docProps/app.xml" Id="R5670a01f321b476e" /><Relationship Type="http://schemas.openxmlformats.org/officeDocument/2006/relationships/officeDocument" Target="/ppt/presentation.xml" Id="Rc58697e505e14e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8f04c82de0480a"/>
  </p:sldMasterIdLst>
  <p:notesMasterIdLst>
    <p:notesMasterId xmlns:r="http://schemas.openxmlformats.org/officeDocument/2006/relationships" r:id="R580129e471584392"/>
  </p:notesMasterIdLst>
  <p:sldIdLst>
    <p:sldId xmlns:r="http://schemas.openxmlformats.org/officeDocument/2006/relationships" id="256" r:id="R0bc9ecc65ae143c6"/>
    <p:sldId xmlns:r="http://schemas.openxmlformats.org/officeDocument/2006/relationships" id="257" r:id="R4bb720a8a8864cfd"/>
    <p:sldId xmlns:r="http://schemas.openxmlformats.org/officeDocument/2006/relationships" id="258" r:id="R0e680f8d5df84dc1"/>
    <p:sldId xmlns:r="http://schemas.openxmlformats.org/officeDocument/2006/relationships" id="259" r:id="R87805dc1a96c4b37"/>
    <p:sldId xmlns:r="http://schemas.openxmlformats.org/officeDocument/2006/relationships" id="260" r:id="R8255513b84414382"/>
    <p:sldId xmlns:r="http://schemas.openxmlformats.org/officeDocument/2006/relationships" id="261" r:id="R994f61c6711e41c1"/>
    <p:sldId xmlns:r="http://schemas.openxmlformats.org/officeDocument/2006/relationships" id="262" r:id="R802d5afba33f46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61c42031864dfc" /><Relationship Type="http://schemas.openxmlformats.org/officeDocument/2006/relationships/slideMaster" Target="/ppt/slideMasters/slideMaster1.xml" Id="Rae8f04c82de0480a" /><Relationship Type="http://schemas.openxmlformats.org/officeDocument/2006/relationships/notesMaster" Target="/ppt/notesMasters/notesMaster1.xml" Id="R580129e471584392" /><Relationship Type="http://schemas.openxmlformats.org/officeDocument/2006/relationships/presProps" Target="/ppt/presProps.xml" Id="R08b767da728241a8" /><Relationship Type="http://schemas.openxmlformats.org/officeDocument/2006/relationships/tableStyles" Target="/ppt/tableStyles.xml" Id="Rd1e785f56cf546b1" /><Relationship Type="http://schemas.openxmlformats.org/officeDocument/2006/relationships/slide" Target="/ppt/slides/slide1.xml" Id="R0bc9ecc65ae143c6" /><Relationship Type="http://schemas.openxmlformats.org/officeDocument/2006/relationships/slide" Target="/ppt/slides/slide2.xml" Id="R4bb720a8a8864cfd" /><Relationship Type="http://schemas.openxmlformats.org/officeDocument/2006/relationships/slide" Target="/ppt/slides/slide3.xml" Id="R0e680f8d5df84dc1" /><Relationship Type="http://schemas.openxmlformats.org/officeDocument/2006/relationships/slide" Target="/ppt/slides/slide4.xml" Id="R87805dc1a96c4b37" /><Relationship Type="http://schemas.openxmlformats.org/officeDocument/2006/relationships/slide" Target="/ppt/slides/slide5.xml" Id="R8255513b84414382" /><Relationship Type="http://schemas.openxmlformats.org/officeDocument/2006/relationships/slide" Target="/ppt/slides/slide6.xml" Id="R994f61c6711e41c1" /><Relationship Type="http://schemas.openxmlformats.org/officeDocument/2006/relationships/slide" Target="/ppt/slides/slide7.xml" Id="R802d5afba33f46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49b457c7c64a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212d5d580b474e" /><Relationship Type="http://schemas.openxmlformats.org/officeDocument/2006/relationships/notesMaster" Target="/ppt/notesMasters/notesMaster1.xml" Id="Rb60631fa162847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84ac3cf5df4659" /><Relationship Type="http://schemas.openxmlformats.org/officeDocument/2006/relationships/notesMaster" Target="/ppt/notesMasters/notesMaster1.xml" Id="R84383f988af748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d312cf13aa4c29" /><Relationship Type="http://schemas.openxmlformats.org/officeDocument/2006/relationships/notesMaster" Target="/ppt/notesMasters/notesMaster1.xml" Id="R2563ffd432c344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c3da72189d4897" /><Relationship Type="http://schemas.openxmlformats.org/officeDocument/2006/relationships/notesMaster" Target="/ppt/notesMasters/notesMaster1.xml" Id="R86f424fc1bca49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6ba5749f844382" /><Relationship Type="http://schemas.openxmlformats.org/officeDocument/2006/relationships/notesMaster" Target="/ppt/notesMasters/notesMaster1.xml" Id="Ra5b513dfbbfc42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f84622f8c14e29" /><Relationship Type="http://schemas.openxmlformats.org/officeDocument/2006/relationships/notesMaster" Target="/ppt/notesMasters/notesMaster1.xml" Id="Rbae562a770ab42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a6b953d95c4587" /><Relationship Type="http://schemas.openxmlformats.org/officeDocument/2006/relationships/notesMaster" Target="/ppt/notesMasters/notesMaster1.xml" Id="R15d447117c1d4a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先看左右两个面，再看 C1–C5 与 D1–D5。用户要求的十类是本汇报采用的功能口径，并不是宣称官方文档原样使用这十个目录。C1 的域资源和 C5 的基础资源可存在调用关系。C2 按主要对象把官方“通信域资源”中的 Buffer / Memory API 抽出。D5 是编程模型维度，与 D1–D4 功能交叉，不能用十类相加计算互斥 API 数量。DFX / Profiling 是横切能力，在备注与报告另列。星号 Wait 的精确符号由能力探测决定，见第 6 页。缩写全称：HcclGroupStart、HcclGroupEnd、HcclGroupStatusGet；HcommAcquireComm、HcommReleaseComm；HcommBatchModeStart、HcommBatchModeEnd；HcommAicpuTsTaskCacheLookup、HcommAicpuTsTaskCacheStart、HcommAicpuTsTaskCacheEnd、HcommAicpuTsTaskCacheExecute、HcommAicpuTsTaskCacheClea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源码定位（仓库根目录：.）</a:t>
            </a:r>
          </a:p>
          <a:p xmlns:a="http://schemas.openxmlformats.org/drawingml/2006/main">
            <a:r>
              <a:t>hcomm/docs/zh/api_ref/comm_opdev/README.md</a:t>
            </a:r>
          </a:p>
          <a:p xmlns:a="http://schemas.openxmlformats.org/drawingml/2006/main">
            <a:r>
              <a:t>hcomm/include/hccl/hccl_res.h</a:t>
            </a:r>
          </a:p>
          <a:p xmlns:a="http://schemas.openxmlformats.org/drawingml/2006/main">
            <a:r>
              <a:t>hcomm/include/hcomm_res.h</a:t>
            </a:r>
          </a:p>
          <a:p xmlns:a="http://schemas.openxmlformats.org/drawingml/2006/main">
            <a:r>
              <a:t>hcomm/include/ccu/ccu_primitives.hpp:29–30,127,166,188</a:t>
            </a:r>
          </a:p>
          <a:p xmlns:a="http://schemas.openxmlformats.org/drawingml/2006/main">
            <a:r>
              <a:t>hcomm/src/base_comm/primitives/api_c_adpt/aicpu_ts_primitives_c_adpt.cc:1114–1196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完整分类、接口条件及可点击源码链接：./output/HCOMM_API_CLASSIFICATION_AICPU_ALLTOALL.md</a:t>
            </a:r>
          </a:p>
          <a:p xmlns:a="http://schemas.openxmlformats.org/drawingml/2006/main">
            <a:r>
              <a:t>静态源码分析，未上板抓取 trace。范围为 Ascend 950 / AICPU_TS / OPBASE；设备与模式不唯一决定拓扑、协议、算法或缓存状态。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本表给出所选静态路径的控制面可达接口及条件，不是一次实测调用列表。C3 中不同拓扑查询可能选择不同分支；缓存命中会跳过重建。HcclThreadAcquireWithConfig 与 HcclThreadAcquire 是新能力与兼容分支，不能画成前后两步。HcommChannelUpdateMemInfo 在 EndpointPair 复用 Channel 且存在附加内存的分支出现，不是普通路径每次执行。HcommThreadAlloc / HcommThreadAllocWithStream 有保序 / 专用线程分配调用点，普通 L2 ThreadMgr 也可以内部直接 CreateThread → Init。端点查询格使用共同前缀省略：全称为 HcclRankGraphGetEndpointNum、HcclRankGraphGetEndpointDesc、HcclRankGraphGetEndpointInfo。通信域初始化和销毁属于外围生命周期，不列成算子每次调用。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源码定位（仓库根目录：.）</a:t>
            </a:r>
          </a:p>
          <a:p xmlns:a="http://schemas.openxmlformats.org/drawingml/2006/main">
            <a:r>
              <a:t>hccl/src/ops/op_common/op_common.cc:780–941,1285–1311,1331–1396,1670–1810,1979–2091,3954</a:t>
            </a:r>
          </a:p>
          <a:p xmlns:a="http://schemas.openxmlformats.org/drawingml/2006/main">
            <a:r>
              <a:t>hccl/src/ops/op_common/topo_info/topo_host.cc:75,138,326,901</a:t>
            </a:r>
          </a:p>
          <a:p xmlns:a="http://schemas.openxmlformats.org/drawingml/2006/main">
            <a:r>
              <a:t>hccl/src/ops/op_common/order_launch.cc:152,229</a:t>
            </a:r>
          </a:p>
          <a:p xmlns:a="http://schemas.openxmlformats.org/drawingml/2006/main">
            <a:r>
              <a:t>hcomm/src/coll_communicator_mgr/resource_mgr/local/my_rank/endpoints/endpoint_mgr.cc:76,138</a:t>
            </a:r>
          </a:p>
          <a:p xmlns:a="http://schemas.openxmlformats.org/drawingml/2006/main">
            <a:r>
              <a:t>hcomm/src/base_comm/resources/endpoint_pairs/endpoint_pair.cc:199–226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完整分类、接口条件及可点击源码链接：./output/HCOMM_API_CLASSIFICATION_AICPU_ALLTOALL.md</a:t>
            </a:r>
          </a:p>
          <a:p xmlns:a="http://schemas.openxmlformats.org/drawingml/2006/main">
            <a:r>
              <a:t>静态源码分析，未上板抓取 trace。范围为 Ascend 950 / AICPU_TS / OPBASE；设备与模式不唯一决定拓扑、协议、算法或缓存状态。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阅读顺序是左列、中央列、右列。右列展开中央 HcclAllocAlgResourceAICPU；不是先完成中央所有步骤才独立执行右列。AlltoAllAutoSelector::SelectAicpuAlgo 是 Selector 框架中的可选自动选择分支；框架本身还有显式配置和其它选择路径，不以设备 / 模式唯一推断算法。阈值表达式为 sendCounts[0] × datatypeSize × userRankSize &gt; 150 × 1024 × 1024。两种算法注册到同一模板，但实际多 Channel 数还取决于 CalcRes 与链路资源。HcclMemcpyCtxHostToDevice 是内部函数，实际 HCOMM API 为 HcclEngineCtxCreate 和 HcclEngineCtxCopy。对称内存探测 HcclCommSymWinGet 发生在 9.1+ 等条件满足时，即便探测未命中也可能已经调用。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源码定位（仓库根目录：.）</a:t>
            </a:r>
          </a:p>
          <a:p xmlns:a="http://schemas.openxmlformats.org/drawingml/2006/main">
            <a:r>
              <a:t>hccl/src/ops/all_to_all_v/all_to_all_v.cc:23–86,705–830</a:t>
            </a:r>
          </a:p>
          <a:p xmlns:a="http://schemas.openxmlformats.org/drawingml/2006/main">
            <a:r>
              <a:t>hccl/src/ops/all_to_all_v/selector/alltoall_auto_selector.cc:131–179</a:t>
            </a:r>
          </a:p>
          <a:p xmlns:a="http://schemas.openxmlformats.org/drawingml/2006/main">
            <a:r>
              <a:t>hccl/src/ops/all_to_all_v/algorithm/executor/ins_v2_all_to_all_v_sole_executor.cc:562–578</a:t>
            </a:r>
          </a:p>
          <a:p xmlns:a="http://schemas.openxmlformats.org/drawingml/2006/main">
            <a:r>
              <a:t>hccl/src/ops/op_common/op_common.cc:780–941,1364–1422,1670–1810,1979–2091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完整分类、接口条件及可点击源码链接：./output/HCOMM_API_CLASSIFICATION_AICPU_ALLTOALL.md</a:t>
            </a:r>
          </a:p>
          <a:p xmlns:a="http://schemas.openxmlformats.org/drawingml/2006/main">
            <a:r>
              <a:t>静态源码分析，未上板抓取 trace。范围为 Ascend 950 / AICPU_TS / OPBASE；设备与模式不唯一决定拓扑、协议、算法或缓存状态。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该页展开 HcclChannelAcquire 的内部路径。列间箭头表示阅读与阶段依赖；中列是 BatchCreateChannels 的子过程，右列先执行 MyRank::CreateChannels 的后续工作，再回到 HCCL BuildChannelInfo。完整 MyRank 主干为参数检查、描述转换、BatchCreateSockets、BatchCreateChannels、BatchConnectChannels、950 BatchExchangeAndCheckConsistency、FinalizeChannelsByEngine。FinalizeChannelsByEngine 对 AICPU / AICPU_TS 使用 ChannelProcess::ChannelKernelLaunchForComm。HcclChannelAcquire 外围还会 FinalizeV2ChannelAcquire。PrepareChannelSymMemHandles 仅相关引擎 / 对称内存条件下需要，本普通未命中例不展开为必调 API。底层状态轮询是类方法，不是同名通用导出 API。普通线程分配也不必经过 HcommThreadAlloc 导出符号。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源码定位（仓库根目录：.）</a:t>
            </a:r>
          </a:p>
          <a:p xmlns:a="http://schemas.openxmlformats.org/drawingml/2006/main">
            <a:r>
              <a:t>hcomm/src/coll_communicator_mgr/api_c_adpt/coll_comm_res_c_adpt.cc:755–858</a:t>
            </a:r>
          </a:p>
          <a:p xmlns:a="http://schemas.openxmlformats.org/drawingml/2006/main">
            <a:r>
              <a:t>hcomm/src/coll_communicator_mgr/resource_mgr/local/my_rank/my_rank.cc:238,675,1057,1192,1228–1320</a:t>
            </a:r>
          </a:p>
          <a:p xmlns:a="http://schemas.openxmlformats.org/drawingml/2006/main">
            <a:r>
              <a:t>hcomm/src/coll_communicator_mgr/resource_mgr/local/my_rank/endpoints/endpoint_mgr.cc:76,138–150</a:t>
            </a:r>
          </a:p>
          <a:p xmlns:a="http://schemas.openxmlformats.org/drawingml/2006/main">
            <a:r>
              <a:t>hcomm/src/base_comm/resources/endpoint_pairs/endpoint_pair.cc:199–226</a:t>
            </a:r>
          </a:p>
          <a:p xmlns:a="http://schemas.openxmlformats.org/drawingml/2006/main">
            <a:r>
              <a:t>hcomm/src/base_comm/primitives/api_c_adpt/hcomm_channel_c_adpt.cc:438</a:t>
            </a:r>
          </a:p>
          <a:p xmlns:a="http://schemas.openxmlformats.org/drawingml/2006/main">
            <a:r>
              <a:t>hcomm/src/base_comm/resources/endpoint_pairs/channels/channel.cc:38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完整分类、接口条件及可点击源码链接：./output/HCOMM_API_CLASSIFICATION_AICPU_ALLTOALL.md</a:t>
            </a:r>
          </a:p>
          <a:p xmlns:a="http://schemas.openxmlformats.org/drawingml/2006/main">
            <a:r>
              <a:t>静态源码分析，未上板抓取 trace。范围为 Ascend 950 / AICPU_TS / OPBASE；设备与模式不唯一决定拓扑、协议、算法或缓存状态。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Host 和 AICPU 两列的 Record / Wait 通过资源导出的 Thread 句柄建立依赖。Host 入队一个等待不表示 Host 线程阻塞到全体 Rank 通信结束。HcommBatchModeEnd 内部切回 EAGER，LaunchContext::HandleEagerMode 对已记录的线程调用 CommTaskLaunch；BatchModeStart / End 不是每个 Peer 的 BatchTransfer。Kernel 中还存在任务缓存判断、DFX、异常清理；本页展开未重放的路径。PostSyncInterThreads 的源码入队顺序先 main Wait 再 sub Record，但实际执行依赖是 sub Record 满足后 main Wait 才通过；表格显示依赖方向，不伪称源码顺序。完整超时 API 拼写保留 TimeOut。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源码定位（仓库根目录：.）</a:t>
            </a:r>
          </a:p>
          <a:p xmlns:a="http://schemas.openxmlformats.org/drawingml/2006/main">
            <a:r>
              <a:t>hccl/src/ops/op_common/op_common.cc:1005–1132,1135–1203</a:t>
            </a:r>
          </a:p>
          <a:p xmlns:a="http://schemas.openxmlformats.org/drawingml/2006/main">
            <a:r>
              <a:t>hccl/src/ops/op_common/algorithm/template/aicpu/kernel_launch.cc:274–319,348–725</a:t>
            </a:r>
          </a:p>
          <a:p xmlns:a="http://schemas.openxmlformats.org/drawingml/2006/main">
            <a:r>
              <a:t>hccl/src/ops/all_to_all_v/algorithm/template/aicpu/ins_temp_all_to_all_v_mesh_1D.cc:217–269</a:t>
            </a:r>
          </a:p>
          <a:p xmlns:a="http://schemas.openxmlformats.org/drawingml/2006/main">
            <a:r>
              <a:t>hccl/src/ops/op_common/algorithm/template/wrapper/alg_data_trans_wrapper.cc:1010–1074</a:t>
            </a:r>
          </a:p>
          <a:p xmlns:a="http://schemas.openxmlformats.org/drawingml/2006/main">
            <a:r>
              <a:t>hcomm/src/base_comm/primitives/launch_context.cc:25–44,134–179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完整分类、接口条件及可点击源码链接：./output/HCOMM_API_CLASSIFICATION_AICPU_ALLTOALL.md</a:t>
            </a:r>
          </a:p>
          <a:p xmlns:a="http://schemas.openxmlformats.org/drawingml/2006/main">
            <a:r>
              <a:t>静态源码分析，未上板抓取 trace。范围为 Ascend 950 / AICPU_TS / OPBASE；设备与模式不唯一决定拓扑、协议、算法或缓存状态。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 SendRecvWrite 双向非零分支，ACK / DATA_SIGNAL 是语义标签，对应代码 HcclSignal::ACK 与 HcclSignal::DATA_SIGNAL。发送 / 接收 channel 在该模板通常取同一个 Peer 对应 curChannels[channelId]。普通非对称 Write 路径的 txSrcSlices 来自用户输入，txDstSlices 指向远端 CCL Buffer；rx 数据在本地 CCL Buffer，模板 PostCopy 进入用户输出。零方向另有 SendWrite / RecvWrite 分支，所以不能把六步强行应用到所有 AllToAllV 项。DataSlice 可有多个 slice，③可能重复。HCOMM Write API 是提交传输任务，不表示整个 AllToAll 已全局完成。完整 Thread Wait 两个候选符号：HcommThreadNotifyWaitOnThreadWithDefaultTimeout、HcommThreadNotifyWaitOnThread。通道 Wait 两个候选符号：HcommChannelNotifyWaitOnThreadWithDefaultTimeout、HcommChannelNotifyWaitOnThread。API 的能力分支在 HCCL dlsym 包装层处理。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源码定位（仓库根目录：.）</a:t>
            </a:r>
          </a:p>
          <a:p xmlns:a="http://schemas.openxmlformats.org/drawingml/2006/main">
            <a:r>
              <a:t>hccl/src/ops/op_common/algorithm/template/wrapper/alg_data_trans_wrapper.cc:25–32,428–464,880–900</a:t>
            </a:r>
          </a:p>
          <a:p xmlns:a="http://schemas.openxmlformats.org/drawingml/2006/main">
            <a:r>
              <a:t>hccl/src/ops/all_to_all_v/algorithm/template/aicpu/ins_temp_all_to_all_v_mesh_1D.cc:327–380,556–590</a:t>
            </a:r>
          </a:p>
          <a:p xmlns:a="http://schemas.openxmlformats.org/drawingml/2006/main">
            <a:r>
              <a:t>hccl/src/common/hcomm_dlsym/hcomm_primitives_dl.cc:176–193</a:t>
            </a:r>
          </a:p>
          <a:p xmlns:a="http://schemas.openxmlformats.org/drawingml/2006/main">
            <a:r>
              <a:t>hcomm/src/base_comm/primitives/api_c_adpt/aicpu_ts_primitives_c_adpt.cc:127,495–545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完整分类、接口条件及可点击源码链接：./output/HCOMM_API_CLASSIFICATION_AICPU_ALLTOALL.md</a:t>
            </a:r>
          </a:p>
          <a:p xmlns:a="http://schemas.openxmlformats.org/drawingml/2006/main">
            <a:r>
              <a:t>静态源码分析，未上板抓取 trace。范围为 Ascend 950 / AICPU_TS / OPBASE；设备与模式不唯一决定拓扑、协议、算法或缓存状态。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PCIe 分支在 KernelRun 使用 IsPcieProtocol 设置 isDmaRead_。普通内存 Read 模式先 PreCopy，首轮还会进行额外主从线程同步；后续轮次按分片做前拷贝。SendRecvRead 内部为：HcommChannelNotifyRecordOnThread(sendChannel, ACK)，HcommChannelNotifyWaitOnThread*(recvChannel, ACK)，HcommReadOnThread 从远端 CCL 读到本地输出，HcommChannelNotifyRecordOnThread(recvChannel, DATA_SIGNAL)，HcommChannelNotifyWaitOnThread*(sendChannel, DATA_SIGNAL)。MultiJetty 与 Concurrent 条件属于 MESH_1D_CLOS 分支，不能套到全部 Mesh。任务缓存要求功能开启、DEV_TYPE_950、支持算子与拓扑，排除 MC2、OFFLOAD、ACL graph 和输入输出重叠等；miss 仍展开，hit 用 Execute 跳过 OpOrchestrate。当前 AICPU HcommFenceOnThread 实现返回 HCCL_E_NOT_SUPPORT。最后一列 MemReg 是指不应认为 HcclCommMemReg 在普通 OPBASE 被 HCCL 每次直接调用；底层 HcommMemReg 按需注册 CCL Buffer 已列在第 4 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源码定位（仓库根目录：.）</a:t>
            </a:r>
          </a:p>
          <a:p xmlns:a="http://schemas.openxmlformats.org/drawingml/2006/main">
            <a:r>
              <a:t>hccl/src/ops/all_to_all_v/algorithm/template/aicpu/ins_temp_all_to_all_v_mesh_1D.cc:167–192,217–269,327–411</a:t>
            </a:r>
          </a:p>
          <a:p xmlns:a="http://schemas.openxmlformats.org/drawingml/2006/main">
            <a:r>
              <a:t>hccl/src/ops/op_common/algorithm/template/wrapper/alg_data_trans_wrapper.cc:652–689</a:t>
            </a:r>
          </a:p>
          <a:p xmlns:a="http://schemas.openxmlformats.org/drawingml/2006/main">
            <a:r>
              <a:t>hccl/src/ops/all_to_all_v/algorithm/template/aicpu/ins_temp_ubx_all_to_all_v_mesh_1D.cc:327,456</a:t>
            </a:r>
          </a:p>
          <a:p xmlns:a="http://schemas.openxmlformats.org/drawingml/2006/main">
            <a:r>
              <a:t>hccl/src/ops/op_common/algorithm/template/aicpu/kernel_launch.cc:499–595</a:t>
            </a:r>
          </a:p>
          <a:p xmlns:a="http://schemas.openxmlformats.org/drawingml/2006/main">
            <a:r>
              <a:t>hccl/src/ops/op_common/algorithm/template/aicpu/task_cache/aicpu_task_cache_policy.cc:18–110</a:t>
            </a:r>
          </a:p>
          <a:p xmlns:a="http://schemas.openxmlformats.org/drawingml/2006/main">
            <a:r>
              <a:t>hcomm/src/base_comm/primitives/api_c_adpt/aicpu_ts_primitives_c_adpt.cc:1193–1196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完整分类、接口条件及可点击源码链接：./output/HCOMM_API_CLASSIFICATION_AICPU_ALLTOALL.md</a:t>
            </a:r>
          </a:p>
          <a:p xmlns:a="http://schemas.openxmlformats.org/drawingml/2006/main">
            <a:r>
              <a:t>静态源码分析，未上板抓取 trace。范围为 Ascend 950 / AICPU_TS / OPBASE；设备与模式不唯一决定拓扑、协议、算法或缓存状态。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fafc1c1ee54f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c134d9aed74e49" /><Relationship Type="http://schemas.openxmlformats.org/officeDocument/2006/relationships/slideLayout" Target="/ppt/slideLayouts/slideLayout1.xml" Id="R221c5839874e42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1c5839874e42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4be95df16d4923" /><Relationship Type="http://schemas.openxmlformats.org/officeDocument/2006/relationships/notesSlide" Target="/ppt/notesSlides/notesSlide1.xml" Id="R0aa8161604cc42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02734eb6f4107" /><Relationship Type="http://schemas.openxmlformats.org/officeDocument/2006/relationships/notesSlide" Target="/ppt/notesSlides/notesSlide2.xml" Id="R9bf7b872d99f46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8de3c92a94641" /><Relationship Type="http://schemas.openxmlformats.org/officeDocument/2006/relationships/notesSlide" Target="/ppt/notesSlides/notesSlide3.xml" Id="Rf3e70ee186ad4e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2bb500b54481d" /><Relationship Type="http://schemas.openxmlformats.org/officeDocument/2006/relationships/notesSlide" Target="/ppt/notesSlides/notesSlide4.xml" Id="R0c14ef95945843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fa8e0b97c49a2" /><Relationship Type="http://schemas.openxmlformats.org/officeDocument/2006/relationships/notesSlide" Target="/ppt/notesSlides/notesSlide5.xml" Id="R75218f379e3d4a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6d8ef7dd64574" /><Relationship Type="http://schemas.openxmlformats.org/officeDocument/2006/relationships/notesSlide" Target="/ppt/notesSlides/notesSlide6.xml" Id="R4cd1047f70b44e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3b09e05fc47e7" /><Relationship Type="http://schemas.openxmlformats.org/officeDocument/2006/relationships/notesSlide" Target="/ppt/notesSlides/notesSlide7.xml" Id="Raed87fd2ed8c4a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199AC1B-BF5B-4514-936C-FBBC1D07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"/>
            <a:ext cx="1165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接口分类：控制面准备资源，数据面执行通信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BC473C-FE5E-444A-A45B-7D4224B3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4825"/>
            <a:ext cx="1104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保留“五类控制面＋五类数据面”的汇报口径；分类按职责，L2 / L3 按实现层次，两者不是一一对应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B5DB2-A11C-418D-93C2-C53061D0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14350"/>
            <a:ext cx="323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4491E-762E-4CCD-B685-0345C27B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143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119AEA-D23D-41AB-982A-AAC511E1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00100"/>
            <a:ext cx="5791200" cy="410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1C2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195DA7-2770-4A73-9380-FFFD343E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809625"/>
            <a:ext cx="577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175F6-2D09-4F3C-9CF9-75949263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8675"/>
            <a:ext cx="5657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控制面  C1–C5｜域、内存、拓扑、编排、基础资源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6CA95-76CB-4927-B33F-BDED4E8E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800100"/>
            <a:ext cx="5791200" cy="410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438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5103D8-7F1D-4F00-BD44-1465E023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809625"/>
            <a:ext cx="577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22BDC7-0D53-4531-BDA0-7BF3FE82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828675"/>
            <a:ext cx="5657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数据面  D1–D5｜搬运、计算、同步、执行、CCU DSL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F49B20-CCB4-4FD9-85DE-D818E5E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76325"/>
            <a:ext cx="5676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0D5C22-D05D-48F7-A2E4-076EED96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085850"/>
            <a:ext cx="5581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C1  通信域资源管理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D7B0ED-B5F5-431F-9175-AA99AE6F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295400"/>
            <a:ext cx="5581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 / Create / Copy；HcclChannelAcquire</a:t>
            </a:r>
          </a:p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HcclThreadAcquire*；HcclThreadExportToCommEngine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49F954-38C0-44EC-B152-FACF7BC5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609725"/>
            <a:ext cx="5581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生命周期、配置、域内资源获取与复用；本例使用已存在的 comm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559DDA-C538-4915-A78A-FCB70149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819275"/>
            <a:ext cx="5676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4B2C8C-FA03-4E88-A407-A0E5DBB4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828800"/>
            <a:ext cx="5581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C2  内存管理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0360B1-B887-4A0A-9BAD-6849F23D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038350"/>
            <a:ext cx="5581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HcclGetHcclBuffer；HcclChannelGetHcclBuffer</a:t>
            </a:r>
          </a:p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HcommMemReg；HcommChannelGetRemoteMems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C8FC91-95C3-4FBC-9357-2AF8B408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352675"/>
            <a:ext cx="5581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获取 CCL Buffer、注册内存、查询远端地址；区别于搬运用户数据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DB002A-05BC-4B05-90EA-AC94BCC8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562225"/>
            <a:ext cx="5676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361CBE-47B6-4B10-BE91-3699639A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571750"/>
            <a:ext cx="5581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C3  拓扑管理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45A232-A143-4E06-A557-4A28D410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781300"/>
            <a:ext cx="5581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HcclGetRankId / HcclGetRankSize；HcclRankGraphGetLayers</a:t>
            </a:r>
          </a:p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HcclRankGraphGetLinks；HcclRankGraphGetEndpointInfo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F545FA-4B43-4F5C-A49B-070E412E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095625"/>
            <a:ext cx="5581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查询成员、拓扑实例、端点和链路；给 Selector / ChannelDesc 提供依据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AF926F-5790-48C9-B176-4549CD21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305175"/>
            <a:ext cx="5676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A909BD-A331-4C78-8CC4-26E9CEF4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314700"/>
            <a:ext cx="5581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C4  算子编排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F9AAE1-DCD0-41EE-A6E6-FF13178A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524250"/>
            <a:ext cx="5581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HcclGroupStart / End / StatusGet；HcclTaskRegister</a:t>
            </a:r>
          </a:p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HcclAicpuKernelLaunch；HcommCcuKernelLaunch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127C27-C4B4-4654-8663-E53FFD1F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838575"/>
            <a:ext cx="5581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任务分组、注册与发射；API 存在 ≠ 当前 AllToAll 分支调用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0726CE-F4BE-4421-95B3-BCD05FF9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48125"/>
            <a:ext cx="5676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9FF6B8-BC96-461E-A0AC-F1152A35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057650"/>
            <a:ext cx="5581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C5  底层通信资源管理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059BAB-7160-46C1-9858-535BF4D6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267200"/>
            <a:ext cx="5581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HcommEndpointCreate；HcommEndpointStartListen</a:t>
            </a:r>
          </a:p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HcommCollectiveChannelCreate；HcommThreadAlloc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0391B4-7DAD-4B47-A7BC-4D300036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581525"/>
            <a:ext cx="5581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基础端点、通道、线程；本例多由 HCOMM 内部管理器间接触发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4047AC-4077-4738-BA5C-C52C445C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76325"/>
            <a:ext cx="5676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9D018A-6DA3-4BFD-94D9-EC3BAA2D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085850"/>
            <a:ext cx="5581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D1  数据搬运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05670F-0244-4A12-8D0E-E2892347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295400"/>
            <a:ext cx="5581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HcommLocalCopyOnThread；HcommWriteOnThread</a:t>
            </a:r>
          </a:p>
          <a:p xmlns:a="http://schemas.openxmlformats.org/drawingml/2006/main">
            <a:pPr algn="l">
              <a:defRPr sz="844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HcommReadOnThread；HcommBatchTransferOnThread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6285F7-12F5-48EF-9521-6DE3E8A0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09725"/>
            <a:ext cx="5581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传输字节；本例核心为 LocalCopy＋Write，PCIe 分支替换成 Read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95D165-416F-4162-8C95-A71403D9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19275"/>
            <a:ext cx="5676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E59CB2-B3C7-48AE-8EAB-8D59F722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28800"/>
            <a:ext cx="5581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D2  数据计算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12E497-7C25-44B9-B309-5BF18D61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38350"/>
            <a:ext cx="5581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HcommLocalReduceOnThread；HcommReadReduceOnThread</a:t>
            </a:r>
          </a:p>
          <a:p xmlns:a="http://schemas.openxmlformats.org/drawingml/2006/main">
            <a:pPr algn="l">
              <a:defRPr sz="844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HcommWriteReduceOnThread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E6BF61-6900-4C86-BD82-AE9F6B92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52675"/>
            <a:ext cx="5581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数值归约，或传输融合归约；本例 AllToAll 不调用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1707D9-8CF7-4FA0-8600-9353A045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62225"/>
            <a:ext cx="5676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B8190DE-CC30-46E8-9B42-F70DE852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71750"/>
            <a:ext cx="5581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D3  同步控制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C04019-821B-4AF7-850F-183DA82D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781300"/>
            <a:ext cx="5581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HcommChannelNotifyRecordOnThread / WaitOnThread*</a:t>
            </a:r>
          </a:p>
          <a:p xmlns:a="http://schemas.openxmlformats.org/drawingml/2006/main">
            <a:pPr algn="l">
              <a:defRPr sz="844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HcommThreadNotifyRecordOnThread / WaitOnThread*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1DD656-D222-494A-85D9-082800FE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95625"/>
            <a:ext cx="5581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 间握手、主从线程汇合、Host / Device 就绪与完成通知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443F87F-6537-4870-AF69-F0EEE0DB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05175"/>
            <a:ext cx="5676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DF8068-5E17-48E6-A93F-61110E1E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14700"/>
            <a:ext cx="5581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D4  执行控制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917EA9F-0747-4B51-BDD2-65EC3672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24250"/>
            <a:ext cx="5581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HcommAcquireComm / ReleaseComm；HcommBatchModeStart / End</a:t>
            </a:r>
          </a:p>
          <a:p xmlns:a="http://schemas.openxmlformats.org/drawingml/2006/main">
            <a:pPr algn="l">
              <a:defRPr sz="844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HcommAicpuTsTaskCacheLookup / Start / End / Execute / Clear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223D8C5-F624-452E-8DB3-19C5E490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38575"/>
            <a:ext cx="5581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域使用保护、批量提交、任务录制重放；不等于数据搬运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4D2F751-9EA8-48DB-B38C-3DEC3F82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5676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4F978E9-1C67-459D-AC55-FB434BCD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57650"/>
            <a:ext cx="5581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D5  CCU C++ 数据面操作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4490BDC-9A96-4CC1-9A96-DF0ABF06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267200"/>
            <a:ext cx="5581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AscendC::ccu::Read / Write / LocalCopy / ReadReduce</a:t>
            </a:r>
          </a:p>
          <a:p xmlns:a="http://schemas.openxmlformats.org/drawingml/2006/main">
            <a:pPr algn="l">
              <a:defRPr sz="844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Variable / Address；Loop / LoopGroup；CCU_IF / CCU_WHILE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AA38768-CC60-430E-A7A1-53CC432F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581525"/>
            <a:ext cx="5581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CCU 编程模型，内部也有搬运 / 计算 / 同步；AICPU_TS 不进入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3BB33FF-7114-4E5B-A831-71BF894B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81575"/>
            <a:ext cx="116586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2A0ECE7-5431-43EC-965D-A50AE8FA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4991100"/>
            <a:ext cx="1163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2E8DC8E-0D6B-4DE9-8DBC-3503346C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010150"/>
            <a:ext cx="1152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分类边界：以“管理对象 / 执行动作”归类，不凭函数前缀和名称猜测</a:t>
            </a:r>
          </a:p>
        </p:txBody>
      </p:sp>
      <p:graphicFrame>
        <p:nvGraphicFramePr>
          <p:cNvPr id="110" name=""/>
          <p:cNvGraphicFramePr/>
          <p:nvPr/>
        </p:nvGraphicFramePr>
        <p:xfrm>
          <a:off xmlns:a="http://schemas.openxmlformats.org/drawingml/2006/main" x="323850" y="5257800"/>
          <a:ext xmlns:a="http://schemas.openxmlformats.org/drawingml/2006/main" cx="11544300" cy="10953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362325"/>
                <a:gridCol w="2038350"/>
                <a:gridCol w="6143625"/>
              </a:tblGrid>
              <a:tr h="2190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容易混淆的接口</a:t>
                      </a:r>
                    </a:p>
                  </a:txBody>
                  <a:tcPr marL="47625" marR="47625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正确归类</a:t>
                      </a:r>
                    </a:p>
                  </a:txBody>
                  <a:tcPr marL="47625" marR="47625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判断依据</a:t>
                      </a:r>
                    </a:p>
                  </a:txBody>
                  <a:tcPr marL="47625" marR="47625" marT="9525" marB="9525" anchor="ctr">
                    <a:solidFill>
                      <a:srgbClr val="D9DCD8"/>
                    </a:solidFill>
                  </a:tcPr>
                </a:tc>
              </a:tr>
              <a:tr h="2190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HcclEngineCtxCopy</a:t>
                      </a:r>
                    </a:p>
                  </a:txBody>
                  <a:tcPr marL="47625" marR="47625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通信域资源管理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复制算法资源描述到引擎上下文，不是 AllToAll 的用户 Tensor 搬运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</a:tr>
              <a:tr h="2190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HcommAcquireComm / ReleaseComm</a:t>
                      </a:r>
                    </a:p>
                  </a:txBody>
                  <a:tcPr marL="47625" marR="47625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执行控制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保护正在运行的通信域，不是 CommInit / CommDestroy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</a:tr>
              <a:tr h="2190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HcommBatchModeStart / End ≠ BatchTransfer</a:t>
                      </a:r>
                    </a:p>
                  </a:txBody>
                  <a:tcPr marL="47625" marR="47625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提交模式 ≠ D1 批量搬运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进入批模式并不意味着调用 HcommBatchTransferOnThread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</a:tr>
              <a:tr h="2190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HcclExecOp / HcclGetOpExpansionMode</a:t>
                      </a:r>
                    </a:p>
                  </a:txBody>
                  <a:tcPr marL="47625" marR="47625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 内部函数，不是 HCOMM API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 另有 Hccl* 导出符号；必须依据实现仓库与实际调用点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E1B79D3-FFAC-49DB-A937-223CD46F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436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593C653-3E02-428D-8433-0FECB447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81775"/>
            <a:ext cx="11306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源码基线 HCCL 170ddeec / HCOMM 87ce550f ｜ 分类依据 hcomm/docs/zh/api_ref/comm_opdev/；CCU 命名空间 include/ccu/ccu_primitives.hpp；本页为典型接口族，非全库枚举。</a:t>
            </a:r>
          </a:p>
        </p:txBody>
      </p:sp>
    </p:spTree>
    <p:extLst>
      <p:ext uri="{BB962C8B-B14F-4D97-AF65-F5344CB8AC3E}">
        <p14:creationId xmlns:p14="http://schemas.microsoft.com/office/powerpoint/2010/main" val="14151830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389827-4A2E-42F3-91E0-1C242E53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"/>
            <a:ext cx="1165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 控制面：逐项标出接口、用途与触发条件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1D0B39-D5E9-44E4-863C-123D4C13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4825"/>
            <a:ext cx="1104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实例：Ascend 950 / AICPU_TS / OPBASE，多 Rank、非零数据；以普通 Mesh 模板为例，缓存与能力分支单列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D1213-C128-436C-94AF-66C3604A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14350"/>
            <a:ext cx="323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C3ACF-FA66-453A-9E69-1ACD7D76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143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266700" y="800100"/>
          <a:ext xmlns:a="http://schemas.openxmlformats.org/drawingml/2006/main" cx="11658600" cy="50577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428750"/>
                <a:gridCol w="4419600"/>
                <a:gridCol w="3486150"/>
                <a:gridCol w="2324100"/>
              </a:tblGrid>
              <a:tr h="2571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类别 / 边界</a:t>
                      </a:r>
                    </a:p>
                  </a:txBody>
                  <a:tcPr marL="47625" marR="47625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 接口（同格同族；不表示全部连续调用）</a:t>
                      </a:r>
                    </a:p>
                  </a:txBody>
                  <a:tcPr marL="47625" marR="47625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中文含义 / 产物</a:t>
                      </a:r>
                    </a:p>
                  </a:txBody>
                  <a:tcPr marL="47625" marR="47625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触发条件</a:t>
                      </a:r>
                    </a:p>
                  </a:txBody>
                  <a:tcPr marL="47625" marR="47625" marT="9525" marB="9525" anchor="ctr">
                    <a:solidFill>
                      <a:srgbClr val="D9DCD8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· HCCL 直调</a:t>
                      </a:r>
                    </a:p>
                  </a:txBody>
                  <a:tcPr marL="47625" marR="47625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HcclGetCommName；HcclConfigGetInfo</a:t>
                      </a:r>
                    </a:p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HcclCommGetStatus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域名、展开配置、READY 状态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 / 配置按接口能力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· HCCL 直调</a:t>
                      </a:r>
                    </a:p>
                  </a:txBody>
                  <a:tcPr marL="47625" marR="47625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HcclEngineCtxGet；HcclEngineCtxCreate</a:t>
                      </a:r>
                    </a:p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HcclEngineCtxCopy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 / 缓存拓扑、线程及算法资源；复制至 AICPU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Get 查缓存；Create / Copy 按需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· HCCL 直调</a:t>
                      </a:r>
                    </a:p>
                  </a:txBody>
                  <a:tcPr marL="47625" marR="47625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HcclThreadAcquireWithStream</a:t>
                      </a:r>
                    </a:p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HcclThreadExportToCommEngine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关联用户 stream；导出跨引擎线程句柄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执行入口 / Host–AICPU 同步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· HCCL 直调</a:t>
                      </a:r>
                    </a:p>
                  </a:txBody>
                  <a:tcPr marL="47625" marR="47625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HcclThreadAcquireWithConfig 或 HcclThreadAcquire</a:t>
                      </a:r>
                    </a:p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HcclChannelAcquire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申请主从线程、Notify；获取 Peer 通道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资源缺失时；两种 Thread API 互斥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· 条件调用</a:t>
                      </a:r>
                    </a:p>
                  </a:txBody>
                  <a:tcPr marL="47625" marR="47625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HcclCommAddExchangeInfo；HcclCommGetExchangeInfo</a:t>
                      </a:r>
                    </a:p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HcclDedicatedThreadAcquire；HcclThreadResGetInfo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登记 / 读取一致性信息；保序线程、底层 stream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一致性 / 保序 / 发射各自条件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C2 · HCCL 直调</a:t>
                      </a:r>
                    </a:p>
                  </a:txBody>
                  <a:tcPr marL="47625" marR="47625" marT="9525" marB="9525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HcclGetHcclBuffer；HcclChannelGetHcclBuffer</a:t>
                      </a:r>
                    </a:p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HcclCommSymWinGet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 / 远端 CCL Buffer；探测对称窗口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资源构造；9.1+ 可探测对称内存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C2 · HCOMM 内调</a:t>
                      </a:r>
                    </a:p>
                  </a:txBody>
                  <a:tcPr marL="47625" marR="47625" marT="9525" marB="9525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HcommMemReg；HcommChannelGetRemoteMems</a:t>
                      </a:r>
                    </a:p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HcommChannelUpdateMemInfo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注册端点内存；查询远端映射；更新附加内存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注册未命中；更新仅对应复用分支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· HCCL 直调</a:t>
                      </a:r>
                    </a:p>
                  </a:txBody>
                  <a:tcPr marL="47625" marR="47625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HcclGetRankSize；HcclGetRankId</a:t>
                      </a:r>
                    </a:p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HcclRankGraphGetLayers；HcclRankGraphGetLinks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取得规模、本 Rank、网络层、Peer 可用链路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入口与请求构造；拓扑重建按缓存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· 按拓扑查询</a:t>
                      </a:r>
                    </a:p>
                  </a:txBody>
                  <a:tcPr marL="47625" marR="47625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HcclRankGraphGetRanksByLayer</a:t>
                      </a:r>
                    </a:p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HcclRankGraphGetInstSizeListByLayer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层内 Rank 成员；各实例规模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具体拓扑构建分支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· 按拓扑查询</a:t>
                      </a:r>
                    </a:p>
                  </a:txBody>
                  <a:tcPr marL="47625" marR="47625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HcclRankGraphGetTopoInstsByLayer</a:t>
                      </a:r>
                    </a:p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HcclRankGraphGetTopoType；HcclRankGraphGetRanksByTopoInst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枚举实例、拓扑形态及实例成员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具体拓扑构建分支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· HCCL 直调</a:t>
                      </a:r>
                    </a:p>
                  </a:txBody>
                  <a:tcPr marL="47625" marR="47625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HcclRankGraphGetEndpointNum / GetEndpointDesc / GetEndpointInfo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枚举端点；回填带宽系数 / Die 等属性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拓扑与 ChannelInfo 构造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C4 · 条件查询</a:t>
                      </a:r>
                    </a:p>
                  </a:txBody>
                  <a:tcPr marL="47625" marR="47625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HcclGroupStatusGet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收尾 Profiling 查询 Group 状态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不等于主动 GroupStart / GroupEnd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C5 · HCOMM 内调</a:t>
                      </a:r>
                    </a:p>
                  </a:txBody>
                  <a:tcPr marL="47625" marR="47625" marT="9525" marB="9525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HcommEndpointCreate；HcommEndpointStartListen</a:t>
                      </a:r>
                    </a:p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HcommCollectiveChannelCreate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 / 监听端点；创建集合通信通道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Endpoint / Channel 缓存未命中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C5 · 条件调用</a:t>
                      </a:r>
                    </a:p>
                  </a:txBody>
                  <a:tcPr marL="47625" marR="47625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HcommThreadAlloc；HcommThreadAllocWithStream</a:t>
                      </a:r>
                    </a:p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HcommThreadResGetInfo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专用 / 保序线程分配；查询基础线程信息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普通 ThreadAcquire 不保证经过它们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F0F36-D3B4-4FF1-880D-7F12DDA5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972175"/>
            <a:ext cx="116586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0E5DC7-8861-4A87-8C3A-31D2D8A9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981700"/>
            <a:ext cx="11563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82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82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重要边界：资源申请 ≠ 每次物理新建；参数探测 ≠ 命中该优化；函数声明 ≠ 本次已执行。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56B1A8-281D-400B-9C33-D7667E07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229350"/>
            <a:ext cx="115824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本例主要编排在 HCCL 内部。HcclAicpuKernelLaunch（P2P 专用）、HcclTaskRegister（CPU / DPU）、CCU Kernel API 不在此主链。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5643FE-75F2-4822-B0B1-7812FC61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436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21FE3F-5811-438D-9095-7645E24D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81775"/>
            <a:ext cx="11306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源码基线 HCCL 170ddeec / HCOMM 87ce550f ｜ op_common.cc:780,1285,1364,1670,1744,1979；topo_host.cc / physical_level_build.cc；order_launch.cc；Endpoint / Thread 管理器。</a:t>
            </a:r>
          </a:p>
        </p:txBody>
      </p:sp>
    </p:spTree>
    <p:extLst>
      <p:ext uri="{BB962C8B-B14F-4D97-AF65-F5344CB8AC3E}">
        <p14:creationId xmlns:p14="http://schemas.microsoft.com/office/powerpoint/2010/main" val="10635565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E114029-EBDD-4570-9520-FBC84AC6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"/>
            <a:ext cx="1165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从 HcclAlltoAll 到资源上下文：先选择，再申请，最后发射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8C7A1-F5F2-4E05-86C9-B30048C9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4825"/>
            <a:ext cx="1104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列间表示阶段推进；列内缩进表示父子归属。〔内〕= HCCL 内部函数，〔C#〕= HCOMM 控制面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E96A74-FA60-454E-8556-F4BFFA03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14350"/>
            <a:ext cx="323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55170-3E50-4862-B970-4E39B0A8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143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871CF-A812-4BFC-AE8A-E0CBCFD0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00100"/>
            <a:ext cx="38290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1C2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1472ED-18D8-4974-A615-D827EEF7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809625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E3C526-CE11-4533-8D12-7C36422F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8675"/>
            <a:ext cx="3695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① 入口 / Selector：确定算法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4783A2-8295-40CF-88E0-AE389F29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763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F2A999-ECC0-4DE5-8A04-1BA8D764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0858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HcclAlltoAll〔HCCL 对外〕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FC885C-11F1-4431-BD23-B7402756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238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校验输入；非零、多 Rank 进入本例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3482C7-63C0-4945-AF65-A911D3FB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192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A79FA5-E043-4E29-A4C3-2A409C48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4287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HcclGetRankSize / HcclGetRankId〔C3〕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79A0DA-ED5B-45A0-816F-6B757C1F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5811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取得成员规模与本 Rank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A1EA56-8C41-4870-967A-CB69C8F0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621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249B9A-3248-44EB-B3B9-17AB8872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7716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HcclGetCommName〔C1〕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1D803E-5171-4008-9EE9-DDA8530C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9240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取得域名，构造算子 tag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8383FF-BB5A-4182-ADE5-D4DD7563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1050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B18C41-8076-4EE2-BFB1-ED907A46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1145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ConvertAlltoAllParam〔内〕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17D965-D5C1-4EE3-A7C2-596B5DC8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2669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等长参数 → counts / displacements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CE0FFC-4DD3-4831-AB0B-F00AE0EC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4479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9A2FCE-4410-405F-8F9D-5634E485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4574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AlltoAllVOutPlaceCommon〔内〕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AEC93C-2011-44FA-B2F4-F42E1BDF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6098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opType 仍为 ALLTOALL，不变成 ALLTOALLV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EB3C08-F81A-4066-9F19-4D2EF45A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7908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8076F4-46AB-4DFC-92F0-96679EB4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8003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  HcclGetOpExpansionMode〔内〕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F660B4-E9F0-4565-8D73-8A62BB6E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9527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→ HcclConfigGetInfo〔C1〕读展开配置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E87727-A7E1-4C23-8284-FFFAA4B5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1337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971B83-2A75-4BEC-8A19-1245D89E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143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  AlltoAllVExecDispatch → Selector〔内〕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A50237-6337-4125-9494-923900A1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2956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查状态〔C1〕；HcclCalcTopoInfo〔内〕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624D11-095A-4863-AC74-B3DEA78F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4766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8E1955-79F4-48ED-BF38-51B7635E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4861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    HcclEngineCtxGet〔C1〕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8107FF-5617-4260-ACD1-49ABD504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6385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拓扑 miss：RankGraph 查询〔C3〕＋Create〔C1〕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951369-2BA7-4A80-A5CD-9034F194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195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5A4A24-9714-453E-A28D-50A9EB55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8290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    SelectAicpuAlgo〔内；相应分支〕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081682-BA52-46FE-92F1-879B9F40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9814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选择算法名；主例落到普通 Mesh 模板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FD0805-6CFF-4E67-9CA6-98D61A17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4576D5-A576-4DC1-83AC-E01A8897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7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4096703" y="972027"/>
            <a:ext cx="657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tailEnd type="triangle" w="sm" len="sm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E37249-C7E0-438C-B3FC-76C79C5C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800100"/>
            <a:ext cx="38100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1C25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ABBDB3-963B-4089-81BA-7E5E04A1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09625"/>
            <a:ext cx="3790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DD0877-65EF-4DDE-AD51-A6463BBE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28675"/>
            <a:ext cx="3676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② HcclExecOp：获取 / 复用资源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3B0EFE-C245-42B6-AF55-D2730626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076325"/>
            <a:ext cx="3695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0899B5-E2AC-456D-90C0-856E3A03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08585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HcclThreadAcquireWithStream〔C1〕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A96692-C636-4A3D-B5A4-0AE0D4D1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23825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用户 stream 关联 CPU_TS Thread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AF6DE6A-D54A-4851-BCC8-FE862857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419225"/>
            <a:ext cx="3695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569B34-D7DE-4D44-8043-267D1A63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2875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HcclThreadExportToCommEngine〔C1〕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F1F21B0-9698-4A3A-85B5-968ACF77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8115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CPU_TS → AICPU_TS，供就绪通知使用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7FE4734-2051-4754-B5C7-EF3986FE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62125"/>
            <a:ext cx="3695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C7730DF-DD57-4453-AB51-0B9A22B5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7165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HcclGetAlgRes〔内〕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25DD2C-9400-4A1B-9D77-27B92167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2405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先 TryReuseResource，资源 hit 直接复用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4B1590F-56E7-470F-8DC9-716F77C5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105025"/>
            <a:ext cx="3695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C18F16-E510-4B22-8764-B3AB6590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1455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HcclEngineCtxGet〔C1〕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1C02E55-5E46-4ABF-BAF3-6570B43B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 algTag / engine 查询算法资源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ED8BD7B-6290-49EB-A8A9-DE0B8D5C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47925"/>
            <a:ext cx="3695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5841726-563E-4523-BDC9-9D3E6EAA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5745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仅 miss：CalcAlgHierarchyInfoV2〔内〕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58E8E7E-FCCA-488E-A940-5DBFE962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计算算法层级与 Rank 映射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3284109-C5D6-43CA-8496-BF835D61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790825"/>
            <a:ext cx="3695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D6E955C-5B9D-48B9-B5AE-AFA6D33D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0035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  Executor::CalcRes〔内〕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81CA718-913B-4864-8FED-62805231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5275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计算 Thread / Channel / Notify 需求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E0D27EA-5D07-459A-A1D8-6B2E57EF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133725"/>
            <a:ext cx="3695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9F413D6-FFD5-4EA1-A68D-275E4F45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4325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  GetAlgResWithEngine〔内〕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80B9E0D-D762-40B6-8758-3EE9E33E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9565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分派到 AICPU 资源申请分支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317BE94-C84C-468E-8A00-78DAA36A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476625"/>
            <a:ext cx="3695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D01DD37-DC5C-4AEA-B2BA-46BDEFEB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8615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    HcclAllocAlgResourceAICPU〔内〕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DE01831-5F21-4FFD-9BB0-BF911626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3855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详见右列：Buffer → Thread → Channel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98ED5F3-FD32-41B6-BFE2-FAE125C2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819525"/>
            <a:ext cx="3695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F41850D-1B05-4E34-B665-B8A6A231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2905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    HcclMemcpyCtxHostToDevice〔内〕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9C97204-9D21-4470-8DDF-385EEFF5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8145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→ EngineCtxCreate / EngineCtxCopy〔C1〕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680B904-0711-4A60-82DC-D7A735AC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EBD61CC-398E-44AA-ADD5-5DE0D08B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" name=""/>
          <p:cNvCxnSpPr>
            <a:stCxn xmlns:a="http://schemas.openxmlformats.org/drawingml/2006/main" id="68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>
            <a:off x="7992428" y="972027"/>
            <a:ext cx="657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tailEnd type="triangle" w="sm" len="sm"/>
          </a:ln>
        </p:spPr>
      </p:cxn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3CBE8BA-0BA6-404A-BB01-427748C7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800100"/>
            <a:ext cx="38481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438A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7B665D4-75EF-4EE7-A61E-1C67D4DB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809625"/>
            <a:ext cx="382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C4F95FE-74C1-43C4-83E0-8FCD2E81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828675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③ AICPU 资源：填入 AlgResource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86DEAC3-F7FF-4A16-ADCF-21BF35AF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076325"/>
            <a:ext cx="373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F8A7AD1-4CC8-40F1-BDB3-AE460911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085850"/>
            <a:ext cx="3638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HcclGetHcclBuffer〔C2〕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8F6FA96-E484-4012-8FE4-44BC9DF6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238250"/>
            <a:ext cx="3638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得到本地 CCL 中转区地址与大小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10F543F-5DC1-4B07-86F5-DEACC7C1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19225"/>
            <a:ext cx="373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405FAAA-2D6D-46EF-92B9-25005B55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428750"/>
            <a:ext cx="3638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HcclGetThread〔内〕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82AAF2D-F4D0-45AB-83B2-41AF82A7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581150"/>
            <a:ext cx="3638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主 / 从 / 展开 Thread 与 Notify 数量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693915D-7DF1-41D9-8355-C205EA9A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62125"/>
            <a:ext cx="373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8E34567-8551-4BE2-A595-C0ACA80E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771650"/>
            <a:ext cx="3638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HcclThreadAcquireWithConfig〔C1〕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31E5773-F834-4E7B-AA9A-778467B7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924050"/>
            <a:ext cx="3638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不支持时改用 HcclThreadAcquire〔C1〕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CFF0671-92BB-4F45-A7BF-33463316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05025"/>
            <a:ext cx="373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FDB8BDD-B2C9-4C44-89C2-16E4AC14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114550"/>
            <a:ext cx="3638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HcclGetChannel → HcclGetChannelImpl〔内〕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4B558B4-991E-415F-BCD3-78B90C86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266950"/>
            <a:ext cx="3638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空请求列表跳过；按 Peer / Link 申请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C6BFFC1-72CC-43E7-B7D9-199C6E16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47925"/>
            <a:ext cx="373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85D1356-BE48-4FBB-B73D-C163A735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457450"/>
            <a:ext cx="3638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HcclCommAddExchangeInfo〔C1·条件〕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4656149-28C6-4D1D-8198-6DFE7724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609850"/>
            <a:ext cx="3638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为建链一致性检查注入算子信息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36BC797-17BD-480C-97E4-3E5264A5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90825"/>
            <a:ext cx="373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1F50C2E-EF9F-4D9A-B982-C490DB99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00350"/>
            <a:ext cx="3638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HcclChannelAcquire〔C1〕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8C181B5-8FC2-470E-8E88-0076D220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952750"/>
            <a:ext cx="3638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进入 HCOMM；内部展开见下一页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AC5C23F-6261-4AA8-BDD3-D06F65ED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33725"/>
            <a:ext cx="373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4EA3C1E-13FD-4EDD-A110-6198A760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143250"/>
            <a:ext cx="3638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BuildChannelInfo〔内〕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927CBFD-2C23-467E-80A0-4AD02762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95650"/>
            <a:ext cx="3638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查询 HcclRankGraphGetEndpointInfo〔C3〕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D969DFC-AE3F-464D-999D-AE5750F9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76625"/>
            <a:ext cx="373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3C789C0-8FB9-4F14-8398-3E6EA488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486150"/>
            <a:ext cx="3638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  HcclChannelGetHcclBuffer〔C2〕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E1EC491-19ED-4B64-A142-40DB09DF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638550"/>
            <a:ext cx="3638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保存远端 CCL 地址 / size 到 ChannelInfo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97C266C-0E96-4CD6-AFBA-D1220626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19525"/>
            <a:ext cx="373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C4E148E-61FF-4895-B7A3-F5B010EF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29050"/>
            <a:ext cx="3638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CompareOpExchangeInfos〔内·条件〕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8DF03A6-2AB9-444F-BDDD-1582C570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981450"/>
            <a:ext cx="3638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→ HcclCommGetExchangeInfo〔C1〕核对信息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E2BB0DD-CBAA-4E9D-AC80-9F6EDB4A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362450"/>
            <a:ext cx="116586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88AEF91-AD2C-4074-AB71-138319C5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4371975"/>
            <a:ext cx="1163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74E95CF-3A03-49A6-85FE-085CE186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391025"/>
            <a:ext cx="1152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算法名与资源变化：不要把“不同算法名”直接等同于“不同 HCOMM API 族”</a:t>
            </a:r>
          </a:p>
        </p:txBody>
      </p:sp>
      <p:graphicFrame>
        <p:nvGraphicFramePr>
          <p:cNvPr id="214" name=""/>
          <p:cNvGraphicFramePr/>
          <p:nvPr/>
        </p:nvGraphicFramePr>
        <p:xfrm>
          <a:off xmlns:a="http://schemas.openxmlformats.org/drawingml/2006/main" x="323850" y="4638675"/>
          <a:ext xmlns:a="http://schemas.openxmlformats.org/drawingml/2006/main" cx="11544300" cy="9144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657600"/>
                <a:gridCol w="3648075"/>
                <a:gridCol w="4238625"/>
              </a:tblGrid>
              <a:tr h="2286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8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自动选择器普通 MESH_1D / CLOS 分支</a:t>
                      </a:r>
                    </a:p>
                  </a:txBody>
                  <a:tcPr marL="47625" marR="47625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8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选中算法</a:t>
                      </a:r>
                    </a:p>
                  </a:txBody>
                  <a:tcPr marL="47625" marR="47625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8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Executor / Template</a:t>
                      </a:r>
                    </a:p>
                  </a:txBody>
                  <a:tcPr marL="47625" marR="47625" marT="9525" marB="9525" anchor="ctr">
                    <a:solidFill>
                      <a:srgbClr val="D9DCD8"/>
                    </a:solidFill>
                  </a:tcPr>
                </a:tc>
              </a:tr>
              <a:tr h="2286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8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 Rank 总发送字节数 ≤ 150 MiB</a:t>
                      </a:r>
                    </a:p>
                  </a:txBody>
                  <a:tcPr marL="47625" marR="47625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8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AicpuAllToAllSoleMeshSingleChannel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8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同为 InsV2AlltoAllVSoleExecutor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8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 Rank 总发送字节数 &gt; 150 MiB</a:t>
                      </a:r>
                    </a:p>
                  </a:txBody>
                  <a:tcPr marL="47625" marR="47625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8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AicpuAllToAllSoleMesh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8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同为 InsTempAlltoAllVMesh1D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8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主要差别</a:t>
                      </a:r>
                    </a:p>
                  </a:txBody>
                  <a:tcPr marL="47625" marR="47625" marT="9525" marB="9525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8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Channel / Thread 数、分片、Notify 组织</a:t>
                      </a:r>
                    </a:p>
                  </a:txBody>
                  <a:tcPr marL="47625" marR="47625" marT="9525" marB="9525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8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Read / Write 则由模板的协议判断决定</a:t>
                      </a:r>
                    </a:p>
                  </a:txBody>
                  <a:tcPr marL="47625" marR="47625" marT="9525" marB="9525" anchor="ctr">
                    <a:solidFill>
                      <a:srgbClr val="F1E8AA"/>
                    </a:solidFill>
                  </a:tcPr>
                </a:tc>
              </a:tr>
            </a:tbl>
          </a:graphicData>
        </a:graphic>
      </p:graphicFrame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80F48A1-2BD5-4010-A706-0395768B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734050"/>
            <a:ext cx="116586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FD1D678-B00E-42D3-B77E-F32C70DF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743575"/>
            <a:ext cx="11563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资源产物 → threads / channels / local CCL / remote CCL / engineCtx → 序列化 → AICPU Kernel 使用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8B1D56B-2BFE-409F-BF05-D5BBB411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6067425"/>
            <a:ext cx="1156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随后 HcclAicpuKernelEntranceLaunch〔HCCL 内部〕→ AicpuKernelLaunch → aclrtLaunchKernelWithConfig〔ACL Runtime〕。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563A34B-1AA3-4460-AB98-E5669315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6267450"/>
            <a:ext cx="1156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条件边界：通信域已建立；对称窗口探测未命中；资源缓存命中会跳过对应申请。上方编号不是全库 API 的统一时序。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0B3E5FD-BD32-4D5D-BC86-A7295616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436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DACA468-940A-4814-8F93-58B54055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81775"/>
            <a:ext cx="11306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源码基线 HCCL 170ddeec / HCOMM 87ce550f ｜ all_to_all_v.cc:23,730,781；alltoall_auto_selector.cc:131；ins_v2_all_to_all_v_sole_executor.cc:562；op_common.cc:780,1364,1670。</a:t>
            </a:r>
          </a:p>
        </p:txBody>
      </p:sp>
    </p:spTree>
    <p:extLst>
      <p:ext uri="{BB962C8B-B14F-4D97-AF65-F5344CB8AC3E}">
        <p14:creationId xmlns:p14="http://schemas.microsoft.com/office/powerpoint/2010/main" val="9750908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41528A8-4B6F-405C-9728-6749D853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"/>
            <a:ext cx="1165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HcclChannelAcquire 下钻：C1 域资源如何落到 C2 / C5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27AFA-B885-47EE-9411-D87D5A1E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4825"/>
            <a:ext cx="1104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普通 AICPU_TS 新通道路径；HCOMM 内部方法以〔内〕标注。依赖阶段有序，缓存分支不重复创建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AD0A1-3263-4CE4-AA88-54F24591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14350"/>
            <a:ext cx="323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E2B6E8-4551-4000-9771-37F56DB0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143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21B34-C58E-4F24-AA2C-533B2EFB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00100"/>
            <a:ext cx="3676650" cy="3514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1C2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D4AD50-C983-4C26-9244-51FEAC48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809625"/>
            <a:ext cx="365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3AD6E-4C7F-435D-8907-25209B61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8675"/>
            <a:ext cx="3543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① HCOMM L2：验证请求、准备连接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80D065-A26D-4A76-9B5A-61A468DF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800100"/>
            <a:ext cx="4305300" cy="3514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438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64C98-E2AC-4DC9-8719-7C34CBC6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809625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FF70A1-0E19-4D6E-A899-D60C1D1A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28675"/>
            <a:ext cx="4171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② BatchCreateChannels：逐通道资源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E2BD07-FA37-4F05-905F-E426FAFD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800100"/>
            <a:ext cx="3505200" cy="3514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438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24C272-326F-43D7-9704-64E65C51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809625"/>
            <a:ext cx="3486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7C6829-2FE0-4B53-9D39-70B6A83D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828675"/>
            <a:ext cx="3371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③ 连接完成，再回填 HCCL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DFFF6-155C-45AA-818B-CDF78E7C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76325"/>
            <a:ext cx="3562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089DEF-F1F1-4477-980C-85B1CF6C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085850"/>
            <a:ext cx="3467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HcclChannelAcquire〔C1 / L2〕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C1F16B-FE80-432F-9817-89C61819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238250"/>
            <a:ext cx="3467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输入 comm、engine、ChannelDesc → handles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C96C68-820A-4A14-897E-37D306DB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19225"/>
            <a:ext cx="3562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B720DA-0093-4AB9-B5EF-29864FCF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428750"/>
            <a:ext cx="3467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CheckChannelResParams〔内〕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A851C0-A5FB-4956-96BF-61BD8096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581150"/>
            <a:ext cx="3467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校验请求资源参数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46F786-8DFA-4B2B-8632-7E941721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62125"/>
            <a:ext cx="3562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B9441C-5BA3-4679-BB9E-ED41B08F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771650"/>
            <a:ext cx="3467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ProcessHcclResPackReq〔内〕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7EEFE7-16EE-43E0-A07F-A46EE712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924050"/>
            <a:ext cx="3467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合并每个通道的资源描述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A8026F-2C8C-45F5-9CD2-C8001201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105025"/>
            <a:ext cx="3562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0DE268-7004-4E3C-8B44-E02C40F8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114550"/>
            <a:ext cx="3467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PrepareV2ChannelAcquire〔内〕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E76CD4-D065-49E5-85BA-0F47E7AC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266950"/>
            <a:ext cx="3467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初始化 V2 建链所需状态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AFCDAC-7D79-4753-B66B-0E8A1BF5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447925"/>
            <a:ext cx="3562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8D3D6A-64C6-4971-97AC-1566DFF0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457450"/>
            <a:ext cx="3467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MyRank::CreateChannels〔内〕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F6E384-169D-46E5-B8A3-EB76EBF4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609850"/>
            <a:ext cx="3467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组织下方的描述、Socket、通道与连接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5208FF-CE42-41BA-AD03-6BF59371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790825"/>
            <a:ext cx="3562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3905C7-5C3F-45B5-A340-EA64B9D7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800350"/>
            <a:ext cx="3467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  ChannelDescHccl2Hcomm〔内〕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590100-7BF3-4314-B52E-C2762F4A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952750"/>
            <a:ext cx="3467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转换描述符，确定协议 / 端点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18CDCF-2C84-40E8-A9E0-A21D2C0A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133725"/>
            <a:ext cx="3562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EC3EF5-1696-4C24-AEDD-E7B670D0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143250"/>
            <a:ext cx="3467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  BatchCreateSockets〔内〕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DAE155-3AF6-4248-95CA-1B27A218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295650"/>
            <a:ext cx="3467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先服务端监听，再连接 / 复用 Socket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D53F79-109E-4FED-ADD4-4906D95A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476625"/>
            <a:ext cx="3562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60137E-EB8F-4ACB-8196-F7BBD031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486150"/>
            <a:ext cx="3467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  BatchCreateChannels〔内〕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540F1C-A2B6-4EA1-9354-88952E50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638550"/>
            <a:ext cx="3467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进入中列逐通道循环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FB157B-D938-48DA-BC6C-83982F19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19525"/>
            <a:ext cx="3562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9AA096-7435-4C1B-84B2-2863026D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829050"/>
            <a:ext cx="3467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  BatchConnectChannels〔内〕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D0BDBE-E2B3-4EB7-9025-1E8F3173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981450"/>
            <a:ext cx="3467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中列资源返回后，进入右列连接阶段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53F313-742D-4914-9963-7FDE0627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076325"/>
            <a:ext cx="419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7DAAE24-86C7-48EC-81D7-9C3D225C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0858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EndpointMgr::Get〔内〕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B8EFF0-3E57-44D0-A369-174021BE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2382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查本地端点缓存；缺失才创建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01433B9-AA55-4AF2-85B4-5C35F332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419225"/>
            <a:ext cx="419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FAE8CAD-6B59-48B6-AB51-0A19046E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4287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HcommEndpointCreate〔C5〕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2D9AACE-6BA0-406B-9C3E-6F229F11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5811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创建 Endpoint；缓存命中不调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393D794-6E1F-4C6A-952B-9D9EFB86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762125"/>
            <a:ext cx="419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AEA4F98-E3E6-49CE-94C6-0078A42D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7716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HcommEndpointStartListen〔C5〕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955F5D8-1D38-457F-B321-537833A0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924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为端点启动监听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94787FA-0015-4966-B81E-5FF9CEAC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105025"/>
            <a:ext cx="419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A03D052-9CBA-419A-8C50-D2F09152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145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PrepareMemHandles〔内〕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C14A947-E1C8-4184-A308-24F5FEE9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2669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准备 tag 对应的通信内存句柄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DE4FEE9-931C-4F88-815A-7CEA1E42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447925"/>
            <a:ext cx="419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4AB9833-639D-4223-B9EA-3551E032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574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RegisterCommMemsToEndpoint〔内〕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699B125-07DF-4A72-A33D-FD146C4B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6098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→ HcommMemReg〔C2〕；注册命中则复用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590CAD2-90EF-4546-AAD6-048FE3BA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790825"/>
            <a:ext cx="419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6AEBF0F-0470-4B1B-A030-E19F0A1C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003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RankPairMgr::Get → GetEndpointPair〔内〕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BFDE161-BB3E-47DF-8675-FC173F60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9527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定位本 / 远端的 EndpointPair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DA2CE66-E58C-4406-B857-076F6D05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133725"/>
            <a:ext cx="419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9073B8B-84B6-4493-A021-3F31BB21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432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EndpointPair::CreateChannel〔内〕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76534E3-6F17-4B00-9ED4-6729B9FD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2956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 engine / reuseIdx 查通道缓存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F5BACA2-79E2-486B-93B5-15E6B75A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476625"/>
            <a:ext cx="419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F654AA6-702F-4870-9142-D89D3BF8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4861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HcommCollectiveChannelCreate〔C5〕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4EFA73D-A2A1-48C3-A0D2-CA92543D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6385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仅缺失：Normalize → CreateChannelsLoop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070D3F4-7E2B-482A-8A1D-99342967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819525"/>
            <a:ext cx="419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08F1F03-ED91-4C0B-A6FF-53B65AF2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829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Channel::CreateChannel〔内〕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043ED60-1B44-458E-91CC-339C960A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9814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 AICPU_TS＋protocol 构造具体通道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E4F5ACE-E2AC-4848-8E2B-5FBE33A3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076325"/>
            <a:ext cx="3390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1A85994-DD36-4350-B06D-FAE03C87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085850"/>
            <a:ext cx="3295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BatchConnectChannels〔内〕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2FA7769-AA08-4DA4-BFAF-B7B93526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238250"/>
            <a:ext cx="3295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针对新通道进行连接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E88B32F-CB28-47FE-B176-BAC301BE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19225"/>
            <a:ext cx="3390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13AB988-8E91-42B6-8A0B-17C3B213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3295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ChannelProcess::ChannelGetStatus〔内〕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B325ED0-3805-44A3-992B-D0E5C72D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581150"/>
            <a:ext cx="3295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轮询状态；不是 HcommChannelGetStatus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7C8EF9B-AC5A-4C2D-BAB7-5BDB28CB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62125"/>
            <a:ext cx="3390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012C001-DDB7-4130-98E2-BAD3D869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71650"/>
            <a:ext cx="3295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BatchExchangeAndCheckConsistency〔内〕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C4BCF23-9BCE-44DC-8AF7-CDC0359F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24050"/>
            <a:ext cx="3295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950：交换并验证跨 Rank 参数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6EE24C0-1CCA-4B78-AC64-D7EB261C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3390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EA916E9-A0FD-46F6-888A-16BE6D97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14550"/>
            <a:ext cx="3295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FinalizeChannelsByEngine〔内〕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F29318E-60A6-46B9-87AE-9A79626E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66950"/>
            <a:ext cx="3295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 侧资源准备，返回设备通道句柄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60265CE-6258-485E-A2D9-78169A31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47925"/>
            <a:ext cx="3390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7000F9C-F8D6-407C-AFCA-A25E91E8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57450"/>
            <a:ext cx="3295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回到 HCCL：BuildChannelInfo〔内〕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A3B84AF-1EE4-4F17-A5B9-D22683E1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09850"/>
            <a:ext cx="3295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下面才是构造算法可用 ChannelInfo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61FC47E-5BF8-41A2-8BFA-B037C4D8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90825"/>
            <a:ext cx="3390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0E30DAA-0949-4CCD-AA75-7BE1CD19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3295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HcclRankGraphGetEndpointInfo〔C3〕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017151E-90FD-4C46-BF6D-2BEF7D75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52750"/>
            <a:ext cx="3295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取得带宽系数、Die 等端点属性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20431BD-A155-4152-8343-A4E55E39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33725"/>
            <a:ext cx="3390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173C317-A18F-4B4F-B584-D8A1DD97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43250"/>
            <a:ext cx="3295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HcclChannelGetHcclBuffer〔C2〕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7BA5199-57AE-4EEB-B794-391B7A68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95650"/>
            <a:ext cx="3295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查询 Peer CCL Buffer 地址 / size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8E2717D-672E-4EF9-85AF-0D3270E6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76625"/>
            <a:ext cx="3390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53BD77F-79DF-40E3-BFEF-8F96116A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86150"/>
            <a:ext cx="3295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HcommChannelGetRemoteMems〔C2〕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A4EA684-6DDF-44A8-B2A3-E9129491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38550"/>
            <a:ext cx="3295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读取远端注册内存映射，并非搬运数据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F6B4C12-3DBF-4F10-9319-37EC9638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19525"/>
            <a:ext cx="3390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C6729F9-1570-4411-A04E-5EDCF90A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29050"/>
            <a:ext cx="3295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ChannelInfo 回填〔HCCL 内部〕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C18FE2D-AACE-4591-B117-CD72149A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981450"/>
            <a:ext cx="3295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handle / rank / protocol / remoteCclMem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3A48B8C-4617-413D-8A9B-990170EB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1F07D48-4614-4F8E-B49C-02A23AE2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2" name=""/>
          <p:cNvCxnSpPr>
            <a:stCxn xmlns:a="http://schemas.openxmlformats.org/drawingml/2006/main" id="95" idx="3"/>
            <a:endCxn xmlns:a="http://schemas.openxmlformats.org/drawingml/2006/main" id="96" idx="1"/>
          </p:cNvCxnSpPr>
          <p:nvPr/>
        </p:nvCxnSpPr>
        <p:spPr>
          <a:xfrm xmlns:a="http://schemas.openxmlformats.org/drawingml/2006/main">
            <a:off x="3944303" y="972027"/>
            <a:ext cx="657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tailEnd type="triangle" w="sm" len="sm"/>
          </a:ln>
        </p:spPr>
      </p:cxn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86723AC-E4C7-4FAB-9332-95801A04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C330D3F-2CF1-4EE7-A4ED-8FFAD81B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5" name=""/>
          <p:cNvCxnSpPr>
            <a:stCxn xmlns:a="http://schemas.openxmlformats.org/drawingml/2006/main" id="98" idx="3"/>
            <a:endCxn xmlns:a="http://schemas.openxmlformats.org/drawingml/2006/main" id="99" idx="1"/>
          </p:cNvCxnSpPr>
          <p:nvPr/>
        </p:nvCxnSpPr>
        <p:spPr>
          <a:xfrm xmlns:a="http://schemas.openxmlformats.org/drawingml/2006/main">
            <a:off x="8335328" y="972027"/>
            <a:ext cx="657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tailEnd type="triangle" w="sm" len="sm"/>
          </a:ln>
        </p:spPr>
      </p:cxnSp>
      <p:graphicFrame>
        <p:nvGraphicFramePr>
          <p:cNvPr id="206" name=""/>
          <p:cNvGraphicFramePr/>
          <p:nvPr/>
        </p:nvGraphicFramePr>
        <p:xfrm>
          <a:off xmlns:a="http://schemas.openxmlformats.org/drawingml/2006/main" x="266700" y="4400550"/>
          <a:ext xmlns:a="http://schemas.openxmlformats.org/drawingml/2006/main" cx="11658600" cy="15906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33650"/>
                <a:gridCol w="3457575"/>
                <a:gridCol w="5667375"/>
              </a:tblGrid>
              <a:tr h="2571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缓存 / 条件所在层</a:t>
                      </a:r>
                    </a:p>
                  </a:txBody>
                  <a:tcPr marL="47625" marR="47625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命中 / 条件成立时</a:t>
                      </a:r>
                    </a:p>
                  </a:txBody>
                  <a:tcPr marL="47625" marR="47625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 API 调用集合的影响</a:t>
                      </a:r>
                    </a:p>
                  </a:txBody>
                  <a:tcPr marL="47625" marR="47625" marT="9525" marB="9525" anchor="ctr">
                    <a:solidFill>
                      <a:srgbClr val="D9DCD8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 算法资源缓存</a:t>
                      </a:r>
                    </a:p>
                  </a:txBody>
                  <a:tcPr marL="47625" marR="47625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TryReuseResource 返回已有算法上下文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可整体跳过本页建链；不是每次 AllToAll 都走此页</a:t>
                      </a:r>
                    </a:p>
                  </a:txBody>
                  <a:tcPr marL="47625" marR="47625" marT="9525" marB="9525" anchor="ctr">
                    <a:solidFill>
                      <a:srgbClr val="F1E8AA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Endpoint / Mem / Channel 局部缓存</a:t>
                      </a:r>
                    </a:p>
                  </a:txBody>
                  <a:tcPr marL="47625" marR="47625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分别复用端点、注册句柄、通道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HcommEndpointCreate / HcommMemReg / HcommCollectiveChannelCreate 分别可跳过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Channel 复用且有附加注册内存</a:t>
                      </a:r>
                    </a:p>
                  </a:txBody>
                  <a:tcPr marL="47625" marR="47625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HcommChannelUpdateMemInfo〔C2〕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只在对应更新分支出现，不能列成每次必调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 协议选择</a:t>
                      </a:r>
                    </a:p>
                  </a:txBody>
                  <a:tcPr marL="47625" marR="47625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PCIE、ROCE、UB_CTP / UBC_TP、UB_RTP 等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资源管理入口可相同，具体 Channel / Transport 实现不同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A361880-9333-4285-ABFA-8D73FEBA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076950"/>
            <a:ext cx="116586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5D3FC92-E35C-4B5F-9D77-09066FDC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6086475"/>
            <a:ext cx="11563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同名近似不能替代真实调用：CollectiveChannelCreate ≠ ChannelCreate；内部 ChannelGetStatus ≠ 导出 HcommChannelGetStatus。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C234A3D-3200-4562-919F-507BBD49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436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7B77E68-DE2D-4DE4-8580-2708AA5F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81775"/>
            <a:ext cx="11306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源码基线 HCCL 170ddeec / HCOMM 87ce550f ｜ coll_comm_res_c_adpt.cc:755；my_rank.cc:675,1192,1228,1303；endpoint_mgr.cc:76,138；endpoint_pair.cc:199；channel.cc:38。</a:t>
            </a:r>
          </a:p>
        </p:txBody>
      </p:sp>
    </p:spTree>
    <p:extLst>
      <p:ext uri="{BB962C8B-B14F-4D97-AF65-F5344CB8AC3E}">
        <p14:creationId xmlns:p14="http://schemas.microsoft.com/office/powerpoint/2010/main" val="6721892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611E253-902E-437C-BB1F-23FCA75F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"/>
            <a:ext cx="1165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AICPU 执行期：D4 管提交，D3 管依赖，D1 搬数据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C084D7-09D6-45F3-B93C-13DF24F8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4825"/>
            <a:ext cx="1104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主例：Task Cache 未重放；从 Host 发射到 AICPU 展开。箭头表示调用 / 就绪依赖，不代表 Host 同步等待全网完成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A03B3-7917-4E62-AD29-816719AB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14350"/>
            <a:ext cx="323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918A6A-AA0F-4589-B10B-B702061E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143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E0B85-B24D-4C27-92CE-B0681EFF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00100"/>
            <a:ext cx="363855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1C2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214AB-5D5F-46F9-95ED-86F830C6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809625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655A0-0BDC-4CC7-A82F-9FDA38F8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8675"/>
            <a:ext cx="3505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① Host：准备就绪并发射 Kernel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1009DD-3F84-4907-AED4-76F9365F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800100"/>
            <a:ext cx="394335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438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9CC10F-7611-428C-AE81-4613F524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9625"/>
            <a:ext cx="3924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57D6D2-84BD-4CDE-9808-2D3842CF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828675"/>
            <a:ext cx="3810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② AICPU Kernel：运行生命周期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FCE358-24A6-4FD2-A922-91274241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800100"/>
            <a:ext cx="390525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438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927C40-91DF-4120-A198-5E19D76A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809625"/>
            <a:ext cx="388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CB2ECB-FF0F-4738-BEC5-FCB55151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828675"/>
            <a:ext cx="3771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③ OpOrchestrate：展开集合算法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EAC05A-FB05-4E27-8ED0-C0805554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76325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3B080D-7707-4F5F-A32A-D7CCEA82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0858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HcclAicpuKernelEntranceLaunch〔内〕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A024F4-4580-4FB6-A286-D61F3EA8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2382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的 AICPU 执行入口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1A8706-CCFA-446F-B62E-811A6196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19225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BF9551-1A74-4036-92F4-159AF689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4287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HcommThreadNotifyRecordOnThread〔D3〕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AC91BC-135E-4C63-93BD-FC85C42F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5811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用户流发出数据就绪通知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3AB0DB-2433-4AFC-8920-B6EBA7B6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62125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213445-F631-465D-8C58-25E3AD43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7716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HcclOrderLaunchToOrderStream〔内·条件〕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9A58A4-F2B8-4637-A6D1-2F47C860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9240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保序 Thread〔C1〕＋Notify〔D3〕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419D1D-3BE6-4BBE-8844-79164278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105025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1E513A-F1F5-48A9-ABBE-9482FFF2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1145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AicpuKernelLaunch〔内〕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2DD5C8-B9DD-413E-9625-7A26CE13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2669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取 stream，构造 Kernel 入参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6E5781-D394-4742-95FD-8179BC75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447925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6FA2C4-D7D9-4571-A6A9-73539D69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4574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aclrtLaunchKernelWithConfig〔ACL〕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8BB8B4-71D4-4E7B-8FD3-64F3CB3B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6098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Runtime 发射；不是 HCOMM C4 API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0C1206-6936-4A89-8FC4-51D87F35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790825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9C2903-40D3-46FA-83CB-C3A16977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8003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HcclOrderLaunchToKernelStream〔内·条件〕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0119B7-8C1A-4679-963C-D139BEC4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9527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保序线程与 Kernel stream 的依赖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111FAC-3529-40A3-8E7D-09819B26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133725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A2D006-2C02-43C5-A6B0-BE99FD32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1432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HcommSetNotifyWaitTimeOut〔D3·条件〕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AB1ECF-B1E0-4F37-8657-8541FDF2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2956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配置默认 Notify 等待超时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DED08D-3F8B-494B-8625-8D2C3447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476625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12C894-674F-4B76-8C03-A14A7F43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4861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HcommThreadNotifyWaitOnThread*〔D3〕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FE856D-A6B0-4F95-8D23-0170BE88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6385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用户流排入完成等待，不阻塞整个 Host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8DB15A-EC21-49CD-ABF4-C4AA3AE2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076325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2BE7BD-4C70-460C-94B9-8D270AA9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0858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HcclLaunchAicpuKernel〔HCCL 内〕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12EBD7-4161-43B1-91E8-EBF3EEB7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2382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Kernel 入口；反序列化资源与 counts 向量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E62516-93DC-40C9-9D58-250AA47B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419225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FCB27D-4180-4AF6-87AF-AD517F5F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287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HcommAcquireComm〔D4〕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28A08F7-028D-4D9C-893E-480C7ED3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811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取得正在运行的通信域使用保护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3440E4-4AB1-44FB-B03E-85BD8589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762125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142319A-A2D0-4D8A-B7B0-7F5B85C0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716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HcommBatchModeStart〔D4〕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78A16B2-B815-4284-B585-C8FA40DD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240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进入批量任务提交模式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AF10FF3-A2F4-4D57-A540-F98D3E36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105025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0723D67-30B0-42B3-8AF5-22632DC6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145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OpOrchestrate〔HCCL 内〕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500DCE7-48F2-4CAD-970B-29584390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669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缓存关闭 / miss 才逐条展开 → 右列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1EFCA68-5608-4CEA-8616-0089FAE8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447925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20DB0FF-AE4C-4429-ABFA-99F603A6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574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HcommThreadNotifyRecordOnThread〔D3〕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58488AF-6082-45AF-B567-DF5239B6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098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安排完成通知，供用户 stream 等待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86FC6CE-6858-43DC-B6B1-15E9A0E8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790825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489B9FA-98ED-47C8-8064-6D2294EF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003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HcommBatchModeEnd〔D4〕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FBC09A4-45B8-41A0-8CC7-3528B356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结束批模式，提交已登记线程中的任务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D632CC4-81EB-4FA0-BF18-45A8B83E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133725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7247B17-0BDC-4854-8703-3F25A20A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HcommReleaseComm〔D4〕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7B39D08-1D2F-43C3-A768-6460EFD3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956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释放本次运行的通信域使用保护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003A225-BFD7-4C0C-8D9F-D1E7B318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476625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BBAB0C7-C2AE-4241-8904-99DFC543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861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DFX / Profiling〔横切能力〕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39E160B-113E-485F-A3C3-D6D4113B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385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Kernel 开始 / 结束与 DeviceOp 观测上报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7E39B44-0FBE-4060-88B9-7833C71C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076325"/>
            <a:ext cx="3790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F6D5443-245F-4697-B536-A25EC873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085850"/>
            <a:ext cx="3695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HcommThreadResAcquireTimeOut〔D4〕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A471D83-4B5F-4FE4-A55B-F5683209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238250"/>
            <a:ext cx="3695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能力支持时设置资源等待超时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A3A93B8-A689-41C1-8334-FCD3EE75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419225"/>
            <a:ext cx="3790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B1C1C81-2429-4199-9197-729867B2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428750"/>
            <a:ext cx="3695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HcommSetNotifyWaitTimeOut〔D3〕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C668EE8-3C38-4CB7-847E-5AEBF2C5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581150"/>
            <a:ext cx="3695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能力支持时设置默认 Notify 超时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20EF895-1C6E-4518-A99F-361E9027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62125"/>
            <a:ext cx="3790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0943AD4-A57C-4896-A1FB-A1A3B54C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71650"/>
            <a:ext cx="3695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HcommThreadNotifyWaitOnThread*〔D3〕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3630CA2-07B7-4579-BCB3-E74EA48E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924050"/>
            <a:ext cx="3695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等待 Host 数据就绪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9662564-38C3-41AE-AB69-08F9DC2C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05025"/>
            <a:ext cx="3790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F64C490-DE38-4EB4-A8FB-DE2DF667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114550"/>
            <a:ext cx="3695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InsV2AlltoAllVSoleExecutor::Orchestrate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16FE952-4D48-4601-8195-750E4687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266950"/>
            <a:ext cx="3695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Executor 组织整体执行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39D50B5-89FA-41C7-B01D-1AD15887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47925"/>
            <a:ext cx="3790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53699DE-E9DF-4F06-B1AA-737120D8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57450"/>
            <a:ext cx="3695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OrchestrateLoop → KernelRun〔内〕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A2DB223-E158-473E-820B-5F3264B5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09850"/>
            <a:ext cx="3695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进入 InsTempAlltoAllVMesh1D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FE7584D-780B-4065-A837-179AABCD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90825"/>
            <a:ext cx="3790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E1569AD-87D3-4BA0-AAEE-8DD24E77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800350"/>
            <a:ext cx="3695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  RunALLtoALL〔内〕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0DA241A-2FD3-4CD4-9CE1-1E1F90EE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952750"/>
            <a:ext cx="3695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按通信轮次、Peer、Channel 执行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B4A151B-BFD8-4E09-BDA7-5A883B40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33725"/>
            <a:ext cx="3790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E217FEF-4EE9-4DE0-AD33-2F7028DA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143250"/>
            <a:ext cx="3695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  SendRecvWrite / SendRecvRead〔内〕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60DBC53-B36D-422C-8BE8-DEADDEE2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295650"/>
            <a:ext cx="3695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调用搬运〔D1〕与 Channel Notify〔D3〕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1075B16-C880-4516-AE58-2F4D17B7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76625"/>
            <a:ext cx="3790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5C7E0BD-7C79-48D3-9DC1-122A9337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486150"/>
            <a:ext cx="3695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  LocalCopy → HcommLocalCopyOnThread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1A6DD5E-0885-4F31-98B0-5A40EEDC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638550"/>
            <a:ext cx="3695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 Rank 分片 / CCL 中转拷贝〔D1〕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90264E0-D653-45AF-AD0F-D73F4892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50FE8F8-9515-4126-9343-0F7C469A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9" name=""/>
          <p:cNvCxnSpPr>
            <a:stCxn xmlns:a="http://schemas.openxmlformats.org/drawingml/2006/main" id="86" idx="3"/>
            <a:endCxn xmlns:a="http://schemas.openxmlformats.org/drawingml/2006/main" id="87" idx="1"/>
          </p:cNvCxnSpPr>
          <p:nvPr/>
        </p:nvCxnSpPr>
        <p:spPr>
          <a:xfrm xmlns:a="http://schemas.openxmlformats.org/drawingml/2006/main">
            <a:off x="3906203" y="972027"/>
            <a:ext cx="657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tailEnd type="triangle" w="sm" len="sm"/>
          </a:ln>
        </p:spPr>
      </p:cxn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D3F8D39-2BCA-44C8-B47A-D0BDA3A0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36FCD61-9545-4663-8B7F-0E245E49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2" name=""/>
          <p:cNvCxnSpPr>
            <a:stCxn xmlns:a="http://schemas.openxmlformats.org/drawingml/2006/main" id="8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7935278" y="972027"/>
            <a:ext cx="657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tailEnd type="triangle" w="sm" len="sm"/>
          </a:ln>
        </p:spPr>
      </p:cxn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A3F7C72-45B2-46B2-A2D1-D241DCD8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095750"/>
            <a:ext cx="116586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D66760D-5046-4D09-B91D-BEE884EC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4105275"/>
            <a:ext cx="1163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6C0CBB0-124F-4FB2-B53A-21CE04C5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124325"/>
            <a:ext cx="1152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模板内部的线程依赖：Notify 约束的是执行先后，不是数据内容</a:t>
            </a:r>
          </a:p>
        </p:txBody>
      </p:sp>
      <p:graphicFrame>
        <p:nvGraphicFramePr>
          <p:cNvPr id="196" name=""/>
          <p:cNvGraphicFramePr/>
          <p:nvPr/>
        </p:nvGraphicFramePr>
        <p:xfrm>
          <a:off xmlns:a="http://schemas.openxmlformats.org/drawingml/2006/main" x="323850" y="4371975"/>
          <a:ext xmlns:a="http://schemas.openxmlformats.org/drawingml/2006/main" cx="11544300" cy="1200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90725"/>
                <a:gridCol w="6315075"/>
                <a:gridCol w="3238500"/>
              </a:tblGrid>
              <a:tr h="2286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阶段</a:t>
                      </a:r>
                    </a:p>
                  </a:txBody>
                  <a:tcPr marL="47625" marR="47625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 API 与方向</a:t>
                      </a:r>
                    </a:p>
                  </a:txBody>
                  <a:tcPr marL="47625" marR="47625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发生条件 / 意义</a:t>
                      </a:r>
                    </a:p>
                  </a:txBody>
                  <a:tcPr marL="47625" marR="47625" marT="9525" marB="9525" anchor="ctr">
                    <a:solidFill>
                      <a:srgbClr val="D9DCD8"/>
                    </a:solidFill>
                  </a:tcPr>
                </a:tc>
              </a:tr>
              <a:tr h="3238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PreSyncInterThreads</a:t>
                      </a:r>
                    </a:p>
                  </a:txBody>
                  <a:tcPr marL="47625" marR="47625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HcommThreadNotifyRecordOnThread（main → sub）</a:t>
                      </a:r>
                    </a:p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HcommThreadNotifyWaitOnThread*（sub 等 main）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threadNum &gt; 1：主线程就绪后，从线程开始执行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Peer 通信与本地拷贝</a:t>
                      </a:r>
                    </a:p>
                  </a:txBody>
                  <a:tcPr marL="47625" marR="47625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HcommLocalCopyOnThread；HcommWriteOnThread / HcommReadOnThread</a:t>
                      </a:r>
                    </a:p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HcommChannelNotifyRecordOnThread；HcommChannelNotifyWaitOnThread*</a:t>
                      </a:r>
                    </a:p>
                  </a:txBody>
                  <a:tcPr marL="47625" marR="47625" marT="9525" marB="9525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循环：round → Peer → Channel → slice；握手细节见下一页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PostSyncInterThreads</a:t>
                      </a:r>
                    </a:p>
                  </a:txBody>
                  <a:tcPr marL="47625" marR="47625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HcommThreadNotifyRecordOnThread（sub → main）</a:t>
                      </a:r>
                    </a:p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HcommThreadNotifyWaitOnThread*（main 等 sub）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threadNum &gt; 1：从线程完成后，主线程汇合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2BDD58F-E480-44AE-8D10-F7B081B4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753100"/>
            <a:ext cx="1165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7621EA0-5DCA-4DE2-BEF8-D14606EC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762625"/>
            <a:ext cx="11563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C4 不是空缺：算子编排主要由 HCCL Executor / Template 完成；本例 HCOMM GroupStatusGet 仅为条件查询。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4675545-C218-4AD2-8BBF-AF5E4D53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6076950"/>
            <a:ext cx="1156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勿混淆：当前 HcclAicpuKernelLaunch 调用点限定 Send / Recv；AllToAll 走上面的 HCCL 内部 launch → ACL Runtime。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16D56F4-949A-40D7-814D-A71DB6B0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6276975"/>
            <a:ext cx="1156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* WaitWithDefaultTimeout 与显式 timeout 版本二选一；不同分支的函数不得串接为统一必经链。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C7AA510-A207-4964-8338-3F5A409F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436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FD46274-D308-4210-80CF-16A3A61A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81775"/>
            <a:ext cx="11306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源码基线 HCCL 170ddeec / HCOMM 87ce550f ｜ op_common.cc:1005–1203；kernel_launch.cc:274,348–725；ins_temp_all_to_all_v_mesh_1D.cc:217；alg_data_trans_wrapper.cc:1010–1074。</a:t>
            </a:r>
          </a:p>
        </p:txBody>
      </p:sp>
    </p:spTree>
    <p:extLst>
      <p:ext uri="{BB962C8B-B14F-4D97-AF65-F5344CB8AC3E}">
        <p14:creationId xmlns:p14="http://schemas.microsoft.com/office/powerpoint/2010/main" val="8722729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82E4919-AE99-44C3-AB53-D26F7A1B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"/>
            <a:ext cx="1165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一个 Peer 的真实交换：六个动作展开到 HCOMM 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2EEF3-4960-4251-AD3A-09464D37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4825"/>
            <a:ext cx="1104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普通 Mesh / 非 PCIe / 非对称内存 / send 与 recv 均非零。以 Rank i 观察 Rank j，双方执行对称动作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0A76C-4A53-43E7-97AE-C09E434B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14350"/>
            <a:ext cx="323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448C6-2381-493B-947D-C59159CC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143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4809A9-499C-4B24-9298-CA9D7F06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00100"/>
            <a:ext cx="1165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B27984-895D-4FA3-91AB-30A54478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809625"/>
            <a:ext cx="11563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读图：①② ACK 握手 → ③ 写入远端 CCL Buffer → ④⑤ DATA_SIGNAL 握手 → ⑥ 拷到本地用户输出</a:t>
            </a:r>
          </a:p>
        </p:txBody>
      </p:sp>
      <p:graphicFrame>
        <p:nvGraphicFramePr>
          <p:cNvPr id="57" name=""/>
          <p:cNvGraphicFramePr/>
          <p:nvPr/>
        </p:nvGraphicFramePr>
        <p:xfrm>
          <a:off xmlns:a="http://schemas.openxmlformats.org/drawingml/2006/main" x="266700" y="1143000"/>
          <a:ext xmlns:a="http://schemas.openxmlformats.org/drawingml/2006/main" cx="11658600" cy="2381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619250"/>
                <a:gridCol w="3600450"/>
                <a:gridCol w="5429250"/>
                <a:gridCol w="1009650"/>
              </a:tblGrid>
              <a:tr h="2667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步骤 / 所属</a:t>
                      </a:r>
                    </a:p>
                  </a:txBody>
                  <a:tcPr marL="47625" marR="47625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完整 API 名称</a:t>
                      </a:r>
                    </a:p>
                  </a:txBody>
                  <a:tcPr marL="47625" marR="47625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Rank i 的动作与数据去向</a:t>
                      </a:r>
                    </a:p>
                  </a:txBody>
                  <a:tcPr marL="47625" marR="47625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类别</a:t>
                      </a:r>
                    </a:p>
                  </a:txBody>
                  <a:tcPr marL="47625" marR="47625" marT="9525" marB="9525" anchor="ctr">
                    <a:solidFill>
                      <a:srgbClr val="D9DCD8"/>
                    </a:solidFill>
                  </a:tcPr>
                </a:tc>
              </a:tr>
              <a:tr h="3524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① SendRecvWrite</a:t>
                      </a:r>
                    </a:p>
                  </a:txBody>
                  <a:tcPr marL="47625" marR="47625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HcommChannelNotifyRecordOnThread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recvChannel, ACK：通知 j“我的接收区已就绪”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同步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② SendRecvWrite</a:t>
                      </a:r>
                    </a:p>
                  </a:txBody>
                  <a:tcPr marL="47625" marR="47625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HcommChannelNotifyWaitOnThread*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sendChannel, ACK：等 j 的接收区就绪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同步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③ 每个有效 slice</a:t>
                      </a:r>
                    </a:p>
                  </a:txBody>
                  <a:tcPr marL="47625" marR="47625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HcommWriteOnThread</a:t>
                      </a:r>
                    </a:p>
                  </a:txBody>
                  <a:tcPr marL="47625" marR="47625" marT="9525" marB="9525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sendChannel：i.userIn[j] → j.CCL[i]；len = slice.size</a:t>
                      </a:r>
                    </a:p>
                  </a:txBody>
                  <a:tcPr marL="47625" marR="47625" marT="9525" marB="9525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搬运</a:t>
                      </a:r>
                    </a:p>
                  </a:txBody>
                  <a:tcPr marL="47625" marR="47625" marT="9525" marB="9525" anchor="ctr">
                    <a:solidFill>
                      <a:srgbClr val="F1E8AA"/>
                    </a:solidFill>
                  </a:tcPr>
                </a:tc>
              </a:tr>
              <a:tr h="3524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④ SendRecvWrite</a:t>
                      </a:r>
                    </a:p>
                  </a:txBody>
                  <a:tcPr marL="47625" marR="47625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HcommChannelNotifyRecordOnThread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sendChannel, DATA_SIGNAL：通知 j 本方向传输阶段完成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同步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⑤ SendRecvWrite</a:t>
                      </a:r>
                    </a:p>
                  </a:txBody>
                  <a:tcPr marL="47625" marR="47625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HcommChannelNotifyWaitOnThread*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recvChannel, DATA_SIGNAL：等待 j → i 的传输完成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同步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⑥ 模板 PostCopy</a:t>
                      </a:r>
                    </a:p>
                  </a:txBody>
                  <a:tcPr marL="47625" marR="47625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HcommLocalCopyOnThread</a:t>
                      </a:r>
                    </a:p>
                  </a:txBody>
                  <a:tcPr marL="47625" marR="47625" marT="9525" marB="9525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i.CCL[j] → i.userOut[j]；取出本轮收到的分片</a:t>
                      </a:r>
                    </a:p>
                  </a:txBody>
                  <a:tcPr marL="47625" marR="47625" marT="9525" marB="9525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搬运</a:t>
                      </a:r>
                    </a:p>
                  </a:txBody>
                  <a:tcPr marL="47625" marR="47625" marT="9525" marB="9525" anchor="ctr">
                    <a:solidFill>
                      <a:srgbClr val="F1E8AA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A739F-5C09-4CE9-B5C6-9A48AE33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619500"/>
            <a:ext cx="116586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2A82DA-DF81-466A-86D5-B73A9512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3629025"/>
            <a:ext cx="1163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D28729-5783-4F79-B279-F90DD8AB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648075"/>
            <a:ext cx="1152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Buffer 路径：CCL[j] 表示 j 对应的逻辑分片，不是固定物理下标；自分片另行 LocalCopy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7325F2-D653-4C87-8E31-6CB02452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95725"/>
            <a:ext cx="3314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843E04-5FA2-466F-9E71-F3588BFE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905250"/>
            <a:ext cx="3219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i.userIn[j]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59545A-246F-4912-A86B-AAF06651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057650"/>
            <a:ext cx="3219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用户输入里要发给 j 的分片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C3CD0E-FCF7-411E-83E6-75EA6780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95725"/>
            <a:ext cx="3314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693229-3169-4E01-BE7A-9A519386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05250"/>
            <a:ext cx="3219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j.CCL[i]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5826C4-ED5C-45DB-9992-5AF73440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57650"/>
            <a:ext cx="3219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写入 j 的通信中转区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DAA8B3-E725-4413-B69F-46B68256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95725"/>
            <a:ext cx="3314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497AC7-3BBE-4678-96C9-9BCE3DEF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905250"/>
            <a:ext cx="3219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j.userOut[i]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0037C7-8277-4D76-91BA-6DCEE10A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057650"/>
            <a:ext cx="3219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由 j 自己 PostCopy 到输出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B1AF73-EA97-42AE-A9B1-50FADF64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67200"/>
            <a:ext cx="3314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798CE0-D7AA-4F8C-A7C4-612190EF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276725"/>
            <a:ext cx="3219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j.userIn[i]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A86206-8277-45CC-862B-B0ECD6F7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429125"/>
            <a:ext cx="3219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对端发给 i 的分片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036AF6-DC8C-4BE8-A252-27DD5380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67200"/>
            <a:ext cx="3314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D21239-46B6-493B-8B8C-908EDC3C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76725"/>
            <a:ext cx="3219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i.CCL[j]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B06F0B-B260-4579-AAFE-4A3887E0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29125"/>
            <a:ext cx="3219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等待⑤，确保接收阶段完成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8C32BC-699D-4071-B2AD-FFD565B8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67200"/>
            <a:ext cx="3314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89B7E7-80C7-44CA-9B43-FB024DB8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276725"/>
            <a:ext cx="3219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i.userOut[j]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0BB622-F055-425C-9128-5981FEA7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429125"/>
            <a:ext cx="3219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由 i 在⑥ PostCopy 到输出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724019-936F-4335-8D3A-EF61F5B6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8DC77F-9C27-4E9C-8448-EEB0BF62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3668078" y="4058127"/>
            <a:ext cx="7134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793DA4-BC0A-43C3-8D21-0DCDF4E5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8F6EAD-2A06-4035-B78D-E835288B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4" name="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7773353" y="4058127"/>
            <a:ext cx="7324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09D80F-8462-4D4C-8FE9-745C4018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905250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③ Write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4BDEDB-1119-42E1-B077-2B193F3A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05250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 Copy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41E85A-77F2-4CF5-AA08-F09E47DA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64D355-A7E2-457E-B6D6-DE22038F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9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3668078" y="4429602"/>
            <a:ext cx="7134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7097BE-572A-4804-AD51-B53F2768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2CF4AB-132D-4D6D-B6EF-DA3BD070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2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7773353" y="4429602"/>
            <a:ext cx="7324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tailEnd type="triangle" w="sm" len="sm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F8276FF-F723-49EC-B1E2-179C2E50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767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 Write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A671C11-C9CD-46E7-A18B-07F0D999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767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⑥ Copy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68DB442-7A77-4235-932C-59BEA2B6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772025"/>
            <a:ext cx="116586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073FD7C-F528-4ABA-A49D-2E18B050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4781550"/>
            <a:ext cx="1163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9B34896-2345-43D9-B412-0EB78BDB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800600"/>
            <a:ext cx="1152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函数名、地址参数、底层实现：每一层各负责什么</a:t>
            </a:r>
          </a:p>
        </p:txBody>
      </p:sp>
      <p:graphicFrame>
        <p:nvGraphicFramePr>
          <p:cNvPr id="98" name=""/>
          <p:cNvGraphicFramePr/>
          <p:nvPr/>
        </p:nvGraphicFramePr>
        <p:xfrm>
          <a:off xmlns:a="http://schemas.openxmlformats.org/drawingml/2006/main" x="323850" y="5048250"/>
          <a:ext xmlns:a="http://schemas.openxmlformats.org/drawingml/2006/main" cx="11544300" cy="13620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81175"/>
                <a:gridCol w="9763125"/>
              </a:tblGrid>
              <a:tr h="2190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边界</a:t>
                      </a:r>
                    </a:p>
                  </a:txBody>
                  <a:tcPr marL="47625" marR="47625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精确展开 / 解释</a:t>
                      </a:r>
                    </a:p>
                  </a:txBody>
                  <a:tcPr marL="47625" marR="47625" marT="9525" marB="9525" anchor="ctr">
                    <a:solidFill>
                      <a:srgbClr val="D9DCD8"/>
                    </a:solidFill>
                  </a:tcPr>
                </a:tc>
              </a:tr>
              <a:tr h="2286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Wait* 精确符号</a:t>
                      </a:r>
                    </a:p>
                  </a:txBody>
                  <a:tcPr marL="47625" marR="47625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优先 HcommChannelNotifyWaitOnThreadWithDefaultTimeout；不支持则 HcommChannelNotifyWaitOnThread(...timeout)；Thread Wait 同理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③ Write 参数来源</a:t>
                      </a:r>
                    </a:p>
                  </a:txBody>
                  <a:tcPr marL="47625" marR="47625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thread = Peer / Channel 的执行线程；channel = ChannelInfo.handle；src / dst = DataSlice.addr + offset；len = DataSlice.size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 HCOMM 实现</a:t>
                      </a:r>
                    </a:p>
                  </a:txBody>
                  <a:tcPr marL="47625" marR="47625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HcommWriteOnThread → 解包 Channel → BuildLocRmaBufferLite → BaseTransportLiteImpl::Write(...StreamLite)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⑤ 与⑥的调用归属</a:t>
                      </a:r>
                    </a:p>
                  </a:txBody>
                  <a:tcPr marL="47625" marR="47625" marT="9525" marB="9525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①–⑤在 SendRecvWrite 内部；⑥在上层模板 RunSendRecvByChannel 中，紧随 RunSendRecv 返回之后</a:t>
                      </a:r>
                    </a:p>
                  </a:txBody>
                  <a:tcPr marL="47625" marR="47625" marT="9525" marB="9525" anchor="ctr">
                    <a:solidFill>
                      <a:srgbClr val="F1E8AA"/>
                    </a:solidFill>
                  </a:tcPr>
                </a:tc>
              </a:tr>
              <a:tr h="2286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不应推导出的 API</a:t>
                      </a:r>
                    </a:p>
                  </a:txBody>
                  <a:tcPr marL="47625" marR="47625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没有数值归约；该包装器不是 BatchTransfer / WriteWithNotify / Nbi 路径；零 slice 可跳过搬运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AA8E0C7-BA3A-4BB0-9306-6E5DC078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436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08881A2-0663-438F-B1BC-3E172CB5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81775"/>
            <a:ext cx="11306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源码基线 HCCL 170ddeec / HCOMM 87ce550f ｜ alg_data_trans_wrapper.cc:428–464,880–900；ins_temp_all_to_all_v_mesh_1D.cc:327–380；hcomm_primitives_dl.cc:176；AICPU 适配:495。</a:t>
            </a:r>
          </a:p>
        </p:txBody>
      </p:sp>
    </p:spTree>
    <p:extLst>
      <p:ext uri="{BB962C8B-B14F-4D97-AF65-F5344CB8AC3E}">
        <p14:creationId xmlns:p14="http://schemas.microsoft.com/office/powerpoint/2010/main" val="15633435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92F198-69A9-4F24-8CCB-02438971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"/>
            <a:ext cx="1165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同为 AICPU_TS AllToAll，哪些条件会改变 API 集合？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08542-BD53-4002-91A0-FA410232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4825"/>
            <a:ext cx="1104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设备＋执行模式只是范围；协议、算法变体、对称内存、资源缓存和任务缓存共同决定本次实际调用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B5CA5-7CBE-4FB6-B20C-03C61CD3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14350"/>
            <a:ext cx="323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F52CC1-1724-4877-BC92-7786FE6C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143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graphicFrame>
        <p:nvGraphicFramePr>
          <p:cNvPr id="32" name=""/>
          <p:cNvGraphicFramePr/>
          <p:nvPr/>
        </p:nvGraphicFramePr>
        <p:xfrm>
          <a:off xmlns:a="http://schemas.openxmlformats.org/drawingml/2006/main" x="266700" y="800100"/>
          <a:ext xmlns:a="http://schemas.openxmlformats.org/drawingml/2006/main" cx="11658600" cy="36385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00275"/>
                <a:gridCol w="5734050"/>
                <a:gridCol w="3724275"/>
              </a:tblGrid>
              <a:tr h="2667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变化条件</a:t>
                      </a:r>
                    </a:p>
                  </a:txBody>
                  <a:tcPr marL="47625" marR="47625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调用 / 数据路径如何变化</a:t>
                      </a:r>
                    </a:p>
                  </a:txBody>
                  <a:tcPr marL="47625" marR="47625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分类影响与边界</a:t>
                      </a:r>
                    </a:p>
                  </a:txBody>
                  <a:tcPr marL="47625" marR="47625" marT="9525" marB="9525" anchor="ctr">
                    <a:solidFill>
                      <a:srgbClr val="D9DCD8"/>
                    </a:solidFill>
                  </a:tcPr>
                </a:tc>
              </a:tr>
              <a:tr h="4476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PCIe → 模板 isDmaRead_ = true</a:t>
                      </a:r>
                    </a:p>
                  </a:txBody>
                  <a:tcPr marL="47625" marR="47625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PreCopy：userIn → localCCL；然后 HcommReadOnThread</a:t>
                      </a:r>
                    </a:p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 remoteCCL → userOut；Channel Notify 仍负责握手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的 Write 换为 Read，普通内存拷贝位置前移</a:t>
                      </a:r>
                    </a:p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不是同一分片同时必经 Read＋Write</a:t>
                      </a:r>
                    </a:p>
                  </a:txBody>
                  <a:tcPr marL="47625" marR="47625" marT="9525" marB="9525" anchor="ctr">
                    <a:solidFill>
                      <a:srgbClr val="F1E8AA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 Channel → 多 Channel</a:t>
                      </a:r>
                    </a:p>
                  </a:txBody>
                  <a:tcPr marL="47625" marR="47625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仍可选 InsTempAlltoAllVMesh1D</a:t>
                      </a:r>
                    </a:p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改变并发 Thread、分片、Notify 和调用次数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API 族可以相同；改变的是参数与组织方式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MESH_1D_CLOS / MultiJetty</a:t>
                      </a:r>
                    </a:p>
                  </a:txBody>
                  <a:tcPr marL="47625" marR="47625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改用 InsTempUbxAlltoAllVMesh1D；部分分支 SendRecvBatchRead</a:t>
                      </a:r>
                    </a:p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→ HcommBatchTransferOnThread（能力不足可回退）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可能新增批量搬运；普通 Mesh 不能据此标成必调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对称内存命中</a:t>
                      </a:r>
                    </a:p>
                  </a:txBody>
                  <a:tcPr marL="47625" marR="47625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允许直接访问已注册窗口与远端地址</a:t>
                      </a:r>
                    </a:p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可省去部分 CCL PreCopy / PostCopy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C2 映射来源改变；D1 中转拷贝可能减少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拓扑 / 算法资源缓存 hit</a:t>
                      </a:r>
                    </a:p>
                  </a:txBody>
                  <a:tcPr marL="47625" marR="47625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HcclEngineCtxGet 命中后复用上下文</a:t>
                      </a:r>
                    </a:p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跳过相应拓扑重建 / CalcRes / 建链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减少 C1 / C2 / C3 / C5 冷启动操作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Task Cache：开启＋miss</a:t>
                      </a:r>
                    </a:p>
                  </a:txBody>
                  <a:tcPr marL="47625" marR="47625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HcommAicpuTsTaskCacheLookup → Start</a:t>
                      </a:r>
                    </a:p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→ OpOrchestrate → End（全称见下方）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录制任务；仍会展开 D1 / D3 原语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Task Cache：开启＋hit</a:t>
                      </a:r>
                    </a:p>
                  </a:txBody>
                  <a:tcPr marL="47625" marR="47625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HcommAicpuTsTaskCacheLookup → Execute</a:t>
                      </a:r>
                    </a:p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刷新地址后重放，跳过本次 OpOrchestrate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逐条 API 未重新调用，不等于没有数据通信</a:t>
                      </a:r>
                    </a:p>
                  </a:txBody>
                  <a:tcPr marL="47625" marR="47625" marT="9525" marB="9525" anchor="ctr">
                    <a:solidFill>
                      <a:srgbClr val="F1E8AA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rankSize = 1 / 收发 count 都为 0</a:t>
                      </a:r>
                    </a:p>
                  </a:txBody>
                  <a:tcPr marL="47625" marR="47625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 Rank：SingleRankProc；双零 count：直接返回成功</a:t>
                      </a:r>
                    </a:p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不会执行上述多 Rank 普通 Mesh 主链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不能用多 Rank 的 Peer 建链 / 握手清单</a:t>
                      </a:r>
                    </a:p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解释所有输入参数场景</a:t>
                      </a:r>
                    </a:p>
                  </a:txBody>
                  <a:tcPr marL="47625" marR="47625" marT="9525" marB="95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42A4D4-7DB0-4463-8DFB-47456123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514850"/>
            <a:ext cx="11658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494321-F5D2-4C70-B037-A823B0C8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4524375"/>
            <a:ext cx="1163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5D3C5-E91A-4B73-AE9A-B7244389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543425"/>
            <a:ext cx="1152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Task Cache 完整符号 / 用途：与“算法资源缓存”是两件事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D65387-DA03-4DBD-9B67-FF5424EA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791075"/>
            <a:ext cx="11487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9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HcommAicpuTsTaskCacheLookup（查找）   HcommAicpuTsTaskCacheStart（开始录制）   HcommAicpuTsTaskCacheEnd（结束录制）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FA55E6-EB08-4F89-A786-11C34137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981575"/>
            <a:ext cx="11487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HcommAicpuTsTaskCacheExecute（重放）   HcommAicpuTsTaskCacheClear（出错 / 清理）；要求开关、950、支持的算子 / 拓扑等条件。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95C02C-165B-4C56-A2D9-C3CA5B19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00675"/>
            <a:ext cx="11658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1C2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9DE460-C0EC-4C26-A7DE-898FF32A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410200"/>
            <a:ext cx="1163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48E408-5DB3-44DE-9A31-2EB783C4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429250"/>
            <a:ext cx="1152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本例没有命中的类别 / 不能列成必调的接口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A335A5-86E0-4740-94D4-10EA3D95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676900"/>
            <a:ext cx="37909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21492B-029D-414B-8167-9AF96812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686425"/>
            <a:ext cx="3695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5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D2 数据计算：不调用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2DED9C-CF78-4B0D-940E-F7573BEF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9055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LocalReduce / ReadReduce / WriteReduce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DC1DAD-C943-4EBD-A2C0-D5A9ABAE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096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AllToAll 交换数据，不做数值归约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A56F18-4E16-49DD-9203-1AD85E15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76900"/>
            <a:ext cx="37909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E04CA3-44E9-44FA-81D1-EDD6FB19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5686425"/>
            <a:ext cx="3695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5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D5 CCU C++：不进入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24CA73-713E-4EC6-9400-1D84FE6B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9055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AscendC::ccu 的 DSL 与 CCU Kernel 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E90843-D7CA-4723-B5B0-8A179F73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6096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AICPU_TS 与 CCU 是不同执行路径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50B717-2890-4DEA-BA3A-4EEC79D2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676900"/>
            <a:ext cx="37909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CE035A-AB19-4AA3-B626-939D73C4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686425"/>
            <a:ext cx="3695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5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其它非必经 API：按条件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BBA5C7-44EE-4AD3-885A-0CCB4D2B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9055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CommInit / Destroy、MemReg、Fence / Drain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E5FB61-0167-4E09-B2F7-5B4EFC1E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6096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通信域生命周期、注册与同步能力不能凭名字推断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81E87C-9D8A-4C64-BC19-92F0579F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436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C2E6F6-8373-480A-B877-35C49012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81775"/>
            <a:ext cx="11306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源码基线 HCCL 170ddeec / HCOMM 87ce550f ｜ Mesh 模板:167,327,383；UBX 模板:327,456；kernel_launch.cc:499–595；aicpu_task_cache_policy.cc；基于源码，不是运行时 trace。</a:t>
            </a:r>
          </a:p>
        </p:txBody>
      </p:sp>
    </p:spTree>
    <p:extLst>
      <p:ext uri="{BB962C8B-B14F-4D97-AF65-F5344CB8AC3E}">
        <p14:creationId xmlns:p14="http://schemas.microsoft.com/office/powerpoint/2010/main" val="16588493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2026-09-19T11:34:47.8620000Z</dcterms:created>
  <dcterms:modified xsi:type="dcterms:W3CDTF">2026-09-19T11:34:47.8620000Z</dcterms:modified>
</coreProperties>
</file>