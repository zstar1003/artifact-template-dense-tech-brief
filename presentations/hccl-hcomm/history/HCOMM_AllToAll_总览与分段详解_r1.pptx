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b7e82576f74c1c" /><Relationship Type="http://schemas.openxmlformats.org/officeDocument/2006/relationships/extended-properties" Target="/docProps/app.xml" Id="Ra0f1dcb93c614a2a" /><Relationship Type="http://schemas.openxmlformats.org/officeDocument/2006/relationships/officeDocument" Target="/ppt/presentation.xml" Id="R9f4bcd299d4e4f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cea1cf76d04856"/>
  </p:sldMasterIdLst>
  <p:notesMasterIdLst>
    <p:notesMasterId xmlns:r="http://schemas.openxmlformats.org/officeDocument/2006/relationships" r:id="Re2f065158f0947df"/>
  </p:notesMasterIdLst>
  <p:sldIdLst>
    <p:sldId xmlns:r="http://schemas.openxmlformats.org/officeDocument/2006/relationships" id="256" r:id="Rdf1f974070c749ad"/>
    <p:sldId xmlns:r="http://schemas.openxmlformats.org/officeDocument/2006/relationships" id="257" r:id="Rf5ec91369df649b7"/>
    <p:sldId xmlns:r="http://schemas.openxmlformats.org/officeDocument/2006/relationships" id="258" r:id="R538bb32cce0f4fb1"/>
    <p:sldId xmlns:r="http://schemas.openxmlformats.org/officeDocument/2006/relationships" id="259" r:id="R1956cb30e95a4ea9"/>
    <p:sldId xmlns:r="http://schemas.openxmlformats.org/officeDocument/2006/relationships" id="260" r:id="Ref6e528589f54bbe"/>
    <p:sldId xmlns:r="http://schemas.openxmlformats.org/officeDocument/2006/relationships" id="261" r:id="Rbf661b65bde1441c"/>
    <p:sldId xmlns:r="http://schemas.openxmlformats.org/officeDocument/2006/relationships" id="262" r:id="Rbf87a1b3855347b7"/>
    <p:sldId xmlns:r="http://schemas.openxmlformats.org/officeDocument/2006/relationships" id="263" r:id="R7d5d6c70a9a9466b"/>
    <p:sldId xmlns:r="http://schemas.openxmlformats.org/officeDocument/2006/relationships" id="264" r:id="R3e3e561b749447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e0a1de8e024b80" /><Relationship Type="http://schemas.openxmlformats.org/officeDocument/2006/relationships/slideMaster" Target="/ppt/slideMasters/slideMaster1.xml" Id="R97cea1cf76d04856" /><Relationship Type="http://schemas.openxmlformats.org/officeDocument/2006/relationships/notesMaster" Target="/ppt/notesMasters/notesMaster1.xml" Id="Re2f065158f0947df" /><Relationship Type="http://schemas.openxmlformats.org/officeDocument/2006/relationships/presProps" Target="/ppt/presProps.xml" Id="R1cb1d0714fbd4daf" /><Relationship Type="http://schemas.openxmlformats.org/officeDocument/2006/relationships/tableStyles" Target="/ppt/tableStyles.xml" Id="Re23137dafc9044f7" /><Relationship Type="http://schemas.openxmlformats.org/officeDocument/2006/relationships/slide" Target="/ppt/slides/slide1.xml" Id="Rdf1f974070c749ad" /><Relationship Type="http://schemas.openxmlformats.org/officeDocument/2006/relationships/slide" Target="/ppt/slides/slide2.xml" Id="Rf5ec91369df649b7" /><Relationship Type="http://schemas.openxmlformats.org/officeDocument/2006/relationships/slide" Target="/ppt/slides/slide3.xml" Id="R538bb32cce0f4fb1" /><Relationship Type="http://schemas.openxmlformats.org/officeDocument/2006/relationships/slide" Target="/ppt/slides/slide4.xml" Id="R1956cb30e95a4ea9" /><Relationship Type="http://schemas.openxmlformats.org/officeDocument/2006/relationships/slide" Target="/ppt/slides/slide5.xml" Id="Ref6e528589f54bbe" /><Relationship Type="http://schemas.openxmlformats.org/officeDocument/2006/relationships/slide" Target="/ppt/slides/slide6.xml" Id="Rbf661b65bde1441c" /><Relationship Type="http://schemas.openxmlformats.org/officeDocument/2006/relationships/slide" Target="/ppt/slides/slide7.xml" Id="Rbf87a1b3855347b7" /><Relationship Type="http://schemas.openxmlformats.org/officeDocument/2006/relationships/slide" Target="/ppt/slides/slide8.xml" Id="R7d5d6c70a9a9466b" /><Relationship Type="http://schemas.openxmlformats.org/officeDocument/2006/relationships/slide" Target="/ppt/slides/slide9.xml" Id="R3e3e561b749447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316903bfd54a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d7ba03a4874607" /><Relationship Type="http://schemas.openxmlformats.org/officeDocument/2006/relationships/notesMaster" Target="/ppt/notesMasters/notesMaster1.xml" Id="R658af4bb03be40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e3bc38a1fb446c" /><Relationship Type="http://schemas.openxmlformats.org/officeDocument/2006/relationships/notesMaster" Target="/ppt/notesMasters/notesMaster1.xml" Id="R7cd3d5a4842741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d8ea131ad74a4b" /><Relationship Type="http://schemas.openxmlformats.org/officeDocument/2006/relationships/notesMaster" Target="/ppt/notesMasters/notesMaster1.xml" Id="Re0e3b650ec344d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05b2f15b5d43e6" /><Relationship Type="http://schemas.openxmlformats.org/officeDocument/2006/relationships/notesMaster" Target="/ppt/notesMasters/notesMaster1.xml" Id="R2e1fa4ec999d4f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8eebbcfc5b495a" /><Relationship Type="http://schemas.openxmlformats.org/officeDocument/2006/relationships/notesMaster" Target="/ppt/notesMasters/notesMaster1.xml" Id="R6436fa63fa9544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3345af84cd49c0" /><Relationship Type="http://schemas.openxmlformats.org/officeDocument/2006/relationships/notesMaster" Target="/ppt/notesMasters/notesMaster1.xml" Id="Rcb79b606699a43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02174620564a00" /><Relationship Type="http://schemas.openxmlformats.org/officeDocument/2006/relationships/notesMaster" Target="/ppt/notesMasters/notesMaster1.xml" Id="R9ae53e61512f4e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e66a8389004eba" /><Relationship Type="http://schemas.openxmlformats.org/officeDocument/2006/relationships/notesMaster" Target="/ppt/notesMasters/notesMaster1.xml" Id="R8aefa26f873b4f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2d41b1021348f2" /><Relationship Type="http://schemas.openxmlformats.org/officeDocument/2006/relationships/notesMaster" Target="/ppt/notesMasters/notesMaster1.xml" Id="R9d49393fbe6046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1。本套总览在第1页，参数与选择第2页，资源第3页，建链与资源交付第4页，发射第5页，设备编排第6页，双向握手第7页，数据地址与Write内部第8页，完成第9页。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总览仅挑选关键函数，不代表相邻节点之间存在一条直接C++调用。流程①②③④⑤⑥⑦⑧顺序推进，底部独立展示用户字节路径。HCOMM数据面也可能由Host调用，具体时序在第5页。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正文在参数处理与配置查询之间只画关键调用，AlltoAllVOutPlaceCommon等共用辅助函数详见下列逐项注释。RankGraph列表并非严格时序。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[上层调用 HCCL /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Host /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调 HCOMM /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HCOMM /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Host /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Host /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Host /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Host /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调 HCOMM / 控制面 / 域资源] HcclEngineCtxGet：先查已有的拓扑上下文。命中则直接恢复已有说明。未命中才查询拓扑并保存，具体查询逐项解释在对应细节页。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调 HCOMM /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20. [HCCL 调 HCOMM /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21. [HCCL 调 HCOMM /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22. [HCCL 调 HCOMM /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23. [HCCL 调 HCOMM /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24. [HCCL 调 HCOMM /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[HCCL 调 HCOMM /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26. [HCCL 调 HCOMM /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27. [HCCL 调 HCOMM /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28. [HCCL 调 HCOMM /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hcomm/include/hccl/hccl_rank_graph.h; hccl/src/ops/op_common/topo_info/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首次资源未命中为主线。CPU_TS用户Thread首次导出方向是CPU_TS到AICPU_TS。资源缓存和AICPU任务缓存独立，后者关闭。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Host /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Host /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Host /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Host /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HCOMM /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Host /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Host /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20. 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21. 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22. 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23. 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24. 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26. 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27. 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4。本套总览在第1页，参数与选择第2页，资源第3页，建链与资源交付第4页，发射第5页，设备编排第6页，双向握手第7页，数据地址与Write内部第8页，完成第9页。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箭头展示资源创建父流程与后续HCCL交付阶段。BatchCreateChannels内包含按需端点、内存与基础通道准备。上图不是将内部方法和导出接口视为同一层平铺API。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[HCOMM 内部 /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[HCOMM 内部 /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[HCOMM 内部 /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[HCOMM 内部调用 /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[HCOMM 内部调用 /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[HCOMM 内部调用 /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[HCOMM 内部调用 /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[HCOMM 内部 /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[HCOMM 内部 /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[HCOMM 内部 /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Host /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调 HCOMM /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[HCOMM 内部调用 /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Host /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Host /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调 HCOMM /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调 HCOMM /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调 HCOMM /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5。本套总览在第1页，参数与选择第2页，资源第3页，建链与资源交付第4页，发射第5页，设备编排第6页，双向握手第7页，数据地址与Write内部第8页，完成第9页。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黑线是Host调用推进，灰虚线是返回到Host。中列只是HCOMM数据面API的调用位置，不是单独的CPU执行实体。设备入口可与Host后续提交并发，依赖通过Thread通知约束。AllToAll调用内部AicpuKernelLaunch，不是Send/Recv的导出HcclAicpuKernelLaunc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Host / 内部函数] HcclOrderLaunchToKernelStream：完成发射后的按序同步安排。随后还要把“等待本次通信完成”的任务排入用户流，具体完成关系见对应细节页。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20. 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21. 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22. 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23. 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24. 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26. 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27. 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28. 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6。本套总览在第1页，参数与选择第2页，资源第3页，建链与资源交付第4页，发射第5页，设备编排第6页，双向握手第7页，数据地址与Write内部第8页，完成第9页。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/中为HCCL内部函数，右为HCOMM数据面。实际设备入口先AcquireComm，恢复上下文/变长数据，再BatchStart，随后OpOrchestrate。模板RunALLtoALL先计算轮次，再有条件PreSync。当前页将依赖原语拉到右侧，以保持软件归属可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20. 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21. 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22. 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23. 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24. 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26. 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27. 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28. 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29. 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开启时还有查找/录制/重放路径，见对应细节页。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7。本套总览在第1页，参数与选择第2页，资源第3页，建链与资源交付第4页，发射第5页，设备编排第6页，双向握手第7页，数据地址与Write内部第8页，完成第9页。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图箭头展示通知/数据逻辑方向与本端调用含义，不表示两端CPU实时同步串行。ACK使用recv/send两个逻辑方向，DATA_SIGNAL同样区分正反向。同一Peer的两个方向可复用同一个Channel句柄。显式超时与默认超时Wait是包装能力替代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8。本套总览在第1页，参数与选择第2页，资源第3页，建链与资源交付第4页，发射第5页，设备编排第6页，双向握手第7页，数据地址与Write内部第8页，完成第9页。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上方数据方向为R0到R1，所以最终目的recvBuf[0]；第7页F从R0本端视角接收R1数据，目的recvBuf[2]。两者并不矛盾。普通Write允许源自用户输入，CCL为接收中转，后续本地后拷贝完成落位。图中Rank1完整结果为教学示例而非单次Write只搬整个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[HCOMM 数据面 /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[HCOMM 数据面 /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[HCOMM 数据面 /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[HCOMM 传输层 /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[HCOMM 传输层 /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18. [HCOMM 数据面 /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19. [HCOMM 数据面 /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hcomm/src/base_comm/primitives/api_c_adpt/aicpu_ts_primitives_c_adpt.cc:495–535,1118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9。本套总览在第1页，参数与选择第2页，资源第3页，建链与资源交付第4页，发射第5页，设备编排第6页，双向握手第7页，数据地址与Write内部第8页，完成第9页。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固定范围：Ascend 950 / AICPU_TS / OPBASE，普通 Mesh Write、普通用户内存、多个Rank、非零数据。通信域与用户stream已经建立。资源缓存未命中、Task Cache关闭。4 Rank、每对2个FP32为教学例子。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主体按任务执行依赖画，左下单列C++侧收尾API。不要将依赖箭头当作全局硬件时序。Host若要读取结果，需要上层实际流同步机制，本分析不猜框架调用的同步API。控制面分类：通信域资源、内存、拓扑、算子编排、底层资源。数据面本例覆盖搬运/同步/执行控制，不进入数据归约计算和CCU C++模型。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11. 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13. 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14. 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15. 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16. 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17. 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170ddeec539b4d693028ce6e0cf5c58933e4d46d，hcomm 87ce550f8f7c584e0ed89b0ec56699553d9c332d。Hccl前缀本身不能判断库归属。上层调用方具体模块未确认，不以STL/SCL作为已确认源码符号。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43ec75224f4c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efb6c90a6436c" /><Relationship Type="http://schemas.openxmlformats.org/officeDocument/2006/relationships/slideLayout" Target="/ppt/slideLayouts/slideLayout1.xml" Id="Rbd5b5adf740542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5b5adf740542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29b9d5c9441d3" /><Relationship Type="http://schemas.openxmlformats.org/officeDocument/2006/relationships/notesSlide" Target="/ppt/notesSlides/notesSlide1.xml" Id="Re639248fa8844b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e1a3ba4aa4829" /><Relationship Type="http://schemas.openxmlformats.org/officeDocument/2006/relationships/notesSlide" Target="/ppt/notesSlides/notesSlide2.xml" Id="R56cfc6ac104e49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b18743a7e4196" /><Relationship Type="http://schemas.openxmlformats.org/officeDocument/2006/relationships/notesSlide" Target="/ppt/notesSlides/notesSlide3.xml" Id="R1d45eea2e2d143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45763d3df4e30" /><Relationship Type="http://schemas.openxmlformats.org/officeDocument/2006/relationships/notesSlide" Target="/ppt/notesSlides/notesSlide4.xml" Id="Rda16c165d90d46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053731f3c4529" /><Relationship Type="http://schemas.openxmlformats.org/officeDocument/2006/relationships/notesSlide" Target="/ppt/notesSlides/notesSlide5.xml" Id="R6b2eb2514e414b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557552fd64ba5" /><Relationship Type="http://schemas.openxmlformats.org/officeDocument/2006/relationships/notesSlide" Target="/ppt/notesSlides/notesSlide6.xml" Id="R95f6460273d142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84c68758e44b8" /><Relationship Type="http://schemas.openxmlformats.org/officeDocument/2006/relationships/notesSlide" Target="/ppt/notesSlides/notesSlide7.xml" Id="R6ff6f62d833944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86b062abf42e1" /><Relationship Type="http://schemas.openxmlformats.org/officeDocument/2006/relationships/notesSlide" Target="/ppt/notesSlides/notesSlide8.xml" Id="Raab56aef15b345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bdaa30f434019" /><Relationship Type="http://schemas.openxmlformats.org/officeDocument/2006/relationships/notesSlide" Target="/ppt/notesSlides/notesSlide9.xml" Id="R64f71987932243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AllToAll 执行总览与详细展开索引">
            <a:extLst xmlns:a="http://schemas.openxmlformats.org/drawingml/2006/main">
              <a:ext uri="{FF2B5EF4-FFF2-40B4-BE49-F238E27FC236}">
                <a16:creationId xmlns:a16="http://schemas.microsoft.com/office/drawing/2014/main" id="{AE407D55-5B9F-41D3-B34A-A5344A50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执行总览与详细展开索引</a:t>
            </a:r>
          </a:p>
        </p:txBody>
      </p:sp>
      <p:sp>
        <p:nvSpPr>
          <p:cNvPr id="2" name="Ascend 950 / AICPU_TS / OPBASE，普通 Mesh Write。按①至⑧读主流程，节点右上角标出详解页。">
            <a:extLst xmlns:a="http://schemas.openxmlformats.org/drawingml/2006/main">
              <a:ext uri="{FF2B5EF4-FFF2-40B4-BE49-F238E27FC236}">
                <a16:creationId xmlns:a16="http://schemas.microsoft.com/office/drawing/2014/main" id="{63B12146-3B65-48BC-8935-15B814A5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Ascend 950 / AICPU_TS / OPBASE，普通 Mesh Write。按①至⑧读主流程，节点右上角标出详解页。</a:t>
            </a:r>
          </a:p>
        </p:txBody>
      </p:sp>
      <p:sp>
        <p:nvSpPr>
          <p:cNvPr id="3" name="1 / 9">
            <a:extLst xmlns:a="http://schemas.openxmlformats.org/drawingml/2006/main">
              <a:ext uri="{FF2B5EF4-FFF2-40B4-BE49-F238E27FC236}">
                <a16:creationId xmlns:a16="http://schemas.microsoft.com/office/drawing/2014/main" id="{48E655F4-6144-4AE8-A164-F98E5067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1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0D3EB-A06E-4331-B3BF-3DBDA88F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70ED3-82A7-4E4B-B44A-BDAB0EE7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总览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D993738B-8C88-4FE5-A23F-72511FF4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总览　　源码：hccl 170ddeec / hcomm 87ce550f，静态分析，未上板验证。</a:t>
            </a:r>
          </a:p>
        </p:txBody>
      </p:sp>
      <p:sp>
        <p:nvSpPr>
          <p:cNvPr id="8" name="Host：整理请求、准备资源，再提交设备任务">
            <a:extLst xmlns:a="http://schemas.openxmlformats.org/drawingml/2006/main">
              <a:ext uri="{FF2B5EF4-FFF2-40B4-BE49-F238E27FC236}">
                <a16:creationId xmlns:a16="http://schemas.microsoft.com/office/drawing/2014/main" id="{C7BCF8AF-AA02-4475-885E-7159C292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6202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Host：整理请求、准备资源，再提交设备任务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D2C4A-9796-415D-B491-71C89D4B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04925"/>
            <a:ext cx="276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0" name="① 请求与选算法">
            <a:extLst xmlns:a="http://schemas.openxmlformats.org/drawingml/2006/main">
              <a:ext uri="{FF2B5EF4-FFF2-40B4-BE49-F238E27FC236}">
                <a16:creationId xmlns:a16="http://schemas.microsoft.com/office/drawing/2014/main" id="{185C7640-24A8-4D32-AFCB-B04312E5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3620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请求与选算法</a:t>
            </a:r>
          </a:p>
        </p:txBody>
      </p:sp>
      <p:sp>
        <p:nvSpPr>
          <p:cNvPr id="11" name="第 2 页">
            <a:extLst xmlns:a="http://schemas.openxmlformats.org/drawingml/2006/main">
              <a:ext uri="{FF2B5EF4-FFF2-40B4-BE49-F238E27FC236}">
                <a16:creationId xmlns:a16="http://schemas.microsoft.com/office/drawing/2014/main" id="{88E6048A-877B-4CD9-BBF7-2A700478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371600"/>
            <a:ext cx="71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第 2 页</a:t>
            </a:r>
          </a:p>
        </p:txBody>
      </p:sp>
      <p:sp>
        <p:nvSpPr>
          <p:cNvPr id="12" name="HCCL Host">
            <a:extLst xmlns:a="http://schemas.openxmlformats.org/drawingml/2006/main">
              <a:ext uri="{FF2B5EF4-FFF2-40B4-BE49-F238E27FC236}">
                <a16:creationId xmlns:a16="http://schemas.microsoft.com/office/drawing/2014/main" id="{E492E204-4090-4D4D-B73C-1C0A30D4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38300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13" name="API含义">
            <a:extLst xmlns:a="http://schemas.openxmlformats.org/drawingml/2006/main">
              <a:ext uri="{FF2B5EF4-FFF2-40B4-BE49-F238E27FC236}">
                <a16:creationId xmlns:a16="http://schemas.microsoft.com/office/drawing/2014/main" id="{5689AD0F-85C9-44FB-A8D8-D6F902A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335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接收全互换请求</a:t>
            </a:r>
          </a:p>
        </p:txBody>
      </p:sp>
      <p:sp>
        <p:nvSpPr>
          <p:cNvPr id="14" name="API含义">
            <a:extLst xmlns:a="http://schemas.openxmlformats.org/drawingml/2006/main">
              <a:ext uri="{FF2B5EF4-FFF2-40B4-BE49-F238E27FC236}">
                <a16:creationId xmlns:a16="http://schemas.microsoft.com/office/drawing/2014/main" id="{16F231D8-0753-4CEF-B040-577BF554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7170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SelectAicpuAlgo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选定 AICPU 算法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6E9CA-BD93-4E52-B836-922BB4EC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34CFE-B214-40D7-A63C-5B436EFC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048953" y="19531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179B4-8B33-4356-B771-F4FA1FDF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04925"/>
            <a:ext cx="276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9" name="② 取得资源">
            <a:extLst xmlns:a="http://schemas.openxmlformats.org/drawingml/2006/main">
              <a:ext uri="{FF2B5EF4-FFF2-40B4-BE49-F238E27FC236}">
                <a16:creationId xmlns:a16="http://schemas.microsoft.com/office/drawing/2014/main" id="{6F2C3CC8-2451-4423-BCAB-FBE0B32C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3620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 取得资源</a:t>
            </a:r>
          </a:p>
        </p:txBody>
      </p:sp>
      <p:sp>
        <p:nvSpPr>
          <p:cNvPr id="20" name="第 3 页">
            <a:extLst xmlns:a="http://schemas.openxmlformats.org/drawingml/2006/main">
              <a:ext uri="{FF2B5EF4-FFF2-40B4-BE49-F238E27FC236}">
                <a16:creationId xmlns:a16="http://schemas.microsoft.com/office/drawing/2014/main" id="{C005E72C-D5AE-438D-A9CA-96AAF29E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371600"/>
            <a:ext cx="71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第 3 页</a:t>
            </a:r>
          </a:p>
        </p:txBody>
      </p:sp>
      <p:sp>
        <p:nvSpPr>
          <p:cNvPr id="21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E651DF09-6D35-44DD-811E-366480C8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38300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22" name="API含义">
            <a:extLst xmlns:a="http://schemas.openxmlformats.org/drawingml/2006/main">
              <a:ext uri="{FF2B5EF4-FFF2-40B4-BE49-F238E27FC236}">
                <a16:creationId xmlns:a16="http://schemas.microsoft.com/office/drawing/2014/main" id="{5CCBE952-5C2B-4718-A336-B7C331BB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335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 CCL 缓冲区</a:t>
            </a:r>
          </a:p>
        </p:txBody>
      </p:sp>
      <p:sp>
        <p:nvSpPr>
          <p:cNvPr id="23" name="API含义">
            <a:extLst xmlns:a="http://schemas.openxmlformats.org/drawingml/2006/main">
              <a:ext uri="{FF2B5EF4-FFF2-40B4-BE49-F238E27FC236}">
                <a16:creationId xmlns:a16="http://schemas.microsoft.com/office/drawing/2014/main" id="{6E600F27-497B-4754-8F82-48E78ED6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17170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取得队列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57AAF1-2D1C-4B0C-AF6A-FC65DBFA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00926B-7830-4A58-A6F1-08546647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001703" y="19531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A9CBA6-8D74-485A-9969-4C840776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04925"/>
            <a:ext cx="276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28" name="③ 建链与交付">
            <a:extLst xmlns:a="http://schemas.openxmlformats.org/drawingml/2006/main">
              <a:ext uri="{FF2B5EF4-FFF2-40B4-BE49-F238E27FC236}">
                <a16:creationId xmlns:a16="http://schemas.microsoft.com/office/drawing/2014/main" id="{C51A81C4-4FB8-4C49-B18C-C735BF56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3620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 建链与交付</a:t>
            </a:r>
          </a:p>
        </p:txBody>
      </p:sp>
      <p:sp>
        <p:nvSpPr>
          <p:cNvPr id="29" name="第 4 页">
            <a:extLst xmlns:a="http://schemas.openxmlformats.org/drawingml/2006/main">
              <a:ext uri="{FF2B5EF4-FFF2-40B4-BE49-F238E27FC236}">
                <a16:creationId xmlns:a16="http://schemas.microsoft.com/office/drawing/2014/main" id="{17CB1C3D-4AB6-4AFC-A9FC-50B60BBB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71600"/>
            <a:ext cx="71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第 4 页</a:t>
            </a:r>
          </a:p>
        </p:txBody>
      </p:sp>
      <p:sp>
        <p:nvSpPr>
          <p:cNvPr id="30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BC936369-CD4E-4252-B795-9B0E5B6F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638300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31" name="API含义">
            <a:extLst xmlns:a="http://schemas.openxmlformats.org/drawingml/2006/main">
              <a:ext uri="{FF2B5EF4-FFF2-40B4-BE49-F238E27FC236}">
                <a16:creationId xmlns:a16="http://schemas.microsoft.com/office/drawing/2014/main" id="{009F851B-AA09-4773-A29E-94CB60C4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335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 Peer 通道</a:t>
            </a:r>
          </a:p>
        </p:txBody>
      </p:sp>
      <p:sp>
        <p:nvSpPr>
          <p:cNvPr id="32" name="API含义">
            <a:extLst xmlns:a="http://schemas.openxmlformats.org/drawingml/2006/main">
              <a:ext uri="{FF2B5EF4-FFF2-40B4-BE49-F238E27FC236}">
                <a16:creationId xmlns:a16="http://schemas.microsoft.com/office/drawing/2014/main" id="{407F92A1-6404-4AFF-87E8-13D80C0D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7170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交付资源描述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4E677F-B224-4FCD-A465-7FA82723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793243-4839-4B71-8DD3-B38A767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954453" y="19531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B60182-9421-4A53-B9B7-569D64D6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04925"/>
            <a:ext cx="276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7" name="④ 发射设备任务">
            <a:extLst xmlns:a="http://schemas.openxmlformats.org/drawingml/2006/main">
              <a:ext uri="{FF2B5EF4-FFF2-40B4-BE49-F238E27FC236}">
                <a16:creationId xmlns:a16="http://schemas.microsoft.com/office/drawing/2014/main" id="{1A825CD0-0788-485F-95FD-086F8703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3620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 发射设备任务</a:t>
            </a:r>
          </a:p>
        </p:txBody>
      </p:sp>
      <p:sp>
        <p:nvSpPr>
          <p:cNvPr id="38" name="第 5 页">
            <a:extLst xmlns:a="http://schemas.openxmlformats.org/drawingml/2006/main">
              <a:ext uri="{FF2B5EF4-FFF2-40B4-BE49-F238E27FC236}">
                <a16:creationId xmlns:a16="http://schemas.microsoft.com/office/drawing/2014/main" id="{431BAC51-AA5B-47B5-A2D4-BD141EB0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1371600"/>
            <a:ext cx="71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第 5 页</a:t>
            </a:r>
          </a:p>
        </p:txBody>
      </p:sp>
      <p:sp>
        <p:nvSpPr>
          <p:cNvPr id="39" name="HCCL Host / ACL Runtime">
            <a:extLst xmlns:a="http://schemas.openxmlformats.org/drawingml/2006/main">
              <a:ext uri="{FF2B5EF4-FFF2-40B4-BE49-F238E27FC236}">
                <a16:creationId xmlns:a16="http://schemas.microsoft.com/office/drawing/2014/main" id="{8C3D9B95-CC7E-417F-9836-A1D0BB0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638300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 / ACL Runtime</a:t>
            </a:r>
          </a:p>
        </p:txBody>
      </p:sp>
      <p:sp>
        <p:nvSpPr>
          <p:cNvPr id="40" name="API含义">
            <a:extLst xmlns:a="http://schemas.openxmlformats.org/drawingml/2006/main">
              <a:ext uri="{FF2B5EF4-FFF2-40B4-BE49-F238E27FC236}">
                <a16:creationId xmlns:a16="http://schemas.microsoft.com/office/drawing/2014/main" id="{311284EA-EAB4-404B-A5E5-C8B47A7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9335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AicpuKernelLaunch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组织设备启动</a:t>
            </a:r>
          </a:p>
        </p:txBody>
      </p:sp>
      <p:sp>
        <p:nvSpPr>
          <p:cNvPr id="41" name="API含义">
            <a:extLst xmlns:a="http://schemas.openxmlformats.org/drawingml/2006/main">
              <a:ext uri="{FF2B5EF4-FFF2-40B4-BE49-F238E27FC236}">
                <a16:creationId xmlns:a16="http://schemas.microsoft.com/office/drawing/2014/main" id="{F32D796C-3C21-4364-99F3-3132D2B7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7170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提交 Kernel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56A391-7E78-4825-8448-11E11099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52825"/>
            <a:ext cx="276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3" name="⑤ 展开算法">
            <a:extLst xmlns:a="http://schemas.openxmlformats.org/drawingml/2006/main">
              <a:ext uri="{FF2B5EF4-FFF2-40B4-BE49-F238E27FC236}">
                <a16:creationId xmlns:a16="http://schemas.microsoft.com/office/drawing/2014/main" id="{F5E81CB9-C622-4801-8382-2B40A024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099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 展开算法</a:t>
            </a:r>
          </a:p>
        </p:txBody>
      </p:sp>
      <p:sp>
        <p:nvSpPr>
          <p:cNvPr id="44" name="第 6 页">
            <a:extLst xmlns:a="http://schemas.openxmlformats.org/drawingml/2006/main">
              <a:ext uri="{FF2B5EF4-FFF2-40B4-BE49-F238E27FC236}">
                <a16:creationId xmlns:a16="http://schemas.microsoft.com/office/drawing/2014/main" id="{5E437D04-7232-4BE4-85DD-55582FE9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19500"/>
            <a:ext cx="71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第 6 页</a:t>
            </a:r>
          </a:p>
        </p:txBody>
      </p:sp>
      <p:sp>
        <p:nvSpPr>
          <p:cNvPr id="45" name="HCCL AICPU">
            <a:extLst xmlns:a="http://schemas.openxmlformats.org/drawingml/2006/main">
              <a:ext uri="{FF2B5EF4-FFF2-40B4-BE49-F238E27FC236}">
                <a16:creationId xmlns:a16="http://schemas.microsoft.com/office/drawing/2014/main" id="{E9D5CC04-EE23-4069-AAD9-C176CD34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86200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46" name="API含义">
            <a:extLst xmlns:a="http://schemas.openxmlformats.org/drawingml/2006/main">
              <a:ext uri="{FF2B5EF4-FFF2-40B4-BE49-F238E27FC236}">
                <a16:creationId xmlns:a16="http://schemas.microsoft.com/office/drawing/2014/main" id="{60E31A14-2442-4BC7-A118-80B110B6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1814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设备入口</a:t>
            </a:r>
          </a:p>
        </p:txBody>
      </p:sp>
      <p:sp>
        <p:nvSpPr>
          <p:cNvPr id="47" name="API含义">
            <a:extLst xmlns:a="http://schemas.openxmlformats.org/drawingml/2006/main">
              <a:ext uri="{FF2B5EF4-FFF2-40B4-BE49-F238E27FC236}">
                <a16:creationId xmlns:a16="http://schemas.microsoft.com/office/drawing/2014/main" id="{1398F0B7-2CE2-4D33-855F-B584B81F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41960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OpOrchestrate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按块、轮、Peer 编排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3744A7-C561-4C1C-8469-DCDE4554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00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1FE672-61FC-406C-9397-D8F2A1DD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00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3048953" y="42010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4794F3-32F4-4CDB-B390-6BDD86EB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52825"/>
            <a:ext cx="276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52" name="⑥ 握手与远端写">
            <a:extLst xmlns:a="http://schemas.openxmlformats.org/drawingml/2006/main">
              <a:ext uri="{FF2B5EF4-FFF2-40B4-BE49-F238E27FC236}">
                <a16:creationId xmlns:a16="http://schemas.microsoft.com/office/drawing/2014/main" id="{AA014EC7-44B9-4934-8EF5-7C0126BF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6099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⑥ 握手与远端写</a:t>
            </a:r>
          </a:p>
        </p:txBody>
      </p:sp>
      <p:sp>
        <p:nvSpPr>
          <p:cNvPr id="53" name="第 7 页">
            <a:extLst xmlns:a="http://schemas.openxmlformats.org/drawingml/2006/main">
              <a:ext uri="{FF2B5EF4-FFF2-40B4-BE49-F238E27FC236}">
                <a16:creationId xmlns:a16="http://schemas.microsoft.com/office/drawing/2014/main" id="{67C33A77-C3AE-440E-A28A-5FADF469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19500"/>
            <a:ext cx="71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第 7 页</a:t>
            </a:r>
          </a:p>
        </p:txBody>
      </p:sp>
      <p:sp>
        <p:nvSpPr>
          <p:cNvPr id="54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BF31CC2D-3B27-41CA-8451-543413A5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886200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55" name="API含义">
            <a:extLst xmlns:a="http://schemas.openxmlformats.org/drawingml/2006/main">
              <a:ext uri="{FF2B5EF4-FFF2-40B4-BE49-F238E27FC236}">
                <a16:creationId xmlns:a16="http://schemas.microsoft.com/office/drawing/2014/main" id="{06469EB1-48F1-4512-93E6-447AB8DD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1814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56" name="API含义">
            <a:extLst xmlns:a="http://schemas.openxmlformats.org/drawingml/2006/main">
              <a:ext uri="{FF2B5EF4-FFF2-40B4-BE49-F238E27FC236}">
                <a16:creationId xmlns:a16="http://schemas.microsoft.com/office/drawing/2014/main" id="{6EA93C1D-243B-4A1D-955D-41B53779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41960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写入远端 CCL</a:t>
            </a:r>
          </a:p>
        </p:txBody>
      </p:sp>
      <p:sp>
        <p:nvSpPr>
          <p:cNvPr id="57" name="接收准备通知、等待对端后才搬运">
            <a:extLst xmlns:a="http://schemas.openxmlformats.org/drawingml/2006/main">
              <a:ext uri="{FF2B5EF4-FFF2-40B4-BE49-F238E27FC236}">
                <a16:creationId xmlns:a16="http://schemas.microsoft.com/office/drawing/2014/main" id="{3B478404-1796-48A0-BED0-BA37807F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638675"/>
            <a:ext cx="2590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接收准备通知、等待对端后才搬运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DF7AB10-B12C-406D-8053-A0A63208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00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10E087-85B0-4DBC-AE3F-1C80CD57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6001703" y="42010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2A6C27-8E3B-4E25-936F-4005C3B5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52825"/>
            <a:ext cx="276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62" name="⑦ 数据落位">
            <a:extLst xmlns:a="http://schemas.openxmlformats.org/drawingml/2006/main">
              <a:ext uri="{FF2B5EF4-FFF2-40B4-BE49-F238E27FC236}">
                <a16:creationId xmlns:a16="http://schemas.microsoft.com/office/drawing/2014/main" id="{105C5AFF-3650-401A-802B-3C1FF9C2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99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⑦ 数据落位</a:t>
            </a:r>
          </a:p>
        </p:txBody>
      </p:sp>
      <p:sp>
        <p:nvSpPr>
          <p:cNvPr id="63" name="第 8 页">
            <a:extLst xmlns:a="http://schemas.openxmlformats.org/drawingml/2006/main">
              <a:ext uri="{FF2B5EF4-FFF2-40B4-BE49-F238E27FC236}">
                <a16:creationId xmlns:a16="http://schemas.microsoft.com/office/drawing/2014/main" id="{C9BC6EB5-F731-45B4-9E06-E17B9490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71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第 8 页</a:t>
            </a:r>
          </a:p>
        </p:txBody>
      </p:sp>
      <p:sp>
        <p:nvSpPr>
          <p:cNvPr id="64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92D8CC9E-CC4A-4685-B578-E1C0D335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886200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65" name="API含义">
            <a:extLst xmlns:a="http://schemas.openxmlformats.org/drawingml/2006/main">
              <a:ext uri="{FF2B5EF4-FFF2-40B4-BE49-F238E27FC236}">
                <a16:creationId xmlns:a16="http://schemas.microsoft.com/office/drawing/2014/main" id="{04AAB9AE-8E58-487D-A4A5-5DF3D6AB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814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66" name="API含义">
            <a:extLst xmlns:a="http://schemas.openxmlformats.org/drawingml/2006/main">
              <a:ext uri="{FF2B5EF4-FFF2-40B4-BE49-F238E27FC236}">
                <a16:creationId xmlns:a16="http://schemas.microsoft.com/office/drawing/2014/main" id="{E2E568BF-6B68-441B-8D05-01A89BDB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1960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/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自分片或已收到的数据拷入 recvBuf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2B5CEC-3B36-4D85-8AB7-E56BAE83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00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AA2622A-2A6B-4E8E-A487-077B1A24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00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954453" y="4201002"/>
            <a:ext cx="18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2601339-3A1B-48A6-8854-78DD1301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52825"/>
            <a:ext cx="276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71" name="⑧ 完成与继续">
            <a:extLst xmlns:a="http://schemas.openxmlformats.org/drawingml/2006/main">
              <a:ext uri="{FF2B5EF4-FFF2-40B4-BE49-F238E27FC236}">
                <a16:creationId xmlns:a16="http://schemas.microsoft.com/office/drawing/2014/main" id="{A45FEAF9-D27B-4F32-A502-8324551C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6099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⑧ 完成与继续</a:t>
            </a:r>
          </a:p>
        </p:txBody>
      </p:sp>
      <p:sp>
        <p:nvSpPr>
          <p:cNvPr id="72" name="第 9 页">
            <a:extLst xmlns:a="http://schemas.openxmlformats.org/drawingml/2006/main">
              <a:ext uri="{FF2B5EF4-FFF2-40B4-BE49-F238E27FC236}">
                <a16:creationId xmlns:a16="http://schemas.microsoft.com/office/drawing/2014/main" id="{A572E925-3144-40FD-9A9F-0AA01627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619500"/>
            <a:ext cx="714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第 9 页</a:t>
            </a:r>
          </a:p>
        </p:txBody>
      </p:sp>
      <p:sp>
        <p:nvSpPr>
          <p:cNvPr id="73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6AB4B3B1-823B-45D3-B350-FC42C6F6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86200"/>
            <a:ext cx="2590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74" name="API含义">
            <a:extLst xmlns:a="http://schemas.openxmlformats.org/drawingml/2006/main">
              <a:ext uri="{FF2B5EF4-FFF2-40B4-BE49-F238E27FC236}">
                <a16:creationId xmlns:a16="http://schemas.microsoft.com/office/drawing/2014/main" id="{32707F05-42AA-49D7-A6E5-6A7526BB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181475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75" name="API含义">
            <a:extLst xmlns:a="http://schemas.openxmlformats.org/drawingml/2006/main">
              <a:ext uri="{FF2B5EF4-FFF2-40B4-BE49-F238E27FC236}">
                <a16:creationId xmlns:a16="http://schemas.microsoft.com/office/drawing/2014/main" id="{44D2ADC9-E428-4BFC-81AA-A3B95FA5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419600"/>
            <a:ext cx="259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HcommBatchModeEnd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提交剩余任务</a:t>
            </a:r>
          </a:p>
        </p:txBody>
      </p:sp>
      <p:sp>
        <p:nvSpPr>
          <p:cNvPr id="76" name="通知满足后，用户流继续执行">
            <a:extLst xmlns:a="http://schemas.openxmlformats.org/drawingml/2006/main">
              <a:ext uri="{FF2B5EF4-FFF2-40B4-BE49-F238E27FC236}">
                <a16:creationId xmlns:a16="http://schemas.microsoft.com/office/drawing/2014/main" id="{67A7A5C9-F762-4631-81AD-024FA6E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638675"/>
            <a:ext cx="2590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通知满足后，用户流继续执行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7748B1C-2E45-4906-8747-52DE9A21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600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21CEE84-FBDA-442E-BC13-78121C1B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10525602" y="2601278"/>
            <a:ext cx="0" cy="3895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C2CF619-6EC1-4950-B73E-E01B9BE4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44D309C-64E1-482E-961F-FF13DC94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80" idx="1"/>
            <a:endCxn xmlns:a="http://schemas.openxmlformats.org/drawingml/2006/main" id="81" idx="3"/>
          </p:cNvCxnSpPr>
          <p:nvPr/>
        </p:nvCxnSpPr>
        <p:spPr>
          <a:xfrm xmlns:a="http://schemas.openxmlformats.org/drawingml/2006/main" flipH="1">
            <a:off x="1667828" y="2991327"/>
            <a:ext cx="88572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09CEC3F-8DF5-4551-B1EA-26087F51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1A802ED-7EA0-4BCF-8295-1820CBA8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52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83" idx="2"/>
            <a:endCxn xmlns:a="http://schemas.openxmlformats.org/drawingml/2006/main" id="84" idx="0"/>
          </p:cNvCxnSpPr>
          <p:nvPr/>
        </p:nvCxnSpPr>
        <p:spPr>
          <a:xfrm xmlns:a="http://schemas.openxmlformats.org/drawingml/2006/main">
            <a:off x="1667352" y="2991803"/>
            <a:ext cx="0" cy="5610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86" name="资源描述：Thread / Channel / 地址等，不是用户输入张量">
            <a:extLst xmlns:a="http://schemas.openxmlformats.org/drawingml/2006/main">
              <a:ext uri="{FF2B5EF4-FFF2-40B4-BE49-F238E27FC236}">
                <a16:creationId xmlns:a16="http://schemas.microsoft.com/office/drawing/2014/main" id="{E54DBE4E-3E6D-43F7-A6D0-0BCFFB6D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33675"/>
            <a:ext cx="6381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资源描述：Thread / Channel / 地址等，不是用户输入张量</a:t>
            </a:r>
          </a:p>
        </p:txBody>
      </p:sp>
      <p:sp>
        <p:nvSpPr>
          <p:cNvPr id="87" name="AICPU：生成通信任务，按依赖执行数据交换">
            <a:extLst xmlns:a="http://schemas.openxmlformats.org/drawingml/2006/main">
              <a:ext uri="{FF2B5EF4-FFF2-40B4-BE49-F238E27FC236}">
                <a16:creationId xmlns:a16="http://schemas.microsoft.com/office/drawing/2014/main" id="{B46711DA-B0F7-4D89-A546-5D95C001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09925"/>
            <a:ext cx="1162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AICPU：生成通信任务，按依赖执行数据交换</a:t>
            </a:r>
          </a:p>
        </p:txBody>
      </p:sp>
      <p:sp>
        <p:nvSpPr>
          <p:cNvPr id="88" name="用户数据路径（以 Rank 0 发给 Rank 1 为例）">
            <a:extLst xmlns:a="http://schemas.openxmlformats.org/drawingml/2006/main">
              <a:ext uri="{FF2B5EF4-FFF2-40B4-BE49-F238E27FC236}">
                <a16:creationId xmlns:a16="http://schemas.microsoft.com/office/drawing/2014/main" id="{F082588A-220C-49AF-914C-656F7E76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15302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用户数据路径（以 Rank 0 发给 Rank 1 为例）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6E329AE-5276-4109-916D-C1CB43E3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534025"/>
            <a:ext cx="2724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90" name="Rank 0 · sendBuf">
            <a:extLst xmlns:a="http://schemas.openxmlformats.org/drawingml/2006/main">
              <a:ext uri="{FF2B5EF4-FFF2-40B4-BE49-F238E27FC236}">
                <a16:creationId xmlns:a16="http://schemas.microsoft.com/office/drawing/2014/main" id="{31BF2AEF-DCB1-46C9-A95E-49AAC698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591175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0 · sendBuf</a:t>
            </a:r>
          </a:p>
        </p:txBody>
      </p:sp>
      <p:sp>
        <p:nvSpPr>
          <p:cNvPr id="91" name="给 Rank 1 的分片 [2,3]">
            <a:extLst xmlns:a="http://schemas.openxmlformats.org/drawingml/2006/main">
              <a:ext uri="{FF2B5EF4-FFF2-40B4-BE49-F238E27FC236}">
                <a16:creationId xmlns:a16="http://schemas.microsoft.com/office/drawing/2014/main" id="{B0978609-CDA4-4855-90F5-1362E1AF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88645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给 Rank 1 的分片 [2,3]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04C201E-1570-496E-80EC-6CEB3BDF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534025"/>
            <a:ext cx="2724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93" name="Rank 1 · CCL Buffer">
            <a:extLst xmlns:a="http://schemas.openxmlformats.org/drawingml/2006/main">
              <a:ext uri="{FF2B5EF4-FFF2-40B4-BE49-F238E27FC236}">
                <a16:creationId xmlns:a16="http://schemas.microsoft.com/office/drawing/2014/main" id="{AC2B4583-82E7-4D49-BD4F-50994753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91175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 · CCL Buffer</a:t>
            </a:r>
          </a:p>
        </p:txBody>
      </p:sp>
      <p:sp>
        <p:nvSpPr>
          <p:cNvPr id="94" name="接收远端写入的 8 字节">
            <a:extLst xmlns:a="http://schemas.openxmlformats.org/drawingml/2006/main">
              <a:ext uri="{FF2B5EF4-FFF2-40B4-BE49-F238E27FC236}">
                <a16:creationId xmlns:a16="http://schemas.microsoft.com/office/drawing/2014/main" id="{A1548A5C-9012-4099-A059-259BFBFB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88645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接收远端写入的 8 字节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C9177A6-5D28-4776-8B21-69B2CC8B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534025"/>
            <a:ext cx="2724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96" name="Rank 1 · recvBuf">
            <a:extLst xmlns:a="http://schemas.openxmlformats.org/drawingml/2006/main">
              <a:ext uri="{FF2B5EF4-FFF2-40B4-BE49-F238E27FC236}">
                <a16:creationId xmlns:a16="http://schemas.microsoft.com/office/drawing/2014/main" id="{BEAA142E-99C2-4864-97B0-9191E448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591175"/>
            <a:ext cx="255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 · recvBuf</a:t>
            </a:r>
          </a:p>
        </p:txBody>
      </p:sp>
      <p:sp>
        <p:nvSpPr>
          <p:cNvPr id="97" name="按来源 Rank 0 放置 [2,3]">
            <a:extLst xmlns:a="http://schemas.openxmlformats.org/drawingml/2006/main">
              <a:ext uri="{FF2B5EF4-FFF2-40B4-BE49-F238E27FC236}">
                <a16:creationId xmlns:a16="http://schemas.microsoft.com/office/drawing/2014/main" id="{4ED7B891-C967-462D-97A1-637F7C30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88645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按来源 Rank 0 放置 [2,3]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C22B1F1-81D4-4138-9B67-BB51B79B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90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6637ED6-6A9D-4B66-8274-D1293814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90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" name=""/>
          <p:cNvCxnSpPr>
            <a:stCxn xmlns:a="http://schemas.openxmlformats.org/drawingml/2006/main" id="98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3010853" y="5905977"/>
            <a:ext cx="1723072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1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35A2D56E-C469-4FA1-B4BF-4AA89BA7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619750"/>
            <a:ext cx="1524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02" name="跨 Rank 搬运 · 第 7–8 页">
            <a:extLst xmlns:a="http://schemas.openxmlformats.org/drawingml/2006/main">
              <a:ext uri="{FF2B5EF4-FFF2-40B4-BE49-F238E27FC236}">
                <a16:creationId xmlns:a16="http://schemas.microsoft.com/office/drawing/2014/main" id="{20B46BA8-0F18-41F9-AA52-CFD87E37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029325"/>
            <a:ext cx="1581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跨 Rank 搬运 · 第 7–8 页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83CC2D8-B407-401B-9BE6-6DC1835B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90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4B75B43-9911-4D98-9665-51B2425E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90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7459028" y="5905977"/>
            <a:ext cx="1723072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06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D2B5652-EF3C-4F4A-9EC4-0B9DD78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619750"/>
            <a:ext cx="16287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7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07" name="接收后本地拷贝 · 第 8 页">
            <a:extLst xmlns:a="http://schemas.openxmlformats.org/drawingml/2006/main">
              <a:ext uri="{FF2B5EF4-FFF2-40B4-BE49-F238E27FC236}">
                <a16:creationId xmlns:a16="http://schemas.microsoft.com/office/drawing/2014/main" id="{69F7943B-4876-4841-9D99-6DD13072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029325"/>
            <a:ext cx="16287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接收后本地拷贝 · 第 8 页</a:t>
            </a:r>
          </a:p>
        </p:txBody>
      </p:sp>
      <p:sp>
        <p:nvSpPr>
          <p:cNvPr id="108" name="箭头表示阶段推进及数据方向。各块内部的跨层调用、通知等待和条件在对应页展开。">
            <a:extLst xmlns:a="http://schemas.openxmlformats.org/drawingml/2006/main">
              <a:ext uri="{FF2B5EF4-FFF2-40B4-BE49-F238E27FC236}">
                <a16:creationId xmlns:a16="http://schemas.microsoft.com/office/drawing/2014/main" id="{81F448BF-6597-4DBD-803E-57ED6D14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343650"/>
            <a:ext cx="1162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9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9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箭头表示阶段推进及数据方向。各块内部的跨层调用、通知等待和条件在对应页展开。</a:t>
            </a:r>
          </a:p>
        </p:txBody>
      </p:sp>
    </p:spTree>
    <p:extLst>
      <p:ext uri="{BB962C8B-B14F-4D97-AF65-F5344CB8AC3E}">
        <p14:creationId xmlns:p14="http://schemas.microsoft.com/office/powerpoint/2010/main" val="1926387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① 请求与算法选择">
            <a:extLst xmlns:a="http://schemas.openxmlformats.org/drawingml/2006/main">
              <a:ext uri="{FF2B5EF4-FFF2-40B4-BE49-F238E27FC236}">
                <a16:creationId xmlns:a16="http://schemas.microsoft.com/office/drawing/2014/main" id="{CB7A64BB-D9C0-47F9-95FD-85B41875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请求与算法选择</a:t>
            </a:r>
          </a:p>
        </p:txBody>
      </p:sp>
      <p:sp>
        <p:nvSpPr>
          <p:cNvPr id="2" name="展开总览第①块。HCCL 整理请求，HCOMM 控制面提供通信域配置与拓扑。">
            <a:extLst xmlns:a="http://schemas.openxmlformats.org/drawingml/2006/main">
              <a:ext uri="{FF2B5EF4-FFF2-40B4-BE49-F238E27FC236}">
                <a16:creationId xmlns:a16="http://schemas.microsoft.com/office/drawing/2014/main" id="{2F106F89-6D4B-40CF-B986-B69FDE6D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展开总览第①块。HCCL 整理请求，HCOMM 控制面提供通信域配置与拓扑。</a:t>
            </a:r>
          </a:p>
        </p:txBody>
      </p:sp>
      <p:sp>
        <p:nvSpPr>
          <p:cNvPr id="3" name="2 / 9">
            <a:extLst xmlns:a="http://schemas.openxmlformats.org/drawingml/2006/main">
              <a:ext uri="{FF2B5EF4-FFF2-40B4-BE49-F238E27FC236}">
                <a16:creationId xmlns:a16="http://schemas.microsoft.com/office/drawing/2014/main" id="{4F058D70-72C1-424D-93AE-3A0EDC69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2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21557-CD02-48B2-89E5-D895E67E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F334C-7FD0-4A34-8706-9BEE5D59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① 请求与选算法 · 总览第1页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BCA7D2C8-0CE1-4D6B-ACCA-0CAD0BEF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① 请求与选算法 · 总览第1页　　源码：hccl 170ddeec / hcomm 87ce550f，静态分析，未上板验证。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AE5C1-089B-4BBE-977A-AF56746E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5448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HCCL Host：参数处理与选择">
            <a:extLst xmlns:a="http://schemas.openxmlformats.org/drawingml/2006/main">
              <a:ext uri="{FF2B5EF4-FFF2-40B4-BE49-F238E27FC236}">
                <a16:creationId xmlns:a16="http://schemas.microsoft.com/office/drawing/2014/main" id="{E6A117F2-9A54-4649-A599-2625BBF2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19175"/>
            <a:ext cx="5295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Host：参数处理与选择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43E4E-1C1C-486C-B4FB-FD92D88E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90600"/>
            <a:ext cx="5676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HCOMM 控制面：查询配置与拓扑">
            <a:extLst xmlns:a="http://schemas.openxmlformats.org/drawingml/2006/main">
              <a:ext uri="{FF2B5EF4-FFF2-40B4-BE49-F238E27FC236}">
                <a16:creationId xmlns:a16="http://schemas.microsoft.com/office/drawing/2014/main" id="{93D56F76-C183-4B7E-86AA-1355430C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019175"/>
            <a:ext cx="552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控制面：查询配置与拓扑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52CAE-C1B5-4DB3-B9EB-51B3E4E8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00175"/>
            <a:ext cx="54483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3" name="1  上层进入算子入口">
            <a:extLst xmlns:a="http://schemas.openxmlformats.org/drawingml/2006/main">
              <a:ext uri="{FF2B5EF4-FFF2-40B4-BE49-F238E27FC236}">
                <a16:creationId xmlns:a16="http://schemas.microsoft.com/office/drawing/2014/main" id="{58BE0520-104C-4858-90B5-93FC949A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47800"/>
            <a:ext cx="529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  上层进入算子入口</a:t>
            </a:r>
          </a:p>
        </p:txBody>
      </p:sp>
      <p:sp>
        <p:nvSpPr>
          <p:cNvPr id="14" name="API含义">
            <a:extLst xmlns:a="http://schemas.openxmlformats.org/drawingml/2006/main">
              <a:ext uri="{FF2B5EF4-FFF2-40B4-BE49-F238E27FC236}">
                <a16:creationId xmlns:a16="http://schemas.microsoft.com/office/drawing/2014/main" id="{6E1E0BF4-F1BF-456E-A054-E09B6DCD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接收等长全互换请求</a:t>
            </a:r>
          </a:p>
        </p:txBody>
      </p:sp>
      <p:sp>
        <p:nvSpPr>
          <p:cNvPr id="15" name="API含义">
            <a:extLst xmlns:a="http://schemas.openxmlformats.org/drawingml/2006/main">
              <a:ext uri="{FF2B5EF4-FFF2-40B4-BE49-F238E27FC236}">
                <a16:creationId xmlns:a16="http://schemas.microsoft.com/office/drawing/2014/main" id="{CCFC0BDD-DF83-4D29-9290-AE98E04E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2405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CheckAlltoAllInputPara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校验指针、数量、类型和通信域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5EEF7-E207-42ED-9676-2D1F45A5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00175"/>
            <a:ext cx="56769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7" name="2  返回通信域基本信息">
            <a:extLst xmlns:a="http://schemas.openxmlformats.org/drawingml/2006/main">
              <a:ext uri="{FF2B5EF4-FFF2-40B4-BE49-F238E27FC236}">
                <a16:creationId xmlns:a16="http://schemas.microsoft.com/office/drawing/2014/main" id="{DF737B7B-B222-45A1-8843-5DA90532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478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  返回通信域基本信息</a:t>
            </a:r>
          </a:p>
        </p:txBody>
      </p:sp>
      <p:sp>
        <p:nvSpPr>
          <p:cNvPr id="18" name="API含义">
            <a:extLst xmlns:a="http://schemas.openxmlformats.org/drawingml/2006/main">
              <a:ext uri="{FF2B5EF4-FFF2-40B4-BE49-F238E27FC236}">
                <a16:creationId xmlns:a16="http://schemas.microsoft.com/office/drawing/2014/main" id="{82739092-A0DA-4C77-8AD8-9288D86B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HcclGetRankSize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成员数 = 4</a:t>
            </a:r>
          </a:p>
        </p:txBody>
      </p:sp>
      <p:sp>
        <p:nvSpPr>
          <p:cNvPr id="19" name="API含义">
            <a:extLst xmlns:a="http://schemas.openxmlformats.org/drawingml/2006/main">
              <a:ext uri="{FF2B5EF4-FFF2-40B4-BE49-F238E27FC236}">
                <a16:creationId xmlns:a16="http://schemas.microsoft.com/office/drawing/2014/main" id="{7FBD80DF-BB44-4945-B767-76859381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HcclGetRankId / HcclGetCommName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本端编号 / 域名称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7A6F8F-4B48-460F-B9F3-A0BB4F33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C324CE-BA90-4496-9994-A5C584C6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735003" y="1686402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BB5335-1989-4380-BFCC-24AF0242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EE42B-3DF6-4330-833B-C928EDCC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" name=""/>
          <p:cNvCxnSpPr>
            <a:stCxn xmlns:a="http://schemas.openxmlformats.org/drawingml/2006/main" id="23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5992178" y="2095977"/>
            <a:ext cx="2371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92B2DE-34EE-41EC-9739-97D2E5F5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978CE2-AB30-4C2F-BEC4-D7619E2E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5991702" y="2096453"/>
            <a:ext cx="0" cy="4657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6F4179-9FDE-49C0-8B8F-9AE198D7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70022C-D7F3-4182-A5E6-4DD34CCC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" name=""/>
          <p:cNvCxnSpPr>
            <a:stCxn xmlns:a="http://schemas.openxmlformats.org/drawingml/2006/main" id="29" idx="1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5735003" y="2562702"/>
            <a:ext cx="25622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E6DB24-FED0-4BBD-B8B5-AAA1FE87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90775"/>
            <a:ext cx="54483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3" name="3  形成共用执行请求">
            <a:extLst xmlns:a="http://schemas.openxmlformats.org/drawingml/2006/main">
              <a:ext uri="{FF2B5EF4-FFF2-40B4-BE49-F238E27FC236}">
                <a16:creationId xmlns:a16="http://schemas.microsoft.com/office/drawing/2014/main" id="{B82FCD59-2906-4906-99BA-9A914D84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38400"/>
            <a:ext cx="529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  形成共用执行请求</a:t>
            </a:r>
          </a:p>
        </p:txBody>
      </p:sp>
      <p:sp>
        <p:nvSpPr>
          <p:cNvPr id="34" name="API含义">
            <a:extLst xmlns:a="http://schemas.openxmlformats.org/drawingml/2006/main">
              <a:ext uri="{FF2B5EF4-FFF2-40B4-BE49-F238E27FC236}">
                <a16:creationId xmlns:a16="http://schemas.microsoft.com/office/drawing/2014/main" id="{FC56DCAA-36D4-47DA-9B65-08A100BD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0510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ConvertAlltoAllParam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生成 counts 和位移</a:t>
            </a:r>
          </a:p>
        </p:txBody>
      </p:sp>
      <p:sp>
        <p:nvSpPr>
          <p:cNvPr id="35" name="API含义">
            <a:extLst xmlns:a="http://schemas.openxmlformats.org/drawingml/2006/main">
              <a:ext uri="{FF2B5EF4-FFF2-40B4-BE49-F238E27FC236}">
                <a16:creationId xmlns:a16="http://schemas.microsoft.com/office/drawing/2014/main" id="{81D52370-45E4-426D-8BCA-904D4E3C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91465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进入非原地共用实现</a:t>
            </a:r>
          </a:p>
        </p:txBody>
      </p:sp>
      <p:sp>
        <p:nvSpPr>
          <p:cNvPr id="36" name="API含义">
            <a:extLst xmlns:a="http://schemas.openxmlformats.org/drawingml/2006/main">
              <a:ext uri="{FF2B5EF4-FFF2-40B4-BE49-F238E27FC236}">
                <a16:creationId xmlns:a16="http://schemas.microsoft.com/office/drawing/2014/main" id="{95E088EB-CE08-467D-A0B1-6AA9ECFA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12420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封装输入、输出和 stream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84521A-025E-481B-90C8-2DF93AC0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90775"/>
            <a:ext cx="56769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8" name="4  查询展开配置与可用拓扑">
            <a:extLst xmlns:a="http://schemas.openxmlformats.org/drawingml/2006/main">
              <a:ext uri="{FF2B5EF4-FFF2-40B4-BE49-F238E27FC236}">
                <a16:creationId xmlns:a16="http://schemas.microsoft.com/office/drawing/2014/main" id="{7122E2F1-E739-421A-9614-6280894E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384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4  查询展开配置与可用拓扑</a:t>
            </a:r>
          </a:p>
        </p:txBody>
      </p:sp>
      <p:sp>
        <p:nvSpPr>
          <p:cNvPr id="39" name="API含义">
            <a:extLst xmlns:a="http://schemas.openxmlformats.org/drawingml/2006/main">
              <a:ext uri="{FF2B5EF4-FFF2-40B4-BE49-F238E27FC236}">
                <a16:creationId xmlns:a16="http://schemas.microsoft.com/office/drawing/2014/main" id="{22D18645-4B74-4C0E-9542-0B15F31B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05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HcclConfigGetInfo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返回 AICPU_TS 配置</a:t>
            </a:r>
          </a:p>
        </p:txBody>
      </p:sp>
      <p:sp>
        <p:nvSpPr>
          <p:cNvPr id="40" name="API含义">
            <a:extLst xmlns:a="http://schemas.openxmlformats.org/drawingml/2006/main">
              <a:ext uri="{FF2B5EF4-FFF2-40B4-BE49-F238E27FC236}">
                <a16:creationId xmlns:a16="http://schemas.microsoft.com/office/drawing/2014/main" id="{2F78CA38-E453-4897-A7AB-7FB66241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HcclCommGetStatus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能力支持时检查域状态</a:t>
            </a:r>
          </a:p>
        </p:txBody>
      </p:sp>
      <p:sp>
        <p:nvSpPr>
          <p:cNvPr id="41" name="API含义">
            <a:extLst xmlns:a="http://schemas.openxmlformats.org/drawingml/2006/main">
              <a:ext uri="{FF2B5EF4-FFF2-40B4-BE49-F238E27FC236}">
                <a16:creationId xmlns:a16="http://schemas.microsoft.com/office/drawing/2014/main" id="{1E7975DE-B414-42EA-82E5-2037EC93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42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命中则恢复已有拓扑上下文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392FA4-A9F7-42F1-B801-FD581C8A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86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0926B8-2A65-4FA3-9188-5AFEC6C3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6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5735003" y="3086577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B43D24-DE56-4C4E-9D26-5F7FA783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52850"/>
            <a:ext cx="54483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6" name="5  选择算法并开始执行准备">
            <a:extLst xmlns:a="http://schemas.openxmlformats.org/drawingml/2006/main">
              <a:ext uri="{FF2B5EF4-FFF2-40B4-BE49-F238E27FC236}">
                <a16:creationId xmlns:a16="http://schemas.microsoft.com/office/drawing/2014/main" id="{B925D5F2-2587-4B96-9B04-0AEAD724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00475"/>
            <a:ext cx="529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5  选择算法并开始执行准备</a:t>
            </a:r>
          </a:p>
        </p:txBody>
      </p:sp>
      <p:sp>
        <p:nvSpPr>
          <p:cNvPr id="47" name="API含义">
            <a:extLst xmlns:a="http://schemas.openxmlformats.org/drawingml/2006/main">
              <a:ext uri="{FF2B5EF4-FFF2-40B4-BE49-F238E27FC236}">
                <a16:creationId xmlns:a16="http://schemas.microsoft.com/office/drawing/2014/main" id="{3BF7A95D-D0BB-4F23-AAFB-C0E780F7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67175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HcclGetOpExpansionMode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解释展开配置</a:t>
            </a:r>
          </a:p>
        </p:txBody>
      </p:sp>
      <p:sp>
        <p:nvSpPr>
          <p:cNvPr id="48" name="API含义">
            <a:extLst xmlns:a="http://schemas.openxmlformats.org/drawingml/2006/main">
              <a:ext uri="{FF2B5EF4-FFF2-40B4-BE49-F238E27FC236}">
                <a16:creationId xmlns:a16="http://schemas.microsoft.com/office/drawing/2014/main" id="{2E275D2C-8CED-448D-9F64-07F36D00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76725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AlltoAllVExecDispatch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进入选择与分发</a:t>
            </a:r>
          </a:p>
        </p:txBody>
      </p:sp>
      <p:sp>
        <p:nvSpPr>
          <p:cNvPr id="49" name="API含义">
            <a:extLst xmlns:a="http://schemas.openxmlformats.org/drawingml/2006/main">
              <a:ext uri="{FF2B5EF4-FFF2-40B4-BE49-F238E27FC236}">
                <a16:creationId xmlns:a16="http://schemas.microsoft.com/office/drawing/2014/main" id="{E01DC0CA-EEF9-42E6-9156-9286A41B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86275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Selector / HcclCalcTopoInfo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组织选择 / 形成拓扑说明</a:t>
            </a:r>
          </a:p>
        </p:txBody>
      </p:sp>
      <p:sp>
        <p:nvSpPr>
          <p:cNvPr id="50" name="API含义">
            <a:extLst xmlns:a="http://schemas.openxmlformats.org/drawingml/2006/main">
              <a:ext uri="{FF2B5EF4-FFF2-40B4-BE49-F238E27FC236}">
                <a16:creationId xmlns:a16="http://schemas.microsoft.com/office/drawing/2014/main" id="{587B7A9B-D68D-4B05-B75B-7F83BAB2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95825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SelectAicpuAlgo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选定普通 Mesh 算法</a:t>
            </a:r>
          </a:p>
        </p:txBody>
      </p:sp>
      <p:sp>
        <p:nvSpPr>
          <p:cNvPr id="51" name="API含义">
            <a:extLst xmlns:a="http://schemas.openxmlformats.org/drawingml/2006/main">
              <a:ext uri="{FF2B5EF4-FFF2-40B4-BE49-F238E27FC236}">
                <a16:creationId xmlns:a16="http://schemas.microsoft.com/office/drawing/2014/main" id="{D1BB10DC-55E1-41B3-B6E8-E9973652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905375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HcclExecOp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进入资源准备，接第 3 页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9CBBAC-3556-4940-8591-BBAFAAA5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56769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53" name="拓扑缓存未命中时按需查询">
            <a:extLst xmlns:a="http://schemas.openxmlformats.org/drawingml/2006/main">
              <a:ext uri="{FF2B5EF4-FFF2-40B4-BE49-F238E27FC236}">
                <a16:creationId xmlns:a16="http://schemas.microsoft.com/office/drawing/2014/main" id="{99AA393A-30BF-4345-9B5F-857DD549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00475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拓扑缓存未命中时按需查询</a:t>
            </a:r>
          </a:p>
        </p:txBody>
      </p:sp>
      <p:sp>
        <p:nvSpPr>
          <p:cNvPr id="54" name="API含义">
            <a:extLst xmlns:a="http://schemas.openxmlformats.org/drawingml/2006/main">
              <a:ext uri="{FF2B5EF4-FFF2-40B4-BE49-F238E27FC236}">
                <a16:creationId xmlns:a16="http://schemas.microsoft.com/office/drawing/2014/main" id="{42D40ED0-6F62-476F-85EA-3E4319E8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671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HcclRankGraphGetLayers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有哪些网络层</a:t>
            </a:r>
          </a:p>
        </p:txBody>
      </p:sp>
      <p:sp>
        <p:nvSpPr>
          <p:cNvPr id="55" name="API含义">
            <a:extLst xmlns:a="http://schemas.openxmlformats.org/drawingml/2006/main">
              <a:ext uri="{FF2B5EF4-FFF2-40B4-BE49-F238E27FC236}">
                <a16:creationId xmlns:a16="http://schemas.microsoft.com/office/drawing/2014/main" id="{56B58119-F002-4C3F-A7F9-BE4664EB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767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层内有哪些 Rank</a:t>
            </a:r>
          </a:p>
        </p:txBody>
      </p:sp>
      <p:sp>
        <p:nvSpPr>
          <p:cNvPr id="56" name="API含义">
            <a:extLst xmlns:a="http://schemas.openxmlformats.org/drawingml/2006/main">
              <a:ext uri="{FF2B5EF4-FFF2-40B4-BE49-F238E27FC236}">
                <a16:creationId xmlns:a16="http://schemas.microsoft.com/office/drawing/2014/main" id="{2ADE740D-54F2-456C-A081-27FA2648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862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HcclRankGraphGetTopoType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拓扑实例的类型</a:t>
            </a:r>
          </a:p>
        </p:txBody>
      </p:sp>
      <p:sp>
        <p:nvSpPr>
          <p:cNvPr id="57" name="API含义">
            <a:extLst xmlns:a="http://schemas.openxmlformats.org/drawingml/2006/main">
              <a:ext uri="{FF2B5EF4-FFF2-40B4-BE49-F238E27FC236}">
                <a16:creationId xmlns:a16="http://schemas.microsoft.com/office/drawing/2014/main" id="{025339F9-0553-4CB6-927E-2CF5372E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958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HcclRankGraphGetEndpointDesc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可用端点标识</a:t>
            </a:r>
          </a:p>
        </p:txBody>
      </p:sp>
      <p:sp>
        <p:nvSpPr>
          <p:cNvPr id="58" name="API含义">
            <a:extLst xmlns:a="http://schemas.openxmlformats.org/drawingml/2006/main">
              <a:ext uri="{FF2B5EF4-FFF2-40B4-BE49-F238E27FC236}">
                <a16:creationId xmlns:a16="http://schemas.microsoft.com/office/drawing/2014/main" id="{3B8846D1-3AA4-4CF9-9F8D-7BCFAD7F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05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HcclRankGraphGetLinks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Rank 间有哪些链路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85F26C-5EEC-4488-A4B7-8D1F9FEC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05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8961E5-8162-45AD-8360-13BCD435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5735003" y="4305777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9153AF-CDCA-4139-9B19-6970AD21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02C4E3F-41E4-43C8-A075-E6717A6D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" name=""/>
          <p:cNvCxnSpPr>
            <a:stCxn xmlns:a="http://schemas.openxmlformats.org/drawingml/2006/main" id="62" idx="1"/>
            <a:endCxn xmlns:a="http://schemas.openxmlformats.org/drawingml/2006/main" id="63" idx="3"/>
          </p:cNvCxnSpPr>
          <p:nvPr/>
        </p:nvCxnSpPr>
        <p:spPr>
          <a:xfrm xmlns:a="http://schemas.openxmlformats.org/drawingml/2006/main" flipH="1">
            <a:off x="5735003" y="5134452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65" name="本例：每个 Rank 给 4 个目标各发 2 个 FP32，counts = [2,2,2,2]，位移 = [0,2,4,6]（元素）。">
            <a:extLst xmlns:a="http://schemas.openxmlformats.org/drawingml/2006/main">
              <a:ext uri="{FF2B5EF4-FFF2-40B4-BE49-F238E27FC236}">
                <a16:creationId xmlns:a16="http://schemas.microsoft.com/office/drawing/2014/main" id="{C2B8B2F4-B508-420E-A2DF-D1A05D02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524500"/>
            <a:ext cx="11610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本例：每个 Rank 给 4 个目标各发 2 个 FP32，counts = [2,2,2,2]，位移 = [0,2,4,6]（元素）。</a:t>
            </a:r>
          </a:p>
        </p:txBody>
      </p:sp>
      <p:sp>
        <p:nvSpPr>
          <p:cNvPr id="66" name="拓扑框列的是按需查询项，不表示所有接口必然按列出顺序各调用一次。其余查询解释见本页备注。">
            <a:extLst xmlns:a="http://schemas.openxmlformats.org/drawingml/2006/main">
              <a:ext uri="{FF2B5EF4-FFF2-40B4-BE49-F238E27FC236}">
                <a16:creationId xmlns:a16="http://schemas.microsoft.com/office/drawing/2014/main" id="{173EB7B5-7500-4300-99DA-317666ED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810250"/>
            <a:ext cx="11610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拓扑框列的是按需查询项，不表示所有接口必然按列出顺序各调用一次。其余查询解释见本页备注。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08A054-B5D3-49A3-A0E3-5B030396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1162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8" name="输出给下一阶段：规范化的算子参数、算法名称、拓扑与通信分组依据。">
            <a:extLst xmlns:a="http://schemas.openxmlformats.org/drawingml/2006/main">
              <a:ext uri="{FF2B5EF4-FFF2-40B4-BE49-F238E27FC236}">
                <a16:creationId xmlns:a16="http://schemas.microsoft.com/office/drawing/2014/main" id="{41A06472-3329-41DE-BD50-DE9965BB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输出给下一阶段：规范化的算子参数、算法名称、拓扑与通信分组依据。</a:t>
            </a:r>
          </a:p>
        </p:txBody>
      </p:sp>
    </p:spTree>
    <p:extLst>
      <p:ext uri="{BB962C8B-B14F-4D97-AF65-F5344CB8AC3E}">
        <p14:creationId xmlns:p14="http://schemas.microsoft.com/office/powerpoint/2010/main" val="1830778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② 资源准备：用户流、设备队列与通信缓冲区">
            <a:extLst xmlns:a="http://schemas.openxmlformats.org/drawingml/2006/main">
              <a:ext uri="{FF2B5EF4-FFF2-40B4-BE49-F238E27FC236}">
                <a16:creationId xmlns:a16="http://schemas.microsoft.com/office/drawing/2014/main" id="{AAA36581-2793-4583-B4E1-1CF8D1CB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 资源准备：用户流、设备队列与通信缓冲区</a:t>
            </a:r>
          </a:p>
        </p:txBody>
      </p:sp>
      <p:sp>
        <p:nvSpPr>
          <p:cNvPr id="2" name="展开总览第②块。Thread 表示通信任务队列句柄，资源缓存命中可以复用。">
            <a:extLst xmlns:a="http://schemas.openxmlformats.org/drawingml/2006/main">
              <a:ext uri="{FF2B5EF4-FFF2-40B4-BE49-F238E27FC236}">
                <a16:creationId xmlns:a16="http://schemas.microsoft.com/office/drawing/2014/main" id="{B6562267-7AC0-487D-8E92-71EACA48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展开总览第②块。Thread 表示通信任务队列句柄，资源缓存命中可以复用。</a:t>
            </a:r>
          </a:p>
        </p:txBody>
      </p:sp>
      <p:sp>
        <p:nvSpPr>
          <p:cNvPr id="3" name="3 / 9">
            <a:extLst xmlns:a="http://schemas.openxmlformats.org/drawingml/2006/main">
              <a:ext uri="{FF2B5EF4-FFF2-40B4-BE49-F238E27FC236}">
                <a16:creationId xmlns:a16="http://schemas.microsoft.com/office/drawing/2014/main" id="{4C7696E6-8BD8-4BCC-B26C-27622F3A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3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56110-2EE6-48D9-AE90-1F35AC5E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27D0F-6F16-4BD2-A01F-975C93D2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② 取得资源 · 总览第1页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E889C9D5-DE52-45A2-AAC3-07B549BE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② 取得资源 · 总览第1页　　源码：hccl 170ddeec / hcomm 87ce550f，静态分析，未上板验证。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B0FEE-622B-44E7-A6FA-E54D7209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5448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HCCL Host：先规划，再按清单申请">
            <a:extLst xmlns:a="http://schemas.openxmlformats.org/drawingml/2006/main">
              <a:ext uri="{FF2B5EF4-FFF2-40B4-BE49-F238E27FC236}">
                <a16:creationId xmlns:a16="http://schemas.microsoft.com/office/drawing/2014/main" id="{49167FC5-EF88-460A-8A92-F8076CA0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19175"/>
            <a:ext cx="5295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Host：先规划，再按清单申请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B7B11-F028-462C-9A10-9B7E0E53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90600"/>
            <a:ext cx="5676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HCOMM 控制面：返回句柄、地址与容量">
            <a:extLst xmlns:a="http://schemas.openxmlformats.org/drawingml/2006/main">
              <a:ext uri="{FF2B5EF4-FFF2-40B4-BE49-F238E27FC236}">
                <a16:creationId xmlns:a16="http://schemas.microsoft.com/office/drawing/2014/main" id="{37F8A420-13ED-44D0-84AB-CAE24340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019175"/>
            <a:ext cx="552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控制面：返回句柄、地址与容量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76B78-76A4-42E7-9A57-36C3F1B0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00175"/>
            <a:ext cx="5448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3" name="1  获取执行器">
            <a:extLst xmlns:a="http://schemas.openxmlformats.org/drawingml/2006/main">
              <a:ext uri="{FF2B5EF4-FFF2-40B4-BE49-F238E27FC236}">
                <a16:creationId xmlns:a16="http://schemas.microsoft.com/office/drawing/2014/main" id="{46CB993E-667E-4727-8C90-CF4DE139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47800"/>
            <a:ext cx="529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  获取执行器</a:t>
            </a:r>
          </a:p>
        </p:txBody>
      </p:sp>
      <p:sp>
        <p:nvSpPr>
          <p:cNvPr id="14" name="API含义">
            <a:extLst xmlns:a="http://schemas.openxmlformats.org/drawingml/2006/main">
              <a:ext uri="{FF2B5EF4-FFF2-40B4-BE49-F238E27FC236}">
                <a16:creationId xmlns:a16="http://schemas.microsoft.com/office/drawing/2014/main" id="{45AB2153-AD64-4760-8519-9BBE3184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按算法名称取得执行器对象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438C6-8C33-48AC-A86E-7CD6EEDA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00175"/>
            <a:ext cx="56769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6" name="2  绑定用户流并导出句柄">
            <a:extLst xmlns:a="http://schemas.openxmlformats.org/drawingml/2006/main">
              <a:ext uri="{FF2B5EF4-FFF2-40B4-BE49-F238E27FC236}">
                <a16:creationId xmlns:a16="http://schemas.microsoft.com/office/drawing/2014/main" id="{C09067A3-6321-41CC-AC80-5C0C352A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47800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  绑定用户流并导出句柄</a:t>
            </a:r>
          </a:p>
        </p:txBody>
      </p:sp>
      <p:sp>
        <p:nvSpPr>
          <p:cNvPr id="17" name="API含义">
            <a:extLst xmlns:a="http://schemas.openxmlformats.org/drawingml/2006/main">
              <a:ext uri="{FF2B5EF4-FFF2-40B4-BE49-F238E27FC236}">
                <a16:creationId xmlns:a16="http://schemas.microsoft.com/office/drawing/2014/main" id="{B6C074E9-095A-4AB2-B163-C316DA43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取得用户流对应的 CPU_TS Thread</a:t>
            </a:r>
          </a:p>
        </p:txBody>
      </p:sp>
      <p:sp>
        <p:nvSpPr>
          <p:cNvPr id="18" name="API含义">
            <a:extLst xmlns:a="http://schemas.openxmlformats.org/drawingml/2006/main">
              <a:ext uri="{FF2B5EF4-FFF2-40B4-BE49-F238E27FC236}">
                <a16:creationId xmlns:a16="http://schemas.microsoft.com/office/drawing/2014/main" id="{ED5A3DD9-AFA3-4E50-9F88-2466883E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导出给 AICPU 侧使用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D50AF-8D3E-4D66-87FB-33934662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4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326D0-92B0-460F-9A0F-2B7D6F7F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4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735003" y="1743552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2" name="用途：设备最终向这个用户 Thread 发送完成通知。">
            <a:extLst xmlns:a="http://schemas.openxmlformats.org/drawingml/2006/main">
              <a:ext uri="{FF2B5EF4-FFF2-40B4-BE49-F238E27FC236}">
                <a16:creationId xmlns:a16="http://schemas.microsoft.com/office/drawing/2014/main" id="{7694BA35-AF48-4BE2-B975-58289F8E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54578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用途：设备最终向这个用户 Thread 发送完成通知。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4A077F-DD78-4B45-9D22-95F7E56F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52700"/>
            <a:ext cx="5448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24" name="3  查询复用并计算资源需求">
            <a:extLst xmlns:a="http://schemas.openxmlformats.org/drawingml/2006/main">
              <a:ext uri="{FF2B5EF4-FFF2-40B4-BE49-F238E27FC236}">
                <a16:creationId xmlns:a16="http://schemas.microsoft.com/office/drawing/2014/main" id="{6B90970E-E049-41EF-82BE-6B136AC0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00325"/>
            <a:ext cx="529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  查询复用并计算资源需求</a:t>
            </a:r>
          </a:p>
        </p:txBody>
      </p:sp>
      <p:sp>
        <p:nvSpPr>
          <p:cNvPr id="25" name="API含义">
            <a:extLst xmlns:a="http://schemas.openxmlformats.org/drawingml/2006/main">
              <a:ext uri="{FF2B5EF4-FFF2-40B4-BE49-F238E27FC236}">
                <a16:creationId xmlns:a16="http://schemas.microsoft.com/office/drawing/2014/main" id="{E3A76890-D50F-47B6-A10A-361940E0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67025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HcclGetAlgRes / GetAlgoMeta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读取算法资源及属性</a:t>
            </a:r>
          </a:p>
        </p:txBody>
      </p:sp>
      <p:sp>
        <p:nvSpPr>
          <p:cNvPr id="26" name="API含义">
            <a:extLst xmlns:a="http://schemas.openxmlformats.org/drawingml/2006/main">
              <a:ext uri="{FF2B5EF4-FFF2-40B4-BE49-F238E27FC236}">
                <a16:creationId xmlns:a16="http://schemas.microsoft.com/office/drawing/2014/main" id="{DE5F8440-EBB3-4AF5-87B1-9115C74D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76575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TryReuseResource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检查算法资源上下文</a:t>
            </a:r>
          </a:p>
        </p:txBody>
      </p:sp>
      <p:sp>
        <p:nvSpPr>
          <p:cNvPr id="27" name="API含义">
            <a:extLst xmlns:a="http://schemas.openxmlformats.org/drawingml/2006/main">
              <a:ext uri="{FF2B5EF4-FFF2-40B4-BE49-F238E27FC236}">
                <a16:creationId xmlns:a16="http://schemas.microsoft.com/office/drawing/2014/main" id="{8D25D7DA-B2D0-4AD7-BBD9-54818237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86125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CalcAlgHierarchyInfoV2 / CalcRes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分组 / 计算资源清单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271969-07FA-4191-9850-16A501CA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29" name="HcclEngineCtxGet：查询算法资源缓存">
            <a:extLst xmlns:a="http://schemas.openxmlformats.org/drawingml/2006/main">
              <a:ext uri="{FF2B5EF4-FFF2-40B4-BE49-F238E27FC236}">
                <a16:creationId xmlns:a16="http://schemas.microsoft.com/office/drawing/2014/main" id="{0DA80E91-41FE-4592-97E6-896E771A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0325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HcclEngineCtxGet：查询算法资源缓存</a:t>
            </a:r>
          </a:p>
        </p:txBody>
      </p:sp>
      <p:sp>
        <p:nvSpPr>
          <p:cNvPr id="30" name="API含义">
            <a:extLst xmlns:a="http://schemas.openxmlformats.org/drawingml/2006/main">
              <a:ext uri="{FF2B5EF4-FFF2-40B4-BE49-F238E27FC236}">
                <a16:creationId xmlns:a16="http://schemas.microsoft.com/office/drawing/2014/main" id="{E9969DC2-2AB2-446D-886E-EB43BC41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670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/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未命中：继续申请。命中：复用，跳过相应创建与建链。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7E9459-8EB3-465B-9124-CBA52119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45BFA3-CA4D-404B-9A9E-84034F1F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" name="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6001703" y="2229327"/>
            <a:ext cx="2276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3FACB6-AB0D-4167-B860-6A9389E2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AAB36C-CC67-46AA-AEE6-E1E32D62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6001227" y="222980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CF4DC8-1396-4E2B-8C7C-736F87F1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4FCE33-FFC4-49DB-BDB7-AE9FAE33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" name=""/>
          <p:cNvCxnSpPr>
            <a:stCxn xmlns:a="http://schemas.openxmlformats.org/drawingml/2006/main" id="37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5735003" y="2667477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AD7827-4DE4-4D6F-AB11-6078606B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269876-13DB-44B6-AFB5-8902F79C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5735003" y="2991327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69597A-4F38-4326-849D-2FFDA4C0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90975"/>
            <a:ext cx="54483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4" name="4  按缓冲区、Thread、Channel 顺序准备">
            <a:extLst xmlns:a="http://schemas.openxmlformats.org/drawingml/2006/main">
              <a:ext uri="{FF2B5EF4-FFF2-40B4-BE49-F238E27FC236}">
                <a16:creationId xmlns:a16="http://schemas.microsoft.com/office/drawing/2014/main" id="{375A34EF-6B11-4505-9E52-B9A24BD3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38600"/>
            <a:ext cx="5295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4  按缓冲区、Thread、Channel 顺序准备</a:t>
            </a:r>
          </a:p>
        </p:txBody>
      </p:sp>
      <p:sp>
        <p:nvSpPr>
          <p:cNvPr id="45" name="API含义">
            <a:extLst xmlns:a="http://schemas.openxmlformats.org/drawingml/2006/main">
              <a:ext uri="{FF2B5EF4-FFF2-40B4-BE49-F238E27FC236}">
                <a16:creationId xmlns:a16="http://schemas.microsoft.com/office/drawing/2014/main" id="{453417B3-0EBD-476F-92C5-8B9639D7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30530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GetAlgResAICPU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进入 AICPU 资源准备</a:t>
            </a:r>
          </a:p>
        </p:txBody>
      </p:sp>
      <p:sp>
        <p:nvSpPr>
          <p:cNvPr id="46" name="API含义">
            <a:extLst xmlns:a="http://schemas.openxmlformats.org/drawingml/2006/main">
              <a:ext uri="{FF2B5EF4-FFF2-40B4-BE49-F238E27FC236}">
                <a16:creationId xmlns:a16="http://schemas.microsoft.com/office/drawing/2014/main" id="{C83D88D1-3B50-4273-8FC2-37696E79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1485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执行资源申请</a:t>
            </a:r>
          </a:p>
        </p:txBody>
      </p:sp>
      <p:sp>
        <p:nvSpPr>
          <p:cNvPr id="47" name="API含义">
            <a:extLst xmlns:a="http://schemas.openxmlformats.org/drawingml/2006/main">
              <a:ext uri="{FF2B5EF4-FFF2-40B4-BE49-F238E27FC236}">
                <a16:creationId xmlns:a16="http://schemas.microsoft.com/office/drawing/2014/main" id="{71BE5674-4344-4260-82D7-85517C14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2440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HcclGetThread / HcclGetAicpuThread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取得设备主从队列</a:t>
            </a:r>
          </a:p>
        </p:txBody>
      </p:sp>
      <p:sp>
        <p:nvSpPr>
          <p:cNvPr id="48" name="API含义">
            <a:extLst xmlns:a="http://schemas.openxmlformats.org/drawingml/2006/main">
              <a:ext uri="{FF2B5EF4-FFF2-40B4-BE49-F238E27FC236}">
                <a16:creationId xmlns:a16="http://schemas.microsoft.com/office/drawing/2014/main" id="{DAA51B2E-CA28-4F8F-8D66-DF966E1D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93395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HcclGetChannel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组织各 Peer 的通道请求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BB87F9-5614-4DC9-8ACC-FAEABAB4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38550"/>
            <a:ext cx="56769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50" name="5  返回本地资源，通道内部接第 4 页">
            <a:extLst xmlns:a="http://schemas.openxmlformats.org/drawingml/2006/main">
              <a:ext uri="{FF2B5EF4-FFF2-40B4-BE49-F238E27FC236}">
                <a16:creationId xmlns:a16="http://schemas.microsoft.com/office/drawing/2014/main" id="{B8B0480C-1F2F-4027-AE36-E7C6C9B7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86175"/>
            <a:ext cx="552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5  返回本地资源，通道内部接第 4 页</a:t>
            </a:r>
          </a:p>
        </p:txBody>
      </p:sp>
      <p:sp>
        <p:nvSpPr>
          <p:cNvPr id="51" name="API含义">
            <a:extLst xmlns:a="http://schemas.openxmlformats.org/drawingml/2006/main">
              <a:ext uri="{FF2B5EF4-FFF2-40B4-BE49-F238E27FC236}">
                <a16:creationId xmlns:a16="http://schemas.microsoft.com/office/drawing/2014/main" id="{38A69871-5E08-4E89-BE08-6DE05F30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528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返回本地 CCL 缓冲区地址和大小</a:t>
            </a:r>
          </a:p>
        </p:txBody>
      </p:sp>
      <p:sp>
        <p:nvSpPr>
          <p:cNvPr id="52" name="API含义">
            <a:extLst xmlns:a="http://schemas.openxmlformats.org/drawingml/2006/main">
              <a:ext uri="{FF2B5EF4-FFF2-40B4-BE49-F238E27FC236}">
                <a16:creationId xmlns:a16="http://schemas.microsoft.com/office/drawing/2014/main" id="{FB26B7EA-88E8-4A6A-82EB-BEEC89A5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624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按通知数取得主从 Thread</a:t>
            </a:r>
          </a:p>
        </p:txBody>
      </p:sp>
      <p:sp>
        <p:nvSpPr>
          <p:cNvPr id="53" name="API含义">
            <a:extLst xmlns:a="http://schemas.openxmlformats.org/drawingml/2006/main">
              <a:ext uri="{FF2B5EF4-FFF2-40B4-BE49-F238E27FC236}">
                <a16:creationId xmlns:a16="http://schemas.microsoft.com/office/drawing/2014/main" id="{05693292-DA2C-49C4-A5CC-E640AAA0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719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配置版不支持时使用的替代接口</a:t>
            </a:r>
          </a:p>
        </p:txBody>
      </p:sp>
      <p:sp>
        <p:nvSpPr>
          <p:cNvPr id="54" name="API含义">
            <a:extLst xmlns:a="http://schemas.openxmlformats.org/drawingml/2006/main">
              <a:ext uri="{FF2B5EF4-FFF2-40B4-BE49-F238E27FC236}">
                <a16:creationId xmlns:a16="http://schemas.microsoft.com/office/drawing/2014/main" id="{310A367C-C3BD-423F-B919-EF3E3BF8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815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取得到各 Peer 的 Channel</a:t>
            </a:r>
          </a:p>
        </p:txBody>
      </p:sp>
      <p:sp>
        <p:nvSpPr>
          <p:cNvPr id="55" name="Thread 两种获取接口是能力分支，不能画成每次连续调用。">
            <a:extLst xmlns:a="http://schemas.openxmlformats.org/drawingml/2006/main">
              <a:ext uri="{FF2B5EF4-FFF2-40B4-BE49-F238E27FC236}">
                <a16:creationId xmlns:a16="http://schemas.microsoft.com/office/drawing/2014/main" id="{35B09312-F139-4634-BDBC-BE8AFAF5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10150"/>
            <a:ext cx="546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Thread 两种获取接口是能力分支，不能画成每次连续调用。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B4063E-E3E6-44B2-B26E-2A85C74D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48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95BB70-A154-41B0-A05C-1FFA319E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48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5735003" y="4448652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9" name="此时拿到的是可用资源。尚未开始本次用户输入的跨 Rank 搬运。">
            <a:extLst xmlns:a="http://schemas.openxmlformats.org/drawingml/2006/main">
              <a:ext uri="{FF2B5EF4-FFF2-40B4-BE49-F238E27FC236}">
                <a16:creationId xmlns:a16="http://schemas.microsoft.com/office/drawing/2014/main" id="{DFE4092D-2E27-4C58-9285-67EFDA59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724525"/>
            <a:ext cx="11610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此时拿到的是可用资源。尚未开始本次用户输入的跨 Rank 搬运。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FA8E81-BC07-464F-9687-377B7869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1162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1" name="输出给建链阶段：设备主从 Thread、本地 CCL 地址、逐 Peer / 协议 / 端点组织的 Channel 请求。">
            <a:extLst xmlns:a="http://schemas.openxmlformats.org/drawingml/2006/main">
              <a:ext uri="{FF2B5EF4-FFF2-40B4-BE49-F238E27FC236}">
                <a16:creationId xmlns:a16="http://schemas.microsoft.com/office/drawing/2014/main" id="{1F9D61F2-7DDD-4028-AF86-6BFB05A2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输出给建链阶段：设备主从 Thread、本地 CCL 地址、逐 Peer / 协议 / 端点组织的 Channel 请求。</a:t>
            </a:r>
          </a:p>
        </p:txBody>
      </p:sp>
    </p:spTree>
    <p:extLst>
      <p:ext uri="{BB962C8B-B14F-4D97-AF65-F5344CB8AC3E}">
        <p14:creationId xmlns:p14="http://schemas.microsoft.com/office/powerpoint/2010/main" val="3500720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③ 建链与资源交付">
            <a:extLst xmlns:a="http://schemas.openxmlformats.org/drawingml/2006/main">
              <a:ext uri="{FF2B5EF4-FFF2-40B4-BE49-F238E27FC236}">
                <a16:creationId xmlns:a16="http://schemas.microsoft.com/office/drawing/2014/main" id="{978C523A-80FE-4C8A-B99F-A91E5EB1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 建链与资源交付</a:t>
            </a:r>
          </a:p>
        </p:txBody>
      </p:sp>
      <p:sp>
        <p:nvSpPr>
          <p:cNvPr id="2" name="展开总览第③块。上半部分在 HCOMM 内完成建链，下半部分由 HCCL 整理描述并交给设备。">
            <a:extLst xmlns:a="http://schemas.openxmlformats.org/drawingml/2006/main">
              <a:ext uri="{FF2B5EF4-FFF2-40B4-BE49-F238E27FC236}">
                <a16:creationId xmlns:a16="http://schemas.microsoft.com/office/drawing/2014/main" id="{4E45B157-6E9A-4DBC-A835-8A523F17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展开总览第③块。上半部分在 HCOMM 内完成建链，下半部分由 HCCL 整理描述并交给设备。</a:t>
            </a:r>
          </a:p>
        </p:txBody>
      </p:sp>
      <p:sp>
        <p:nvSpPr>
          <p:cNvPr id="3" name="4 / 9">
            <a:extLst xmlns:a="http://schemas.openxmlformats.org/drawingml/2006/main">
              <a:ext uri="{FF2B5EF4-FFF2-40B4-BE49-F238E27FC236}">
                <a16:creationId xmlns:a16="http://schemas.microsoft.com/office/drawing/2014/main" id="{0C0413AD-D37E-4CB0-940A-30FF8F74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4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AE9EC-C82F-4191-9E79-0EAE277A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55E6C-4154-4368-854F-3B8F557F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③ 建链与交付 · 总览第1页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463193BC-6803-4E9E-AF47-CF6AEDE4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③ 建链与交付 · 总览第1页　　源码：hccl 170ddeec / hcomm 87ce550f，静态分析，未上板验证。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55E4D-AE17-4F9A-A1A7-F7E1BE24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11620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HCOMM 控制面：HcclChannelAcquire 内部，由 MyRank::CreateChannels 统筹">
            <a:extLst xmlns:a="http://schemas.openxmlformats.org/drawingml/2006/main">
              <a:ext uri="{FF2B5EF4-FFF2-40B4-BE49-F238E27FC236}">
                <a16:creationId xmlns:a16="http://schemas.microsoft.com/office/drawing/2014/main" id="{76FB01EA-7F04-4B2D-807E-25BA3A17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19175"/>
            <a:ext cx="11468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控制面：HcclChannelAcquire 内部，由 MyRank::CreateChannels 统筹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2C876-25B0-4BBF-8D5A-36941414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00175"/>
            <a:ext cx="371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1" name="1  建立控制连接">
            <a:extLst xmlns:a="http://schemas.openxmlformats.org/drawingml/2006/main">
              <a:ext uri="{FF2B5EF4-FFF2-40B4-BE49-F238E27FC236}">
                <a16:creationId xmlns:a16="http://schemas.microsoft.com/office/drawing/2014/main" id="{46B638C8-47EC-4051-8510-15CA4C2F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4780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  建立控制连接</a:t>
            </a:r>
          </a:p>
        </p:txBody>
      </p:sp>
      <p:sp>
        <p:nvSpPr>
          <p:cNvPr id="12" name="API含义">
            <a:extLst xmlns:a="http://schemas.openxmlformats.org/drawingml/2006/main">
              <a:ext uri="{FF2B5EF4-FFF2-40B4-BE49-F238E27FC236}">
                <a16:creationId xmlns:a16="http://schemas.microsoft.com/office/drawing/2014/main" id="{A7F82C26-85A2-4B51-90A5-2AF1E884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BatchCreateSockets</a:t>
            </a:r>
            <a:r>
              <a:rPr sz="93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准备双方控制信息交换</a:t>
            </a:r>
          </a:p>
        </p:txBody>
      </p:sp>
      <p:sp>
        <p:nvSpPr>
          <p:cNvPr id="13" name="API含义">
            <a:extLst xmlns:a="http://schemas.openxmlformats.org/drawingml/2006/main">
              <a:ext uri="{FF2B5EF4-FFF2-40B4-BE49-F238E27FC236}">
                <a16:creationId xmlns:a16="http://schemas.microsoft.com/office/drawing/2014/main" id="{F331FC72-8EF3-4C03-BE0D-BA686952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240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BatchCreateChannels</a:t>
            </a:r>
            <a:r>
              <a:rPr sz="93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开始逐项准备底层资源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D51E6-F061-4D65-8AF8-B0C5E4E2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00175"/>
            <a:ext cx="3714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5" name="2  创建或复用端点与通道">
            <a:extLst xmlns:a="http://schemas.openxmlformats.org/drawingml/2006/main">
              <a:ext uri="{FF2B5EF4-FFF2-40B4-BE49-F238E27FC236}">
                <a16:creationId xmlns:a16="http://schemas.microsoft.com/office/drawing/2014/main" id="{FA8DE0CA-4648-4878-B6EC-8C9B3F98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4780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  创建或复用端点与通道</a:t>
            </a:r>
          </a:p>
        </p:txBody>
      </p:sp>
      <p:sp>
        <p:nvSpPr>
          <p:cNvPr id="16" name="API含义">
            <a:extLst xmlns:a="http://schemas.openxmlformats.org/drawingml/2006/main">
              <a:ext uri="{FF2B5EF4-FFF2-40B4-BE49-F238E27FC236}">
                <a16:creationId xmlns:a16="http://schemas.microsoft.com/office/drawing/2014/main" id="{64030FB4-60C4-495C-B953-E31E5AC3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145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HcommEndpointCreate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缺失时创建端点</a:t>
            </a:r>
          </a:p>
        </p:txBody>
      </p:sp>
      <p:sp>
        <p:nvSpPr>
          <p:cNvPr id="17" name="API含义">
            <a:extLst xmlns:a="http://schemas.openxmlformats.org/drawingml/2006/main">
              <a:ext uri="{FF2B5EF4-FFF2-40B4-BE49-F238E27FC236}">
                <a16:creationId xmlns:a16="http://schemas.microsoft.com/office/drawing/2014/main" id="{4A23268F-0B07-4563-A337-1B0C36CA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240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启动端点监听</a:t>
            </a:r>
          </a:p>
        </p:txBody>
      </p:sp>
      <p:sp>
        <p:nvSpPr>
          <p:cNvPr id="18" name="API含义">
            <a:extLst xmlns:a="http://schemas.openxmlformats.org/drawingml/2006/main">
              <a:ext uri="{FF2B5EF4-FFF2-40B4-BE49-F238E27FC236}">
                <a16:creationId xmlns:a16="http://schemas.microsoft.com/office/drawing/2014/main" id="{762F4AEA-6AD4-484B-8E55-101C895A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336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HcommMemReg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按需注册通信内存</a:t>
            </a:r>
          </a:p>
        </p:txBody>
      </p:sp>
      <p:sp>
        <p:nvSpPr>
          <p:cNvPr id="19" name="API含义">
            <a:extLst xmlns:a="http://schemas.openxmlformats.org/drawingml/2006/main">
              <a:ext uri="{FF2B5EF4-FFF2-40B4-BE49-F238E27FC236}">
                <a16:creationId xmlns:a16="http://schemas.microsoft.com/office/drawing/2014/main" id="{9BC832F1-0FD8-4097-A2DF-E7A45281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431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创建基础通道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C4606-F66D-4271-A798-EB4AF3B1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00175"/>
            <a:ext cx="3714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21" name="3  等待连接，校验并返回">
            <a:extLst xmlns:a="http://schemas.openxmlformats.org/drawingml/2006/main">
              <a:ext uri="{FF2B5EF4-FFF2-40B4-BE49-F238E27FC236}">
                <a16:creationId xmlns:a16="http://schemas.microsoft.com/office/drawing/2014/main" id="{FE71ABD2-C4BF-4219-9F0B-DB4F856D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4780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  等待连接，校验并返回</a:t>
            </a:r>
          </a:p>
        </p:txBody>
      </p:sp>
      <p:sp>
        <p:nvSpPr>
          <p:cNvPr id="22" name="API含义">
            <a:extLst xmlns:a="http://schemas.openxmlformats.org/drawingml/2006/main">
              <a:ext uri="{FF2B5EF4-FFF2-40B4-BE49-F238E27FC236}">
                <a16:creationId xmlns:a16="http://schemas.microsoft.com/office/drawing/2014/main" id="{B9F074A7-8AFE-485E-BA6E-9ACAB78F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BatchConnectChannels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等待连接到位</a:t>
            </a:r>
          </a:p>
        </p:txBody>
      </p:sp>
      <p:sp>
        <p:nvSpPr>
          <p:cNvPr id="23" name="API含义">
            <a:extLst xmlns:a="http://schemas.openxmlformats.org/drawingml/2006/main">
              <a:ext uri="{FF2B5EF4-FFF2-40B4-BE49-F238E27FC236}">
                <a16:creationId xmlns:a16="http://schemas.microsoft.com/office/drawing/2014/main" id="{91CEB835-4E69-4D18-8DE0-A0F2E286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240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一致性校验</a:t>
            </a:r>
          </a:p>
        </p:txBody>
      </p:sp>
      <p:sp>
        <p:nvSpPr>
          <p:cNvPr id="24" name="API含义">
            <a:extLst xmlns:a="http://schemas.openxmlformats.org/drawingml/2006/main">
              <a:ext uri="{FF2B5EF4-FFF2-40B4-BE49-F238E27FC236}">
                <a16:creationId xmlns:a16="http://schemas.microsoft.com/office/drawing/2014/main" id="{010BAE35-CFE5-4EC1-AC5C-9FB0A6FC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整理引擎句柄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F0BD91-76AF-466F-82B6-A2634819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895168-75AA-4902-9EC2-0644316E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001453" y="1838802"/>
            <a:ext cx="2371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EEC3C2-193F-4E35-9361-741EE6AD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D05874-FE2E-49C9-B2E5-A647B030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7954328" y="1838802"/>
            <a:ext cx="2371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1" name="缓存命中可复用端点 / Channel；MemReg 按已注册状态决定。">
            <a:extLst xmlns:a="http://schemas.openxmlformats.org/drawingml/2006/main">
              <a:ext uri="{FF2B5EF4-FFF2-40B4-BE49-F238E27FC236}">
                <a16:creationId xmlns:a16="http://schemas.microsoft.com/office/drawing/2014/main" id="{DD0FD245-C133-4C6B-A222-C88596E5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0480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缓存命中可复用端点 / Channel；MemReg 按已注册状态决定。</a:t>
            </a:r>
          </a:p>
        </p:txBody>
      </p:sp>
      <p:sp>
        <p:nvSpPr>
          <p:cNvPr id="32" name="状态检查用内部 ChannelProcess::ChannelGetStatus。">
            <a:extLst xmlns:a="http://schemas.openxmlformats.org/drawingml/2006/main">
              <a:ext uri="{FF2B5EF4-FFF2-40B4-BE49-F238E27FC236}">
                <a16:creationId xmlns:a16="http://schemas.microsoft.com/office/drawing/2014/main" id="{055C9CFC-1A77-4980-A68F-B2BC102C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62275"/>
            <a:ext cx="3695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状态检查用内部 ChannelProcess::ChannelGetStatus。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B2A7DD-D67E-4FFF-AC23-99CE3BC5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57575"/>
            <a:ext cx="11620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CL Host：补齐可用地址、序列化；HCOMM 控制面：保存设备上下文">
            <a:extLst xmlns:a="http://schemas.openxmlformats.org/drawingml/2006/main">
              <a:ext uri="{FF2B5EF4-FFF2-40B4-BE49-F238E27FC236}">
                <a16:creationId xmlns:a16="http://schemas.microsoft.com/office/drawing/2014/main" id="{F4FBEC31-5683-49EF-B89A-FCACA219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86150"/>
            <a:ext cx="11468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Host：补齐可用地址、序列化；HCOMM 控制面：保存设备上下文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50202C-43E5-402E-85D1-7CAFA12A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76675"/>
            <a:ext cx="371475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6" name="4  形成可供算法使用的通道说明">
            <a:extLst xmlns:a="http://schemas.openxmlformats.org/drawingml/2006/main">
              <a:ext uri="{FF2B5EF4-FFF2-40B4-BE49-F238E27FC236}">
                <a16:creationId xmlns:a16="http://schemas.microsoft.com/office/drawing/2014/main" id="{8B2260B5-D4AC-4E96-BC4F-4875BCCE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2430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4  形成可供算法使用的通道说明</a:t>
            </a:r>
          </a:p>
        </p:txBody>
      </p:sp>
      <p:sp>
        <p:nvSpPr>
          <p:cNvPr id="37" name="API含义">
            <a:extLst xmlns:a="http://schemas.openxmlformats.org/drawingml/2006/main">
              <a:ext uri="{FF2B5EF4-FFF2-40B4-BE49-F238E27FC236}">
                <a16:creationId xmlns:a16="http://schemas.microsoft.com/office/drawing/2014/main" id="{016D0EBF-5D42-4DD3-BF12-0D157AD9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910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BuildChannelInfo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补齐 Channel 属性</a:t>
            </a:r>
          </a:p>
        </p:txBody>
      </p:sp>
      <p:sp>
        <p:nvSpPr>
          <p:cNvPr id="38" name="API含义">
            <a:extLst xmlns:a="http://schemas.openxmlformats.org/drawingml/2006/main">
              <a:ext uri="{FF2B5EF4-FFF2-40B4-BE49-F238E27FC236}">
                <a16:creationId xmlns:a16="http://schemas.microsoft.com/office/drawing/2014/main" id="{57A7ACDC-AEE5-46C4-9192-3142925D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005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查询端点属性</a:t>
            </a:r>
          </a:p>
        </p:txBody>
      </p:sp>
      <p:sp>
        <p:nvSpPr>
          <p:cNvPr id="39" name="API含义">
            <a:extLst xmlns:a="http://schemas.openxmlformats.org/drawingml/2006/main">
              <a:ext uri="{FF2B5EF4-FFF2-40B4-BE49-F238E27FC236}">
                <a16:creationId xmlns:a16="http://schemas.microsoft.com/office/drawing/2014/main" id="{0DDCF601-1735-453A-BAEB-9999070C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101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查询远端 CCL 地址</a:t>
            </a:r>
          </a:p>
        </p:txBody>
      </p:sp>
      <p:sp>
        <p:nvSpPr>
          <p:cNvPr id="40" name="API含义">
            <a:extLst xmlns:a="http://schemas.openxmlformats.org/drawingml/2006/main">
              <a:ext uri="{FF2B5EF4-FFF2-40B4-BE49-F238E27FC236}">
                <a16:creationId xmlns:a16="http://schemas.microsoft.com/office/drawing/2014/main" id="{0D88DC7C-75C7-41F1-A0EC-5EDBE990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196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HcommChannelGetRemoteMems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底层远端内存映射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8292B9-EC25-45DA-A581-4284230A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76675"/>
            <a:ext cx="371475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2" name="5  打包并交付设备上下文">
            <a:extLst xmlns:a="http://schemas.openxmlformats.org/drawingml/2006/main">
              <a:ext uri="{FF2B5EF4-FFF2-40B4-BE49-F238E27FC236}">
                <a16:creationId xmlns:a16="http://schemas.microsoft.com/office/drawing/2014/main" id="{67690DA1-293F-4E06-BE1A-82B46607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92430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5  打包并交付设备上下文</a:t>
            </a:r>
          </a:p>
        </p:txBody>
      </p:sp>
      <p:sp>
        <p:nvSpPr>
          <p:cNvPr id="43" name="API含义">
            <a:extLst xmlns:a="http://schemas.openxmlformats.org/drawingml/2006/main">
              <a:ext uri="{FF2B5EF4-FFF2-40B4-BE49-F238E27FC236}">
                <a16:creationId xmlns:a16="http://schemas.microsoft.com/office/drawing/2014/main" id="{65835265-B4C7-4A6B-9D8C-4D137CC0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1910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Serialize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把资源描述编码为连续字节</a:t>
            </a:r>
          </a:p>
        </p:txBody>
      </p:sp>
      <p:sp>
        <p:nvSpPr>
          <p:cNvPr id="44" name="API含义">
            <a:extLst xmlns:a="http://schemas.openxmlformats.org/drawingml/2006/main">
              <a:ext uri="{FF2B5EF4-FFF2-40B4-BE49-F238E27FC236}">
                <a16:creationId xmlns:a16="http://schemas.microsoft.com/office/drawing/2014/main" id="{79C04935-55B9-407D-8E5C-3C50F859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4005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组织上下文交付</a:t>
            </a:r>
          </a:p>
        </p:txBody>
      </p:sp>
      <p:sp>
        <p:nvSpPr>
          <p:cNvPr id="45" name="API含义">
            <a:extLst xmlns:a="http://schemas.openxmlformats.org/drawingml/2006/main">
              <a:ext uri="{FF2B5EF4-FFF2-40B4-BE49-F238E27FC236}">
                <a16:creationId xmlns:a16="http://schemas.microsoft.com/office/drawing/2014/main" id="{C110B31A-A292-4F3B-808E-5C120AF8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6101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HcclEngineCtxCreate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取得设备上下文空间</a:t>
            </a:r>
          </a:p>
        </p:txBody>
      </p:sp>
      <p:sp>
        <p:nvSpPr>
          <p:cNvPr id="46" name="API含义">
            <a:extLst xmlns:a="http://schemas.openxmlformats.org/drawingml/2006/main">
              <a:ext uri="{FF2B5EF4-FFF2-40B4-BE49-F238E27FC236}">
                <a16:creationId xmlns:a16="http://schemas.microsoft.com/office/drawing/2014/main" id="{7CFE25F3-F018-4C26-8FC0-AE349628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196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复制已打包的资源描述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4A718F-B207-486A-9585-81AD4B52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371475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8" name="6  准备 Host 通知设备的句柄">
            <a:extLst xmlns:a="http://schemas.openxmlformats.org/drawingml/2006/main">
              <a:ext uri="{FF2B5EF4-FFF2-40B4-BE49-F238E27FC236}">
                <a16:creationId xmlns:a16="http://schemas.microsoft.com/office/drawing/2014/main" id="{406B3FD1-149A-4BF3-BD02-48969144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2430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6  准备 Host 通知设备的句柄</a:t>
            </a:r>
          </a:p>
        </p:txBody>
      </p:sp>
      <p:sp>
        <p:nvSpPr>
          <p:cNvPr id="49" name="API含义">
            <a:extLst xmlns:a="http://schemas.openxmlformats.org/drawingml/2006/main">
              <a:ext uri="{FF2B5EF4-FFF2-40B4-BE49-F238E27FC236}">
                <a16:creationId xmlns:a16="http://schemas.microsoft.com/office/drawing/2014/main" id="{CD3BC28D-9931-4D71-951D-75F5ABA3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910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GetMainThreadInfo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读取设备主 Thread</a:t>
            </a:r>
          </a:p>
        </p:txBody>
      </p:sp>
      <p:sp>
        <p:nvSpPr>
          <p:cNvPr id="50" name="API含义">
            <a:extLst xmlns:a="http://schemas.openxmlformats.org/drawingml/2006/main">
              <a:ext uri="{FF2B5EF4-FFF2-40B4-BE49-F238E27FC236}">
                <a16:creationId xmlns:a16="http://schemas.microsoft.com/office/drawing/2014/main" id="{EDA7CB5B-5B67-4CD7-B29E-862246D7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导出为 CPU_TS 视图</a:t>
            </a:r>
          </a:p>
        </p:txBody>
      </p:sp>
      <p:sp>
        <p:nvSpPr>
          <p:cNvPr id="51" name="方向：AICPU_TS → CPU_TS&#10;供 Host 发送“输入已经就绪”通知。">
            <a:extLst xmlns:a="http://schemas.openxmlformats.org/drawingml/2006/main">
              <a:ext uri="{FF2B5EF4-FFF2-40B4-BE49-F238E27FC236}">
                <a16:creationId xmlns:a16="http://schemas.microsoft.com/office/drawing/2014/main" id="{224FE923-6FB9-4863-8592-93231797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29175"/>
            <a:ext cx="3514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方向：AICPU_TS → CPU_TS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供 Host 发送“输入已经就绪”通知。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FC8B78-CB25-4FF1-8FF0-1026A1B4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05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B16735-A316-43AF-B14B-AAD5044D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10049352" y="2906078"/>
            <a:ext cx="0" cy="4467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C9E25F-618E-464A-80F6-4461E43A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5D65B9-F865-45FE-9AE4-39D8F5F0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" name=""/>
          <p:cNvCxnSpPr>
            <a:stCxn xmlns:a="http://schemas.openxmlformats.org/drawingml/2006/main" id="55" idx="1"/>
            <a:endCxn xmlns:a="http://schemas.openxmlformats.org/drawingml/2006/main" id="56" idx="3"/>
          </p:cNvCxnSpPr>
          <p:nvPr/>
        </p:nvCxnSpPr>
        <p:spPr>
          <a:xfrm xmlns:a="http://schemas.openxmlformats.org/drawingml/2006/main" flipH="1">
            <a:off x="2144078" y="3353277"/>
            <a:ext cx="79047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2E21CB-A947-43A8-803C-24ED1C6D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2A19B3-BD09-400F-9E70-5BD68EE7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76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2143602" y="335375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979EBD8-D571-49A4-9F5B-90F7441B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38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BF58777-8447-4D04-9C62-4FA8BF7E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38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1453" y="4639152"/>
            <a:ext cx="2371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B3973DA-6183-4389-83FA-C381719D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38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EE2F3F6-DA23-4548-938C-38898665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38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7954328" y="4639152"/>
            <a:ext cx="2371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7" name="两次导出用途不同：第 3 页导出用户 Thread，供设备通知完成；本页导出设备主 Thread，供 Host 通知输入就绪。">
            <a:extLst xmlns:a="http://schemas.openxmlformats.org/drawingml/2006/main">
              <a:ext uri="{FF2B5EF4-FFF2-40B4-BE49-F238E27FC236}">
                <a16:creationId xmlns:a16="http://schemas.microsoft.com/office/drawing/2014/main" id="{C3764A44-4767-4007-BE2F-E2AD0216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724525"/>
            <a:ext cx="11610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两次导出用途不同：第 3 页导出用户 Thread，供设备通知完成；本页导出设备主 Thread，供 Host 通知输入就绪。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6899B7E-D251-46A1-A76D-80A9F945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1162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9" name="交付的是 Thread / Channel / 缓冲区地址等资源元数据。HcclEngineCtxCopy 不搬运本次用户输入张量。">
            <a:extLst xmlns:a="http://schemas.openxmlformats.org/drawingml/2006/main">
              <a:ext uri="{FF2B5EF4-FFF2-40B4-BE49-F238E27FC236}">
                <a16:creationId xmlns:a16="http://schemas.microsoft.com/office/drawing/2014/main" id="{E958C096-AA74-4161-A5ED-F831FC78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交付的是 Thread / Channel / 缓冲区地址等资源元数据。HcclEngineCtxCopy 不搬运本次用户输入张量。</a:t>
            </a:r>
          </a:p>
        </p:txBody>
      </p:sp>
    </p:spTree>
    <p:extLst>
      <p:ext uri="{BB962C8B-B14F-4D97-AF65-F5344CB8AC3E}">
        <p14:creationId xmlns:p14="http://schemas.microsoft.com/office/powerpoint/2010/main" val="16431390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④ Host 发射：先排输入通知，再启动 AICPU">
            <a:extLst xmlns:a="http://schemas.openxmlformats.org/drawingml/2006/main">
              <a:ext uri="{FF2B5EF4-FFF2-40B4-BE49-F238E27FC236}">
                <a16:creationId xmlns:a16="http://schemas.microsoft.com/office/drawing/2014/main" id="{C43FE89B-FAC7-487E-8028-96F41612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 Host 发射：先排输入通知，再启动 AICPU</a:t>
            </a:r>
          </a:p>
        </p:txBody>
      </p:sp>
      <p:sp>
        <p:nvSpPr>
          <p:cNvPr id="2" name="展开总览第④块。本页区分 C++ 调用顺序与流上等待依赖，Host 调 Notify 仍属于 HCOMM 数据面。">
            <a:extLst xmlns:a="http://schemas.openxmlformats.org/drawingml/2006/main">
              <a:ext uri="{FF2B5EF4-FFF2-40B4-BE49-F238E27FC236}">
                <a16:creationId xmlns:a16="http://schemas.microsoft.com/office/drawing/2014/main" id="{C36B5F39-CE4D-4665-8153-4967768A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展开总览第④块。本页区分 C++ 调用顺序与流上等待依赖，Host 调 Notify 仍属于 HCOMM 数据面。</a:t>
            </a:r>
          </a:p>
        </p:txBody>
      </p:sp>
      <p:sp>
        <p:nvSpPr>
          <p:cNvPr id="3" name="5 / 9">
            <a:extLst xmlns:a="http://schemas.openxmlformats.org/drawingml/2006/main">
              <a:ext uri="{FF2B5EF4-FFF2-40B4-BE49-F238E27FC236}">
                <a16:creationId xmlns:a16="http://schemas.microsoft.com/office/drawing/2014/main" id="{2B20D1F4-299C-425B-9836-04AC2102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5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254EF-5DFE-4F53-AD8F-8F6D77E6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1E4E4-AA7F-4FFE-9178-1BA8DA69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④ 发射 · 总览第1页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D0EA084F-EB17-48C7-8011-981AC9A6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④ 发射 · 总览第1页　　源码：hccl 170ddeec / hcomm 87ce550f，静态分析，未上板验证。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E70BB-D7CC-4F1F-9650-C9E32133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3581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HCCL Host">
            <a:extLst xmlns:a="http://schemas.openxmlformats.org/drawingml/2006/main">
              <a:ext uri="{FF2B5EF4-FFF2-40B4-BE49-F238E27FC236}">
                <a16:creationId xmlns:a16="http://schemas.microsoft.com/office/drawing/2014/main" id="{8DDF126B-5FDD-47D9-8421-900B5A88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19175"/>
            <a:ext cx="342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57235-6822-419F-B7DB-9EC4E693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90600"/>
            <a:ext cx="382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" name="HCOMM 数据面 / 通知任务">
            <a:extLst xmlns:a="http://schemas.openxmlformats.org/drawingml/2006/main">
              <a:ext uri="{FF2B5EF4-FFF2-40B4-BE49-F238E27FC236}">
                <a16:creationId xmlns:a16="http://schemas.microsoft.com/office/drawing/2014/main" id="{C3D46472-B101-47D7-904C-9E7D85DE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019175"/>
            <a:ext cx="3676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 / 通知任务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0B009-65E7-4362-99FD-631DD789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3524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" name="ACL Runtime">
            <a:extLst xmlns:a="http://schemas.openxmlformats.org/drawingml/2006/main">
              <a:ext uri="{FF2B5EF4-FFF2-40B4-BE49-F238E27FC236}">
                <a16:creationId xmlns:a16="http://schemas.microsoft.com/office/drawing/2014/main" id="{E7FD4640-EDD8-44E0-A161-1642057D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19175"/>
            <a:ext cx="3371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7BE9D-0F0A-4692-8707-14EC88B1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38275"/>
            <a:ext cx="3581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5" name="1  组织入口发射">
            <a:extLst xmlns:a="http://schemas.openxmlformats.org/drawingml/2006/main">
              <a:ext uri="{FF2B5EF4-FFF2-40B4-BE49-F238E27FC236}">
                <a16:creationId xmlns:a16="http://schemas.microsoft.com/office/drawing/2014/main" id="{F8B529B6-4A65-4D0D-B3FB-070A0CA8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85900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  组织入口发射</a:t>
            </a:r>
          </a:p>
        </p:txBody>
      </p:sp>
      <p:sp>
        <p:nvSpPr>
          <p:cNvPr id="16" name="API含义">
            <a:extLst xmlns:a="http://schemas.openxmlformats.org/drawingml/2006/main">
              <a:ext uri="{FF2B5EF4-FFF2-40B4-BE49-F238E27FC236}">
                <a16:creationId xmlns:a16="http://schemas.microsoft.com/office/drawing/2014/main" id="{3651A1C5-3687-4BB3-9821-43F18AEA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526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  <a:r>
              <a:rPr sz="9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17" name="串起输入通知、Kernel 启动和完成等待。">
            <a:extLst xmlns:a="http://schemas.openxmlformats.org/drawingml/2006/main">
              <a:ext uri="{FF2B5EF4-FFF2-40B4-BE49-F238E27FC236}">
                <a16:creationId xmlns:a16="http://schemas.microsoft.com/office/drawing/2014/main" id="{9F7140C7-D2EF-48AF-BA98-B6B7A33A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62150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串起输入通知、Kernel 启动和完成等待。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B346AF-7E9F-4E2E-B198-C010158F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38275"/>
            <a:ext cx="3829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9" name="2  排入“输入就绪”通知">
            <a:extLst xmlns:a="http://schemas.openxmlformats.org/drawingml/2006/main">
              <a:ext uri="{FF2B5EF4-FFF2-40B4-BE49-F238E27FC236}">
                <a16:creationId xmlns:a16="http://schemas.microsoft.com/office/drawing/2014/main" id="{AF971464-5EA3-4C9A-96FB-D249904F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85900"/>
            <a:ext cx="3676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  排入“输入就绪”通知</a:t>
            </a:r>
          </a:p>
        </p:txBody>
      </p:sp>
      <p:sp>
        <p:nvSpPr>
          <p:cNvPr id="20" name="API含义">
            <a:extLst xmlns:a="http://schemas.openxmlformats.org/drawingml/2006/main">
              <a:ext uri="{FF2B5EF4-FFF2-40B4-BE49-F238E27FC236}">
                <a16:creationId xmlns:a16="http://schemas.microsoft.com/office/drawing/2014/main" id="{9F469610-0971-45E1-878A-A7242D4A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526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9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21" name="用户流前置任务完成后，通知设备主 Thread。">
            <a:extLst xmlns:a="http://schemas.openxmlformats.org/drawingml/2006/main">
              <a:ext uri="{FF2B5EF4-FFF2-40B4-BE49-F238E27FC236}">
                <a16:creationId xmlns:a16="http://schemas.microsoft.com/office/drawing/2014/main" id="{04A46F1F-C3AB-47A5-8BBA-8D71A161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09775"/>
            <a:ext cx="365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用户流前置任务完成后，通知设备主 Thread。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1E90A-DA56-4958-B29F-03CDF0A4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19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29322D-BF02-4F22-AE63-07F2088F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19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868103" y="1819752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A0FC0-FE7F-4098-B903-91610046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52725"/>
            <a:ext cx="3581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26" name="3  构造并发射 Kernel">
            <a:extLst xmlns:a="http://schemas.openxmlformats.org/drawingml/2006/main">
              <a:ext uri="{FF2B5EF4-FFF2-40B4-BE49-F238E27FC236}">
                <a16:creationId xmlns:a16="http://schemas.microsoft.com/office/drawing/2014/main" id="{0E12DF13-4B99-49A7-AD14-D5D1E4B3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00350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  构造并发射 Kernel</a:t>
            </a:r>
          </a:p>
        </p:txBody>
      </p:sp>
      <p:sp>
        <p:nvSpPr>
          <p:cNvPr id="27" name="API含义">
            <a:extLst xmlns:a="http://schemas.openxmlformats.org/drawingml/2006/main">
              <a:ext uri="{FF2B5EF4-FFF2-40B4-BE49-F238E27FC236}">
                <a16:creationId xmlns:a16="http://schemas.microsoft.com/office/drawing/2014/main" id="{052A57CD-5F1D-4DD9-94DF-29A8FD0F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67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AicpuKernelLaunch</a:t>
            </a:r>
            <a:r>
              <a:rPr sz="9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调用右侧 ACL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5F6485-F43F-49A4-B670-005F4EA8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46E319-84A5-44AB-B7BF-A0D6CDCD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" name="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4039553" y="222932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1B38BE-7F15-45EF-A838-6D300E91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6E6AA3-9AE8-48A6-8AC7-AE0DEF96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4039077" y="2229803"/>
            <a:ext cx="0" cy="72294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9A67A8-F0BB-42FA-B810-90C2FE0B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45E45E-E621-44AD-84AB-55B6C989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3868103" y="295322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4FE20E-3730-4088-B7A7-93BF292E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38275"/>
            <a:ext cx="352425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8" name="ACL 参数构造与发射顺序">
            <a:extLst xmlns:a="http://schemas.openxmlformats.org/drawingml/2006/main">
              <a:ext uri="{FF2B5EF4-FFF2-40B4-BE49-F238E27FC236}">
                <a16:creationId xmlns:a16="http://schemas.microsoft.com/office/drawing/2014/main" id="{1F8B4888-0E76-40C0-A75E-3E97B41D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85900"/>
            <a:ext cx="337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ACL 参数构造与发射顺序</a:t>
            </a:r>
          </a:p>
        </p:txBody>
      </p:sp>
      <p:sp>
        <p:nvSpPr>
          <p:cNvPr id="39" name="1. aclrtBinaryGetFunction">
            <a:extLst xmlns:a="http://schemas.openxmlformats.org/drawingml/2006/main">
              <a:ext uri="{FF2B5EF4-FFF2-40B4-BE49-F238E27FC236}">
                <a16:creationId xmlns:a16="http://schemas.microsoft.com/office/drawing/2014/main" id="{A32D89D9-E102-4FD7-90C8-634BCA0C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47850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1. aclrtBinaryGetFunction</a:t>
            </a:r>
          </a:p>
        </p:txBody>
      </p:sp>
      <p:sp>
        <p:nvSpPr>
          <p:cNvPr id="40" name="找到 HcclLaunchAicpuKernel 入口">
            <a:extLst xmlns:a="http://schemas.openxmlformats.org/drawingml/2006/main">
              <a:ext uri="{FF2B5EF4-FFF2-40B4-BE49-F238E27FC236}">
                <a16:creationId xmlns:a16="http://schemas.microsoft.com/office/drawing/2014/main" id="{A9B5CD97-71EF-418E-A1DC-D467A33B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3114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找到 HcclLaunchAicpuKernel 入口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424552-BDF8-4F83-A268-91BAF84E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E0644A-6733-4391-815F-202B9ED6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" name=""/>
          <p:cNvCxnSpPr>
            <a:stCxn xmlns:a="http://schemas.openxmlformats.org/drawingml/2006/main" id="41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8544402" y="222980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44" name="2. aclrtKernelArgsInit">
            <a:extLst xmlns:a="http://schemas.openxmlformats.org/drawingml/2006/main">
              <a:ext uri="{FF2B5EF4-FFF2-40B4-BE49-F238E27FC236}">
                <a16:creationId xmlns:a16="http://schemas.microsoft.com/office/drawing/2014/main" id="{B8500965-ABF8-4CD2-820B-F157756F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5742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2. aclrtKernelArgsInit</a:t>
            </a:r>
          </a:p>
        </p:txBody>
      </p:sp>
      <p:sp>
        <p:nvSpPr>
          <p:cNvPr id="45" name="创建参数包">
            <a:extLst xmlns:a="http://schemas.openxmlformats.org/drawingml/2006/main">
              <a:ext uri="{FF2B5EF4-FFF2-40B4-BE49-F238E27FC236}">
                <a16:creationId xmlns:a16="http://schemas.microsoft.com/office/drawing/2014/main" id="{0CE92C7D-B70F-4C18-B431-9AB421BE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57450"/>
            <a:ext cx="3114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创建参数包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650F79-00C6-4392-8689-6AAF3A7F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2D29F6-E8E8-4BF1-AB02-B72AD124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46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8544402" y="263937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49" name="3. aclrtKernelArgsAppend">
            <a:extLst xmlns:a="http://schemas.openxmlformats.org/drawingml/2006/main">
              <a:ext uri="{FF2B5EF4-FFF2-40B4-BE49-F238E27FC236}">
                <a16:creationId xmlns:a16="http://schemas.microsoft.com/office/drawing/2014/main" id="{2CFE472B-2696-41F4-94D1-7CE92CC6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3. aclrtKernelArgsAppend</a:t>
            </a:r>
          </a:p>
        </p:txBody>
      </p:sp>
      <p:sp>
        <p:nvSpPr>
          <p:cNvPr id="50" name="加入参数和变长数据">
            <a:extLst xmlns:a="http://schemas.openxmlformats.org/drawingml/2006/main">
              <a:ext uri="{FF2B5EF4-FFF2-40B4-BE49-F238E27FC236}">
                <a16:creationId xmlns:a16="http://schemas.microsoft.com/office/drawing/2014/main" id="{C025CAAA-8591-42CC-8A49-BECF9A02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867025"/>
            <a:ext cx="3114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加入参数和变长数据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693DC3E-9E9C-4C77-B870-28D4B894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48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C2561A-E053-4AFF-9F07-7487C5DB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8544402" y="30489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54" name="4. aclrtKernelArgsFinalize">
            <a:extLst xmlns:a="http://schemas.openxmlformats.org/drawingml/2006/main">
              <a:ext uri="{FF2B5EF4-FFF2-40B4-BE49-F238E27FC236}">
                <a16:creationId xmlns:a16="http://schemas.microsoft.com/office/drawing/2014/main" id="{7BEAC72A-8876-48D1-B7CD-4F349BE8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7657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4. aclrtKernelArgsFinalize</a:t>
            </a:r>
          </a:p>
        </p:txBody>
      </p:sp>
      <p:sp>
        <p:nvSpPr>
          <p:cNvPr id="55" name="完成参数封装">
            <a:extLst xmlns:a="http://schemas.openxmlformats.org/drawingml/2006/main">
              <a:ext uri="{FF2B5EF4-FFF2-40B4-BE49-F238E27FC236}">
                <a16:creationId xmlns:a16="http://schemas.microsoft.com/office/drawing/2014/main" id="{673B8981-ABD1-42C5-8D9F-57FD5B11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276600"/>
            <a:ext cx="3114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完成参数封装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00ED9A-EE30-447D-9ED7-22A1FC5B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57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772658-52D8-4C54-8379-22A0B86D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05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8544402" y="3458528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59" name="5. 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14556E8E-396D-49B7-9A7A-B7DA09E2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86150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5. aclrtLaunchKernelWithConfig</a:t>
            </a:r>
          </a:p>
        </p:txBody>
      </p:sp>
      <p:sp>
        <p:nvSpPr>
          <p:cNvPr id="60" name="提交 AICPU Kernel">
            <a:extLst xmlns:a="http://schemas.openxmlformats.org/drawingml/2006/main">
              <a:ext uri="{FF2B5EF4-FFF2-40B4-BE49-F238E27FC236}">
                <a16:creationId xmlns:a16="http://schemas.microsoft.com/office/drawing/2014/main" id="{17C34021-7873-40A6-9B2F-A18D04FF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686175"/>
            <a:ext cx="3114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提交 AICPU Kernel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0C127A5-3559-4143-B1DF-E9EB6E0E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19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BAB3C33-F795-4E1B-BC15-E7227985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19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3868103" y="3219927"/>
            <a:ext cx="433292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5C64AD1-646D-4649-8558-1A614A24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19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EC13B8-9755-44A4-BEAA-34F90E03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62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8201502" y="1629728"/>
            <a:ext cx="0" cy="15897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A0387CB-191E-43CE-8212-4F050DB0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62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39B2BAA-EEE4-4312-8CA9-D4FF7FAB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28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8201978" y="1629252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65D08F6-3BB4-438F-B9A6-EC3F6F33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67225"/>
            <a:ext cx="35814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71" name="4  发射后排完成等待">
            <a:extLst xmlns:a="http://schemas.openxmlformats.org/drawingml/2006/main">
              <a:ext uri="{FF2B5EF4-FFF2-40B4-BE49-F238E27FC236}">
                <a16:creationId xmlns:a16="http://schemas.microsoft.com/office/drawing/2014/main" id="{CDB9409D-AD08-4718-802F-025D6B69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514850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4  发射后排完成等待</a:t>
            </a:r>
          </a:p>
        </p:txBody>
      </p:sp>
      <p:sp>
        <p:nvSpPr>
          <p:cNvPr id="72" name="返回 Host 发射流程&#10;将下游任务挡在通信完成之后。">
            <a:extLst xmlns:a="http://schemas.openxmlformats.org/drawingml/2006/main">
              <a:ext uri="{FF2B5EF4-FFF2-40B4-BE49-F238E27FC236}">
                <a16:creationId xmlns:a16="http://schemas.microsoft.com/office/drawing/2014/main" id="{C9E9802B-18CE-4DD4-AADA-5BD92C1C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838700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返回 Host 发射流程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将下游任务挡在通信完成之后。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5C02981-AF57-4C48-8730-5A3EBA5F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67225"/>
            <a:ext cx="38290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74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D43F0E62-833B-4F2A-AC3B-825237EE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14850"/>
            <a:ext cx="3676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75" name="在用户流排入算子完成等待。&#10;等待目标是设备主 Thread 的最终通知。">
            <a:extLst xmlns:a="http://schemas.openxmlformats.org/drawingml/2006/main">
              <a:ext uri="{FF2B5EF4-FFF2-40B4-BE49-F238E27FC236}">
                <a16:creationId xmlns:a16="http://schemas.microsoft.com/office/drawing/2014/main" id="{0E490042-A09E-4E7B-AF26-6143D6FE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848225"/>
            <a:ext cx="365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在用户流排入算子完成等待。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等待目标是设备主 Thread 的最终通知。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6D2ED13-0CD2-4290-BB5D-78C0D221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14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8FCD68B-A7BA-4284-A39E-9B05D532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14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76" idx="1"/>
            <a:endCxn xmlns:a="http://schemas.openxmlformats.org/drawingml/2006/main" id="77" idx="3"/>
          </p:cNvCxnSpPr>
          <p:nvPr/>
        </p:nvCxnSpPr>
        <p:spPr>
          <a:xfrm xmlns:a="http://schemas.openxmlformats.org/drawingml/2006/main" flipH="1">
            <a:off x="8211503" y="3915252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90AC1B9-FF64-44ED-98B0-F1B1E46F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14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B73D822-DD01-4092-8E9F-DAAE4482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57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8211027" y="3915728"/>
            <a:ext cx="0" cy="34194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FF3D3B0-F26B-44F4-BA18-A2780DA8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57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FFDCFA0-9BDD-4B5C-824C-6C355BA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57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82" idx="1"/>
            <a:endCxn xmlns:a="http://schemas.openxmlformats.org/drawingml/2006/main" id="83" idx="3"/>
          </p:cNvCxnSpPr>
          <p:nvPr/>
        </p:nvCxnSpPr>
        <p:spPr>
          <a:xfrm xmlns:a="http://schemas.openxmlformats.org/drawingml/2006/main" flipH="1">
            <a:off x="2077403" y="4258152"/>
            <a:ext cx="61331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531501A-F4F3-4726-AAA2-6EB71DBC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57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DF0C5DC-425C-441D-83FB-BCAB16BB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6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2076927" y="4258628"/>
            <a:ext cx="0" cy="20859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A4812A1-FE24-497A-8443-9825BAE2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14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B8ABAF5-1A61-4622-AD31-45E19415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14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3868103" y="4915377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FD83116-6969-4D75-B04C-E2783D93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67225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92" name="设备开始执行：接第 6 页">
            <a:extLst xmlns:a="http://schemas.openxmlformats.org/drawingml/2006/main">
              <a:ext uri="{FF2B5EF4-FFF2-40B4-BE49-F238E27FC236}">
                <a16:creationId xmlns:a16="http://schemas.microsoft.com/office/drawing/2014/main" id="{0CABEDA1-8C8A-4A04-AC83-70091311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14850"/>
            <a:ext cx="337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设备开始执行：接第 6 页</a:t>
            </a:r>
          </a:p>
        </p:txBody>
      </p:sp>
      <p:sp>
        <p:nvSpPr>
          <p:cNvPr id="93" name="API含义">
            <a:extLst xmlns:a="http://schemas.openxmlformats.org/drawingml/2006/main">
              <a:ext uri="{FF2B5EF4-FFF2-40B4-BE49-F238E27FC236}">
                <a16:creationId xmlns:a16="http://schemas.microsoft.com/office/drawing/2014/main" id="{E26C6A99-AA1A-4D19-9416-B0BCFDC6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  <a:r>
              <a:rPr sz="9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设备入口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97DF58F-B573-4FB5-83ED-C276097A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076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0E25A8F-6C56-4480-925D-9FAC5ECF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6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" name=""/>
          <p:cNvCxnSpPr>
            <a:stCxn xmlns:a="http://schemas.openxmlformats.org/drawingml/2006/main" id="94" idx="2"/>
            <a:endCxn xmlns:a="http://schemas.openxmlformats.org/drawingml/2006/main" id="95" idx="0"/>
          </p:cNvCxnSpPr>
          <p:nvPr/>
        </p:nvCxnSpPr>
        <p:spPr>
          <a:xfrm xmlns:a="http://schemas.openxmlformats.org/drawingml/2006/main">
            <a:off x="10144602" y="4077653"/>
            <a:ext cx="0" cy="3895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7" name="按序启动能力另有 HcclOrderLaunchToOrderStream / HcclOrderLaunchToKernelStream，按配置生效，细节见备注。">
            <a:extLst xmlns:a="http://schemas.openxmlformats.org/drawingml/2006/main">
              <a:ext uri="{FF2B5EF4-FFF2-40B4-BE49-F238E27FC236}">
                <a16:creationId xmlns:a16="http://schemas.microsoft.com/office/drawing/2014/main" id="{D82F2952-1EF8-492B-8CD3-9EAFD5F8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57850"/>
            <a:ext cx="11610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按序启动能力另有 HcclOrderLaunchToOrderStream / HcclOrderLaunchToKernelStream，按配置生效，细节见备注。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03B2701-4F6A-41E2-950F-E7FB6333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1162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9" name="正确顺序：Host 排输入 Record，发射 Kernel，随后排完成 Wait。排入 Wait 不等于 CPU 阻塞等通信结束。">
            <a:extLst xmlns:a="http://schemas.openxmlformats.org/drawingml/2006/main">
              <a:ext uri="{FF2B5EF4-FFF2-40B4-BE49-F238E27FC236}">
                <a16:creationId xmlns:a16="http://schemas.microsoft.com/office/drawing/2014/main" id="{A34B0D93-49DD-4EB7-A0AF-952CC34D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正确顺序：Host 排输入 Record，发射 Kernel，随后排完成 Wait。排入 Wait 不等于 CPU 阻塞等通信结束。</a:t>
            </a:r>
          </a:p>
        </p:txBody>
      </p:sp>
    </p:spTree>
    <p:extLst>
      <p:ext uri="{BB962C8B-B14F-4D97-AF65-F5344CB8AC3E}">
        <p14:creationId xmlns:p14="http://schemas.microsoft.com/office/powerpoint/2010/main" val="1631343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⑤ AICPU 编排：恢复资源，按块、轮和 Peer 展开">
            <a:extLst xmlns:a="http://schemas.openxmlformats.org/drawingml/2006/main">
              <a:ext uri="{FF2B5EF4-FFF2-40B4-BE49-F238E27FC236}">
                <a16:creationId xmlns:a16="http://schemas.microsoft.com/office/drawing/2014/main" id="{94822F63-B6DA-4F64-AF72-66F85C62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 AICPU 编排：恢复资源，按块、轮和 Peer 展开</a:t>
            </a:r>
          </a:p>
        </p:txBody>
      </p:sp>
      <p:sp>
        <p:nvSpPr>
          <p:cNvPr id="2" name="展开总览第⑤块。HCCL 在 AICPU 上生成任务，HCOMM 把通知与搬运放入对应通信 Thread。">
            <a:extLst xmlns:a="http://schemas.openxmlformats.org/drawingml/2006/main">
              <a:ext uri="{FF2B5EF4-FFF2-40B4-BE49-F238E27FC236}">
                <a16:creationId xmlns:a16="http://schemas.microsoft.com/office/drawing/2014/main" id="{C749FA65-2412-43BF-8AB9-D4359821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展开总览第⑤块。HCCL 在 AICPU 上生成任务，HCOMM 把通知与搬运放入对应通信 Thread。</a:t>
            </a:r>
          </a:p>
        </p:txBody>
      </p:sp>
      <p:sp>
        <p:nvSpPr>
          <p:cNvPr id="3" name="6 / 9">
            <a:extLst xmlns:a="http://schemas.openxmlformats.org/drawingml/2006/main">
              <a:ext uri="{FF2B5EF4-FFF2-40B4-BE49-F238E27FC236}">
                <a16:creationId xmlns:a16="http://schemas.microsoft.com/office/drawing/2014/main" id="{C09972B3-EDF8-4992-B8D5-7AE85D5C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6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8923A-9D4A-46A5-BDCE-CBCD31A9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70ED1-C8D4-4D6D-A417-7335095E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⑤ 设备编排 · 总览第1页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903AE9D9-25C8-48B7-8CCE-0297AAFB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⑤ 设备编排 · 总览第1页　　源码：hccl 170ddeec / hcomm 87ce550f，静态分析，未上板验证。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39380-6693-4D6E-AD71-02733A42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35814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HCCL AICPU：入口与恢复">
            <a:extLst xmlns:a="http://schemas.openxmlformats.org/drawingml/2006/main">
              <a:ext uri="{FF2B5EF4-FFF2-40B4-BE49-F238E27FC236}">
                <a16:creationId xmlns:a16="http://schemas.microsoft.com/office/drawing/2014/main" id="{6A5F07D3-6A29-4D3C-AE23-1E45BFAE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19175"/>
            <a:ext cx="342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AICPU：入口与恢复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56D15-ACE4-4D86-98AE-9FCC9452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990600"/>
            <a:ext cx="382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HCCL AICPU：算法展开">
            <a:extLst xmlns:a="http://schemas.openxmlformats.org/drawingml/2006/main">
              <a:ext uri="{FF2B5EF4-FFF2-40B4-BE49-F238E27FC236}">
                <a16:creationId xmlns:a16="http://schemas.microsoft.com/office/drawing/2014/main" id="{9AE9541A-DDF9-458E-A861-0FC1893B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019175"/>
            <a:ext cx="3676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AICPU：算法展开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BE699-2124-47CA-A028-A890AF96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3524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HCOMM 数据面：依赖与执行控制">
            <a:extLst xmlns:a="http://schemas.openxmlformats.org/drawingml/2006/main">
              <a:ext uri="{FF2B5EF4-FFF2-40B4-BE49-F238E27FC236}">
                <a16:creationId xmlns:a16="http://schemas.microsoft.com/office/drawing/2014/main" id="{EEE1FE34-D119-4A24-8BB0-F33825C4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19175"/>
            <a:ext cx="3371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数据面：依赖与执行控制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C812D-FEE6-4A0B-BEBE-40936733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0"/>
            <a:ext cx="35814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5" name="1  恢复本次设备执行所需信息">
            <a:extLst xmlns:a="http://schemas.openxmlformats.org/drawingml/2006/main">
              <a:ext uri="{FF2B5EF4-FFF2-40B4-BE49-F238E27FC236}">
                <a16:creationId xmlns:a16="http://schemas.microsoft.com/office/drawing/2014/main" id="{08F925BF-7447-41FC-9293-691FDFB4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763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  恢复本次设备执行所需信息</a:t>
            </a:r>
          </a:p>
        </p:txBody>
      </p:sp>
      <p:sp>
        <p:nvSpPr>
          <p:cNvPr id="16" name="API含义">
            <a:extLst xmlns:a="http://schemas.openxmlformats.org/drawingml/2006/main">
              <a:ext uri="{FF2B5EF4-FFF2-40B4-BE49-F238E27FC236}">
                <a16:creationId xmlns:a16="http://schemas.microsoft.com/office/drawing/2014/main" id="{F9D2FCF1-1EBF-435C-A7E6-9B69795D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430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接收参数</a:t>
            </a:r>
          </a:p>
        </p:txBody>
      </p:sp>
      <p:sp>
        <p:nvSpPr>
          <p:cNvPr id="17" name="API含义">
            <a:extLst xmlns:a="http://schemas.openxmlformats.org/drawingml/2006/main">
              <a:ext uri="{FF2B5EF4-FFF2-40B4-BE49-F238E27FC236}">
                <a16:creationId xmlns:a16="http://schemas.microsoft.com/office/drawing/2014/main" id="{923CB137-1853-48A1-8930-6A1449EC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526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DeserializeResCtx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 Thread / Channel</a:t>
            </a:r>
          </a:p>
        </p:txBody>
      </p:sp>
      <p:sp>
        <p:nvSpPr>
          <p:cNvPr id="18" name="API含义">
            <a:extLst xmlns:a="http://schemas.openxmlformats.org/drawingml/2006/main">
              <a:ext uri="{FF2B5EF4-FFF2-40B4-BE49-F238E27FC236}">
                <a16:creationId xmlns:a16="http://schemas.microsoft.com/office/drawing/2014/main" id="{0D701F30-9669-4736-B9CD-33158F97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62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 counts / 位移</a:t>
            </a:r>
          </a:p>
        </p:txBody>
      </p:sp>
      <p:sp>
        <p:nvSpPr>
          <p:cNvPr id="19" name="API含义">
            <a:extLst xmlns:a="http://schemas.openxmlformats.org/drawingml/2006/main">
              <a:ext uri="{FF2B5EF4-FFF2-40B4-BE49-F238E27FC236}">
                <a16:creationId xmlns:a16="http://schemas.microsoft.com/office/drawing/2014/main" id="{A8E4BB91-5CAB-4B43-8F8B-7A46F57A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717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OpOrchestrate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组织本次任务生成</a:t>
            </a:r>
          </a:p>
        </p:txBody>
      </p:sp>
      <p:sp>
        <p:nvSpPr>
          <p:cNvPr id="20" name="API含义">
            <a:extLst xmlns:a="http://schemas.openxmlformats.org/drawingml/2006/main">
              <a:ext uri="{FF2B5EF4-FFF2-40B4-BE49-F238E27FC236}">
                <a16:creationId xmlns:a16="http://schemas.microsoft.com/office/drawing/2014/main" id="{E2AA940E-6246-49FC-8963-4D7FD1C2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812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91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取得设备侧执行器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E03800-55FA-440E-BDE5-EC5AC2E6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35242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22" name="入口配套调用">
            <a:extLst xmlns:a="http://schemas.openxmlformats.org/drawingml/2006/main">
              <a:ext uri="{FF2B5EF4-FFF2-40B4-BE49-F238E27FC236}">
                <a16:creationId xmlns:a16="http://schemas.microsoft.com/office/drawing/2014/main" id="{FEB8C638-254A-4FB5-BE67-77950B26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76375"/>
            <a:ext cx="337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入口配套调用</a:t>
            </a:r>
          </a:p>
        </p:txBody>
      </p:sp>
      <p:sp>
        <p:nvSpPr>
          <p:cNvPr id="23" name="API含义">
            <a:extLst xmlns:a="http://schemas.openxmlformats.org/drawingml/2006/main">
              <a:ext uri="{FF2B5EF4-FFF2-40B4-BE49-F238E27FC236}">
                <a16:creationId xmlns:a16="http://schemas.microsoft.com/office/drawing/2014/main" id="{BD70567F-6A86-4C41-A311-E1110294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4307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HcommAcquireComm</a:t>
            </a:r>
            <a:r>
              <a:rPr sz="89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保护本次域使用</a:t>
            </a:r>
          </a:p>
        </p:txBody>
      </p:sp>
      <p:sp>
        <p:nvSpPr>
          <p:cNvPr id="24" name="API含义">
            <a:extLst xmlns:a="http://schemas.openxmlformats.org/drawingml/2006/main">
              <a:ext uri="{FF2B5EF4-FFF2-40B4-BE49-F238E27FC236}">
                <a16:creationId xmlns:a16="http://schemas.microsoft.com/office/drawing/2014/main" id="{533D6828-97BB-4AC1-A24C-08DA2797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5262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HcommBatchModeStart</a:t>
            </a:r>
            <a:r>
              <a:rPr sz="89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启用批模式</a:t>
            </a:r>
          </a:p>
        </p:txBody>
      </p:sp>
      <p:sp>
        <p:nvSpPr>
          <p:cNvPr id="25" name="API含义">
            <a:extLst xmlns:a="http://schemas.openxmlformats.org/drawingml/2006/main">
              <a:ext uri="{FF2B5EF4-FFF2-40B4-BE49-F238E27FC236}">
                <a16:creationId xmlns:a16="http://schemas.microsoft.com/office/drawing/2014/main" id="{245A4A90-2ABB-487C-BB27-1B47D744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6217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89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等待输入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5E3041-DCC2-48C8-970B-DFE4F0C7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95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8EF1F8-B181-43D5-8A77-464AB351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95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868103" y="1695927"/>
            <a:ext cx="1704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F093AB-826D-486B-88CA-58EFB99F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95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B8A5E6-6B5F-4AED-8746-29A560FA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33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" name=""/>
          <p:cNvCxnSpPr>
            <a:stCxn xmlns:a="http://schemas.openxmlformats.org/drawingml/2006/main" id="29" idx="0"/>
            <a:endCxn xmlns:a="http://schemas.openxmlformats.org/drawingml/2006/main" id="30" idx="2"/>
          </p:cNvCxnSpPr>
          <p:nvPr/>
        </p:nvCxnSpPr>
        <p:spPr>
          <a:xfrm xmlns:a="http://schemas.openxmlformats.org/drawingml/2006/main" flipV="1">
            <a:off x="4039077" y="1334453"/>
            <a:ext cx="0" cy="36099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519642-2B3F-48B5-A6B4-87CEAC10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33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E7C2DA-7A0D-4221-9E26-2D7AAE44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33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039553" y="1333977"/>
            <a:ext cx="61045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B90DD7-6ABA-4505-8D56-59AC4A54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33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E1C566-4758-48F1-A25E-61353B57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42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" name=""/>
          <p:cNvCxnSpPr>
            <a:stCxn xmlns:a="http://schemas.openxmlformats.org/drawingml/2006/main" id="35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10144602" y="1334453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D09318-74CF-4D82-B90C-FA6B64F6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28750"/>
            <a:ext cx="382905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9" name="2  外层按容量分块">
            <a:extLst xmlns:a="http://schemas.openxmlformats.org/drawingml/2006/main">
              <a:ext uri="{FF2B5EF4-FFF2-40B4-BE49-F238E27FC236}">
                <a16:creationId xmlns:a16="http://schemas.microsoft.com/office/drawing/2014/main" id="{8F78730F-86F8-4D3E-A78D-04B141A5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76375"/>
            <a:ext cx="3676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  外层按容量分块</a:t>
            </a:r>
          </a:p>
        </p:txBody>
      </p:sp>
      <p:sp>
        <p:nvSpPr>
          <p:cNvPr id="40" name="API含义">
            <a:extLst xmlns:a="http://schemas.openxmlformats.org/drawingml/2006/main">
              <a:ext uri="{FF2B5EF4-FFF2-40B4-BE49-F238E27FC236}">
                <a16:creationId xmlns:a16="http://schemas.microsoft.com/office/drawing/2014/main" id="{36A0A699-8B39-4BDB-A3C7-FA284C05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4307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</a:t>
            </a:r>
            <a:r>
              <a: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恢复各 Peer 传输信息</a:t>
            </a:r>
          </a:p>
        </p:txBody>
      </p:sp>
      <p:sp>
        <p:nvSpPr>
          <p:cNvPr id="41" name="API含义">
            <a:extLst xmlns:a="http://schemas.openxmlformats.org/drawingml/2006/main">
              <a:ext uri="{FF2B5EF4-FFF2-40B4-BE49-F238E27FC236}">
                <a16:creationId xmlns:a16="http://schemas.microsoft.com/office/drawing/2014/main" id="{C5375F2D-3AF5-4092-8ED5-CAC3AF42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分块并推进输入 / 输出偏移</a:t>
            </a:r>
          </a:p>
        </p:txBody>
      </p:sp>
      <p:sp>
        <p:nvSpPr>
          <p:cNvPr id="42" name="API含义">
            <a:extLst xmlns:a="http://schemas.openxmlformats.org/drawingml/2006/main">
              <a:ext uri="{FF2B5EF4-FFF2-40B4-BE49-F238E27FC236}">
                <a16:creationId xmlns:a16="http://schemas.microsoft.com/office/drawing/2014/main" id="{C51AABA8-9B03-4133-8B52-C790C158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6217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CalcScratchMultiple</a:t>
            </a:r>
            <a:r>
              <a: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计算中转空间需求</a:t>
            </a:r>
          </a:p>
        </p:txBody>
      </p:sp>
      <p:sp>
        <p:nvSpPr>
          <p:cNvPr id="43" name="API含义">
            <a:extLst xmlns:a="http://schemas.openxmlformats.org/drawingml/2006/main">
              <a:ext uri="{FF2B5EF4-FFF2-40B4-BE49-F238E27FC236}">
                <a16:creationId xmlns:a16="http://schemas.microsoft.com/office/drawing/2014/main" id="{F5A0835E-9E65-4AE6-AFCE-C922AFE7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7172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KernelRun</a:t>
            </a:r>
            <a:r>
              <a: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模板处理当前块</a:t>
            </a:r>
          </a:p>
        </p:txBody>
      </p:sp>
      <p:sp>
        <p:nvSpPr>
          <p:cNvPr id="44" name="API含义">
            <a:extLst xmlns:a="http://schemas.openxmlformats.org/drawingml/2006/main">
              <a:ext uri="{FF2B5EF4-FFF2-40B4-BE49-F238E27FC236}">
                <a16:creationId xmlns:a16="http://schemas.microsoft.com/office/drawing/2014/main" id="{1E9F7CC1-2045-4F71-92EA-8E5FDE72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8127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RunALLtoALL</a:t>
            </a:r>
            <a:r>
              <a:rPr sz="9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组织当前块的通信轮次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9AE97B-8B3B-4AFB-B110-5E2E13DD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429B47-B18F-46F5-8FDA-40AE385D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3868103" y="2762727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A17863-AEC6-4790-B45E-CAA583D2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24250"/>
            <a:ext cx="38290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9" name="3  当前块内按轮、Peer、Channel 展开">
            <a:extLst xmlns:a="http://schemas.openxmlformats.org/drawingml/2006/main">
              <a:ext uri="{FF2B5EF4-FFF2-40B4-BE49-F238E27FC236}">
                <a16:creationId xmlns:a16="http://schemas.microsoft.com/office/drawing/2014/main" id="{28CA7746-D0F9-41EF-A775-E3483D94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71875"/>
            <a:ext cx="3676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  当前块内按轮、Peer、Channel 展开</a:t>
            </a:r>
          </a:p>
        </p:txBody>
      </p:sp>
      <p:sp>
        <p:nvSpPr>
          <p:cNvPr id="50" name="API含义">
            <a:extLst xmlns:a="http://schemas.openxmlformats.org/drawingml/2006/main">
              <a:ext uri="{FF2B5EF4-FFF2-40B4-BE49-F238E27FC236}">
                <a16:creationId xmlns:a16="http://schemas.microsoft.com/office/drawing/2014/main" id="{A0528CEC-C328-48EF-923C-833DA246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3857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CalcCommLoops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计算轮次数</a:t>
            </a:r>
          </a:p>
        </p:txBody>
      </p:sp>
      <p:sp>
        <p:nvSpPr>
          <p:cNvPr id="51" name="API含义">
            <a:extLst xmlns:a="http://schemas.openxmlformats.org/drawingml/2006/main">
              <a:ext uri="{FF2B5EF4-FFF2-40B4-BE49-F238E27FC236}">
                <a16:creationId xmlns:a16="http://schemas.microsoft.com/office/drawing/2014/main" id="{9500E6DE-B2E9-440F-AEF8-414A5258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4812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PreSyncInterThreads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有从 Thread 时安排开始同步</a:t>
            </a:r>
          </a:p>
        </p:txBody>
      </p:sp>
      <p:sp>
        <p:nvSpPr>
          <p:cNvPr id="52" name="API含义">
            <a:extLst xmlns:a="http://schemas.openxmlformats.org/drawingml/2006/main">
              <a:ext uri="{FF2B5EF4-FFF2-40B4-BE49-F238E27FC236}">
                <a16:creationId xmlns:a16="http://schemas.microsoft.com/office/drawing/2014/main" id="{53D300EA-EB71-4703-9EEA-0CBF439D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5767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选本轮 Peer</a:t>
            </a:r>
          </a:p>
        </p:txBody>
      </p:sp>
      <p:sp>
        <p:nvSpPr>
          <p:cNvPr id="53" name="API含义">
            <a:extLst xmlns:a="http://schemas.openxmlformats.org/drawingml/2006/main">
              <a:ext uri="{FF2B5EF4-FFF2-40B4-BE49-F238E27FC236}">
                <a16:creationId xmlns:a16="http://schemas.microsoft.com/office/drawing/2014/main" id="{904A85FC-6734-4F13-A29A-207B0162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6722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RunSendRecvByLoop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遍历本轮 Peer</a:t>
            </a:r>
          </a:p>
        </p:txBody>
      </p:sp>
      <p:sp>
        <p:nvSpPr>
          <p:cNvPr id="54" name="API含义">
            <a:extLst xmlns:a="http://schemas.openxmlformats.org/drawingml/2006/main">
              <a:ext uri="{FF2B5EF4-FFF2-40B4-BE49-F238E27FC236}">
                <a16:creationId xmlns:a16="http://schemas.microsoft.com/office/drawing/2014/main" id="{780728E3-B490-4E8F-9330-82411A4E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7677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RunSendRecvByChannel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逐 Channel 组织交换</a:t>
            </a:r>
          </a:p>
        </p:txBody>
      </p:sp>
      <p:sp>
        <p:nvSpPr>
          <p:cNvPr id="55" name="API含义">
            <a:extLst xmlns:a="http://schemas.openxmlformats.org/drawingml/2006/main">
              <a:ext uri="{FF2B5EF4-FFF2-40B4-BE49-F238E27FC236}">
                <a16:creationId xmlns:a16="http://schemas.microsoft.com/office/drawing/2014/main" id="{B1D97BC3-84EA-49D1-88A7-AC5A2644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8632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BuildDataSlices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生成地址与字节数</a:t>
            </a:r>
          </a:p>
        </p:txBody>
      </p:sp>
      <p:sp>
        <p:nvSpPr>
          <p:cNvPr id="56" name="API含义">
            <a:extLst xmlns:a="http://schemas.openxmlformats.org/drawingml/2006/main">
              <a:ext uri="{FF2B5EF4-FFF2-40B4-BE49-F238E27FC236}">
                <a16:creationId xmlns:a16="http://schemas.microsoft.com/office/drawing/2014/main" id="{D8EF2D19-3323-4674-A424-168E381E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9587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具体握手与写入，接第 7 页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1299A1-0497-4679-8D39-C566E583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152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8F9671-0107-4430-9D44-2E71193E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524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6125052" y="3153728"/>
            <a:ext cx="0" cy="3705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4A58304-09AF-4551-BA4E-9BAC98A8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35242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61" name="主从开始同步（有从 Thread 时）">
            <a:extLst xmlns:a="http://schemas.openxmlformats.org/drawingml/2006/main">
              <a:ext uri="{FF2B5EF4-FFF2-40B4-BE49-F238E27FC236}">
                <a16:creationId xmlns:a16="http://schemas.microsoft.com/office/drawing/2014/main" id="{CB60CED2-5FD2-4E19-8707-FF41AF28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71875"/>
            <a:ext cx="337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主从开始同步（有从 Thread 时）</a:t>
            </a:r>
          </a:p>
        </p:txBody>
      </p:sp>
      <p:sp>
        <p:nvSpPr>
          <p:cNvPr id="62" name="API含义">
            <a:extLst xmlns:a="http://schemas.openxmlformats.org/drawingml/2006/main">
              <a:ext uri="{FF2B5EF4-FFF2-40B4-BE49-F238E27FC236}">
                <a16:creationId xmlns:a16="http://schemas.microsoft.com/office/drawing/2014/main" id="{347884FA-7459-4009-8D37-A08F45CD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3857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63" name="API含义">
            <a:extLst xmlns:a="http://schemas.openxmlformats.org/drawingml/2006/main">
              <a:ext uri="{FF2B5EF4-FFF2-40B4-BE49-F238E27FC236}">
                <a16:creationId xmlns:a16="http://schemas.microsoft.com/office/drawing/2014/main" id="{F33A68EF-0103-4B1E-965D-D536FE48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4812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/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 Thread 通知各从 Thread</a:t>
            </a:r>
          </a:p>
        </p:txBody>
      </p:sp>
      <p:sp>
        <p:nvSpPr>
          <p:cNvPr id="64" name="API含义">
            <a:extLst xmlns:a="http://schemas.openxmlformats.org/drawingml/2006/main">
              <a:ext uri="{FF2B5EF4-FFF2-40B4-BE49-F238E27FC236}">
                <a16:creationId xmlns:a16="http://schemas.microsoft.com/office/drawing/2014/main" id="{B6908766-3342-4DCB-AA8A-6307B701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5767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65" name="API含义">
            <a:extLst xmlns:a="http://schemas.openxmlformats.org/drawingml/2006/main">
              <a:ext uri="{FF2B5EF4-FFF2-40B4-BE49-F238E27FC236}">
                <a16:creationId xmlns:a16="http://schemas.microsoft.com/office/drawing/2014/main" id="{245EACB3-FEC4-4AE2-954B-FE991FC3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6722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b="1"/>
              <a:t/>
            </a:r>
            <a:r>
              <a:rPr sz="88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各从 Thread 等主 Thread 放行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510D4AC-2E24-4DC7-9D7E-507BAB59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297805-7E77-460C-B408-38E05123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8040053" y="4048602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0BD2E37-E837-4468-ABE3-D842E76C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24250"/>
            <a:ext cx="3581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70" name="首轮同时处理自己的分片">
            <a:extLst xmlns:a="http://schemas.openxmlformats.org/drawingml/2006/main">
              <a:ext uri="{FF2B5EF4-FFF2-40B4-BE49-F238E27FC236}">
                <a16:creationId xmlns:a16="http://schemas.microsoft.com/office/drawing/2014/main" id="{00FB6C0C-DDE8-4E89-9F83-A5C6AA65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718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首轮同时处理自己的分片</a:t>
            </a:r>
          </a:p>
        </p:txBody>
      </p:sp>
      <p:sp>
        <p:nvSpPr>
          <p:cNvPr id="71" name="API含义">
            <a:extLst xmlns:a="http://schemas.openxmlformats.org/drawingml/2006/main">
              <a:ext uri="{FF2B5EF4-FFF2-40B4-BE49-F238E27FC236}">
                <a16:creationId xmlns:a16="http://schemas.microsoft.com/office/drawing/2014/main" id="{FF14AD70-CE42-4315-91D9-40881C12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385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LocalCopyForMyRank</a:t>
            </a:r>
            <a:r>
              <a:rPr sz="93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找到自分片地址</a:t>
            </a:r>
          </a:p>
        </p:txBody>
      </p:sp>
      <p:sp>
        <p:nvSpPr>
          <p:cNvPr id="72" name="API含义">
            <a:extLst xmlns:a="http://schemas.openxmlformats.org/drawingml/2006/main">
              <a:ext uri="{FF2B5EF4-FFF2-40B4-BE49-F238E27FC236}">
                <a16:creationId xmlns:a16="http://schemas.microsoft.com/office/drawing/2014/main" id="{0A36C5D0-53C6-4911-8BEC-6E94C107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48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  <a:r>
              <a:rPr sz="93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本地拷贝</a:t>
            </a:r>
          </a:p>
        </p:txBody>
      </p:sp>
      <p:sp>
        <p:nvSpPr>
          <p:cNvPr id="73" name="Rank 0 的 [0,1] 直接从 sendBuf[0]&#10;复制到 recvBuf[0]，共 8 字节。">
            <a:extLst xmlns:a="http://schemas.openxmlformats.org/drawingml/2006/main">
              <a:ext uri="{FF2B5EF4-FFF2-40B4-BE49-F238E27FC236}">
                <a16:creationId xmlns:a16="http://schemas.microsoft.com/office/drawing/2014/main" id="{CCFCBD89-E486-4746-8CB2-240AA731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29125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0 的 [0,1] 直接从 sendBuf[0]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复制到 recvBuf[0]，共 8 字节。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555EF3E-F8B3-4B82-A1F0-859C2435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29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887D212-521C-49A1-950C-D25192DC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29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74" idx="1"/>
            <a:endCxn xmlns:a="http://schemas.openxmlformats.org/drawingml/2006/main" id="75" idx="3"/>
          </p:cNvCxnSpPr>
          <p:nvPr/>
        </p:nvCxnSpPr>
        <p:spPr>
          <a:xfrm xmlns:a="http://schemas.openxmlformats.org/drawingml/2006/main" flipH="1">
            <a:off x="3868103" y="4229577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7" name="循环层级：大块 → 通信轮 → Peer → Channel → 非零 slice。每个块结束还要汇合，全部大块排完才通知用户流。">
            <a:extLst xmlns:a="http://schemas.openxmlformats.org/drawingml/2006/main">
              <a:ext uri="{FF2B5EF4-FFF2-40B4-BE49-F238E27FC236}">
                <a16:creationId xmlns:a16="http://schemas.microsoft.com/office/drawing/2014/main" id="{6A661D68-69FB-4824-9BC3-5CB8E70C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705475"/>
            <a:ext cx="11610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82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82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循环层级：大块 → 通信轮 → Peer → Channel → 非零 slice。每个块结束还要汇合，全部大块排完才通知用户流。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526B3FB-50AA-431A-84CA-10C39A74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1162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9" name="“展开”是在生成通信任务及其依赖。AICPU 函数返回，不代表所有网络搬运已经完成。">
            <a:extLst xmlns:a="http://schemas.openxmlformats.org/drawingml/2006/main">
              <a:ext uri="{FF2B5EF4-FFF2-40B4-BE49-F238E27FC236}">
                <a16:creationId xmlns:a16="http://schemas.microsoft.com/office/drawing/2014/main" id="{2840BC14-E81A-4FDE-B775-28A7776E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“展开”是在生成通信任务及其依赖。AICPU 函数返回，不代表所有网络搬运已经完成。</a:t>
            </a:r>
          </a:p>
        </p:txBody>
      </p:sp>
    </p:spTree>
    <p:extLst>
      <p:ext uri="{BB962C8B-B14F-4D97-AF65-F5344CB8AC3E}">
        <p14:creationId xmlns:p14="http://schemas.microsoft.com/office/powerpoint/2010/main" val="18753335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⑥ 双向交换：ACK、Write、DATA_SIGNAL">
            <a:extLst xmlns:a="http://schemas.openxmlformats.org/drawingml/2006/main">
              <a:ext uri="{FF2B5EF4-FFF2-40B4-BE49-F238E27FC236}">
                <a16:creationId xmlns:a16="http://schemas.microsoft.com/office/drawing/2014/main" id="{8119CF66-E4D7-4C9E-9CB1-9DD9681F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⑥ 双向交换：ACK、Write、DATA_SIGNAL</a:t>
            </a:r>
          </a:p>
        </p:txBody>
      </p:sp>
      <p:sp>
        <p:nvSpPr>
          <p:cNvPr id="2" name="展开总览第⑥块。以 Rank 0 为本端，Rank 1 为对端，按 A–F 向下读。">
            <a:extLst xmlns:a="http://schemas.openxmlformats.org/drawingml/2006/main">
              <a:ext uri="{FF2B5EF4-FFF2-40B4-BE49-F238E27FC236}">
                <a16:creationId xmlns:a16="http://schemas.microsoft.com/office/drawing/2014/main" id="{3218B3F2-1B39-4799-84C3-DBD4A44A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展开总览第⑥块。以 Rank 0 为本端，Rank 1 为对端，按 A–F 向下读。</a:t>
            </a:r>
          </a:p>
        </p:txBody>
      </p:sp>
      <p:sp>
        <p:nvSpPr>
          <p:cNvPr id="3" name="7 / 9">
            <a:extLst xmlns:a="http://schemas.openxmlformats.org/drawingml/2006/main">
              <a:ext uri="{FF2B5EF4-FFF2-40B4-BE49-F238E27FC236}">
                <a16:creationId xmlns:a16="http://schemas.microsoft.com/office/drawing/2014/main" id="{58504925-371A-41CB-BB31-67990B5B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7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92312-6D74-4459-A78A-CB96BF87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A1ACA-5A30-498E-9074-2EEB9C20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⑥ 握手与远端写 · 总览第1页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C78074B3-CF76-4F2F-8C3E-2D3724CA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⑥ 握手与远端写 · 总览第1页　　源码：hccl 170ddeec / hcomm 87ce550f，静态分析，未上板验证。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78819-8FE1-4953-A54E-C9DDE458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6981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HCCL：SendRecvWrite 调用 HCOMM 数据面">
            <a:extLst xmlns:a="http://schemas.openxmlformats.org/drawingml/2006/main">
              <a:ext uri="{FF2B5EF4-FFF2-40B4-BE49-F238E27FC236}">
                <a16:creationId xmlns:a16="http://schemas.microsoft.com/office/drawing/2014/main" id="{363582F3-761F-4AC8-B83D-63030AEE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19175"/>
            <a:ext cx="6829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HCCL：SendRecvWrite 调用 HCOMM 数据面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E4364-5F2F-49FD-9EAF-B1F99A8B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99060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Rank 0">
            <a:extLst xmlns:a="http://schemas.openxmlformats.org/drawingml/2006/main">
              <a:ext uri="{FF2B5EF4-FFF2-40B4-BE49-F238E27FC236}">
                <a16:creationId xmlns:a16="http://schemas.microsoft.com/office/drawing/2014/main" id="{0BAF35E1-C8EA-4BBC-8C96-A3E0B7F8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019175"/>
            <a:ext cx="154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1ECC6-5C5F-43F8-B18D-353A5C0B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990600"/>
            <a:ext cx="1695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" name="Rank 1">
            <a:extLst xmlns:a="http://schemas.openxmlformats.org/drawingml/2006/main">
              <a:ext uri="{FF2B5EF4-FFF2-40B4-BE49-F238E27FC236}">
                <a16:creationId xmlns:a16="http://schemas.microsoft.com/office/drawing/2014/main" id="{F251F700-F2F6-4B4F-8096-DEA66CFB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19175"/>
            <a:ext cx="1543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CACA4-F213-43CA-BF99-F0A3F3F5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1541E-3CF0-47FF-A9E6-10C0304D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73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420577" y="1305878"/>
            <a:ext cx="0" cy="44281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C908B"/>
            </a:solidFill>
            <a:prstDash val="dash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AE0D8-722D-4F41-A2FD-26A22772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1304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6651F-C743-4243-A83E-11FA2FB5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734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1059002" y="1305878"/>
            <a:ext cx="0" cy="44281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C908B"/>
            </a:solidFill>
            <a:prstDash val="dash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9EBD2-56CE-4A40-A269-ED543B0C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66850"/>
            <a:ext cx="36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1" name="A">
            <a:extLst xmlns:a="http://schemas.openxmlformats.org/drawingml/2006/main">
              <a:ext uri="{FF2B5EF4-FFF2-40B4-BE49-F238E27FC236}">
                <a16:creationId xmlns:a16="http://schemas.microsoft.com/office/drawing/2014/main" id="{0D76F711-0722-40B3-9480-BC0444E2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525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22" name="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A65D9C89-AE03-4347-B64A-1D1F691F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6362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23" name="本端接收区准备好，发 ACK">
            <a:extLst xmlns:a="http://schemas.openxmlformats.org/drawingml/2006/main">
              <a:ext uri="{FF2B5EF4-FFF2-40B4-BE49-F238E27FC236}">
                <a16:creationId xmlns:a16="http://schemas.microsoft.com/office/drawing/2014/main" id="{181E15DD-3ED3-4AF8-AED5-51D80309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636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本端接收区准备好，发 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E2F1A6-FFDC-4A2F-A78C-D27A94C4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E0C22D-12B1-4B5F-96FA-AF847368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421053" y="1686402"/>
            <a:ext cx="26374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72CD92-264B-4C46-BB87-EE11DA16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9A4AF6-D789-40A7-919E-51BB0261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85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82003" y="2086452"/>
            <a:ext cx="63998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E96474-7FC4-44E9-A8C9-27844F85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52650"/>
            <a:ext cx="36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1" name="B">
            <a:extLst xmlns:a="http://schemas.openxmlformats.org/drawingml/2006/main">
              <a:ext uri="{FF2B5EF4-FFF2-40B4-BE49-F238E27FC236}">
                <a16:creationId xmlns:a16="http://schemas.microsoft.com/office/drawing/2014/main" id="{75ED92E9-06B2-48D7-B2E0-B408B329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383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32" name="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F3463C91-09F6-4AD4-A4FF-5BB9B641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6362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HcommChannelNotifyWaitOnThread</a:t>
            </a:r>
          </a:p>
        </p:txBody>
      </p:sp>
      <p:sp>
        <p:nvSpPr>
          <p:cNvPr id="33" name="等待对端 ACK，确认可向它写数据">
            <a:extLst xmlns:a="http://schemas.openxmlformats.org/drawingml/2006/main">
              <a:ext uri="{FF2B5EF4-FFF2-40B4-BE49-F238E27FC236}">
                <a16:creationId xmlns:a16="http://schemas.microsoft.com/office/drawing/2014/main" id="{8E8ABC8C-0797-45EB-828D-B99EFF00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636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等待对端 ACK，确认可向它写数据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8B8DFD-C5FB-4131-8A9E-5B62DCE2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2371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FC0661-57F6-4AA7-94A5-DC8C7D98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71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" name="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8421053" y="2372202"/>
            <a:ext cx="26374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A1802D-1E18-4814-B290-D3BD18E8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71C173-0E87-4AC0-B2F5-8A880590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71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82003" y="2772252"/>
            <a:ext cx="63998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4919B9-7FBC-424D-AF54-51032DB2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38450"/>
            <a:ext cx="36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1" name="C">
            <a:extLst xmlns:a="http://schemas.openxmlformats.org/drawingml/2006/main">
              <a:ext uri="{FF2B5EF4-FFF2-40B4-BE49-F238E27FC236}">
                <a16:creationId xmlns:a16="http://schemas.microsoft.com/office/drawing/2014/main" id="{1754EF0C-0FB0-4A70-9539-2F8C5296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9241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42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F1236D62-5B65-42CF-977A-60229E0C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6362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43" name="把本端 [2,3] 写入对端 CCL，8 字节">
            <a:extLst xmlns:a="http://schemas.openxmlformats.org/drawingml/2006/main">
              <a:ext uri="{FF2B5EF4-FFF2-40B4-BE49-F238E27FC236}">
                <a16:creationId xmlns:a16="http://schemas.microsoft.com/office/drawing/2014/main" id="{E94DD45F-A334-4D7E-A86F-F5173D83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636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把本端 [2,3] 写入对端 CCL，8 字节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CE13C8-0A9A-4DE4-9796-72A35F86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57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55A2CB-F720-4DC5-8832-C427DBCD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3057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8421053" y="3058002"/>
            <a:ext cx="263747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24847F-CE10-43CE-B24B-1525CCA9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8FAECC-D151-4F64-AAE1-9555B3E8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57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82003" y="3458052"/>
            <a:ext cx="63998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FF6FE4-3DA1-4D88-B9B8-D3A7ED90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24250"/>
            <a:ext cx="36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D">
            <a:extLst xmlns:a="http://schemas.openxmlformats.org/drawingml/2006/main">
              <a:ext uri="{FF2B5EF4-FFF2-40B4-BE49-F238E27FC236}">
                <a16:creationId xmlns:a16="http://schemas.microsoft.com/office/drawing/2014/main" id="{6047A3FA-226F-4480-9B73-07E10DC9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099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D</a:t>
            </a:r>
          </a:p>
        </p:txBody>
      </p:sp>
      <p:sp>
        <p:nvSpPr>
          <p:cNvPr id="52" name="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23CD3A25-3030-4611-B26E-9C0F4968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6362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53" name="发 DATA_SIGNAL，标记本端写阶段完成">
            <a:extLst xmlns:a="http://schemas.openxmlformats.org/drawingml/2006/main">
              <a:ext uri="{FF2B5EF4-FFF2-40B4-BE49-F238E27FC236}">
                <a16:creationId xmlns:a16="http://schemas.microsoft.com/office/drawing/2014/main" id="{F416E339-EF51-45FC-8CDD-3A99A438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636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发 DATA_SIGNAL，标记本端写阶段完成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947FDB-DB1E-4E45-96F9-4AB62D9E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8E80EE-D98F-4D0B-AB53-FB75C308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8421053" y="3743802"/>
            <a:ext cx="26374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70BCA1-E08B-4C93-90F1-3639FAEE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809517-347B-4AE6-8E6B-69311329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782003" y="4143852"/>
            <a:ext cx="63998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0D01EA-4F3F-480D-B792-CEABE320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10050"/>
            <a:ext cx="36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1" name="E">
            <a:extLst xmlns:a="http://schemas.openxmlformats.org/drawingml/2006/main">
              <a:ext uri="{FF2B5EF4-FFF2-40B4-BE49-F238E27FC236}">
                <a16:creationId xmlns:a16="http://schemas.microsoft.com/office/drawing/2014/main" id="{D00F827B-806B-417A-AD35-B7EE2DCC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2957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E</a:t>
            </a:r>
          </a:p>
        </p:txBody>
      </p:sp>
      <p:sp>
        <p:nvSpPr>
          <p:cNvPr id="62" name="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AFEA68F1-55A2-491B-96AC-625210DE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6362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HcommChannelNotifyWaitOnThread</a:t>
            </a:r>
          </a:p>
        </p:txBody>
      </p:sp>
      <p:sp>
        <p:nvSpPr>
          <p:cNvPr id="63" name="等反向 DATA_SIGNAL，对应收到 [10,11]">
            <a:extLst xmlns:a="http://schemas.openxmlformats.org/drawingml/2006/main">
              <a:ext uri="{FF2B5EF4-FFF2-40B4-BE49-F238E27FC236}">
                <a16:creationId xmlns:a16="http://schemas.microsoft.com/office/drawing/2014/main" id="{2A8E56D3-BFB2-4EE2-B104-710886CF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36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等反向 DATA_SIGNAL，对应收到 [10,11]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E2749B-FC0E-478A-99C6-7C21A78F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06E3D3C-F59A-4211-BD6F-FFA2BF2A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4" idx="1"/>
            <a:endCxn xmlns:a="http://schemas.openxmlformats.org/drawingml/2006/main" id="65" idx="3"/>
          </p:cNvCxnSpPr>
          <p:nvPr/>
        </p:nvCxnSpPr>
        <p:spPr>
          <a:xfrm xmlns:a="http://schemas.openxmlformats.org/drawingml/2006/main" flipH="1">
            <a:off x="8421053" y="4429602"/>
            <a:ext cx="26374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7D44D0B-D4B5-4AFF-8DC1-CFD3783E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B2C9A99-9042-4EF9-8453-1CD886FE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29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782003" y="4829652"/>
            <a:ext cx="63998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9C16FD1-0CB7-473E-A26A-96FB6422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95850"/>
            <a:ext cx="36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1" name="F">
            <a:extLst xmlns:a="http://schemas.openxmlformats.org/drawingml/2006/main">
              <a:ext uri="{FF2B5EF4-FFF2-40B4-BE49-F238E27FC236}">
                <a16:creationId xmlns:a16="http://schemas.microsoft.com/office/drawing/2014/main" id="{2E730EA3-8EDC-4745-9E36-70C8F14C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815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F</a:t>
            </a:r>
          </a:p>
        </p:txBody>
      </p:sp>
      <p:sp>
        <p:nvSpPr>
          <p:cNvPr id="72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58476C35-9810-4315-A2C7-FB1F4698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6362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73" name="模板 PostCopy 将本地 CCL 拷到 recvBuf[2]">
            <a:extLst xmlns:a="http://schemas.openxmlformats.org/drawingml/2006/main">
              <a:ext uri="{FF2B5EF4-FFF2-40B4-BE49-F238E27FC236}">
                <a16:creationId xmlns:a16="http://schemas.microsoft.com/office/drawing/2014/main" id="{67045679-0F8B-4724-B886-6CF5185B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636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模板 PostCopy 将本地 CCL 拷到 recvBuf[2]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B165B7C-5737-4004-B3E4-2C9985D0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91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E011F42-BDF8-48BC-99B5-A59870CF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91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8421053" y="4991577"/>
            <a:ext cx="83724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1414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EAD31F9-B8B9-4BBD-9A89-71EEC85D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91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7E4B012-1626-458C-B236-9B4FEEAD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95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9258777" y="4992053"/>
            <a:ext cx="0" cy="30384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1414"/>
            </a:solidFill>
            <a:prstDash val="soli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F268D33-CBC6-470E-9D18-80A1ADAE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95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DB08655-8695-4BD3-BA52-98AA51FE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95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80" idx="1"/>
            <a:endCxn xmlns:a="http://schemas.openxmlformats.org/drawingml/2006/main" id="81" idx="3"/>
          </p:cNvCxnSpPr>
          <p:nvPr/>
        </p:nvCxnSpPr>
        <p:spPr>
          <a:xfrm xmlns:a="http://schemas.openxmlformats.org/drawingml/2006/main" flipH="1">
            <a:off x="8421053" y="5296377"/>
            <a:ext cx="83724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83" name="实线：用户字节搬运　　红虚线：通知依赖；Wait 是本端等待，不是向对端发起一条请求。">
            <a:extLst xmlns:a="http://schemas.openxmlformats.org/drawingml/2006/main">
              <a:ext uri="{FF2B5EF4-FFF2-40B4-BE49-F238E27FC236}">
                <a16:creationId xmlns:a16="http://schemas.microsoft.com/office/drawing/2014/main" id="{965708D2-864A-468B-BBEE-D828A01E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57850"/>
            <a:ext cx="11610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实线：用户字节搬运　　红虚线：通知依赖；Wait 是本端等待，不是向对端发起一条请求。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ECB8B1D-D1A2-408C-9DB7-78BC15FC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1162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5" name="A–E 位于 SendRecvWrite 内部。F 是外层模板 PostCopy 的本地后拷贝；每个非零 slice 按这一依赖展开。">
            <a:extLst xmlns:a="http://schemas.openxmlformats.org/drawingml/2006/main">
              <a:ext uri="{FF2B5EF4-FFF2-40B4-BE49-F238E27FC236}">
                <a16:creationId xmlns:a16="http://schemas.microsoft.com/office/drawing/2014/main" id="{54A6DF1C-0525-43E2-AD6A-6D333DB2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A–E 位于 SendRecvWrite 内部。F 是外层模板 PostCopy 的本地后拷贝；每个非零 slice 按这一依赖展开。</a:t>
            </a:r>
          </a:p>
        </p:txBody>
      </p:sp>
    </p:spTree>
    <p:extLst>
      <p:ext uri="{BB962C8B-B14F-4D97-AF65-F5344CB8AC3E}">
        <p14:creationId xmlns:p14="http://schemas.microsoft.com/office/powerpoint/2010/main" val="6783335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⑦ 数据落位与 Write 内部处理">
            <a:extLst xmlns:a="http://schemas.openxmlformats.org/drawingml/2006/main">
              <a:ext uri="{FF2B5EF4-FFF2-40B4-BE49-F238E27FC236}">
                <a16:creationId xmlns:a16="http://schemas.microsoft.com/office/drawing/2014/main" id="{EB26B90F-8333-481B-BDF8-D7325781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⑦ 数据落位与 Write 内部处理</a:t>
            </a:r>
          </a:p>
        </p:txBody>
      </p:sp>
      <p:sp>
        <p:nvSpPr>
          <p:cNvPr id="2" name="展开总览第⑦块。普通 Write 路径：源用户 Buffer，远端 CCL 中转，接收端用户 Buffer。">
            <a:extLst xmlns:a="http://schemas.openxmlformats.org/drawingml/2006/main">
              <a:ext uri="{FF2B5EF4-FFF2-40B4-BE49-F238E27FC236}">
                <a16:creationId xmlns:a16="http://schemas.microsoft.com/office/drawing/2014/main" id="{793D51D2-E2DF-4F1B-8EFC-A690EFA3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展开总览第⑦块。普通 Write 路径：源用户 Buffer，远端 CCL 中转，接收端用户 Buffer。</a:t>
            </a:r>
          </a:p>
        </p:txBody>
      </p:sp>
      <p:sp>
        <p:nvSpPr>
          <p:cNvPr id="3" name="8 / 9">
            <a:extLst xmlns:a="http://schemas.openxmlformats.org/drawingml/2006/main">
              <a:ext uri="{FF2B5EF4-FFF2-40B4-BE49-F238E27FC236}">
                <a16:creationId xmlns:a16="http://schemas.microsoft.com/office/drawing/2014/main" id="{41BAF5F4-92A3-486F-A2A8-3C203811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8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FA811-BD0D-4AA5-BA05-54F6EDE5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2B9A7-C251-4B16-9DBF-BAFFAC75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⑦ 数据与地址 · 总览第1页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EE1A0703-DB29-4C8B-A54B-862F5401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⑦ 数据与地址 · 总览第1页　　源码：hccl 170ddeec / hcomm 87ce550f，静态分析，未上板验证。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F3ADB-4312-4CB1-A0BC-2AF4CFE2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11620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一次 Rank 0 发往 Rank 1 的数据搬运">
            <a:extLst xmlns:a="http://schemas.openxmlformats.org/drawingml/2006/main">
              <a:ext uri="{FF2B5EF4-FFF2-40B4-BE49-F238E27FC236}">
                <a16:creationId xmlns:a16="http://schemas.microsoft.com/office/drawing/2014/main" id="{012BE124-F013-4034-8124-73C07212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19175"/>
            <a:ext cx="11468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一次 Rank 0 发往 Rank 1 的数据搬运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4EA6B-5ADD-4D30-8DAB-4AAE3C15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6685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1" name="Rank 0 · sendBuf">
            <a:extLst xmlns:a="http://schemas.openxmlformats.org/drawingml/2006/main">
              <a:ext uri="{FF2B5EF4-FFF2-40B4-BE49-F238E27FC236}">
                <a16:creationId xmlns:a16="http://schemas.microsoft.com/office/drawing/2014/main" id="{711C58E6-97E3-4DAF-A9C2-5316A53C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24000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0 · sendBuf</a:t>
            </a:r>
          </a:p>
        </p:txBody>
      </p:sp>
      <p:sp>
        <p:nvSpPr>
          <p:cNvPr id="12" name="[0,1]  [2,3]  [4,5]  [6,7]">
            <a:extLst xmlns:a="http://schemas.openxmlformats.org/drawingml/2006/main">
              <a:ext uri="{FF2B5EF4-FFF2-40B4-BE49-F238E27FC236}">
                <a16:creationId xmlns:a16="http://schemas.microsoft.com/office/drawing/2014/main" id="{48422E55-CBAC-4AC6-971E-DB9E37E9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8669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[0,1]  [2,3]  [4,5]  [6,7]</a:t>
            </a:r>
          </a:p>
        </p:txBody>
      </p:sp>
      <p:sp>
        <p:nvSpPr>
          <p:cNvPr id="13" name="本次源：sendBuf[2]，8 字节">
            <a:extLst xmlns:a="http://schemas.openxmlformats.org/drawingml/2006/main">
              <a:ext uri="{FF2B5EF4-FFF2-40B4-BE49-F238E27FC236}">
                <a16:creationId xmlns:a16="http://schemas.microsoft.com/office/drawing/2014/main" id="{84247023-D889-479B-B3EE-75CCBA1B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66950"/>
            <a:ext cx="268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本次源：sendBuf[2]，8 字节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AFD2E-FBA1-4C1D-92EE-75612042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6685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5" name="Rank 1 · CCL Buffer">
            <a:extLst xmlns:a="http://schemas.openxmlformats.org/drawingml/2006/main">
              <a:ext uri="{FF2B5EF4-FFF2-40B4-BE49-F238E27FC236}">
                <a16:creationId xmlns:a16="http://schemas.microsoft.com/office/drawing/2014/main" id="{21D8D2A1-CDF6-497E-A093-F69B64CB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524000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 · CCL Buffer</a:t>
            </a:r>
          </a:p>
        </p:txBody>
      </p:sp>
      <p:sp>
        <p:nvSpPr>
          <p:cNvPr id="16" name="接收槽位：[2,3]">
            <a:extLst xmlns:a="http://schemas.openxmlformats.org/drawingml/2006/main">
              <a:ext uri="{FF2B5EF4-FFF2-40B4-BE49-F238E27FC236}">
                <a16:creationId xmlns:a16="http://schemas.microsoft.com/office/drawing/2014/main" id="{65EE00E9-41E3-4CFD-B688-6C74291B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8669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接收槽位：[2,3]</a:t>
            </a:r>
          </a:p>
        </p:txBody>
      </p:sp>
      <p:sp>
        <p:nvSpPr>
          <p:cNvPr id="17" name="物理偏移由 CalcCclBuffIdx 计算">
            <a:extLst xmlns:a="http://schemas.openxmlformats.org/drawingml/2006/main">
              <a:ext uri="{FF2B5EF4-FFF2-40B4-BE49-F238E27FC236}">
                <a16:creationId xmlns:a16="http://schemas.microsoft.com/office/drawing/2014/main" id="{EF6E7C5F-DFDA-4A43-9D1E-83BFCB2E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66950"/>
            <a:ext cx="268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物理偏移由 CalcCclBuffIdx 计算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3BE4C-8662-4592-843F-280511AF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6685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9" name="Rank 1 · recvBuf">
            <a:extLst xmlns:a="http://schemas.openxmlformats.org/drawingml/2006/main">
              <a:ext uri="{FF2B5EF4-FFF2-40B4-BE49-F238E27FC236}">
                <a16:creationId xmlns:a16="http://schemas.microsoft.com/office/drawing/2014/main" id="{B5F27B66-23B7-4940-9D89-1975940C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524000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 · recvBuf</a:t>
            </a:r>
          </a:p>
        </p:txBody>
      </p:sp>
      <p:sp>
        <p:nvSpPr>
          <p:cNvPr id="20" name="[2,3]  [12,13]  [22,23]  [32,33]">
            <a:extLst xmlns:a="http://schemas.openxmlformats.org/drawingml/2006/main">
              <a:ext uri="{FF2B5EF4-FFF2-40B4-BE49-F238E27FC236}">
                <a16:creationId xmlns:a16="http://schemas.microsoft.com/office/drawing/2014/main" id="{6F77D9E9-F05E-43CC-89B0-A1B57EF8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8669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[2,3]  [12,13]  [22,23]  [32,33]</a:t>
            </a:r>
          </a:p>
        </p:txBody>
      </p:sp>
      <p:sp>
        <p:nvSpPr>
          <p:cNvPr id="21" name="按来源 Rank 0 放到 recvBuf[0]">
            <a:extLst xmlns:a="http://schemas.openxmlformats.org/drawingml/2006/main">
              <a:ext uri="{FF2B5EF4-FFF2-40B4-BE49-F238E27FC236}">
                <a16:creationId xmlns:a16="http://schemas.microsoft.com/office/drawing/2014/main" id="{62A6DE4E-0CB7-411D-84F3-04A05D6D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66950"/>
            <a:ext cx="2686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按来源 Rank 0 放到 recvBuf[0]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0BED4D-A884-464C-A5B5-89885EE2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6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2D2CFA-78D6-4E1D-93DC-07BA9AA5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6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144203" y="2067402"/>
            <a:ext cx="152304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5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1EF60FAD-D0C1-4B14-B7D4-3FBA9EB4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38300"/>
            <a:ext cx="1400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26" name="跨 Rank · 8 字节">
            <a:extLst xmlns:a="http://schemas.openxmlformats.org/drawingml/2006/main">
              <a:ext uri="{FF2B5EF4-FFF2-40B4-BE49-F238E27FC236}">
                <a16:creationId xmlns:a16="http://schemas.microsoft.com/office/drawing/2014/main" id="{8CAD89E0-D564-4D68-AE52-23104BB4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1362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跨 Rank · 8 字节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191E67-8E39-42E5-9542-C861D65E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6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7EAF58-D72C-4B03-A197-5802C567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66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525703" y="2067402"/>
            <a:ext cx="1523047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0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F3F7DF23-3CDB-493A-A1D0-BEDB64B5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609725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1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31" name="接收后的本地拷贝">
            <a:extLst xmlns:a="http://schemas.openxmlformats.org/drawingml/2006/main">
              <a:ext uri="{FF2B5EF4-FFF2-40B4-BE49-F238E27FC236}">
                <a16:creationId xmlns:a16="http://schemas.microsoft.com/office/drawing/2014/main" id="{8762D1BB-9BC3-499F-933D-999AE13D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接收后的本地拷贝</a:t>
            </a:r>
          </a:p>
        </p:txBody>
      </p:sp>
      <p:sp>
        <p:nvSpPr>
          <p:cNvPr id="32" name="Rank 0 的反向接收：Rank 1 的 [10,11] 先写入 Rank 0 CCL，再由 PostCopy 拷到 Rank 0 recvBuf[2]。">
            <a:extLst xmlns:a="http://schemas.openxmlformats.org/drawingml/2006/main">
              <a:ext uri="{FF2B5EF4-FFF2-40B4-BE49-F238E27FC236}">
                <a16:creationId xmlns:a16="http://schemas.microsoft.com/office/drawing/2014/main" id="{59559AB9-8668-4897-A1C5-DC3EEA48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714625"/>
            <a:ext cx="11610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0 的反向接收：Rank 1 的 [10,11] 先写入 Rank 0 CCL，再由 PostCopy 拷到 Rank 0 recvBuf[2]。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650E6E-C784-444A-8A92-35A81293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38500"/>
            <a:ext cx="11620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WriteOnThread 的 950 适配路径（HCOMM 数据面内部）">
            <a:extLst xmlns:a="http://schemas.openxmlformats.org/drawingml/2006/main">
              <a:ext uri="{FF2B5EF4-FFF2-40B4-BE49-F238E27FC236}">
                <a16:creationId xmlns:a16="http://schemas.microsoft.com/office/drawing/2014/main" id="{A8700DD7-EF14-41FB-8943-E0EC9D2E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67075"/>
            <a:ext cx="11468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 的 950 适配路径（HCOMM 数据面内部）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ABDBC4-99E7-4342-BF56-DDC8C7E0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05225"/>
            <a:ext cx="3667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6" name="1  解析 Channel 与 Thread">
            <a:extLst xmlns:a="http://schemas.openxmlformats.org/drawingml/2006/main">
              <a:ext uri="{FF2B5EF4-FFF2-40B4-BE49-F238E27FC236}">
                <a16:creationId xmlns:a16="http://schemas.microsoft.com/office/drawing/2014/main" id="{4249461C-578A-46F4-8D83-7A618F6E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52850"/>
            <a:ext cx="3514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  解析 Channel 与 Thread</a:t>
            </a:r>
          </a:p>
        </p:txBody>
      </p:sp>
      <p:sp>
        <p:nvSpPr>
          <p:cNvPr id="37" name="API含义">
            <a:extLst xmlns:a="http://schemas.openxmlformats.org/drawingml/2006/main">
              <a:ext uri="{FF2B5EF4-FFF2-40B4-BE49-F238E27FC236}">
                <a16:creationId xmlns:a16="http://schemas.microsoft.com/office/drawing/2014/main" id="{57AB185F-A384-4C51-8A51-E6F89ACB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19550"/>
            <a:ext cx="3514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UnwrapChannelHandle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取得实际通道对象</a:t>
            </a:r>
          </a:p>
        </p:txBody>
      </p:sp>
      <p:sp>
        <p:nvSpPr>
          <p:cNvPr id="38" name="API含义">
            <a:extLst xmlns:a="http://schemas.openxmlformats.org/drawingml/2006/main">
              <a:ext uri="{FF2B5EF4-FFF2-40B4-BE49-F238E27FC236}">
                <a16:creationId xmlns:a16="http://schemas.microsoft.com/office/drawing/2014/main" id="{37B2C462-C53B-4892-8521-B93EA6DC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29100"/>
            <a:ext cx="3514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AddThread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登记参与本批任务的 Thread</a:t>
            </a:r>
          </a:p>
        </p:txBody>
      </p:sp>
      <p:sp>
        <p:nvSpPr>
          <p:cNvPr id="39" name="API含义">
            <a:extLst xmlns:a="http://schemas.openxmlformats.org/drawingml/2006/main">
              <a:ext uri="{FF2B5EF4-FFF2-40B4-BE49-F238E27FC236}">
                <a16:creationId xmlns:a16="http://schemas.microsoft.com/office/drawing/2014/main" id="{6792A6AD-D153-4A7C-8B15-169C6B85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38650"/>
            <a:ext cx="3514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Thread::GetStreamLitePtr</a:t>
            </a:r>
            <a:r>
              <a:rPr sz="90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取得轻量任务流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974034-6FBD-424D-A841-AD88A555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05225"/>
            <a:ext cx="3667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1" name="2  组织本地访问与远端写">
            <a:extLst xmlns:a="http://schemas.openxmlformats.org/drawingml/2006/main">
              <a:ext uri="{FF2B5EF4-FFF2-40B4-BE49-F238E27FC236}">
                <a16:creationId xmlns:a16="http://schemas.microsoft.com/office/drawing/2014/main" id="{C60C697D-32F2-476D-B8D5-E574C00A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3514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  组织本地访问与远端写</a:t>
            </a:r>
          </a:p>
        </p:txBody>
      </p:sp>
      <p:sp>
        <p:nvSpPr>
          <p:cNvPr id="42" name="BaseTransportLiteImpl::&#10;BuildLocRmaBufferLite">
            <a:extLst xmlns:a="http://schemas.openxmlformats.org/drawingml/2006/main">
              <a:ext uri="{FF2B5EF4-FFF2-40B4-BE49-F238E27FC236}">
                <a16:creationId xmlns:a16="http://schemas.microsoft.com/office/drawing/2014/main" id="{6565550F-2FE5-4315-97ED-A566F546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BaseTransportLiteImpl::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BuildLocRmaBufferLite</a:t>
            </a:r>
          </a:p>
        </p:txBody>
      </p:sp>
      <p:sp>
        <p:nvSpPr>
          <p:cNvPr id="43" name="构造 src / len 的本地访问描述">
            <a:extLst xmlns:a="http://schemas.openxmlformats.org/drawingml/2006/main">
              <a:ext uri="{FF2B5EF4-FFF2-40B4-BE49-F238E27FC236}">
                <a16:creationId xmlns:a16="http://schemas.microsoft.com/office/drawing/2014/main" id="{88A6B3C6-2D68-4A4D-AA31-057081D1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05325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构造 src / len 的本地访问描述</a:t>
            </a:r>
          </a:p>
        </p:txBody>
      </p:sp>
      <p:sp>
        <p:nvSpPr>
          <p:cNvPr id="44" name="BaseTransportLiteImpl::Write">
            <a:extLst xmlns:a="http://schemas.openxmlformats.org/drawingml/2006/main">
              <a:ext uri="{FF2B5EF4-FFF2-40B4-BE49-F238E27FC236}">
                <a16:creationId xmlns:a16="http://schemas.microsoft.com/office/drawing/2014/main" id="{213A8EA4-7096-426E-A5AB-8AEA0436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48225"/>
            <a:ext cx="347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3CEC05-B610-4656-A74D-0B8E6AEB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05225"/>
            <a:ext cx="36576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6" name="3  交给所选传输实现">
            <a:extLst xmlns:a="http://schemas.openxmlformats.org/drawingml/2006/main">
              <a:ext uri="{FF2B5EF4-FFF2-40B4-BE49-F238E27FC236}">
                <a16:creationId xmlns:a16="http://schemas.microsoft.com/office/drawing/2014/main" id="{993A5723-395A-4870-8C1E-9E3C576C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3505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  交给所选传输实现</a:t>
            </a:r>
          </a:p>
        </p:txBody>
      </p:sp>
      <p:sp>
        <p:nvSpPr>
          <p:cNvPr id="47" name="结合远端地址、Channel 与任务流&#10;生成具体传输任务。">
            <a:extLst xmlns:a="http://schemas.openxmlformats.org/drawingml/2006/main">
              <a:ext uri="{FF2B5EF4-FFF2-40B4-BE49-F238E27FC236}">
                <a16:creationId xmlns:a16="http://schemas.microsoft.com/office/drawing/2014/main" id="{9F3BE0B3-1478-4D4F-BE47-4BBF1985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14800"/>
            <a:ext cx="3467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结合远端地址、Channel 与任务流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生成具体传输任务。</a:t>
            </a:r>
          </a:p>
        </p:txBody>
      </p:sp>
      <p:sp>
        <p:nvSpPr>
          <p:cNvPr id="48" name="更深一层随 UB / 其他协议而变化。">
            <a:extLst xmlns:a="http://schemas.openxmlformats.org/drawingml/2006/main">
              <a:ext uri="{FF2B5EF4-FFF2-40B4-BE49-F238E27FC236}">
                <a16:creationId xmlns:a16="http://schemas.microsoft.com/office/drawing/2014/main" id="{D7FD8A93-78A6-4C93-95EA-3189617F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10125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更深一层随 UB / 其他协议而变化。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0A2F46-F791-4DF2-8937-73EF4594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905B79-5C1D-4A2C-9CE4-AC5C48B7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3953828" y="4439127"/>
            <a:ext cx="3133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BA739F-8AED-40B2-9986-0CE632FE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D7307E-396B-4B92-B245-E3B30E73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7935278" y="4439127"/>
            <a:ext cx="3133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5" name="HcommLocalCopyOnThread 内部走 Thread::LocalCopy，处理自分片与接收后拷贝。AllToAll 不需要归约计算原语。">
            <a:extLst xmlns:a="http://schemas.openxmlformats.org/drawingml/2006/main">
              <a:ext uri="{FF2B5EF4-FFF2-40B4-BE49-F238E27FC236}">
                <a16:creationId xmlns:a16="http://schemas.microsoft.com/office/drawing/2014/main" id="{C6F02260-7ACF-415B-99A8-2F45A6F4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495925"/>
            <a:ext cx="11610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 内部走 Thread::LocalCopy，处理自分片与接收后拷贝。AllToAll 不需要归约计算原语。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69419B-AE24-4CE1-89C1-B9B05AD9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1162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57" name="例子中的下标是元素下标，FP32 每个 4 字节。CCL 槽位不是直接用远端 Rank 作为物理数组下标。">
            <a:extLst xmlns:a="http://schemas.openxmlformats.org/drawingml/2006/main">
              <a:ext uri="{FF2B5EF4-FFF2-40B4-BE49-F238E27FC236}">
                <a16:creationId xmlns:a16="http://schemas.microsoft.com/office/drawing/2014/main" id="{462ACE79-5996-45E8-B985-D7C497A7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例子中的下标是元素下标，FP32 每个 4 字节。CCL 槽位不是直接用远端 Rank 作为物理数组下标。</a:t>
            </a:r>
          </a:p>
        </p:txBody>
      </p:sp>
    </p:spTree>
    <p:extLst>
      <p:ext uri="{BB962C8B-B14F-4D97-AF65-F5344CB8AC3E}">
        <p14:creationId xmlns:p14="http://schemas.microsoft.com/office/powerpoint/2010/main" val="12749762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⑧ 完成通知：从 Thread 汇合后，用户流才能继续">
            <a:extLst xmlns:a="http://schemas.openxmlformats.org/drawingml/2006/main">
              <a:ext uri="{FF2B5EF4-FFF2-40B4-BE49-F238E27FC236}">
                <a16:creationId xmlns:a16="http://schemas.microsoft.com/office/drawing/2014/main" id="{0DD457BD-6C84-47DC-9CCA-115E0122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2400"/>
            <a:ext cx="1143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⑧ 完成通知：从 Thread 汇合后，用户流才能继续</a:t>
            </a:r>
          </a:p>
        </p:txBody>
      </p:sp>
      <p:sp>
        <p:nvSpPr>
          <p:cNvPr id="2" name="展开总览第⑧块。Host 的完成 Wait 早在发射后就已入队，此处等待设备最终 Record 满足它。">
            <a:extLst xmlns:a="http://schemas.openxmlformats.org/drawingml/2006/main">
              <a:ext uri="{FF2B5EF4-FFF2-40B4-BE49-F238E27FC236}">
                <a16:creationId xmlns:a16="http://schemas.microsoft.com/office/drawing/2014/main" id="{08F3091D-8B8E-4585-A004-23DC4F35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05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展开总览第⑧块。Host 的完成 Wait 早在发射后就已入队，此处等待设备最终 Record 满足它。</a:t>
            </a:r>
          </a:p>
        </p:txBody>
      </p:sp>
      <p:sp>
        <p:nvSpPr>
          <p:cNvPr id="3" name="9 / 9">
            <a:extLst xmlns:a="http://schemas.openxmlformats.org/drawingml/2006/main">
              <a:ext uri="{FF2B5EF4-FFF2-40B4-BE49-F238E27FC236}">
                <a16:creationId xmlns:a16="http://schemas.microsoft.com/office/drawing/2014/main" id="{9E228604-02FF-4618-9D06-9DA7A822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00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9 /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9A53B-C6DD-41F2-8905-34CAEA04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C899E-6AAD-44AF-BAF7-D22A6D17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DFD9"/>
            </a:solidFill>
            <a:prstDash val="solid"/>
          </a:ln>
        </p:spPr>
      </p:cxnSp>
      <p:sp>
        <p:nvSpPr>
          <p:cNvPr id="7" name="⑧ 完成与继续 · 总览第1页　　源码：hccl 170ddeec / hcomm 87ce550f，静态分析，未上板验证。">
            <a:extLst xmlns:a="http://schemas.openxmlformats.org/drawingml/2006/main">
              <a:ext uri="{FF2B5EF4-FFF2-40B4-BE49-F238E27FC236}">
                <a16:creationId xmlns:a16="http://schemas.microsoft.com/office/drawing/2014/main" id="{B7E1ABDC-6223-4C75-914E-6817923E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⑧ 完成与继续 · 总览第1页　　源码：hccl 170ddeec / hcomm 87ce550f，静态分析，未上板验证。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321C2-16B1-4C17-B8D1-0D253D1C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90600"/>
            <a:ext cx="3667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设备从 Thread（有从队列时）">
            <a:extLst xmlns:a="http://schemas.openxmlformats.org/drawingml/2006/main">
              <a:ext uri="{FF2B5EF4-FFF2-40B4-BE49-F238E27FC236}">
                <a16:creationId xmlns:a16="http://schemas.microsoft.com/office/drawing/2014/main" id="{54AB4E60-8F54-483C-A9E4-B5A01CF2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19175"/>
            <a:ext cx="3514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设备从 Thread（有从队列时）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14C5B-E24B-42D6-B596-5EFF68FE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990600"/>
            <a:ext cx="3667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设备主 Thread">
            <a:extLst xmlns:a="http://schemas.openxmlformats.org/drawingml/2006/main">
              <a:ext uri="{FF2B5EF4-FFF2-40B4-BE49-F238E27FC236}">
                <a16:creationId xmlns:a16="http://schemas.microsoft.com/office/drawing/2014/main" id="{3527230E-AF38-474A-8709-38E5AEB2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019175"/>
            <a:ext cx="3514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设备主 Thread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277CE-AED6-4D2D-867C-BEEDF35B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990600"/>
            <a:ext cx="36576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3" name="Host 用户 stream / Thread">
            <a:extLst xmlns:a="http://schemas.openxmlformats.org/drawingml/2006/main">
              <a:ext uri="{FF2B5EF4-FFF2-40B4-BE49-F238E27FC236}">
                <a16:creationId xmlns:a16="http://schemas.microsoft.com/office/drawing/2014/main" id="{B4011D93-A596-48DD-A90C-DB74D444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019175"/>
            <a:ext cx="3505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Host 用户 stream / Thread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373A6-A929-4E73-9851-534DEC7C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57325"/>
            <a:ext cx="36671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5" name="1  当前块搬运和后拷贝完成">
            <a:extLst xmlns:a="http://schemas.openxmlformats.org/drawingml/2006/main">
              <a:ext uri="{FF2B5EF4-FFF2-40B4-BE49-F238E27FC236}">
                <a16:creationId xmlns:a16="http://schemas.microsoft.com/office/drawing/2014/main" id="{DA7B2C70-219A-47D6-9943-B7F79333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04950"/>
            <a:ext cx="3514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  当前块搬运和后拷贝完成</a:t>
            </a:r>
          </a:p>
        </p:txBody>
      </p:sp>
      <p:sp>
        <p:nvSpPr>
          <p:cNvPr id="16" name="本块最后的通信与 PostCopy&#10;位于完成通知之前。">
            <a:extLst xmlns:a="http://schemas.openxmlformats.org/drawingml/2006/main">
              <a:ext uri="{FF2B5EF4-FFF2-40B4-BE49-F238E27FC236}">
                <a16:creationId xmlns:a16="http://schemas.microsoft.com/office/drawing/2014/main" id="{63D29E24-1DAF-416C-AA75-E90A387E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57375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本块最后的通信与 PostCopy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位于完成通知之前。</a:t>
            </a:r>
          </a:p>
        </p:txBody>
      </p:sp>
      <p:sp>
        <p:nvSpPr>
          <p:cNvPr id="17" name="API含义">
            <a:extLst xmlns:a="http://schemas.openxmlformats.org/drawingml/2006/main">
              <a:ext uri="{FF2B5EF4-FFF2-40B4-BE49-F238E27FC236}">
                <a16:creationId xmlns:a16="http://schemas.microsoft.com/office/drawing/2014/main" id="{61DE2DD9-3A43-44C6-8AF7-195C5011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38400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18" name="从 Thread 通知主 Thread">
            <a:extLst xmlns:a="http://schemas.openxmlformats.org/drawingml/2006/main">
              <a:ext uri="{FF2B5EF4-FFF2-40B4-BE49-F238E27FC236}">
                <a16:creationId xmlns:a16="http://schemas.microsoft.com/office/drawing/2014/main" id="{A3FAE469-CF07-49ED-B464-6284E2A9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76525"/>
            <a:ext cx="3476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从 Thread 通知主 Thread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FC8C3-BDA3-4FB8-9CDB-134D10F7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57325"/>
            <a:ext cx="36671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20" name="2  PostSyncInterThreads 汇合">
            <a:extLst xmlns:a="http://schemas.openxmlformats.org/drawingml/2006/main">
              <a:ext uri="{FF2B5EF4-FFF2-40B4-BE49-F238E27FC236}">
                <a16:creationId xmlns:a16="http://schemas.microsoft.com/office/drawing/2014/main" id="{A3082AB9-0347-4084-B3D3-3BA23598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04950"/>
            <a:ext cx="3514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  PostSyncInterThreads 汇合</a:t>
            </a:r>
          </a:p>
        </p:txBody>
      </p:sp>
      <p:sp>
        <p:nvSpPr>
          <p:cNvPr id="21" name="API含义">
            <a:extLst xmlns:a="http://schemas.openxmlformats.org/drawingml/2006/main">
              <a:ext uri="{FF2B5EF4-FFF2-40B4-BE49-F238E27FC236}">
                <a16:creationId xmlns:a16="http://schemas.microsoft.com/office/drawing/2014/main" id="{CDCC3D3F-4D4E-4A4A-A583-1E3FB7CE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7642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99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22" name="主 Thread 等所有参与的从 Thread。&#10;C++ 下发可先排 Wait，再排从 Record。">
            <a:extLst xmlns:a="http://schemas.openxmlformats.org/drawingml/2006/main">
              <a:ext uri="{FF2B5EF4-FFF2-40B4-BE49-F238E27FC236}">
                <a16:creationId xmlns:a16="http://schemas.microsoft.com/office/drawing/2014/main" id="{ECB1E7C9-60F7-4521-8511-69223D64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19325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82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82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主 Thread 等所有参与的从 Thread。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82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82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C++ 下发可先排 Wait，再排从 Record。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6FF2A-5F15-437F-890C-33EEC455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D6B64D-55D1-4595-807E-637B377E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19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953828" y="2619852"/>
            <a:ext cx="3133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A057B7-ADE6-47CD-A85D-7A6FD9C4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57325"/>
            <a:ext cx="3657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27" name="早已排入：完成等待">
            <a:extLst xmlns:a="http://schemas.openxmlformats.org/drawingml/2006/main">
              <a:ext uri="{FF2B5EF4-FFF2-40B4-BE49-F238E27FC236}">
                <a16:creationId xmlns:a16="http://schemas.microsoft.com/office/drawing/2014/main" id="{8679EEE4-3A68-4501-8EF4-D5DDC936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3505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早已排入：完成等待</a:t>
            </a:r>
          </a:p>
        </p:txBody>
      </p:sp>
      <p:sp>
        <p:nvSpPr>
          <p:cNvPr id="28" name="API含义">
            <a:extLst xmlns:a="http://schemas.openxmlformats.org/drawingml/2006/main">
              <a:ext uri="{FF2B5EF4-FFF2-40B4-BE49-F238E27FC236}">
                <a16:creationId xmlns:a16="http://schemas.microsoft.com/office/drawing/2014/main" id="{4DEE2A9E-5B6D-4E6F-A223-950052C5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57375"/>
            <a:ext cx="3467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9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29" name="排在用户流后续任务之前">
            <a:extLst xmlns:a="http://schemas.openxmlformats.org/drawingml/2006/main">
              <a:ext uri="{FF2B5EF4-FFF2-40B4-BE49-F238E27FC236}">
                <a16:creationId xmlns:a16="http://schemas.microsoft.com/office/drawing/2014/main" id="{B6C9A309-E75F-48BB-B2B8-A319EF41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3467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排在用户流后续任务之前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C41B20-BDFD-45F3-901B-48088C35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24225"/>
            <a:ext cx="366712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1" name="3  全部数据块编排完毕">
            <a:extLst xmlns:a="http://schemas.openxmlformats.org/drawingml/2006/main">
              <a:ext uri="{FF2B5EF4-FFF2-40B4-BE49-F238E27FC236}">
                <a16:creationId xmlns:a16="http://schemas.microsoft.com/office/drawing/2014/main" id="{D46B29C2-8015-457E-8ABA-4AFD3463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3514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  全部数据块编排完毕</a:t>
            </a:r>
          </a:p>
        </p:txBody>
      </p:sp>
      <p:sp>
        <p:nvSpPr>
          <p:cNvPr id="32" name="API含义">
            <a:extLst xmlns:a="http://schemas.openxmlformats.org/drawingml/2006/main">
              <a:ext uri="{FF2B5EF4-FFF2-40B4-BE49-F238E27FC236}">
                <a16:creationId xmlns:a16="http://schemas.microsoft.com/office/drawing/2014/main" id="{DA55110D-01C6-47DD-A532-A2BBE139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3514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9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有下一块则继续，否则返回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D03819-BE3E-4A17-BAEE-ED600CBD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CB3F21-CF8D-4AB2-9C15-67667CA0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6096477" y="2944178"/>
            <a:ext cx="0" cy="38004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0AD94D-E127-43B4-82FF-3BF29C48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91050"/>
            <a:ext cx="36671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37" name="4  排入算子完成通知">
            <a:extLst xmlns:a="http://schemas.openxmlformats.org/drawingml/2006/main">
              <a:ext uri="{FF2B5EF4-FFF2-40B4-BE49-F238E27FC236}">
                <a16:creationId xmlns:a16="http://schemas.microsoft.com/office/drawing/2014/main" id="{9F188CBF-40DE-4884-B711-6506CCA9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38675"/>
            <a:ext cx="3514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4  排入算子完成通知</a:t>
            </a:r>
          </a:p>
        </p:txBody>
      </p:sp>
      <p:sp>
        <p:nvSpPr>
          <p:cNvPr id="38" name="API含义">
            <a:extLst xmlns:a="http://schemas.openxmlformats.org/drawingml/2006/main">
              <a:ext uri="{FF2B5EF4-FFF2-40B4-BE49-F238E27FC236}">
                <a16:creationId xmlns:a16="http://schemas.microsoft.com/office/drawing/2014/main" id="{F765A8E1-403D-4C79-AD8C-D57A1994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6252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9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</a:t>
            </a:r>
          </a:p>
        </p:txBody>
      </p:sp>
      <p:sp>
        <p:nvSpPr>
          <p:cNvPr id="39" name="目标为用户 Thread；受全部通信与汇合依赖约束。">
            <a:extLst xmlns:a="http://schemas.openxmlformats.org/drawingml/2006/main">
              <a:ext uri="{FF2B5EF4-FFF2-40B4-BE49-F238E27FC236}">
                <a16:creationId xmlns:a16="http://schemas.microsoft.com/office/drawing/2014/main" id="{CDDECDB1-BF65-4B5F-9969-3767A0B9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95900"/>
            <a:ext cx="3476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目标为用户 Thread；受全部通信与汇合依赖约束。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8826C1-7E52-4D7D-85C3-5C62CD99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48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FC4104-8264-4102-B9D4-C006C343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6096477" y="4249103"/>
            <a:ext cx="0" cy="34194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DC0A45-0B67-4065-A9BE-39AC7D13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91050"/>
            <a:ext cx="3657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44" name="5  完成依赖满足后继续">
            <a:extLst xmlns:a="http://schemas.openxmlformats.org/drawingml/2006/main">
              <a:ext uri="{FF2B5EF4-FFF2-40B4-BE49-F238E27FC236}">
                <a16:creationId xmlns:a16="http://schemas.microsoft.com/office/drawing/2014/main" id="{D77E2A3B-B997-41CA-91AC-4C7BCC54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38675"/>
            <a:ext cx="3505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5  完成依赖满足后继续</a:t>
            </a:r>
          </a:p>
        </p:txBody>
      </p:sp>
      <p:sp>
        <p:nvSpPr>
          <p:cNvPr id="45" name="此前排入的 Wait 得到满足。&#10;用户流后续任务现在可以使用 recvBuf。">
            <a:extLst xmlns:a="http://schemas.openxmlformats.org/drawingml/2006/main">
              <a:ext uri="{FF2B5EF4-FFF2-40B4-BE49-F238E27FC236}">
                <a16:creationId xmlns:a16="http://schemas.microsoft.com/office/drawing/2014/main" id="{3AA469CD-D832-4678-9BB7-D5DECDF2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00625"/>
            <a:ext cx="346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此前排入的 Wait 得到满足。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用户流后续任务现在可以使用 recvBuf。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C4DCC6-6F31-4C3F-996B-F3BCAAFA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12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E60157-15FD-42DB-8052-7B4E7499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2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7935278" y="5124927"/>
            <a:ext cx="31337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743B18-3D72-4272-99B9-2EF41494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05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F1DB0B-A0F0-47E5-82EB-4D9E2179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591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10077927" y="2506028"/>
            <a:ext cx="0" cy="208502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45B5C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0431D2-0D49-4469-AB23-84B7A8F9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76650"/>
            <a:ext cx="36671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53" name="Kernel 中的执行控制收尾">
            <a:extLst xmlns:a="http://schemas.openxmlformats.org/drawingml/2006/main">
              <a:ext uri="{FF2B5EF4-FFF2-40B4-BE49-F238E27FC236}">
                <a16:creationId xmlns:a16="http://schemas.microsoft.com/office/drawing/2014/main" id="{D0E087F9-1B73-4B74-A3FA-F1B9F3C3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24275"/>
            <a:ext cx="3514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Kernel 中的执行控制收尾</a:t>
            </a:r>
          </a:p>
        </p:txBody>
      </p:sp>
      <p:sp>
        <p:nvSpPr>
          <p:cNvPr id="54" name="API含义">
            <a:extLst xmlns:a="http://schemas.openxmlformats.org/drawingml/2006/main">
              <a:ext uri="{FF2B5EF4-FFF2-40B4-BE49-F238E27FC236}">
                <a16:creationId xmlns:a16="http://schemas.microsoft.com/office/drawing/2014/main" id="{E3796E71-D90F-4213-845C-745D46E0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33850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HcommBatchModeEnd</a:t>
            </a:r>
            <a:r>
              <a:rPr sz="9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结束批模式</a:t>
            </a:r>
          </a:p>
        </p:txBody>
      </p:sp>
      <p:sp>
        <p:nvSpPr>
          <p:cNvPr id="55" name="提交本批尚未交出的任务。">
            <a:extLst xmlns:a="http://schemas.openxmlformats.org/drawingml/2006/main">
              <a:ext uri="{FF2B5EF4-FFF2-40B4-BE49-F238E27FC236}">
                <a16:creationId xmlns:a16="http://schemas.microsoft.com/office/drawing/2014/main" id="{8F8327C2-9CCE-4DB1-8D7B-5BFE11BD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19600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提交本批尚未交出的任务。</a:t>
            </a:r>
          </a:p>
        </p:txBody>
      </p:sp>
      <p:sp>
        <p:nvSpPr>
          <p:cNvPr id="56" name="API含义">
            <a:extLst xmlns:a="http://schemas.openxmlformats.org/drawingml/2006/main">
              <a:ext uri="{FF2B5EF4-FFF2-40B4-BE49-F238E27FC236}">
                <a16:creationId xmlns:a16="http://schemas.microsoft.com/office/drawing/2014/main" id="{8B9DDC7E-50D5-4D6C-B40C-3E739F6C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33950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HcommReleaseComm</a:t>
            </a:r>
            <a:r>
              <a:rPr sz="9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退出使用保护</a:t>
            </a:r>
          </a:p>
        </p:txBody>
      </p:sp>
      <p:sp>
        <p:nvSpPr>
          <p:cNvPr id="57" name="不销毁通信域，不清空全部缓存资源。">
            <a:extLst xmlns:a="http://schemas.openxmlformats.org/drawingml/2006/main">
              <a:ext uri="{FF2B5EF4-FFF2-40B4-BE49-F238E27FC236}">
                <a16:creationId xmlns:a16="http://schemas.microsoft.com/office/drawing/2014/main" id="{7A814776-AC66-4685-9D3A-84C29C2A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29225"/>
            <a:ext cx="3476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不销毁通信域，不清空全部缓存资源。</a:t>
            </a:r>
          </a:p>
        </p:txBody>
      </p:sp>
      <p:sp>
        <p:nvSpPr>
          <p:cNvPr id="58" name="这两个调用位于最终 Record 之后。">
            <a:extLst xmlns:a="http://schemas.openxmlformats.org/drawingml/2006/main">
              <a:ext uri="{FF2B5EF4-FFF2-40B4-BE49-F238E27FC236}">
                <a16:creationId xmlns:a16="http://schemas.microsoft.com/office/drawing/2014/main" id="{64DCFB67-251F-41BA-9FB3-274BEC70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34025"/>
            <a:ext cx="3476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这两个调用位于最终 Record 之后。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B973DD-1DD0-4BB0-8D3B-D07B616B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05525"/>
            <a:ext cx="1162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0" name="CPU API 返回、BatchModeEnd 返回或 ReleaseComm 返回，都不能单独代表全网所有 Rank 已完成。">
            <a:extLst xmlns:a="http://schemas.openxmlformats.org/drawingml/2006/main">
              <a:ext uri="{FF2B5EF4-FFF2-40B4-BE49-F238E27FC236}">
                <a16:creationId xmlns:a16="http://schemas.microsoft.com/office/drawing/2014/main" id="{0CBCC518-4D7C-4AC6-8845-B3DEDC8C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43625"/>
            <a:ext cx="1141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CPU API 返回、BatchModeEnd 返回或 ReleaseComm 返回，都不能单独代表全网所有 Rank 已完成。</a:t>
            </a:r>
          </a:p>
        </p:txBody>
      </p:sp>
    </p:spTree>
    <p:extLst>
      <p:ext uri="{BB962C8B-B14F-4D97-AF65-F5344CB8AC3E}">
        <p14:creationId xmlns:p14="http://schemas.microsoft.com/office/powerpoint/2010/main" val="213154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2026-09-27T13:26:12.6700000Z</dcterms:created>
  <dcterms:modified xsi:type="dcterms:W3CDTF">2026-09-27T13:26:12.6700000Z</dcterms:modified>
</coreProperties>
</file>