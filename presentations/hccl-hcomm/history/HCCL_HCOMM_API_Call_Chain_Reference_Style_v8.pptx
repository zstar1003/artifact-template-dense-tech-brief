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11e4f342af4793" /><Relationship Type="http://schemas.openxmlformats.org/officeDocument/2006/relationships/extended-properties" Target="/docProps/app.xml" Id="Rb6bf249a65f7499e" /><Relationship Type="http://schemas.openxmlformats.org/officeDocument/2006/relationships/officeDocument" Target="/ppt/presentation.xml" Id="R527ae7f5bb8440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5082b5ab5c4d69"/>
  </p:sldMasterIdLst>
  <p:notesMasterIdLst>
    <p:notesMasterId xmlns:r="http://schemas.openxmlformats.org/officeDocument/2006/relationships" r:id="R3757211e39f94bc4"/>
  </p:notesMasterIdLst>
  <p:sldIdLst>
    <p:sldId xmlns:r="http://schemas.openxmlformats.org/officeDocument/2006/relationships" id="256" r:id="R858a9b4acbb94570"/>
    <p:sldId xmlns:r="http://schemas.openxmlformats.org/officeDocument/2006/relationships" id="257" r:id="R6eba72d16de24a2d"/>
    <p:sldId xmlns:r="http://schemas.openxmlformats.org/officeDocument/2006/relationships" id="258" r:id="R72f1d795057e40f2"/>
    <p:sldId xmlns:r="http://schemas.openxmlformats.org/officeDocument/2006/relationships" id="259" r:id="Rd71a95a0626041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fd6ad82a954d86" /><Relationship Type="http://schemas.openxmlformats.org/officeDocument/2006/relationships/slideMaster" Target="/ppt/slideMasters/slideMaster1.xml" Id="Rfe5082b5ab5c4d69" /><Relationship Type="http://schemas.openxmlformats.org/officeDocument/2006/relationships/notesMaster" Target="/ppt/notesMasters/notesMaster1.xml" Id="R3757211e39f94bc4" /><Relationship Type="http://schemas.openxmlformats.org/officeDocument/2006/relationships/presProps" Target="/ppt/presProps.xml" Id="R4421a91572c348b3" /><Relationship Type="http://schemas.openxmlformats.org/officeDocument/2006/relationships/tableStyles" Target="/ppt/tableStyles.xml" Id="R7cb755bf5eac4fe2" /><Relationship Type="http://schemas.openxmlformats.org/officeDocument/2006/relationships/slide" Target="/ppt/slides/slide1.xml" Id="R858a9b4acbb94570" /><Relationship Type="http://schemas.openxmlformats.org/officeDocument/2006/relationships/slide" Target="/ppt/slides/slide2.xml" Id="R6eba72d16de24a2d" /><Relationship Type="http://schemas.openxmlformats.org/officeDocument/2006/relationships/slide" Target="/ppt/slides/slide3.xml" Id="R72f1d795057e40f2" /><Relationship Type="http://schemas.openxmlformats.org/officeDocument/2006/relationships/slide" Target="/ppt/slides/slide4.xml" Id="Rd71a95a0626041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8f87b67a6b41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0fb8c967584a64" /><Relationship Type="http://schemas.openxmlformats.org/officeDocument/2006/relationships/notesMaster" Target="/ppt/notesMasters/notesMaster1.xml" Id="R3ec13d67cb764d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afc16d1adb4745" /><Relationship Type="http://schemas.openxmlformats.org/officeDocument/2006/relationships/notesMaster" Target="/ppt/notesMasters/notesMaster1.xml" Id="Re9e19aefeb3a4c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fe84d0494e4513" /><Relationship Type="http://schemas.openxmlformats.org/officeDocument/2006/relationships/notesMaster" Target="/ppt/notesMasters/notesMaster1.xml" Id="R80960ad612d047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6491e76e4e4152" /><Relationship Type="http://schemas.openxmlformats.org/officeDocument/2006/relationships/notesMaster" Target="/ppt/notesMasters/notesMaster1.xml" Id="R36ef742482564e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本页采用参考图的三段软件栈与右侧编号解读结构。源码依据：hccl/src/ops/all_reduce/all_reduce.cc，hccl/src/ops/op_common/op_common.cc，hcomm RankGraph、Channel 与 Engine 相关实现。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SelectorEngine 与 ExecuteSelector 是不同选择入口，不应讲成顺序调用。旧流程或条件不满足时可能进入 legacy 分支。本页所有 API 均来自已克隆源码分析。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阅读顺序：每列自上而下，完成后进入右侧下一列。黄色步骤标出跨层边界、核心 HCOMM 创建点、一致性检查和资源回填点。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三列为互斥执行路径。AICPU 最终调用 Hcomm*OnThread；AIV 最终调用 aclrtLaunchKernelWithHostArgs；CCU 最终调用 HcommCcuKernelLaunch。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47936dcf484f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3bea8aafa14cf2" /><Relationship Type="http://schemas.openxmlformats.org/officeDocument/2006/relationships/slideLayout" Target="/ppt/slideLayouts/slideLayout1.xml" Id="Rda02f95983f942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02f95983f942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8b37faef554e02" /><Relationship Type="http://schemas.openxmlformats.org/officeDocument/2006/relationships/notesSlide" Target="/ppt/notesSlides/notesSlide1.xml" Id="R46ca29390ba84d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2befd0666e4e1f" /><Relationship Type="http://schemas.openxmlformats.org/officeDocument/2006/relationships/notesSlide" Target="/ppt/notesSlides/notesSlide2.xml" Id="Rc2bb758336544a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251dc6fe384279" /><Relationship Type="http://schemas.openxmlformats.org/officeDocument/2006/relationships/notesSlide" Target="/ppt/notesSlides/notesSlide3.xml" Id="R15659558d09c4a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59a96d42af47d3" /><Relationship Type="http://schemas.openxmlformats.org/officeDocument/2006/relationships/notesSlide" Target="/ppt/notesSlides/notesSlide4.xml" Id="R7ac6d28604ac4b8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78E99F6-68EC-46D0-8D9C-E57C4988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3825"/>
            <a:ext cx="11477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一次集合算子调用跨越算法选择、HCOMM 建链与三类执行引擎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BFA2E4-24E8-4876-A7B3-D24B7A12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42925"/>
            <a:ext cx="11477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859"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AllReduce 新流程完整调用框架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A3D6E7-0829-4098-8763-5C03AAB4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42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608F02-888C-4591-8D54-36C0303F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2524125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8B511D-B172-419C-AF6B-7E2956E4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3925"/>
            <a:ext cx="2409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32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 算子与选择层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964B05-3363-4D40-8341-D86DD6A1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76350"/>
            <a:ext cx="2333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HcclAllReduce()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0CB03B-2E36-4C52-90C0-7D39223B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AllReduceInitAndCheck()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8DB0D2-2C9D-45E1-9E86-99068E5E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FillAllReduceOpParam()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07CF30-53A2-42C1-B048-14EA46B2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14600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HcclGetOpExpansionMode()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46CC1F-FA02-4146-B948-8AF4A0C8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14650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Decide / ApplyOpExpansionMode()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5AED81-08F5-4E88-A97E-83E0C572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09950"/>
            <a:ext cx="1104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Selector()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38D78B-2663-4AB1-823D-8E911C80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09950"/>
            <a:ext cx="11334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SelectorEngine()</a:t>
            </a:r>
          </a:p>
          <a:p xmlns:a="http://schemas.openxmlformats.org/drawingml/2006/main">
            <a:pPr algn="ctr">
              <a:defRPr sz="84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ExecuteSelector()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574D3F-C5E9-4DA7-9625-4F0749DE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67150"/>
            <a:ext cx="2333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HcclExecOp()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80A0F6-47E5-4F97-9831-695919AD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243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90119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CalcResRequest()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C027CF-A1EA-40B2-9688-625DD038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24350"/>
            <a:ext cx="11334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969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91504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GetAlgResource()</a:t>
            </a:r>
          </a:p>
        </p:txBody>
      </p:sp>
      <p:cxnSp>
        <p:nvCxnSpPr>
          <p:cNvPr id="88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1719263" y="163830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89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719263" y="203835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90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719263" y="243840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91" name="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1719263" y="283845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92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1104900" y="3238500"/>
            <a:ext cx="614363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93" name=""/>
          <p:cNvCxnSpPr>
            <a:stCxn xmlns:a="http://schemas.openxmlformats.org/drawingml/2006/main" id="11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1104900" y="3771900"/>
            <a:ext cx="614363" cy="952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94" name=""/>
          <p:cNvCxnSpPr>
            <a:stCxn xmlns:a="http://schemas.openxmlformats.org/drawingml/2006/main" id="13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1104900" y="4229100"/>
            <a:ext cx="614363" cy="952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95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1657350" y="4486275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CA897C-1905-4F1A-ADF4-B8273DBC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1143000"/>
            <a:ext cx="2524125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853561-6106-46C0-ABE5-6EBC7270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923925"/>
            <a:ext cx="2409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32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HCOMM 通信资源层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262143-5221-494C-9AAE-5EA3E3F0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276350"/>
            <a:ext cx="2333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RankGraph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E986B5-3E11-4309-9FDC-6C682D10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695450"/>
            <a:ext cx="2333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GetLayers / GetTopoInstsByLayer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0DA07E-BB36-411F-9FC9-61CAE4B5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019300"/>
            <a:ext cx="2333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GetTopoType / GetRanksByTopoInst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B68EFC-EE78-4E5A-8FED-DAFEC1CD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343150"/>
            <a:ext cx="2333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GetEndpointNum / GetEndpointDesc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7B4101-3B78-4E9D-9238-3290DB57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667000"/>
            <a:ext cx="2333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GetLinks / GetEndpointInfo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0BBE0E-E698-43B0-A212-E73599D6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095625"/>
            <a:ext cx="23336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969"/>
          </a:solidFill>
          <a:ln xmlns:a="http://schemas.openxmlformats.org/drawingml/2006/main" w="15240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HcclChannelAcquire()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30C559-CB26-41E3-80D8-0EB0CF29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56235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8782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Socket / Endpoint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41E454-2390-459D-A384-34C9B240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562350"/>
            <a:ext cx="1133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RankPair / EndpointPair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646574-A162-4541-B4CB-73F2CB00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000500"/>
            <a:ext cx="2333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HcommCollectiveChannelCreate()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A8F7CD-A6D5-40F8-866F-AFA49968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438650"/>
            <a:ext cx="2333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Channel L3</a:t>
            </a:r>
          </a:p>
        </p:txBody>
      </p:sp>
      <p:cxnSp>
        <p:nvCxnSpPr>
          <p:cNvPr id="108" name=""/>
          <p:cNvCxnSpPr>
            <a:stCxn xmlns:a="http://schemas.openxmlformats.org/drawingml/2006/main" id="31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 flipH="1">
            <a:off x="3819525" y="3467100"/>
            <a:ext cx="614363" cy="952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109" name=""/>
          <p:cNvCxnSpPr>
            <a:stCxn xmlns:a="http://schemas.openxmlformats.org/drawingml/2006/main" id="32" idx="2"/>
            <a:endCxn xmlns:a="http://schemas.openxmlformats.org/drawingml/2006/main" id="34" idx="0"/>
          </p:cNvCxnSpPr>
          <p:nvPr/>
        </p:nvCxnSpPr>
        <p:spPr>
          <a:xfrm xmlns:a="http://schemas.openxmlformats.org/drawingml/2006/main">
            <a:off x="3819525" y="3905250"/>
            <a:ext cx="614363" cy="952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110" name=""/>
          <p:cNvCxnSpPr>
            <a:stCxn xmlns:a="http://schemas.openxmlformats.org/drawingml/2006/main" id="34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4433888" y="434340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111" name=""/>
          <p:cNvCxnSpPr>
            <a:stCxn xmlns:a="http://schemas.openxmlformats.org/drawingml/2006/main" id="1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 flipV="1">
            <a:off x="2886075" y="3281363"/>
            <a:ext cx="381000" cy="12049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111B"/>
            </a:solidFill>
            <a:prstDash val="solid"/>
            <a:tailEnd type="triangle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0DBAC50-40B6-474E-BFDF-5083CC46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143000"/>
            <a:ext cx="2524125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2009405-811B-46CE-9822-CD515ABD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923925"/>
            <a:ext cx="2409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32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Engine 执行层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ED3294B-032F-4D58-B2F0-D8D387A3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276350"/>
            <a:ext cx="2333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共享资源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6AAE3C9-2038-4505-B170-EFA1003B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38300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EngineCtx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FA05791-384B-473E-B585-0CDD0FCA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38300"/>
            <a:ext cx="11334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94196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Thread / Channel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4041F47-D668-4AA3-B669-8763B221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00250"/>
            <a:ext cx="2333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通信内存与 Notify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777F10E-86F8-4A92-81CE-55E286F7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95550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AICPU_TS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74668E4-3F83-4CF1-A937-B60316E6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76550"/>
            <a:ext cx="233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Hcomm*OnThread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B330E29-18A6-4292-BCCB-D2BDC267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95650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AIV / AIV_ONLY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B8E2797-5BF6-4D8D-BE94-4AE4FF27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76650"/>
            <a:ext cx="233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aclrtLaunchKernelWithHostArgs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9A28004-7D8C-480E-A344-75579E67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95750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CCU_MS / CCU_SCHED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325B016-FD16-4A49-9CE4-08CDD443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476750"/>
            <a:ext cx="233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HcommCcuKernelLaunch</a:t>
            </a:r>
          </a:p>
        </p:txBody>
      </p:sp>
      <p:cxnSp>
        <p:nvCxnSpPr>
          <p:cNvPr id="124" name=""/>
          <p:cNvCxnSpPr>
            <a:stCxn xmlns:a="http://schemas.openxmlformats.org/drawingml/2006/main" id="35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>
            <a:off x="5600700" y="4610100"/>
            <a:ext cx="3810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3E93"/>
            </a:solidFill>
            <a:prstDash val="solid"/>
            <a:tailEnd type="triangle" w="sm" len="sm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027AF75-6B11-4694-907C-77360990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05425"/>
            <a:ext cx="7953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1430">
            <a:solidFill>
              <a:srgbClr val="3D414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Transport：UB / RoCE / HCCS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B0552D4-3119-4A84-BE49-B14074B7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2150"/>
            <a:ext cx="795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图例：灰色为共用基础能力　黄色为跨层关键 API　红框为 HCCL 作用域　蓝框为 HCOMM / Engine 作用域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E526A1E-F102-4F78-95D2-62B45B50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52525"/>
            <a:ext cx="29146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0A44B1B-4D52-488C-9D9A-1291EBC2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2287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5205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04D0304-6DF9-4C3B-A4E8-E1212FA1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228725"/>
            <a:ext cx="2343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公共主干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E0F58D8-A558-4F08-A252-C1698D67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485900"/>
            <a:ext cx="23431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不同集合算子会替换入口和 Fill*OpParam。展开模式、RankGraph、Selector、资源申请主干高度共用。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6F4FC2E-FB3F-4F29-8C4B-AC8F026C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29146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8828D38-C2C4-4371-9D2F-F6F7B418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527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35572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552F20C-8BF1-40EC-B9EE-906EFE39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52700"/>
            <a:ext cx="2343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rPr>
              <a:t>HCCL 与 HCOMM 边界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69270C0-EE8E-43DD-85A6-5C244103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09875"/>
            <a:ext cx="23431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GetAlgResource 根据 CommEngine 组织资源。需要通信连接时，HcclChannelAcquire 把 HCCL 描述符转换为 HCOMM 对象。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4031B09-00A7-4126-B594-7A2A60BB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33825"/>
            <a:ext cx="29146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C0A11E3-6674-44AE-89A3-4CA88C9E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100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35572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68D0775-069B-40C2-88F1-452543C8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10025"/>
            <a:ext cx="2343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执行差异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F9F4C9C-44DE-4ADF-AA1D-6A3E6527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267200"/>
            <a:ext cx="2343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AICPU 逐原语调用 HCOMM。AIV 发射 Vector Kernel。CCU 注册 Kernel 并提交 Mission。三条路径共享 Channel 和通信内存。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731261E-400E-43F5-98DF-B607A57E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476875"/>
            <a:ext cx="2914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汇报结论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26F4107-2035-44C6-B269-F9E18114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734050"/>
            <a:ext cx="102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F111B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AFB81BA-0961-4346-8D14-A3040A7F4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800725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975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算子决定通信语义，Selector 决定算法和 Engine，Engine 决定最终调用的 HCOMM API 族。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47EB46B-4E7F-45D8-ABE9-301261BD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6553200"/>
            <a:ext cx="1147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D4144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1581345-19F7-4630-90A0-B83AE39D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1057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041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分析范围：hccl 170ddeec539b；hcomm 87ce550f8f7c；以 AllReduce 新流程为代表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985361C-85B7-4472-BE22-EEEBD45D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314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041"/>
          </a:bodyPr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HCCL / HCOMM 源码分析</a:t>
            </a:r>
          </a:p>
        </p:txBody>
      </p:sp>
    </p:spTree>
    <p:extLst>
      <p:ext uri="{BB962C8B-B14F-4D97-AF65-F5344CB8AC3E}">
        <p14:creationId xmlns:p14="http://schemas.microsoft.com/office/powerpoint/2010/main" val="1891832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79CA8C6-BD1D-49F1-A406-0361AC21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3825"/>
            <a:ext cx="11477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HCCL 先归一化算子参数，再结合配置与拓扑选择算法和执行引擎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ADD7B1-1688-4907-8AAC-28F9F509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42925"/>
            <a:ext cx="11477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859"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入口、展开模式、RankGraph 与 Selector 详细调用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DD591A-7A1D-4095-BEE5-952449C0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42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70C52B-E47B-4FBA-969F-42FB7F4F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8001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1B86B2-5E95-4644-9C3D-35ADA42C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42975"/>
            <a:ext cx="788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32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 算子公共入口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4079D9-B974-48A8-955B-9264FCCF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1762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HcclAllReduce()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C3FC85-9769-4B59-9F26-6055D878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31445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AllReduceInitAndCheck()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ED42C8-BEDF-462E-9E85-7B70E41C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31445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FillAllReduceOpParam()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30E3B5-DB0A-4F0D-9D9E-08747B80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314450"/>
            <a:ext cx="1762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OpParam</a:t>
            </a:r>
          </a:p>
        </p:txBody>
      </p:sp>
      <p:cxnSp>
        <p:nvCxnSpPr>
          <p:cNvPr id="7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333625" y="1485900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8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343400" y="1485900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8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353175" y="1485900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15404E-184B-4644-BCE1-DC4B7AA3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71650"/>
            <a:ext cx="77438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输入：sendBuf、recvBuf、count、datatype、reduceType、stream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C2639F-C60C-4376-97B3-FA956551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80010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C3316D-377D-423E-B606-C5827446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52675"/>
            <a:ext cx="788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32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展开模式决策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9318A4-E89B-4B41-9C1F-FDA2760D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HcclGetOpExpansionMode()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1866B2-D084-4028-8958-4C87E8FF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7241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DecideHcclOpExpansionMode()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735593-300A-49CE-AA53-851FBEEF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24150"/>
            <a:ext cx="2771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ApplyOpExpansionMode()</a:t>
            </a:r>
          </a:p>
        </p:txBody>
      </p:sp>
      <p:cxnSp>
        <p:nvCxnSpPr>
          <p:cNvPr id="88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2762250" y="2905125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89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343525" y="2905125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42C9F5-B9B4-4644-8901-2C7567FA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623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配置来源：HcclConfigGetInfo()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6930E1-4D06-4DBD-9B8D-591DB9CF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16230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AICPU_TS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3FE398-B2FB-4C0E-BA41-235CC0E0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62300"/>
            <a:ext cx="16859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AIV / AIV_ONLY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10B5A0-DCB5-4924-9BBD-64792037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62300"/>
            <a:ext cx="1914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CCU_MS / CCU_SCHED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5469E6-539A-4626-93D8-B25F7EDC0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95725"/>
            <a:ext cx="8001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3B0355-961C-4F64-8A43-20968928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76650"/>
            <a:ext cx="788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32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通信域与 RankGraph 查询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A4FFA4-91A5-45FC-817E-BE727F8F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48125"/>
            <a:ext cx="18383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HcclCommGetStatus()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80623B-D83B-47F3-A46E-FF9F4411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048125"/>
            <a:ext cx="18383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HcclEngineCtxGet() / Create()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DD280C-1EC2-468E-8C15-81DA1ED9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38650"/>
            <a:ext cx="1819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GetLayers()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1D55CB-6EA0-4B7D-8B74-23FDA980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438650"/>
            <a:ext cx="1819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GetTopoInstsByLayer()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237B8F-25F4-467F-ACD1-C1742E94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38650"/>
            <a:ext cx="1819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GetTopoType()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DFFD68-EEFD-45D5-8362-B4388553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438650"/>
            <a:ext cx="1819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GetRanksByTopoInst()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AEE7E5-C32C-4CEC-A0B6-709ADB16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43450"/>
            <a:ext cx="1819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GetEndpointNum()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DE1B77-98D2-4FF2-A0A4-B4C2DA62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743450"/>
            <a:ext cx="1819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GetEndpointDesc()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E38D52-2465-4BC6-B87E-B32487DA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743450"/>
            <a:ext cx="1819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GetLinks()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C848D2-9C3E-4445-8AF0-D003BF2F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743450"/>
            <a:ext cx="1819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GetEndpointInfo()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6D57A49-B551-4D0B-921C-41EEC751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86375"/>
            <a:ext cx="800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615F6B-2875-487D-AAA5-E0961217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67300"/>
            <a:ext cx="788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32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Selector 与执行入口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76A2577-00EC-4B27-B6DF-1C60E0D7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62600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Selector()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CAD240D-BE6D-467C-AD14-39D504F5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391150"/>
            <a:ext cx="1581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SelectorEngine()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3551D05-ACB2-4FA5-95FE-1C5257AD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800725"/>
            <a:ext cx="1581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ExecuteSelector()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75857BC-DA04-408D-A45B-EABECEAB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63880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867"/>
          </a:bodyPr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二选一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0D98B00-E6AC-45C2-B4A6-9F3CF99E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562600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HcclExecOp()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F352695-E398-4F63-90B0-EC1EB3AB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56260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CalcResRequest()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AD49834-F563-4730-9F23-DAD8CB57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62600"/>
            <a:ext cx="10763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969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GetAlgResource()</a:t>
            </a:r>
          </a:p>
        </p:txBody>
      </p:sp>
      <p:cxnSp>
        <p:nvCxnSpPr>
          <p:cNvPr id="115" name=""/>
          <p:cNvCxnSpPr>
            <a:stCxn xmlns:a="http://schemas.openxmlformats.org/drawingml/2006/main" id="3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 flipV="1">
            <a:off x="1857375" y="5519738"/>
            <a:ext cx="257175" cy="2047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116" name=""/>
          <p:cNvCxnSpPr>
            <a:stCxn xmlns:a="http://schemas.openxmlformats.org/drawingml/2006/main" id="39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857375" y="5724525"/>
            <a:ext cx="257175" cy="2047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117" name=""/>
          <p:cNvCxnSpPr>
            <a:stCxn xmlns:a="http://schemas.openxmlformats.org/drawingml/2006/main" id="40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3695700" y="5519738"/>
            <a:ext cx="361950" cy="2047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118" name=""/>
          <p:cNvCxnSpPr>
            <a:stCxn xmlns:a="http://schemas.openxmlformats.org/drawingml/2006/main" id="41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 flipV="1">
            <a:off x="3695700" y="5724525"/>
            <a:ext cx="361950" cy="2047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119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5343525" y="5724525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92B2AB8-446E-4AF0-AA9D-3F0D16A5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000750"/>
            <a:ext cx="4257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输出：algName、CommEngine、algTag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A722389-B9CD-4DFE-AB47-DAA2EDC05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81100"/>
            <a:ext cx="2914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72BEC5D-21DB-484E-BFDA-A74C3399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2573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5205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C3131D4-C5BF-40C6-8AFE-5D975E04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257300"/>
            <a:ext cx="2343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阶段 1：参数统一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325DEF6-5A04-479B-A4F4-B8CCDFD2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514475"/>
            <a:ext cx="2343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各算子把公开接口参数转成 OpParam。不同算子主要差在 Fill*OpParam 和语义字段。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D92D8D5-1C84-481C-8C0A-DBE392CC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90775"/>
            <a:ext cx="2914650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AC27918-F30C-4783-A5E3-8C28D636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6697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35572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17B1D18-7713-4C14-AC75-F812881D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66975"/>
            <a:ext cx="2343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rPr>
              <a:t>阶段 2：模式与拓扑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D61C82F-4399-4C3D-A658-7FCD061E2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24150"/>
            <a:ext cx="2343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配置先限定 AICPU、AIV 或 CCU。RankGraph 再提供层级、拓扑类型、Rank 分组、Endpoint 和 Link。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04D619B-03EF-485D-9FA9-61BD9952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05250"/>
            <a:ext cx="29146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32CD965-CCFB-4735-A244-339502CE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814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35572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F2D3F24-B938-4734-ACCB-AA1EF0AF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981450"/>
            <a:ext cx="2343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阶段 3：算法选择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0CE765C-57BE-41F8-ABA7-B3242B5E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238625"/>
            <a:ext cx="2343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Selector 根据设备类型、Rank 数、数据量、datatype、reduceType、内存布局和 CCU 资源输出算法。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CAAD7DD-415D-4A82-8DD3-18CB6A41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34000"/>
            <a:ext cx="2914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公用与差异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20DF984-BA70-4B27-A813-86DDFBD2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591175"/>
            <a:ext cx="102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F111B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8C9D3C2-1273-43B1-9571-0C6A6D84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657850"/>
            <a:ext cx="2914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公用：展开模式、RankGraph、Selector、HcclExecOp、资源申请。差异：算子入口、OpParam 字段、候选算法及阈值。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2F2C69C-FCC5-4649-BB4A-B063F69B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6553200"/>
            <a:ext cx="1147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D4144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5405095-D8FD-472F-B5AE-9D6ABC07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1057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041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源码：hccl/src/ops/all_reduce/all_reduce.cc；hccl/src/ops/op_common/op_common.cc；hcomm/.../coll_comm_rank_graph_a_adpt.cc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8A4FC8B-02DC-4F69-97E9-3CB4FC4D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314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041"/>
          </a:bodyPr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HCCL / HCOMM 源码分析</a:t>
            </a:r>
          </a:p>
        </p:txBody>
      </p:sp>
    </p:spTree>
    <p:extLst>
      <p:ext uri="{BB962C8B-B14F-4D97-AF65-F5344CB8AC3E}">
        <p14:creationId xmlns:p14="http://schemas.microsoft.com/office/powerpoint/2010/main" val="13681473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BE24744-9D4E-425B-B960-2E9DCBD6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3825"/>
            <a:ext cx="11477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HcclChannelAcquire 内部包含 32 个顺序步骤，跨越 HCCL 与 HCOMM 资源生命周期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DE6684-181F-4157-A7DC-B04EFBDB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42925"/>
            <a:ext cx="11477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859"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Socket、EndpointPair、Channel 创建、连接确认与资源回填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0C187B-F9A3-4971-8535-DA52823C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42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F820C1-79FD-4E69-B206-30158C72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2009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EE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① HCCL 准备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F5B076-1C92-49FA-824B-D91D8C0A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287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01 HcclGetChannelImpl()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149EA9-8DD1-48FA-9081-43EFD80C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859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02 AddExchangeInfo()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4F800C-CB24-4C8F-9ED9-ECC2E9DB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431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03 HcclChannelAcquire()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1EBFC0-AE99-47BA-B12A-A5F296BA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03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04 CheckChannelResParams()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98CA59-9504-49A5-AB6F-EE5CC84E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575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05 ProcessHcclResPackReq()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7B4714-636F-4AD8-901A-654247C4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147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06 PrepareV2ChannelAcquire()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49D0FD-E7A7-4C25-9289-C9E4B9F7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719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07 PrepareChannelSymMemHandles()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F2BDD6-9C65-424F-98A8-8E5A6753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291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08 MyRank::CreateChannels()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D5A7AC-9E5A-499D-867A-4FC4F16D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200150"/>
            <a:ext cx="2009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EE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② Socket / 描述符</a:t>
            </a:r>
          </a:p>
        </p:txBody>
      </p:sp>
      <p:cxnSp>
        <p:nvCxnSpPr>
          <p:cNvPr id="77" name=""/>
          <p:cNvCxnSpPr>
            <a:stCxn xmlns:a="http://schemas.openxmlformats.org/drawingml/2006/main" id="4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409825" y="1362075"/>
            <a:ext cx="1238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9F111B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90E0AB-9696-4DB4-AC1B-96A607ED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6287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09 CheckChannelParam()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C714EA-9337-4CB0-A3D8-4B2D5E47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0859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10 ChannelDescHccl2Hcomm()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C71EF2-E3EC-4770-B1BB-6084F678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431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11 ConfigSqDepthByExpansionMode()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991A1C-3064-4898-A4C0-1AB86A11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0003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12 BatchCreateSockets()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A099DA-980D-47CA-B5BC-F3736269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4575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13 BatchServerInitForChannels()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CC9552-8FF8-414D-A273-9BD3F39D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9147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14 BatchGetSocketsForChannels()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5E9A1D-B488-4E02-9CBD-D15C2C5E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3719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15 BatchCreateChannels()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5A5ED1-94D9-4BE3-8782-F225C5CC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8291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16 EndpointMgr::Get()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BD0C7A-5E99-45F2-95A8-6B472B6B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200150"/>
            <a:ext cx="2009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A"/>
          </a:solidFill>
          <a:ln xmlns:a="http://schemas.openxmlformats.org/drawingml/2006/main" w="14288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③ Endpoint / Channel</a:t>
            </a:r>
          </a:p>
        </p:txBody>
      </p:sp>
      <p:cxnSp>
        <p:nvCxnSpPr>
          <p:cNvPr id="87" name=""/>
          <p:cNvCxnSpPr>
            <a:stCxn xmlns:a="http://schemas.openxmlformats.org/drawingml/2006/main" id="13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4543425" y="1362075"/>
            <a:ext cx="1238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33E93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4E4409-79C9-4984-8039-9B40A248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287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17 HcommEndpointStartListen()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66C176-B1F4-477F-BC65-ED7B2BD5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859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18 PrepareMemHandles()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86F0EF-B036-43E4-8A5F-DC54E81E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431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19 RankPairMgr::Get()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92B60D-8093-4804-A07E-6FBF9044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003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20 RankPair::GetEndpointPair()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48864C-D463-49C8-8F84-64B03239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575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21 EndpointPair::CreateChannel()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E9B6E7-6440-4672-AC84-0C53D852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147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22 HcommCollectiveChannelCreate()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D08B08-1C95-435D-93A6-6622BDD5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719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23 NormalizeHcommChannelDescs()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E12FBD-089C-43C7-93E8-FBB62CE2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291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24 ChannelProcess::CreateChannelsLoop()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D32ADF-8B50-4DC4-96B0-C37750D0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200150"/>
            <a:ext cx="20097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A"/>
          </a:solidFill>
          <a:ln xmlns:a="http://schemas.openxmlformats.org/drawingml/2006/main" w="14288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④ 连接 / 回填</a:t>
            </a:r>
          </a:p>
        </p:txBody>
      </p:sp>
      <p:cxnSp>
        <p:nvCxnSpPr>
          <p:cNvPr id="97" name=""/>
          <p:cNvCxnSpPr>
            <a:stCxn xmlns:a="http://schemas.openxmlformats.org/drawingml/2006/main" id="23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6677025" y="1362075"/>
            <a:ext cx="1238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33E93"/>
            </a:solidFill>
            <a:prstDash val="solid"/>
            <a:tailEnd type="triangle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D18163-14C7-4D1B-AACB-212D7331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287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25 Channel::CreateChannel()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57722E-043B-4F42-B48A-8AD607F8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859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26 BatchConnectChannels()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360758-44FA-4604-B56C-05159B50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431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27 ChannelProcess::ChannelGetStatus()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9DAFBDE-C031-4D78-8287-B38013D4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003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96618"/>
          </a:bodyPr>
          <a:lstStyle xmlns:a="http://schemas.openxmlformats.org/drawingml/2006/main"/>
          <a:p xmlns:a="http://schemas.openxmlformats.org/drawingml/2006/main">
            <a:pPr algn="l">
              <a:defRPr sz="79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28 BatchExchangeAndCheckConsistency()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41D6585-D97A-4DC7-9BED-9E6DB21C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575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29 FinalizeChannelsByEngine()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DFF4126-CA2C-47B1-A09C-E781031E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147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30 ConvertAivChannelHandlesToDevicePtrs()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54C7315-5B17-424D-8537-AE1E55AE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719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31 HcclChannelGetHcclBuffer()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4041B03-586C-4E47-A2D0-C1FEDC1D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29175"/>
            <a:ext cx="20097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32 return ChannelHandle + Remote CCL Buffer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3D890FD-1DFD-4F9D-AD42-7DC345C6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8667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969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条件分支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875E41B-9CD8-408F-A1AD-EBDB6053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10200"/>
            <a:ext cx="75152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AICPU / AIV 交换对称内存　AIV 转换设备侧 Channel 句柄　950 做一致性校验　CCU 资源不足返回 HCCL_E_UNAVAIL 并协商回退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31F47F9-220B-4787-9B9F-B54B0FAC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81675"/>
            <a:ext cx="8448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输出：ChannelHandle、Remote CCL Buffer、Engine 对应的设备侧资源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34A1CDE-A0BF-4FA1-9628-5858A3AE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00150"/>
            <a:ext cx="264795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A27AE14-EFE5-4F21-B140-43548BE4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276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5205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FDBD8B3-7C54-4E6B-992F-615B4947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276350"/>
            <a:ext cx="2076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HCCL 准备与转换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C267F0B-12B5-45B1-AEC0-4E9C5BB8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533525"/>
            <a:ext cx="20764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01 至 10 检查资源参数，组织交换信息，并把 HcclChannelDesc 转换为 HCOMM Channel 描述符。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B4154CF-88E7-427D-B916-80C9A68F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09825"/>
            <a:ext cx="26479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E818E1E-E64B-4176-824E-8C650052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860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35572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90F6923-D6F2-4D4A-BE51-EAAE1C0F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86025"/>
            <a:ext cx="2076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rPr>
              <a:t>HCOMM 对象创建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22E962D-8BBE-4D6B-9E38-607E5A15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43200"/>
            <a:ext cx="20764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11 至 24 创建 Socket，获取 EndpointMgr 和 RankPair，复用或创建 EndpointPair，再构造具体 Channel。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4ADDB7B-4498-472B-9EE8-6AC694B8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48100"/>
            <a:ext cx="26479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F2E4B17-F923-4049-B886-76F262FB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9243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35572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D5B9CC3-00D5-4669-A261-C3AAE039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924300"/>
            <a:ext cx="2076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连接与一致性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62C8ED3-0D2F-4ADA-9BFB-EDC317E10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181475"/>
            <a:ext cx="2076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25 至 32 发起连接并轮询状态。部分设备交换并校验一致性，再按 Engine 回填句柄和通信缓冲区。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275C111-54BC-44F5-9F5E-A279701B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276850"/>
            <a:ext cx="2647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建链结论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EFCEC09-BFBA-4896-A3E2-984B6F59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534025"/>
            <a:ext cx="102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F111B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4F01EFC-024F-4E8C-ABF5-E8242BB0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600700"/>
            <a:ext cx="26479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247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HcclChannelAcquire 不是单一建连动作。它把 HCCL 的资源请求转换成 HCOMM 的 Socket、EndpointPair 和 Channel，并返回执行引擎可直接使用的资源。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DFC9D48-B7EE-4B6C-94F1-4E3FAEB1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6553200"/>
            <a:ext cx="1147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D4144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954EB26-11B2-4525-83AD-8CC384AE1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1057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041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源码：coll_comm_res_c_adpt.cc:755-858；my_rank.cc:567-1300；endpoint_pair.cc:199-226；channel_process.cc:89-133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A30C578-8B68-4839-A474-B52658BD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314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041"/>
          </a:bodyPr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HCCL / HCOMM 源码分析</a:t>
            </a:r>
          </a:p>
        </p:txBody>
      </p:sp>
    </p:spTree>
    <p:extLst>
      <p:ext uri="{BB962C8B-B14F-4D97-AF65-F5344CB8AC3E}">
        <p14:creationId xmlns:p14="http://schemas.microsoft.com/office/powerpoint/2010/main" val="3874587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6335F7D-B78B-457C-A0AC-C8F72169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3825"/>
            <a:ext cx="11477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三种 Engine 共用 RankGraph、Channel 与通信内存，差异集中在展开位置和发射 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E174E0-03F4-4A14-A1AC-1D73C07DE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42925"/>
            <a:ext cx="11477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859"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AICPU_TS、AIV 与 CCU 执行链路对照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D240CF-BBF7-451B-9774-2550D164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42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5DF5B3-339E-4651-9C01-A5A280EB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91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共用准备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195B93-BFDE-4589-8F36-1A8BC925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181100"/>
            <a:ext cx="17240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RankGraph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A3F619-7700-43D2-B057-5D5FECEA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181100"/>
            <a:ext cx="17240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EngineCtx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29D55A-1523-4419-9B5B-8FC72B59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181100"/>
            <a:ext cx="17240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Thread / Channel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0AA836-5977-4DE8-AE4D-BD1A16F2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181100"/>
            <a:ext cx="17240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通信内存与 Notify</a:t>
            </a:r>
          </a:p>
        </p:txBody>
      </p:sp>
      <p:cxnSp>
        <p:nvCxnSpPr>
          <p:cNvPr id="90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152775" y="1323975"/>
            <a:ext cx="1238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9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000625" y="1323975"/>
            <a:ext cx="1238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cxnSp>
        <p:nvCxnSpPr>
          <p:cNvPr id="9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848475" y="1323975"/>
            <a:ext cx="1238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4144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E1801A-2C6E-4C6E-83FD-6BE00ADA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57375"/>
            <a:ext cx="26955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D73B11-D6FE-462F-9629-18C06958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38300"/>
            <a:ext cx="2581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32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AICPU_TS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E1CFB1-EA61-4CCD-972C-96B1E9F1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33575"/>
            <a:ext cx="2581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AICPU Kernel 内逐原语展开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3EA2CA-EB7C-4588-8AD9-0854159F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57425"/>
            <a:ext cx="25431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资源准备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837852-AF2D-4DE2-A1FC-E69796DA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0"/>
            <a:ext cx="2543175" cy="261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01  HcclThreadAcquire()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29E14F-6107-4306-A7A8-F4544053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71788"/>
            <a:ext cx="2543175" cy="261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02  AicpuKernelLaunch()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246BA1-44C7-40D5-BBF7-233DF5EA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71825"/>
            <a:ext cx="2543175" cy="261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03  HcclThreadResGetInfo()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47385F-DFDC-4180-B234-23358A6C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71863"/>
            <a:ext cx="2543175" cy="261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04  aclrtLaunchKernelWithConfig()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92368C-B3A4-4ECD-B754-009E87A2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57625"/>
            <a:ext cx="25431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执行 / 发射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D66646-092D-4B23-A771-4EFFBC52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71950"/>
            <a:ext cx="2543175" cy="157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59851"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05  HcommLocalCopy / ReduceOnThread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CF981A-75FB-4A14-AED1-95C2D1BC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58368"/>
            <a:ext cx="2543175" cy="157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59851"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06  HcommRead / WriteOnThread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88D7B9-B64F-43F7-B85D-02C5FA2E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44786"/>
            <a:ext cx="2543175" cy="157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59851"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07  HcommReadReduce / WriteReduceOnThread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401F9B-652E-4A6B-9789-C3C17F0F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31204"/>
            <a:ext cx="2543175" cy="157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59851"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08  HcommBatchTransferOnThread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898950-060B-40C7-BCF7-23C47592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17621"/>
            <a:ext cx="2543175" cy="157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59851"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09  HcommThreadNotifyRecord / WaitOnThread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F6D6AF-7B70-4D79-89E0-3FF993CD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04039"/>
            <a:ext cx="2543175" cy="157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59851"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10  HcommChannelNotifyRecordOnThread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6A6A70-46A1-4277-9593-84304962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90457"/>
            <a:ext cx="2543175" cy="157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67553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11  HcommFence / ChannelFence / DrainOnThread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E47B4F-4C46-41EF-BC8D-59456FB0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43550"/>
            <a:ext cx="25431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969"/>
          </a:solidFill>
          <a:ln xmlns:a="http://schemas.openxmlformats.org/drawingml/2006/main" w="13335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最终：Hcomm*OnThread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6C5019-E57A-421C-892F-9BB61CB8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57375"/>
            <a:ext cx="26955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3F23C5-C32B-4844-9016-52E046A4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38300"/>
            <a:ext cx="2581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32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AIV / AIV_ONLY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249BFF-7A5C-460D-9E90-05405F27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33575"/>
            <a:ext cx="2581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Host 准备资源，Vector Kernel 展开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DDA352-A30E-45A5-AB55-7734AE19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57425"/>
            <a:ext cx="25431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资源准备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566C03-D002-4454-BBF6-4D71D3E8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71750"/>
            <a:ext cx="2543175" cy="220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01  GetAlgResAiv()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971992-FEEA-4B9F-A30F-8C8AD8E0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30286"/>
            <a:ext cx="2543175" cy="220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02  HcclEngineCtxGet / Create()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6A3A7F-59C3-4770-91D6-151A5F2DF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88821"/>
            <a:ext cx="2543175" cy="220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03  HcclAllocAlgResourceAiv()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21245C-F888-4AD3-B39F-EA179DEE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47357"/>
            <a:ext cx="2543175" cy="220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04  HcclCommRegCommStateCallback()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2F57A3A-B868-4500-93A7-0178A24C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605893"/>
            <a:ext cx="2543175" cy="220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05  HcclCommMemReg() / GetHcclBuffer()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67A5A5B-E645-450D-A365-F3BF9B8F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864429"/>
            <a:ext cx="2543175" cy="220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06  HcclChannelAcquire(AIV)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39B0D00-56CB-491A-82B7-9A268A7E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122964"/>
            <a:ext cx="2543175" cy="220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07  ConvertAivChannelHandlesToDevicePtrs()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9FBF024-BBE3-4BE0-B41C-85F3E36A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467225"/>
            <a:ext cx="25431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执行 / 发射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E3DFDB8-67AE-4DE8-839B-B04C8271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781550"/>
            <a:ext cx="2543175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48506"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08  HcclAivKernelEntranceLaunch()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C057ECE-FF5E-4E80-B02D-488107DE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955381"/>
            <a:ext cx="2543175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48506"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09  GetAivParamStorageByComm()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BA20343-9E0B-4608-89C5-8BB5A7B2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129213"/>
            <a:ext cx="2543175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48506"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10  ExecuteKernelLaunch()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2AA4F9D-339F-46CE-94D4-58814284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303044"/>
            <a:ext cx="2543175" cy="145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48506"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11  ExecuteKernelLaunchInner()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A997DB1-0203-4E07-B1A7-332AF9BB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543550"/>
            <a:ext cx="25431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969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最终：aclrtLaunchKernelWithHostArgs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4D6BADF-F979-4CBE-B31B-52526912D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57375"/>
            <a:ext cx="26955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AB2DA73-45BD-4A7A-9D99-06EFE4A8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38300"/>
            <a:ext cx="2581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32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CCU_MS / CCU_SCHED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E283CE2-B8D8-4581-966A-B6AE0FA9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33575"/>
            <a:ext cx="2581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申请 CCU 实例，注册并提交 Mission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44AAF7E-87FC-4040-8131-597C901E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57425"/>
            <a:ext cx="25431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资源准备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6155298-9C14-4FF3-8A15-38F72CDD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71750"/>
            <a:ext cx="2543175" cy="1881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83801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01  GetAlgResCcu()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F12FD97-ACD4-40CF-BCE0-3B2AA3D9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97969"/>
            <a:ext cx="2543175" cy="1881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83801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02  HcclAllocAlgResourceCcu()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AC3418C-A602-415A-AFFA-C3E64C98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24188"/>
            <a:ext cx="2543175" cy="1881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83801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03  HcclGetThread / GetChannelForCcu()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D425CD4-5534-4B75-9F7E-607E2E14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50406"/>
            <a:ext cx="2543175" cy="1881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83801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04  HcclChannelQuery / Acquire(CCU)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3FEE182-B239-447F-909A-79B53337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76625"/>
            <a:ext cx="2543175" cy="1881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83801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05  HcclGetCcuKernel / Dynamic()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3FB433B-CF2A-4563-BF02-B6F626CD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02844"/>
            <a:ext cx="2543175" cy="1881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83801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06  HcclCommQueryAssignedCcuIns()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677532F-1916-45DE-89F1-A99E2F63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29063"/>
            <a:ext cx="2543175" cy="1881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83801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07  HcommCcuInsResDescCreate / SetNum()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ADBC6A4-48CE-4162-8DF1-809E4FA1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55281"/>
            <a:ext cx="2543175" cy="1881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83801"/>
          </a:bodyPr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08  HcommCcuInsCreate / AssignCcuIns()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FA96DBA-3D93-4CCA-8308-92E33515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67225"/>
            <a:ext cx="25431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执行 / 发射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0DC2103-204E-449F-A53B-5214C6C3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81550"/>
            <a:ext cx="2543175" cy="20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09  HcommCcuKernelRegisterStart()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5BA16FB-F889-4E94-8483-41DFC6F1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013325"/>
            <a:ext cx="2543175" cy="20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10  HcommCcuKernelRegister()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EF75D95-CCE4-4A9F-9AC7-5FB10C07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45100"/>
            <a:ext cx="2543175" cy="20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11  HcommCcuKernelRegisterEnd()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E9FD28F-9653-4A8F-9170-6662A2B0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543550"/>
            <a:ext cx="25431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969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最终：HcommCcuKernelLaunch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75C2DA6-698C-40D3-B83D-4BBC2D4C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05525"/>
            <a:ext cx="84486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5C9C7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共同落点：Channel L3、UB、RoCE、HCCS 等 Transport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C885573-18BF-485F-919F-E00B259A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00150"/>
            <a:ext cx="264795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A162FC9-B452-46F1-8CE8-1810B8C3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276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52059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ACCB6D9-A2DB-4FC4-9ACD-16661D3B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276350"/>
            <a:ext cx="2076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共用资源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122C327-EBCD-4093-97D3-31B1944D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533525"/>
            <a:ext cx="2076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三种 Engine 都依赖 RankGraph、EngineCtx、Thread、Channel、通信内存和 Notify。建链结果可以复用。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8BA71FA-7D46-49D3-8413-F48DB747C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57450"/>
            <a:ext cx="26479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31822D2-DA47-4882-B516-D8B6A438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336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35572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D01197D-F027-4ACC-B5C3-DF1737D6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33650"/>
            <a:ext cx="2076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rPr>
              <a:t>展开位置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4579DF5-DA5F-4C79-8870-C7D64D0B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90825"/>
            <a:ext cx="20764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AICPU 在 AICPU Kernel 内逐步调用 HCOMM 原语。AIV 在 Vector Kernel 内展开。CCU 在 CCU 实例中执行已注册 Kernel。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BBB5B44-E491-47AE-A56D-50809087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933825"/>
            <a:ext cx="2647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BDA5092-4D34-459D-BC43-8B218312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0100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35572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3995F70-FC7C-4E6F-84F2-346BDE80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010025"/>
            <a:ext cx="2076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6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资源与回退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65AA305-D535-4558-8268-B1CD5895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267200"/>
            <a:ext cx="20764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AIV 需要把 Channel 句柄转换为设备指针。CCU 需要实例、Kernel 注册和 Mission 提交。CCU 资源不足时跨 Rank 协商回退。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809128D-8816-4E42-A9F6-20F554E3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467350"/>
            <a:ext cx="2647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算子间复用规律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1BA6A1D-8D18-4839-9D8B-48104F24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724525"/>
            <a:ext cx="102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F111B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0FC504D-8569-42FE-9457-F71F5A3D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791200"/>
            <a:ext cx="26479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251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不同算子可复用 RankGraph、建链和基础 HCOMM 原语。算法展开方式不同，会改变资源准备步骤及最终发射 API。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31BAB04-B7AE-4CD1-948B-3BD23B36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6553200"/>
            <a:ext cx="1147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D4144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1A7D993-A3C3-4100-A217-9C5C0A96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1057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041"/>
          </a:bodyPr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源码：aicpu_ts_primitives_c_adpt.cc；op_common.cc:1216-1247,2200-2990；hccl_aiv_utils.cc:1068-1223；ccu_launch.cc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0B275C0-28FD-4CE2-B38D-7A4617A6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81775"/>
            <a:ext cx="1314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041"/>
          </a:bodyPr>
          <a:lstStyle xmlns:a="http://schemas.openxmlformats.org/drawingml/2006/main"/>
          <a:p xmlns:a="http://schemas.openxmlformats.org/drawingml/2006/main">
            <a:pPr algn="r">
              <a:def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5E6368"/>
                </a:solidFill>
                <a:latin typeface="PingFang SC"/>
                <a:ea typeface="PingFang SC"/>
                <a:cs typeface="PingFang SC"/>
              </a:rPr>
              <a:t>HCCL / HCOMM 源码分析</a:t>
            </a:r>
          </a:p>
        </p:txBody>
      </p:sp>
    </p:spTree>
    <p:extLst>
      <p:ext uri="{BB962C8B-B14F-4D97-AF65-F5344CB8AC3E}">
        <p14:creationId xmlns:p14="http://schemas.microsoft.com/office/powerpoint/2010/main" val="8043030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2026-09-14T14:02:48.1400000Z</dcterms:created>
  <dcterms:modified xsi:type="dcterms:W3CDTF">2026-09-14T14:02:48.1400000Z</dcterms:modified>
</coreProperties>
</file>