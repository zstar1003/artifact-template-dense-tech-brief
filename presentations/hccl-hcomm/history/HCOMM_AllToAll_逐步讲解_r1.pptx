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40a894169f49b0" /><Relationship Type="http://schemas.openxmlformats.org/officeDocument/2006/relationships/extended-properties" Target="/docProps/app.xml" Id="R0b8a7068a7ed4397" /><Relationship Type="http://schemas.openxmlformats.org/officeDocument/2006/relationships/officeDocument" Target="/ppt/presentation.xml" Id="Rca344b8bed6d4c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4ba50bba214b71"/>
  </p:sldMasterIdLst>
  <p:notesMasterIdLst>
    <p:notesMasterId xmlns:r="http://schemas.openxmlformats.org/officeDocument/2006/relationships" r:id="R0837eda7073e40f3"/>
  </p:notesMasterIdLst>
  <p:sldIdLst>
    <p:sldId xmlns:r="http://schemas.openxmlformats.org/officeDocument/2006/relationships" id="256" r:id="R24820915d76241b2"/>
    <p:sldId xmlns:r="http://schemas.openxmlformats.org/officeDocument/2006/relationships" id="257" r:id="Rc544df05dc314a01"/>
    <p:sldId xmlns:r="http://schemas.openxmlformats.org/officeDocument/2006/relationships" id="258" r:id="R92343e52519a42d6"/>
    <p:sldId xmlns:r="http://schemas.openxmlformats.org/officeDocument/2006/relationships" id="259" r:id="R08b3d2a9e9984cbc"/>
    <p:sldId xmlns:r="http://schemas.openxmlformats.org/officeDocument/2006/relationships" id="260" r:id="Red1e59b475044f06"/>
    <p:sldId xmlns:r="http://schemas.openxmlformats.org/officeDocument/2006/relationships" id="261" r:id="Rd944737b56f24591"/>
    <p:sldId xmlns:r="http://schemas.openxmlformats.org/officeDocument/2006/relationships" id="262" r:id="R4669160b43a6463a"/>
    <p:sldId xmlns:r="http://schemas.openxmlformats.org/officeDocument/2006/relationships" id="263" r:id="R66230dfb8fb54f48"/>
    <p:sldId xmlns:r="http://schemas.openxmlformats.org/officeDocument/2006/relationships" id="264" r:id="R99db82f9bd934327"/>
    <p:sldId xmlns:r="http://schemas.openxmlformats.org/officeDocument/2006/relationships" id="265" r:id="Rf92f5ac081294480"/>
    <p:sldId xmlns:r="http://schemas.openxmlformats.org/officeDocument/2006/relationships" id="266" r:id="R025dccf8e6b74e1c"/>
    <p:sldId xmlns:r="http://schemas.openxmlformats.org/officeDocument/2006/relationships" id="267" r:id="R8cf753e96b274b3e"/>
    <p:sldId xmlns:r="http://schemas.openxmlformats.org/officeDocument/2006/relationships" id="268" r:id="R16b52b447e874b50"/>
    <p:sldId xmlns:r="http://schemas.openxmlformats.org/officeDocument/2006/relationships" id="269" r:id="R4f89298b0a3a4da8"/>
    <p:sldId xmlns:r="http://schemas.openxmlformats.org/officeDocument/2006/relationships" id="270" r:id="Rc0976137d24c49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1832f0b9f445bb" /><Relationship Type="http://schemas.openxmlformats.org/officeDocument/2006/relationships/slideMaster" Target="/ppt/slideMasters/slideMaster1.xml" Id="Re54ba50bba214b71" /><Relationship Type="http://schemas.openxmlformats.org/officeDocument/2006/relationships/notesMaster" Target="/ppt/notesMasters/notesMaster1.xml" Id="R0837eda7073e40f3" /><Relationship Type="http://schemas.openxmlformats.org/officeDocument/2006/relationships/presProps" Target="/ppt/presProps.xml" Id="R22f8617c14274cd4" /><Relationship Type="http://schemas.openxmlformats.org/officeDocument/2006/relationships/tableStyles" Target="/ppt/tableStyles.xml" Id="R92695cb5921f475a" /><Relationship Type="http://schemas.openxmlformats.org/officeDocument/2006/relationships/slide" Target="/ppt/slides/slide1.xml" Id="R24820915d76241b2" /><Relationship Type="http://schemas.openxmlformats.org/officeDocument/2006/relationships/slide" Target="/ppt/slides/slide2.xml" Id="Rc544df05dc314a01" /><Relationship Type="http://schemas.openxmlformats.org/officeDocument/2006/relationships/slide" Target="/ppt/slides/slide3.xml" Id="R92343e52519a42d6" /><Relationship Type="http://schemas.openxmlformats.org/officeDocument/2006/relationships/slide" Target="/ppt/slides/slide4.xml" Id="R08b3d2a9e9984cbc" /><Relationship Type="http://schemas.openxmlformats.org/officeDocument/2006/relationships/slide" Target="/ppt/slides/slide5.xml" Id="Red1e59b475044f06" /><Relationship Type="http://schemas.openxmlformats.org/officeDocument/2006/relationships/slide" Target="/ppt/slides/slide6.xml" Id="Rd944737b56f24591" /><Relationship Type="http://schemas.openxmlformats.org/officeDocument/2006/relationships/slide" Target="/ppt/slides/slide7.xml" Id="R4669160b43a6463a" /><Relationship Type="http://schemas.openxmlformats.org/officeDocument/2006/relationships/slide" Target="/ppt/slides/slide8.xml" Id="R66230dfb8fb54f48" /><Relationship Type="http://schemas.openxmlformats.org/officeDocument/2006/relationships/slide" Target="/ppt/slides/slide9.xml" Id="R99db82f9bd934327" /><Relationship Type="http://schemas.openxmlformats.org/officeDocument/2006/relationships/slide" Target="/ppt/slides/slide10.xml" Id="Rf92f5ac081294480" /><Relationship Type="http://schemas.openxmlformats.org/officeDocument/2006/relationships/slide" Target="/ppt/slides/slide11.xml" Id="R025dccf8e6b74e1c" /><Relationship Type="http://schemas.openxmlformats.org/officeDocument/2006/relationships/slide" Target="/ppt/slides/slide12.xml" Id="R8cf753e96b274b3e" /><Relationship Type="http://schemas.openxmlformats.org/officeDocument/2006/relationships/slide" Target="/ppt/slides/slide13.xml" Id="R16b52b447e874b50" /><Relationship Type="http://schemas.openxmlformats.org/officeDocument/2006/relationships/slide" Target="/ppt/slides/slide14.xml" Id="R4f89298b0a3a4da8" /><Relationship Type="http://schemas.openxmlformats.org/officeDocument/2006/relationships/slide" Target="/ppt/slides/slide15.xml" Id="Rc0976137d24c49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ed42ccc3034a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d884bcc06a47d9" /><Relationship Type="http://schemas.openxmlformats.org/officeDocument/2006/relationships/notesMaster" Target="/ppt/notesMasters/notesMaster1.xml" Id="R6efe199acb2a4b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eaf9f0e9e243fa" /><Relationship Type="http://schemas.openxmlformats.org/officeDocument/2006/relationships/notesMaster" Target="/ppt/notesMasters/notesMaster1.xml" Id="R631608bc3c8c42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68c549a930476b" /><Relationship Type="http://schemas.openxmlformats.org/officeDocument/2006/relationships/notesMaster" Target="/ppt/notesMasters/notesMaster1.xml" Id="R92919b4e38394c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358a9e1f9f4ad9" /><Relationship Type="http://schemas.openxmlformats.org/officeDocument/2006/relationships/notesMaster" Target="/ppt/notesMasters/notesMaster1.xml" Id="R25955c60505d44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0f71ed7e4144b7" /><Relationship Type="http://schemas.openxmlformats.org/officeDocument/2006/relationships/notesMaster" Target="/ppt/notesMasters/notesMaster1.xml" Id="R68585437146846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6595c872c34edd" /><Relationship Type="http://schemas.openxmlformats.org/officeDocument/2006/relationships/notesMaster" Target="/ppt/notesMasters/notesMaster1.xml" Id="Rbb36f6d721e741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7ff212ae54454f" /><Relationship Type="http://schemas.openxmlformats.org/officeDocument/2006/relationships/notesMaster" Target="/ppt/notesMasters/notesMaster1.xml" Id="Rd475f8dfb94341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35a6c933624895" /><Relationship Type="http://schemas.openxmlformats.org/officeDocument/2006/relationships/notesMaster" Target="/ppt/notesMasters/notesMaster1.xml" Id="Rdd9c1359ff0f43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daa5c616594cab" /><Relationship Type="http://schemas.openxmlformats.org/officeDocument/2006/relationships/notesMaster" Target="/ppt/notesMasters/notesMaster1.xml" Id="R96a322f4329142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7a07f518384d53" /><Relationship Type="http://schemas.openxmlformats.org/officeDocument/2006/relationships/notesMaster" Target="/ppt/notesMasters/notesMaster1.xml" Id="R4418e0c8b2cc40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6262d03c15493d" /><Relationship Type="http://schemas.openxmlformats.org/officeDocument/2006/relationships/notesMaster" Target="/ppt/notesMasters/notesMaster1.xml" Id="R48296a09a7eb4c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81b20718bb4a61" /><Relationship Type="http://schemas.openxmlformats.org/officeDocument/2006/relationships/notesMaster" Target="/ppt/notesMasters/notesMaster1.xml" Id="Rdc57e07a99a340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7b625d3ff954086" /><Relationship Type="http://schemas.openxmlformats.org/officeDocument/2006/relationships/notesMaster" Target="/ppt/notesMasters/notesMaster1.xml" Id="R8402cc987eab48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d6a5eecda34a94" /><Relationship Type="http://schemas.openxmlformats.org/officeDocument/2006/relationships/notesMaster" Target="/ppt/notesMasters/notesMaster1.xml" Id="R785d562379154bb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4d7b097db0043dd" /><Relationship Type="http://schemas.openxmlformats.org/officeDocument/2006/relationships/notesMaster" Target="/ppt/notesMasters/notesMaster1.xml" Id="R232190cddd7d40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一次 AllToAll 的输入输出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本例前提：Ascend 950，AICPU_TS，OPBASE，4 Rank，每对 Rank 发送 2 个 FP32，普通 Mesh Write，普通用户内存。通信域和用户 stream 已建立。按资源缓存未命中、Task Cache 关闭的正常主线解释。4 Rank 数值只是教学例子，不是实测记录。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逐项讲解：</a:t>
            </a:r>
          </a:p>
          <a:p xmlns:a="http://schemas.openxmlformats.org/drawingml/2006/main">
            <a:r>
              <a:t>1. 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>源码基线：hccl 170ddeec，hcomm 87ce550f。静态调用分析，数值示例未上板运行。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本次不穷举日志、profiling、报错退出和所有替代算法。内部函数与导出 API 分别标注。HCCL 经动态符号包装层调用 HCOMM。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上层调用进来后，HCCL 先把请求整理完整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本例前提：Ascend 950，AICPU_TS，OPBASE，4 Rank，每对 Rank 发送 2 个 FP32，普通 Mesh Write，普通用户内存。通信域和用户 stream 已建立。按资源缓存未命中、Task Cache 关闭的正常主线解释。4 Rank 数值只是教学例子，不是实测记录。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逐项讲解：</a:t>
            </a:r>
          </a:p>
          <a:p xmlns:a="http://schemas.openxmlformats.org/drawingml/2006/main">
            <a:r>
              <a:t>1. [上层调用 HCCL</a:t>
            </a:r>
          </a:p>
          <a:p xmlns:a="http://schemas.openxmlformats.org/drawingml/2006/main">
            <a:r>
              <a:t>算子 API] HcclAlltoAll：接收等长全互换请求。本例 sendCount=recvCount=2，表示“给每个 Rank 发送 2 个数”，不是总共只发 2 个数。</a:t>
            </a:r>
          </a:p>
          <a:p xmlns:a="http://schemas.openxmlformats.org/drawingml/2006/main">
            <a:r>
              <a:t>2. [HCCL Host</a:t>
            </a:r>
          </a:p>
          <a:p xmlns:a="http://schemas.openxmlformats.org/drawingml/2006/main">
            <a:r>
              <a:t>内部函数] CheckAlltoAllInputPara：检查请求是否合法。检查通信域、指针、stream、数据类型与数量等。本例输入输出分开，参数有效才继续。</a:t>
            </a:r>
          </a:p>
          <a:p xmlns:a="http://schemas.openxmlformats.org/drawingml/2006/main">
            <a:r>
              <a:t>3. [HCCL 调 HCOMM</a:t>
            </a:r>
          </a:p>
          <a:p xmlns:a="http://schemas.openxmlformats.org/drawingml/2006/main">
            <a:r>
              <a:t>控制面 / 拓扑] HcclGetRankSize：读取通信域的成员数。本例得到 4。HCCL 据此准备 4 个发送数量和 4 个接收数量。</a:t>
            </a:r>
          </a:p>
          <a:p xmlns:a="http://schemas.openxmlformats.org/drawingml/2006/main">
            <a:r>
              <a:t>4. [HCCL 调 HCOMM</a:t>
            </a:r>
          </a:p>
          <a:p xmlns:a="http://schemas.openxmlformats.org/drawingml/2006/main">
            <a:r>
              <a:t>控制面 / 域资源] HcclGetCommName：读取通信域名称。用于组成算子标识和后续上下文查找键，避免不同通信域的资源混用。</a:t>
            </a:r>
          </a:p>
          <a:p xmlns:a="http://schemas.openxmlformats.org/drawingml/2006/main">
            <a:r>
              <a:t>5. [HCCL 调 HCOMM</a:t>
            </a:r>
          </a:p>
          <a:p xmlns:a="http://schemas.openxmlformats.org/drawingml/2006/main">
            <a:r>
              <a:t>控制面 / 拓扑] HcclGetRankId：读取本 Rank 的编号。以 Rank 0 为讲解视角，这里得到 0，后续据此区分本地分片和远端分片。</a:t>
            </a:r>
          </a:p>
          <a:p xmlns:a="http://schemas.openxmlformats.org/drawingml/2006/main">
            <a:r>
              <a:t>6. [HCCL Host</a:t>
            </a:r>
          </a:p>
          <a:p xmlns:a="http://schemas.openxmlformats.org/drawingml/2006/main">
            <a:r>
              <a:t>内部函数] ConvertAlltoAllParam：计算每份数据在数组中的起点。本例数量数组为 [2,2,2,2]，发送和接收位移数组为 [0,2,4,6]，位移单位是元素。</a:t>
            </a:r>
          </a:p>
          <a:p xmlns:a="http://schemas.openxmlformats.org/drawingml/2006/main">
            <a:r>
              <a:t>7. [HCCL Host</a:t>
            </a:r>
          </a:p>
          <a:p xmlns:a="http://schemas.openxmlformats.org/drawingml/2006/main">
            <a:r>
              <a:t>内部函数] AlltoAllVOutPlace：进入共用的非原地执行入口。等长 AllToAll 使用可变长框架的实现，算子类型仍然保持 ALLTOALL。</a:t>
            </a:r>
          </a:p>
          <a:p xmlns:a="http://schemas.openxmlformats.org/drawingml/2006/main">
            <a:r>
              <a:t>8. [HCCL Host</a:t>
            </a:r>
          </a:p>
          <a:p xmlns:a="http://schemas.openxmlformats.org/drawingml/2006/main">
            <a:r>
              <a:t>内部函数] AlltoAllVOutPlaceCommon：进入共用的参数处理与调度流程。它继续构造算子参数、读取展开模式，再进入下一页的选择与执行分发。</a:t>
            </a:r>
          </a:p>
          <a:p xmlns:a="http://schemas.openxmlformats.org/drawingml/2006/main">
            <a:r>
              <a:t>9. [HCCL Host</a:t>
            </a:r>
          </a:p>
          <a:p xmlns:a="http://schemas.openxmlformats.org/drawingml/2006/main">
            <a:r>
              <a:t>内部函数] AlltoAllVConstructOpParam：把零散参数封成一个执行请求。保存输入输出地址、数量和位移、数据类型及 stream，形成后面要传给 AICPU 的参数。</a:t>
            </a:r>
          </a:p>
          <a:p xmlns:a="http://schemas.openxmlformats.org/drawingml/2006/main">
            <a:r>
              <a:t>入口还包含环境配置、tag/rank/count/type检查、日志与对称内存探测。普通内存假设下不会进入对称窗口直访分支。这里只展开决定正常通信链的函数，非所有日志或校验辅助函数清单。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>源码基线：hccl 170ddeec，hcomm 87ce550f。静态调用分析，数值示例未上板运行。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本次不穷举日志、profiling、报错退出和所有替代算法。内部函数与导出 API 分别标注。HCCL 经动态符号包装层调用 HCOMM。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HCCL 查询配置和拓扑，决定由哪个算法来做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本例前提：Ascend 950，AICPU_TS，OPBASE，4 Rank，每对 Rank 发送 2 个 FP32，普通 Mesh Write，普通用户内存。通信域和用户 stream 已建立。按资源缓存未命中、Task Cache 关闭的正常主线解释。4 Rank 数值只是教学例子，不是实测记录。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逐项讲解：</a:t>
            </a:r>
          </a:p>
          <a:p xmlns:a="http://schemas.openxmlformats.org/drawingml/2006/main">
            <a:r>
              <a:t>1. [HCCL Host</a:t>
            </a:r>
          </a:p>
          <a:p xmlns:a="http://schemas.openxmlformats.org/drawingml/2006/main">
            <a:r>
              <a:t>内部函数] HcclGetOpExpansionMode：决定本次采用哪种展开方式。本例使用 AICPU_TS，表示把集合算法的任务编排放到 AICPU 侧执行。</a:t>
            </a:r>
          </a:p>
          <a:p xmlns:a="http://schemas.openxmlformats.org/drawingml/2006/main">
            <a:r>
              <a:t>2. [HCCL 调 HCOMM</a:t>
            </a:r>
          </a:p>
          <a:p xmlns:a="http://schemas.openxmlformats.org/drawingml/2006/main">
            <a:r>
              <a:t>控制面 / 域资源] HcclConfigGetInfo：从通信域读取展开模式配置。这是上一项内部实际使用的 HCOMM 配置接口，返回配置给 HCCL 判断。</a:t>
            </a:r>
          </a:p>
          <a:p xmlns:a="http://schemas.openxmlformats.org/drawingml/2006/main">
            <a:r>
              <a:t>3. [HCCL Host</a:t>
            </a:r>
          </a:p>
          <a:p xmlns:a="http://schemas.openxmlformats.org/drawingml/2006/main">
            <a:r>
              <a:t>内部函数] AlltoAllVExecDispatch：把请求交给选择器和执行器。它先得到算法名称与拓扑信息，再发起后续资源准备和执行。</a:t>
            </a:r>
          </a:p>
          <a:p xmlns:a="http://schemas.openxmlformats.org/drawingml/2006/main">
            <a:r>
              <a:t>4. [HCCL Host</a:t>
            </a:r>
          </a:p>
          <a:p xmlns:a="http://schemas.openxmlformats.org/drawingml/2006/main">
            <a:r>
              <a:t>内部函数] Selector：统筹选择本次要使用的算法。综合设备、执行方式、拓扑、数据量和配置，不能只凭 AICPU_TS 就确定所有调用。</a:t>
            </a:r>
          </a:p>
          <a:p xmlns:a="http://schemas.openxmlformats.org/drawingml/2006/main">
            <a:r>
              <a:t>5. [HCCL 调 HCOMM</a:t>
            </a:r>
          </a:p>
          <a:p xmlns:a="http://schemas.openxmlformats.org/drawingml/2006/main">
            <a:r>
              <a:t>控制面 / 域资源] HcclCommGetStatus：检查通信域是否可用。接口能力支持时检查 READY 状态，域正在挂起等情况不能按正常主线继续。</a:t>
            </a:r>
          </a:p>
          <a:p xmlns:a="http://schemas.openxmlformats.org/drawingml/2006/main">
            <a:r>
              <a:t>6. [HCCL Host</a:t>
            </a:r>
          </a:p>
          <a:p xmlns:a="http://schemas.openxmlformats.org/drawingml/2006/main">
            <a:r>
              <a:t>内部函数] HcclCalcTopoInfo：恢复或构造拓扑说明。得到成员关系、网络层、端点与链路信息，供算法和建链请求使用。</a:t>
            </a:r>
          </a:p>
          <a:p xmlns:a="http://schemas.openxmlformats.org/drawingml/2006/main">
            <a:r>
              <a:t>7. [HCCL 调 HCOMM</a:t>
            </a:r>
          </a:p>
          <a:p xmlns:a="http://schemas.openxmlformats.org/drawingml/2006/main">
            <a:r>
              <a:t>控制面 / 域资源] HcclEngineCtxGet：先查已有的拓扑上下文。命中则直接恢复已有说明。未命中才查询拓扑并保存，具体查询逐项解释在第 14 页。</a:t>
            </a:r>
          </a:p>
          <a:p xmlns:a="http://schemas.openxmlformats.org/drawingml/2006/main">
            <a:r>
              <a:t>8. [HCCL Host</a:t>
            </a:r>
          </a:p>
          <a:p xmlns:a="http://schemas.openxmlformats.org/drawingml/2006/main">
            <a:r>
              <a:t>内部函数] AlltoAllAutoSelector::SelectAicpuAlgo：按拓扑与数据量选 AICPU 算法。本例每 Rank 共发送 32 字节，在该选择器分支选中单 Channel 的普通 Mesh 算法。</a:t>
            </a:r>
          </a:p>
          <a:p xmlns:a="http://schemas.openxmlformats.org/drawingml/2006/main">
            <a:r>
              <a:t>9. [HCCL Host</a:t>
            </a:r>
          </a:p>
          <a:p xmlns:a="http://schemas.openxmlformats.org/drawingml/2006/main">
            <a:r>
              <a:t>内部函数] HcclExecOp：进入已选算法的执行准备。读取注册的算法实现，绑定用户 stream，准备或复用这次执行所需资源。</a:t>
            </a:r>
          </a:p>
          <a:p xmlns:a="http://schemas.openxmlformats.org/drawingml/2006/main">
            <a:r>
              <a:t>本例算法名为 AicpuAllToAllSoleMeshSingleChannel（普通 Mesh 的单 Channel 版本），对应 InsV2AlltoAllVSoleExecutor&lt;TopoMatchOneLevel, InsTempAlltoAllVMesh1D&gt;。同一分支的每 Rank 总发送字节数大于 150*1024*1024 时选择 AicpuAllToAllSoleMesh（多 Channel 组织）。另有 MultiJetty、Concurrent、插件或配置选择，不纳入主线。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>hccl/src/ops/all_to_all_v/selector/alltoall_auto_selector.cc:131–188</a:t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>源码基线：hccl 170ddeec，hcomm 87ce550f。静态调用分析，数值示例未上板运行。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本次不穷举日志、profiling、报错退出和所有替代算法。内部函数与导出 API 分别标注。HCCL 经动态符号包装层调用 HCOMM。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HCCL 先绑定用户流，再计算缺少哪些资源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本例前提：Ascend 950，AICPU_TS，OPBASE，4 Rank，每对 Rank 发送 2 个 FP32，普通 Mesh Write，普通用户内存。通信域和用户 stream 已建立。按资源缓存未命中、Task Cache 关闭的正常主线解释。4 Rank 数值只是教学例子，不是实测记录。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逐项讲解：</a:t>
            </a:r>
          </a:p>
          <a:p xmlns:a="http://schemas.openxmlformats.org/drawingml/2006/main">
            <a:r>
              <a:t>1. [HCCL Host</a:t>
            </a:r>
          </a:p>
          <a:p xmlns:a="http://schemas.openxmlformats.org/drawingml/2006/main">
            <a:r>
              <a:t>内部函数] GetAlgExec：按算法名称取出执行器对象。执行器负责计算资源需求，并在设备侧组织该算法的执行。此处只取得 Host 侧对象。</a:t>
            </a:r>
          </a:p>
          <a:p xmlns:a="http://schemas.openxmlformats.org/drawingml/2006/main">
            <a:r>
              <a:t>2. [HCCL 调 HCOMM</a:t>
            </a:r>
          </a:p>
          <a:p xmlns:a="http://schemas.openxmlformats.org/drawingml/2006/main">
            <a:r>
              <a:t>控制面 / 域资源] HcclThreadAcquireWithStream：把用户 stream 包装成通信 Thread。得到 CPU_TS Thread，后面用它提交“输入就绪”和“等待完成”通知。</a:t>
            </a:r>
          </a:p>
          <a:p xmlns:a="http://schemas.openxmlformats.org/drawingml/2006/main">
            <a:r>
              <a:t>3. [HCCL 调 HCOMM</a:t>
            </a:r>
          </a:p>
          <a:p xmlns:a="http://schemas.openxmlformats.org/drawingml/2006/main">
            <a:r>
              <a:t>控制面 / 域资源] HcclThreadExportToCommEngine：把用户 Thread 转成 AICPU 可使用的句柄。这是第一个导出方向：CPU_TS 到 AICPU_TS。设备完成后要通过它通知用户流。</a:t>
            </a:r>
          </a:p>
          <a:p xmlns:a="http://schemas.openxmlformats.org/drawingml/2006/main">
            <a:r>
              <a:t>4. [HCCL Host</a:t>
            </a:r>
          </a:p>
          <a:p xmlns:a="http://schemas.openxmlformats.org/drawingml/2006/main">
            <a:r>
              <a:t>内部函数] HcclGetAlgRes：统一取得本次算法的资源。先尝试复用，资源没有准备过才继续计算与申请。</a:t>
            </a:r>
          </a:p>
          <a:p xmlns:a="http://schemas.openxmlformats.org/drawingml/2006/main">
            <a:r>
              <a:t>5. [HCCL Host</a:t>
            </a:r>
          </a:p>
          <a:p xmlns:a="http://schemas.openxmlformats.org/drawingml/2006/main">
            <a:r>
              <a:t>内部函数] GetAlgoMeta：读取算法登记的属性。取出算法引擎、算子类型和算法层次等描述，供资源规划使用。</a:t>
            </a:r>
          </a:p>
          <a:p xmlns:a="http://schemas.openxmlformats.org/drawingml/2006/main">
            <a:r>
              <a:t>6. [HCCL Host</a:t>
            </a:r>
          </a:p>
          <a:p xmlns:a="http://schemas.openxmlformats.org/drawingml/2006/main">
            <a:r>
              <a:t>内部函数] TryReuseResource：判断算法资源是否已经存在。使用算法标识查询资源上下文。命中时跳过下面的重新计算和创建。</a:t>
            </a:r>
          </a:p>
          <a:p xmlns:a="http://schemas.openxmlformats.org/drawingml/2006/main">
            <a:r>
              <a:t>7. [HCCL 调 HCOMM</a:t>
            </a:r>
          </a:p>
          <a:p xmlns:a="http://schemas.openxmlformats.org/drawingml/2006/main">
            <a:r>
              <a:t>控制面 / 域资源] HcclEngineCtxGet：查找算法资源上下文。这次查的是算法资源，不是上一页的拓扑缓存。本例按未命中继续。</a:t>
            </a:r>
          </a:p>
          <a:p xmlns:a="http://schemas.openxmlformats.org/drawingml/2006/main">
            <a:r>
              <a:t>8. [HCCL Host</a:t>
            </a:r>
          </a:p>
          <a:p xmlns:a="http://schemas.openxmlformats.org/drawingml/2006/main">
            <a:r>
              <a:t>内部函数] CalcAlgHierarchyInfoV2：把拓扑整理成算法使用的通信分组。得到各层成员和本 Rank 在组中的位置，为资源数量计算提供依据。</a:t>
            </a:r>
          </a:p>
          <a:p xmlns:a="http://schemas.openxmlformats.org/drawingml/2006/main">
            <a:r>
              <a:t>9. [HCCL Host</a:t>
            </a:r>
          </a:p>
          <a:p xmlns:a="http://schemas.openxmlformats.org/drawingml/2006/main">
            <a:r>
              <a:t>内部函数] CalcRes：列出算法需要的资源清单。计算主从 Thread、通知槽位以及到哪些 Peer 的 Channel 请求，此时只是算需求。</a:t>
            </a:r>
          </a:p>
          <a:p xmlns:a="http://schemas.openxmlformats.org/drawingml/2006/main">
            <a:r>
              <a:t>内部 GetAlgResWithEngine（按执行引擎分派资源取得流程）会进入 GetAlgResAICPU（负责 AICPU 资源申请、序列化与设备上下文交付）。正常 AICPU Thread 分配不能笼统写成必经公开 HcommThreadAlloc，普通资源管理器可能走内部创建。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>源码基线：hccl 170ddeec，hcomm 87ce550f。静态调用分析，数值示例未上板运行。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本次不穷举日志、profiling、报错退出和所有替代算法。内部函数与导出 API 分别标注。HCCL 经动态符号包装层调用 HCOMM。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HCCL 向 HCOMM 取得缓冲区、线程和通道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本例前提：Ascend 950，AICPU_TS，OPBASE，4 Rank，每对 Rank 发送 2 个 FP32，普通 Mesh Write，普通用户内存。通信域和用户 stream 已建立。按资源缓存未命中、Task Cache 关闭的正常主线解释。4 Rank 数值只是教学例子，不是实测记录。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逐项讲解：</a:t>
            </a:r>
          </a:p>
          <a:p xmlns:a="http://schemas.openxmlformats.org/drawingml/2006/main">
            <a:r>
              <a:t>1. [HCCL Host</a:t>
            </a:r>
          </a:p>
          <a:p xmlns:a="http://schemas.openxmlformats.org/drawingml/2006/main">
            <a:r>
              <a:t>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>2. [HCCL Host</a:t>
            </a:r>
          </a:p>
          <a:p xmlns:a="http://schemas.openxmlformats.org/drawingml/2006/main">
            <a:r>
              <a:t>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>3. [HCCL 调 HCOMM</a:t>
            </a:r>
          </a:p>
          <a:p xmlns:a="http://schemas.openxmlformats.org/drawingml/2006/main">
            <a:r>
              <a:t>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>4. [HCCL Host</a:t>
            </a:r>
          </a:p>
          <a:p xmlns:a="http://schemas.openxmlformats.org/drawingml/2006/main">
            <a:r>
              <a:t>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>5. [HCCL Host</a:t>
            </a:r>
          </a:p>
          <a:p xmlns:a="http://schemas.openxmlformats.org/drawingml/2006/main">
            <a:r>
              <a:t>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>6. [HCCL 调 HCOMM</a:t>
            </a:r>
          </a:p>
          <a:p xmlns:a="http://schemas.openxmlformats.org/drawingml/2006/main">
            <a:r>
              <a:t>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>7. [HCCL 调 HCOMM</a:t>
            </a:r>
          </a:p>
          <a:p xmlns:a="http://schemas.openxmlformats.org/drawingml/2006/main">
            <a:r>
              <a:t>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>8. [HCCL Host</a:t>
            </a:r>
          </a:p>
          <a:p xmlns:a="http://schemas.openxmlformats.org/drawingml/2006/main">
            <a:r>
              <a:t>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>9. [HCCL 调 HCOMM</a:t>
            </a:r>
          </a:p>
          <a:p xmlns:a="http://schemas.openxmlformats.org/drawingml/2006/main">
            <a:r>
              <a:t>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>源码基线：hccl 170ddeec，hcomm 87ce550f。静态调用分析，数值示例未上板运行。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本次不穷举日志、profiling、报错退出和所有替代算法。内部函数与导出 API 分别标注。HCCL 经动态符号包装层调用 HCOMM。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HcclChannelAcquire 内部具体怎样建链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本例前提：Ascend 950，AICPU_TS，OPBASE，4 Rank，每对 Rank 发送 2 个 FP32，普通 Mesh Write，普通用户内存。通信域和用户 stream 已建立。按资源缓存未命中、Task Cache 关闭的正常主线解释。4 Rank 数值只是教学例子，不是实测记录。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逐项讲解：</a:t>
            </a:r>
          </a:p>
          <a:p xmlns:a="http://schemas.openxmlformats.org/drawingml/2006/main">
            <a:r>
              <a:t>1. [HCOMM 内部</a:t>
            </a:r>
          </a:p>
          <a:p xmlns:a="http://schemas.openxmlformats.org/drawingml/2006/main">
            <a:r>
              <a:t>资源管理] MyRank::CreateChannels：统筹这一批通道的建立。安排控制连接、端点、内存、基础通道、连接状态和一致性检查。</a:t>
            </a:r>
          </a:p>
          <a:p xmlns:a="http://schemas.openxmlformats.org/drawingml/2006/main">
            <a:r>
              <a:t>2. [HCOMM 内部</a:t>
            </a:r>
          </a:p>
          <a:p xmlns:a="http://schemas.openxmlformats.org/drawingml/2006/main">
            <a:r>
              <a:t>资源管理] BatchCreateSockets：准备与对端交换控制信息的连接。控制信息包括建链所需地址和参数，不能把它当成本次用户数据已开始发送。</a:t>
            </a:r>
          </a:p>
          <a:p xmlns:a="http://schemas.openxmlformats.org/drawingml/2006/main">
            <a:r>
              <a:t>3. [HCOMM 内部</a:t>
            </a:r>
          </a:p>
          <a:p xmlns:a="http://schemas.openxmlformats.org/drawingml/2006/main">
            <a:r>
              <a:t>资源管理] BatchCreateChannels：逐项准备底层通信通道。调用端点管理器取得或创建端点，再准备可用内存并建立基础 Channel。</a:t>
            </a:r>
          </a:p>
          <a:p xmlns:a="http://schemas.openxmlformats.org/drawingml/2006/main">
            <a:r>
              <a:t>4. [HCOMM 内部调用</a:t>
            </a:r>
          </a:p>
          <a:p xmlns:a="http://schemas.openxmlformats.org/drawingml/2006/main">
            <a:r>
              <a:t>底层资源 API] HcommEndpointCreate：创建底层通信端点。端点缓存未命中才创建，已有匹配端点可以复用。类别：底层通信资源管理。</a:t>
            </a:r>
          </a:p>
          <a:p xmlns:a="http://schemas.openxmlformats.org/drawingml/2006/main">
            <a:r>
              <a:t>5. [HCOMM 内部调用</a:t>
            </a:r>
          </a:p>
          <a:p xmlns:a="http://schemas.openxmlformats.org/drawingml/2006/main">
            <a:r>
              <a:t>底层资源 API] HcommEndpointStartListen：使本地端点具备接入能力。为后续对端建链做好准备，属于端点资源准备。</a:t>
            </a:r>
          </a:p>
          <a:p xmlns:a="http://schemas.openxmlformats.org/drawingml/2006/main">
            <a:r>
              <a:t>6. [HCOMM 内部调用</a:t>
            </a:r>
          </a:p>
          <a:p xmlns:a="http://schemas.openxmlformats.org/drawingml/2006/main">
            <a:r>
              <a:t>底层资源 API] HcommMemReg：把通信内存登记为端点可访问的内存。准备内存句柄时按缺失情况注册 CCL 等通信内存。类别：内存管理。</a:t>
            </a:r>
          </a:p>
          <a:p xmlns:a="http://schemas.openxmlformats.org/drawingml/2006/main">
            <a:r>
              <a:t>7. [HCOMM 内部调用</a:t>
            </a:r>
          </a:p>
          <a:p xmlns:a="http://schemas.openxmlformats.org/drawingml/2006/main">
            <a:r>
              <a:t>底层资源 API] HcommCollectiveChannelCreate：建立集合通信使用的基础通道。已有匹配 Channel 时复用，不能写成每次都重新创建。</a:t>
            </a:r>
          </a:p>
          <a:p xmlns:a="http://schemas.openxmlformats.org/drawingml/2006/main">
            <a:r>
              <a:t>8. [HCOMM 内部</a:t>
            </a:r>
          </a:p>
          <a:p xmlns:a="http://schemas.openxmlformats.org/drawingml/2006/main">
            <a:r>
              <a:t>资源管理] BatchConnectChannels：检查并等待这一批通道连接到位。内部调用 ChannelProcess::ChannelGetStatus 轮询连接状态，不是另一个公开 GetStatus API。</a:t>
            </a:r>
          </a:p>
          <a:p xmlns:a="http://schemas.openxmlformats.org/drawingml/2006/main">
            <a:r>
              <a:t>9. [HCOMM 内部</a:t>
            </a:r>
          </a:p>
          <a:p xmlns:a="http://schemas.openxmlformats.org/drawingml/2006/main">
            <a:r>
              <a:t>资源管理] BatchExchangeAndCheckConsistency：交换并检查双方建链参数。950 路径检查两端信息一致，降低参数不匹配导致的通信错误。</a:t>
            </a:r>
          </a:p>
          <a:p xmlns:a="http://schemas.openxmlformats.org/drawingml/2006/main">
            <a:r>
              <a:t>10. [HCOMM 内部</a:t>
            </a:r>
          </a:p>
          <a:p xmlns:a="http://schemas.openxmlformats.org/drawingml/2006/main">
            <a:r>
              <a:t>资源管理] FinalizeChannelsByEngine：整理执行引擎能使用的通道句柄。为 AICPU 准备最终 Channel 表示，返回到 Host 的资源构造流程。</a:t>
            </a:r>
          </a:p>
          <a:p xmlns:a="http://schemas.openxmlformats.org/drawingml/2006/main">
            <a:r>
              <a:t>BatchCreateChannels 内部顺序：EndpointMgr::Get（查找或准备端点）按需调用 HcommEndpointCreate（创建端点），然后调用 HcommEndpointStartListen（监听）。PrepareMemHandles（准备内存句柄）调用 RegisterCommMemsToEndpoint（把通信内存登记到端点）并按需调用 HcommMemReg（注册内存）。RankPair/EndpointPair::CreateChannel（按 Rank/端点对获取通道）最终按缓存状态调用 HcommCollectiveChannelCreate（创建集合通信基础通道）。ChannelProcess::ChannelGetStatus 是内部状态方法。当前路径不要替换成名字相近的 HcommChannelCreate 或 HcommChannelGetStatus。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hcomm/src/coll_communicator_mgr/resource_mgr/local/my_rank/my_rank.cc:675–850,1228–1303; hcomm/src/base_comm/resources/endpoint_pairs/endpoint_pair.cc:199; hcomm/src/coll_communicator_mgr/resource_mgr/local/my_rank/endpoints/endpoint_mgr.cc:138</a:t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>源码基线：hccl 170ddeec，hcomm 87ce550f。静态调用分析，数值示例未上板运行。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本次不穷举日志、profiling、报错退出和所有替代算法。内部函数与导出 API 分别标注。HCCL 经动态符号包装层调用 HCOMM。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6. Host 整理资源，把设备执行所需信息交过去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本例前提：Ascend 950，AICPU_TS，OPBASE，4 Rank，每对 Rank 发送 2 个 FP32，普通 Mesh Write，普通用户内存。通信域和用户 stream 已建立。按资源缓存未命中、Task Cache 关闭的正常主线解释。4 Rank 数值只是教学例子，不是实测记录。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逐项讲解：</a:t>
            </a:r>
          </a:p>
          <a:p xmlns:a="http://schemas.openxmlformats.org/drawingml/2006/main">
            <a:r>
              <a:t>1. [HCCL Host</a:t>
            </a:r>
          </a:p>
          <a:p xmlns:a="http://schemas.openxmlformats.org/drawingml/2006/main">
            <a:r>
              <a:t>内部函数] BuildChannelInfo：把 Channel 句柄补成算法需要的通道说明。保存远端 Rank、协议、通知数量、端口分片属性，以及远端 CCL 地址。</a:t>
            </a:r>
          </a:p>
          <a:p xmlns:a="http://schemas.openxmlformats.org/drawingml/2006/main">
            <a:r>
              <a:t>2. [HCCL 调 HCOMM</a:t>
            </a:r>
          </a:p>
          <a:p xmlns:a="http://schemas.openxmlformats.org/drawingml/2006/main">
            <a:r>
              <a:t>控制面 / 拓扑] HcclRankGraphGetEndpointInfo：查询所选端点的属性。取得带宽系数等，用于按端口分片。能力允许时也读取 Die 信息。</a:t>
            </a:r>
          </a:p>
          <a:p xmlns:a="http://schemas.openxmlformats.org/drawingml/2006/main">
            <a:r>
              <a:t>3. [HCCL 调 HCOMM</a:t>
            </a:r>
          </a:p>
          <a:p xmlns:a="http://schemas.openxmlformats.org/drawingml/2006/main">
            <a:r>
              <a:t>控制面 / 内存] HcclChannelGetHcclBuffer：查询该通道对应的远端 CCL 缓冲区。得到对端缓冲区可访问地址和大小，后面才知道 Write 的目的地址。</a:t>
            </a:r>
          </a:p>
          <a:p xmlns:a="http://schemas.openxmlformats.org/drawingml/2006/main">
            <a:r>
              <a:t>4. [HCOMM 内部调用</a:t>
            </a:r>
          </a:p>
          <a:p xmlns:a="http://schemas.openxmlformats.org/drawingml/2006/main">
            <a:r>
              <a:t>内存管理 API] HcommChannelGetRemoteMems：查询基础通道上的远端内存映射。供上一项解析远端 CCL。查询返回地址信息，这一步不搬用户数据。</a:t>
            </a:r>
          </a:p>
          <a:p xmlns:a="http://schemas.openxmlformats.org/drawingml/2006/main">
            <a:r>
              <a:t>5. [HCCL Host</a:t>
            </a:r>
          </a:p>
          <a:p xmlns:a="http://schemas.openxmlformats.org/drawingml/2006/main">
            <a:r>
              <a:t>内部函数] Serialize：把资源上下文打包成连续字节。打包 Thread、Channel、缓冲区地址、拓扑和分组信息，便于交给设备。</a:t>
            </a:r>
          </a:p>
          <a:p xmlns:a="http://schemas.openxmlformats.org/drawingml/2006/main">
            <a:r>
              <a:t>6. [HCCL Host</a:t>
            </a:r>
          </a:p>
          <a:p xmlns:a="http://schemas.openxmlformats.org/drawingml/2006/main">
            <a:r>
              <a:t>内部函数] HcclMemcpyCtxHostToDevice：组织资源上下文向设备侧的交付。它依次调用下面两个 HCOMM API，传的是资源描述，不是 AllToAll 输入张量。</a:t>
            </a:r>
          </a:p>
          <a:p xmlns:a="http://schemas.openxmlformats.org/drawingml/2006/main">
            <a:r>
              <a:t>7. [HCCL 调 HCOMM</a:t>
            </a:r>
          </a:p>
          <a:p xmlns:a="http://schemas.openxmlformats.org/drawingml/2006/main">
            <a:r>
              <a:t>控制面 / 域资源] HcclEngineCtxCreate：为 AICPU 创建具名上下文空间。按算法标识和所需大小取得空间，供后续查询或跨算子复用。</a:t>
            </a:r>
          </a:p>
          <a:p xmlns:a="http://schemas.openxmlformats.org/drawingml/2006/main">
            <a:r>
              <a:t>8. [HCCL 调 HCOMM</a:t>
            </a:r>
          </a:p>
          <a:p xmlns:a="http://schemas.openxmlformats.org/drawingml/2006/main">
            <a:r>
              <a:t>控制面 / 域资源] HcclEngineCtxCopy：把打包好的资源描述复制进上下文。设备随后从这里恢复 Thread、Channel 和地址等信息。类别仍是通信域资源管理。</a:t>
            </a:r>
          </a:p>
          <a:p xmlns:a="http://schemas.openxmlformats.org/drawingml/2006/main">
            <a:r>
              <a:t>9. [HCCL 调 HCOMM</a:t>
            </a:r>
          </a:p>
          <a:p xmlns:a="http://schemas.openxmlformats.org/drawingml/2006/main">
            <a:r>
              <a:t>控制面 / 域资源] HcclThreadExportToCommEngine：把设备主 Thread 转成 Host 可使用的句柄。第二个导出方向是 AICPU_TS 到 CPU_TS。Host 用它向设备发“输入已经就绪”的通知。</a:t>
            </a:r>
          </a:p>
          <a:p xmlns:a="http://schemas.openxmlformats.org/drawingml/2006/main">
            <a:r>
              <a:t>Serialize 的实际对象是 AlgResourceCtxSerializable。第一次导出用户 Thread 是为了设备完成通知，第二次导出设备主 Thread 是为了 Host 输入就绪通知。GetMainThreadInfo（读取保存的主 Thread 和通知数）发生在第二次导出之前。两种导出是句柄视图转换，不是复制用户输入。算法资源缓存命中时可以跳过本页的重新序列化、创建与复制。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>hcomm/src/coll_communicator_mgr/resource_mgr/local/my_rank/my_rank.cc:675–850,1228–1303; hcomm/src/base_comm/resources/endpoint_pairs/endpoint_pair.cc:199; hcomm/src/coll_communicator_mgr/resource_mgr/local/my_rank/endpoints/endpoint_mgr.cc:138</a:t>
            </a:r>
          </a:p>
          <a:p xmlns:a="http://schemas.openxmlformats.org/drawingml/2006/main">
            <a:r>
              <a:t>源码基线：hccl 170ddeec，hcomm 87ce550f。静态调用分析，数值示例未上板运行。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本次不穷举日志、profiling、报错退出和所有替代算法。内部函数与导出 API 分别标注。HCCL 经动态符号包装层调用 HCOMM。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7. Host 发输入就绪通知，再通过 ACL 启动 AICPU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本例前提：Ascend 950，AICPU_TS，OPBASE，4 Rank，每对 Rank 发送 2 个 FP32，普通 Mesh Write，普通用户内存。通信域和用户 stream 已建立。按资源缓存未命中、Task Cache 关闭的正常主线解释。4 Rank 数值只是教学例子，不是实测记录。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逐项讲解：</a:t>
            </a:r>
          </a:p>
          <a:p xmlns:a="http://schemas.openxmlformats.org/drawingml/2006/main">
            <a:r>
              <a:t>1. [HCCL Host</a:t>
            </a:r>
          </a:p>
          <a:p xmlns:a="http://schemas.openxmlformats.org/drawingml/2006/main">
            <a:r>
              <a:t>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>2. [HCCL 调 HCOMM</a:t>
            </a:r>
          </a:p>
          <a:p xmlns:a="http://schemas.openxmlformats.org/drawingml/2006/main">
            <a:r>
              <a:t>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>3. [HCCL Host</a:t>
            </a:r>
          </a:p>
          <a:p xmlns:a="http://schemas.openxmlformats.org/drawingml/2006/main">
            <a:r>
              <a:t>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>4. [HCCL Host</a:t>
            </a:r>
          </a:p>
          <a:p xmlns:a="http://schemas.openxmlformats.org/drawingml/2006/main">
            <a:r>
              <a:t>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>5. [HCCL 调 ACL</a:t>
            </a:r>
          </a:p>
          <a:p xmlns:a="http://schemas.openxmlformats.org/drawingml/2006/main">
            <a:r>
              <a:t>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>6. [HCCL 调 ACL</a:t>
            </a:r>
          </a:p>
          <a:p xmlns:a="http://schemas.openxmlformats.org/drawingml/2006/main">
            <a:r>
              <a:t>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>7. [HCCL 调 ACL</a:t>
            </a:r>
          </a:p>
          <a:p xmlns:a="http://schemas.openxmlformats.org/drawingml/2006/main">
            <a:r>
              <a:t>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>8. [HCCL 调 ACL</a:t>
            </a:r>
          </a:p>
          <a:p xmlns:a="http://schemas.openxmlformats.org/drawingml/2006/main">
            <a:r>
              <a:t>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>9. [HCCL 调 ACL</a:t>
            </a:r>
          </a:p>
          <a:p xmlns:a="http://schemas.openxmlformats.org/drawingml/2006/main">
            <a:r>
              <a:t>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>10. [HCCL Host</a:t>
            </a:r>
          </a:p>
          <a:p xmlns:a="http://schemas.openxmlformats.org/drawingml/2006/main">
            <a:r>
              <a:t>内部函数] HcclOrderLaunchToKernelStream：完成发射后的按序同步安排。随后还要把“等待本次通信完成”的任务排入用户流，具体完成关系见第 12 页。</a:t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>hccl/src/ops/op_common/order_launch.cc; hccl/src/ops/op_common/algorithm/template/aicpu/kernel_launch.cc:327–343</a:t>
            </a:r>
          </a:p>
          <a:p xmlns:a="http://schemas.openxmlformats.org/drawingml/2006/main">
            <a:r>
              <a:t>源码基线：hccl 170ddeec，hcomm 87ce550f。静态调用分析，数值示例未上板运行。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本次不穷举日志、profiling、报错退出和所有替代算法。内部函数与导出 API 分别标注。HCCL 经动态符号包装层调用 HCOMM。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8. AICPU 收到任务后，恢复参数并进入算法编排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本例前提：Ascend 950，AICPU_TS，OPBASE，4 Rank，每对 Rank 发送 2 个 FP32，普通 Mesh Write，普通用户内存。通信域和用户 stream 已建立。按资源缓存未命中、Task Cache 关闭的正常主线解释。4 Rank 数值只是教学例子，不是实测记录。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逐项讲解：</a:t>
            </a:r>
          </a:p>
          <a:p xmlns:a="http://schemas.openxmlformats.org/drawingml/2006/main">
            <a:r>
              <a:t>1. [ACL 启动 HCCL</a:t>
            </a:r>
          </a:p>
          <a:p xmlns:a="http://schemas.openxmlformats.org/drawingml/2006/main">
            <a:r>
              <a:t>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>2. [HCCL 调 HCOMM</a:t>
            </a:r>
          </a:p>
          <a:p xmlns:a="http://schemas.openxmlformats.org/drawingml/2006/main">
            <a:r>
              <a:t>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>3. [HCCL AICPU</a:t>
            </a:r>
          </a:p>
          <a:p xmlns:a="http://schemas.openxmlformats.org/drawingml/2006/main">
            <a:r>
              <a:t>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>4. [HCCL AICPU</a:t>
            </a:r>
          </a:p>
          <a:p xmlns:a="http://schemas.openxmlformats.org/drawingml/2006/main">
            <a:r>
              <a:t>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>5. [HCCL AICPU</a:t>
            </a:r>
          </a:p>
          <a:p xmlns:a="http://schemas.openxmlformats.org/drawingml/2006/main">
            <a:r>
              <a:t>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>6. [HCCL 调 HCOMM</a:t>
            </a:r>
          </a:p>
          <a:p xmlns:a="http://schemas.openxmlformats.org/drawingml/2006/main">
            <a:r>
              <a:t>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>7. [HCCL AICPU</a:t>
            </a:r>
          </a:p>
          <a:p xmlns:a="http://schemas.openxmlformats.org/drawingml/2006/main">
            <a:r>
              <a:t>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>8. [HCCL 调 HCOMM</a:t>
            </a:r>
          </a:p>
          <a:p xmlns:a="http://schemas.openxmlformats.org/drawingml/2006/main">
            <a:r>
              <a:t>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>9. [HCCL 调 HCOMM</a:t>
            </a:r>
          </a:p>
          <a:p xmlns:a="http://schemas.openxmlformats.org/drawingml/2006/main">
            <a:r>
              <a:t>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>10. [HCCL AICPU</a:t>
            </a:r>
          </a:p>
          <a:p xmlns:a="http://schemas.openxmlformats.org/drawingml/2006/main">
            <a:r>
              <a:t>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开启时还有查找/录制/重放路径，见第15页。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>hccl/src/ops/op_common/algorithm/template/wrapper/alg_data_trans_wrapper.cc:428–472,880; hccl/src/common/hcomm_dlsym/hcomm_primitives_dl.cc:176</a:t>
            </a:r>
          </a:p>
          <a:p xmlns:a="http://schemas.openxmlformats.org/drawingml/2006/main">
            <a:r>
              <a:t>源码基线：hccl 170ddeec，hcomm 87ce550f。静态调用分析，数值示例未上板运行。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本次不穷举日志、profiling、报错退出和所有替代算法。内部函数与导出 API 分别标注。HCCL 经动态符号包装层调用 HCOMM。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9. AICPU 把“全互换”拆成可执行的分片任务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本例前提：Ascend 950，AICPU_TS，OPBASE，4 Rank，每对 Rank 发送 2 个 FP32，普通 Mesh Write，普通用户内存。通信域和用户 stream 已建立。按资源缓存未命中、Task Cache 关闭的正常主线解释。4 Rank 数值只是教学例子，不是实测记录。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逐项讲解：</a:t>
            </a:r>
          </a:p>
          <a:p xmlns:a="http://schemas.openxmlformats.org/drawingml/2006/main">
            <a:r>
              <a:t>1. [HCCL AICPU</a:t>
            </a:r>
          </a:p>
          <a:p xmlns:a="http://schemas.openxmlformats.org/drawingml/2006/main">
            <a:r>
              <a:t>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>2. [HCCL AICPU</a:t>
            </a:r>
          </a:p>
          <a:p xmlns:a="http://schemas.openxmlformats.org/drawingml/2006/main">
            <a:r>
              <a:t>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>3. [HCCL AICPU</a:t>
            </a:r>
          </a:p>
          <a:p xmlns:a="http://schemas.openxmlformats.org/drawingml/2006/main">
            <a:r>
              <a:t>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>4. [HCCL AICPU</a:t>
            </a:r>
          </a:p>
          <a:p xmlns:a="http://schemas.openxmlformats.org/drawingml/2006/main">
            <a:r>
              <a:t>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>5. [HCCL AICPU</a:t>
            </a:r>
          </a:p>
          <a:p xmlns:a="http://schemas.openxmlformats.org/drawingml/2006/main">
            <a:r>
              <a:t>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>6. [HCCL AICPU</a:t>
            </a:r>
          </a:p>
          <a:p xmlns:a="http://schemas.openxmlformats.org/drawingml/2006/main">
            <a:r>
              <a:t>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>7. [HCCL AICPU</a:t>
            </a:r>
          </a:p>
          <a:p xmlns:a="http://schemas.openxmlformats.org/drawingml/2006/main">
            <a:r>
              <a:t>内部函数] LocalCopyForMyRank：处理发给自己的分片。调用本地拷贝包装。本例 Rank 0 将输入 [0,1] 复制到自己的输出第 0 份。</a:t>
            </a:r>
          </a:p>
          <a:p xmlns:a="http://schemas.openxmlformats.org/drawingml/2006/main">
            <a:r>
              <a:t>8. [HCCL AICPU</a:t>
            </a:r>
          </a:p>
          <a:p xmlns:a="http://schemas.openxmlformats.org/drawingml/2006/main">
            <a:r>
              <a:t>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>9. [HCCL AICPU</a:t>
            </a:r>
          </a:p>
          <a:p xmlns:a="http://schemas.openxmlformats.org/drawingml/2006/main">
            <a:r>
              <a:t>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>10. [HCCL AICPU</a:t>
            </a:r>
          </a:p>
          <a:p xmlns:a="http://schemas.openxmlformats.org/drawingml/2006/main">
            <a:r>
              <a:t>内部函数] BuildDataSlices：计算实际的源地址、目的地址和字节数。对 Rank 0 发给 Rank 1 的 [2,3]，源从 sendBuf 的第 2 项开始，长度为 8 字节。</a:t>
            </a:r>
          </a:p>
          <a:p xmlns:a="http://schemas.openxmlformats.org/drawingml/2006/main">
            <a:r>
              <a:t>RunALLtoALL 的真实层次：CalcCommLoops 后，多线程时 PreSyncInterThreads（安排主从开始同步），循环内 CalcCommRankSetForOneLoop（选择 Peer），首轮 LocalCopyForMyRank（自分片本地拷贝），RunSendRecvByLoop（遍历 Peer）。后者用 CalcDataSplitByPortGroupCommon（按端口带宽分片）后调 RunSendRecvByChannel（逐 Channel 安排任务）。Channel 层先 CalcCclBuffIdx（算双方中转槽位），再 BuildDataSlices（构造地址和长度），再 RunSendRecv（按协议和非零长度选择收发包装），最终普通双向非零情况进入 SendRecvWrite（握手后写数据）。这些内部函数同样不等于硬件当场完成。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>源码基线：hccl 170ddeec，hcomm 87ce550f。静态调用分析，数值示例未上板运行。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本次不穷举日志、profiling、报错退出和所有替代算法。内部函数与导出 API 分别标注。HCCL 经动态符号包装层调用 HCOMM。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Rank 0 与 Rank 1 的双向通信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本例前提：Ascend 950，AICPU_TS，OPBASE，4 Rank，每对 Rank 发送 2 个 FP32，普通 Mesh Write，普通用户内存。通信域和用户 stream 已建立。按资源缓存未命中、Task Cache 关闭的正常主线解释。4 Rank 数值只是教学例子，不是实测记录。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逐项讲解：</a:t>
            </a:r>
          </a:p>
          <a:p xmlns:a="http://schemas.openxmlformats.org/drawingml/2006/main">
            <a:r>
              <a:t>1. [HCCL 调 HCOMM</a:t>
            </a:r>
          </a:p>
          <a:p xmlns:a="http://schemas.openxmlformats.org/drawingml/2006/main">
            <a:r>
              <a:t>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>2. [HCCL 调 HCOMM</a:t>
            </a:r>
          </a:p>
          <a:p xmlns:a="http://schemas.openxmlformats.org/drawingml/2006/main">
            <a:r>
              <a:t>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>3. [HCCL 调 HCOMM</a:t>
            </a:r>
          </a:p>
          <a:p xmlns:a="http://schemas.openxmlformats.org/drawingml/2006/main">
            <a:r>
              <a:t>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>4. [HCCL 调 HCOMM</a:t>
            </a:r>
          </a:p>
          <a:p xmlns:a="http://schemas.openxmlformats.org/drawingml/2006/main">
            <a:r>
              <a:t>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>5. [HCCL 调 HCOMM</a:t>
            </a:r>
          </a:p>
          <a:p xmlns:a="http://schemas.openxmlformats.org/drawingml/2006/main">
            <a:r>
              <a:t>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>6. [HCCL 调 HCOMM</a:t>
            </a:r>
          </a:p>
          <a:p xmlns:a="http://schemas.openxmlformats.org/drawingml/2006/main">
            <a:r>
              <a:t>数据面 / 搬运] HcommLocalCopyOnThread：把收到的 [10,11] 拷入 Rank 0 输出。模板的 PostCopy 发起此调用，源是本地 CCL，目的为 recvBuf 第 2 项开始的 8 字节。</a:t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hccl/src/ops/op_common/algorithm/template/wrapper/alg_data_trans_wrapper.cc:428–472,880; hccl/src/common/hcomm_dlsym/hcomm_primitives_dl.cc:176</a:t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>源码基线：hccl 170ddeec，hcomm 87ce550f。静态调用分析，数值示例未上板运行。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本次不穷举日志、profiling、报错退出和所有替代算法。内部函数与导出 API 分别标注。HCCL 经动态符号包装层调用 HCOMM。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11. 所有 Peer 的任务排好后，怎样通知上层可以继续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本例前提：Ascend 950，AICPU_TS，OPBASE，4 Rank，每对 Rank 发送 2 个 FP32，普通 Mesh Write，普通用户内存。通信域和用户 stream 已建立。按资源缓存未命中、Task Cache 关闭的正常主线解释。4 Rank 数值只是教学例子，不是实测记录。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逐项讲解：</a:t>
            </a:r>
          </a:p>
          <a:p xmlns:a="http://schemas.openxmlformats.org/drawingml/2006/main">
            <a:r>
              <a:t>1. [HCCL AICPU</a:t>
            </a:r>
          </a:p>
          <a:p xmlns:a="http://schemas.openxmlformats.org/drawingml/2006/main">
            <a:r>
              <a:t>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>2. [HCCL 调 HCOMM</a:t>
            </a:r>
          </a:p>
          <a:p xmlns:a="http://schemas.openxmlformats.org/drawingml/2006/main">
            <a:r>
              <a:t>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>3. [HCCL 调 HCOMM</a:t>
            </a:r>
          </a:p>
          <a:p xmlns:a="http://schemas.openxmlformats.org/drawingml/2006/main">
            <a:r>
              <a:t>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>4. [HCCL AICPU</a:t>
            </a:r>
          </a:p>
          <a:p xmlns:a="http://schemas.openxmlformats.org/drawingml/2006/main">
            <a:r>
              <a:t>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>5. [HCCL 调 HCOMM</a:t>
            </a:r>
          </a:p>
          <a:p xmlns:a="http://schemas.openxmlformats.org/drawingml/2006/main">
            <a:r>
              <a:t>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>6. [HCCL 调 HCOMM</a:t>
            </a:r>
          </a:p>
          <a:p xmlns:a="http://schemas.openxmlformats.org/drawingml/2006/main">
            <a:r>
              <a:t>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>7. [HCCL 调 HCOMM</a:t>
            </a:r>
          </a:p>
          <a:p xmlns:a="http://schemas.openxmlformats.org/drawingml/2006/main">
            <a:r>
              <a:t>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>8. [Host 已排入</a:t>
            </a:r>
          </a:p>
          <a:p xmlns:a="http://schemas.openxmlformats.org/drawingml/2006/main">
            <a:r>
              <a:t>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>hccl/src/ops/op_common/algorithm/template/wrapper/alg_data_trans_wrapper.cc:428–472,880; hccl/src/common/hcomm_dlsym/hcomm_primitives_dl.cc:176</a:t>
            </a:r>
          </a:p>
          <a:p xmlns:a="http://schemas.openxmlformats.org/drawingml/2006/main">
            <a:r>
              <a:t>源码基线：hccl 170ddeec，hcomm 87ce550f。静态调用分析，数值示例未上板运行。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本次不穷举日志、profiling、报错退出和所有替代算法。内部函数与导出 API 分别标注。HCCL 经动态符号包装层调用 HCOMM。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补充 1. HcommWriteOnThread 里面还做了什么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本例前提：Ascend 950，AICPU_TS，OPBASE，4 Rank，每对 Rank 发送 2 个 FP32，普通 Mesh Write，普通用户内存。通信域和用户 stream 已建立。按资源缓存未命中、Task Cache 关闭的正常主线解释。4 Rank 数值只是教学例子，不是实测记录。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逐项讲解：</a:t>
            </a:r>
          </a:p>
          <a:p xmlns:a="http://schemas.openxmlformats.org/drawingml/2006/main">
            <a:r>
              <a:t>1. [HCCL 调 HCOMM</a:t>
            </a:r>
          </a:p>
          <a:p xmlns:a="http://schemas.openxmlformats.org/drawingml/2006/main">
            <a:r>
              <a:t>数据面 / 搬运] HcommWriteOnThread：接收一次远端写任务的描述。输入是执行 Thread、Channel、本地源地址、远端目的地址和字节数。</a:t>
            </a:r>
          </a:p>
          <a:p xmlns:a="http://schemas.openxmlformats.org/drawingml/2006/main">
            <a:r>
              <a:t>2. [HCOMM 数据面</a:t>
            </a:r>
          </a:p>
          <a:p xmlns:a="http://schemas.openxmlformats.org/drawingml/2006/main">
            <a:r>
              <a:t>内部函数] UnwrapChannelHandle：把通道句柄解包为实际通道对象。后续才能访问该 Channel 对应的传输实现。</a:t>
            </a:r>
          </a:p>
          <a:p xmlns:a="http://schemas.openxmlformats.org/drawingml/2006/main">
            <a:r>
              <a:t>3. [HCOMM 数据面</a:t>
            </a:r>
          </a:p>
          <a:p xmlns:a="http://schemas.openxmlformats.org/drawingml/2006/main">
            <a:r>
              <a:t>内部函数] AddThread：把本次使用的 Thread 加入执行管理。为后面的批模式与任务管理记录参与者，不是另外新建一条通信线程。</a:t>
            </a:r>
          </a:p>
          <a:p xmlns:a="http://schemas.openxmlformats.org/drawingml/2006/main">
            <a:r>
              <a:t>4. [HCOMM 数据面</a:t>
            </a:r>
          </a:p>
          <a:p xmlns:a="http://schemas.openxmlformats.org/drawingml/2006/main">
            <a:r>
              <a:t>内部方法] Thread::GetStreamLitePtr：取得 950 的轻量任务流对象。把本次搬运放到这个 Thread 对应的任务流上，保持与握手任务的顺序。</a:t>
            </a:r>
          </a:p>
          <a:p xmlns:a="http://schemas.openxmlformats.org/drawingml/2006/main">
            <a:r>
              <a:t>5. [HCOMM 传输层</a:t>
            </a:r>
          </a:p>
          <a:p xmlns:a="http://schemas.openxmlformats.org/drawingml/2006/main">
            <a:r>
              <a:t>内部方法] BaseTransportLiteImpl::BuildLocRmaBufferLite：构造本地访问描述。将 src 和 len 整理成传输层需要的本地缓冲描述，供后续远端写使用。</a:t>
            </a:r>
          </a:p>
          <a:p xmlns:a="http://schemas.openxmlformats.org/drawingml/2006/main">
            <a:r>
              <a:t>6. [HCOMM 传输层</a:t>
            </a:r>
          </a:p>
          <a:p xmlns:a="http://schemas.openxmlformats.org/drawingml/2006/main">
            <a:r>
              <a:t>内部方法] BaseTransportLiteImpl::Write：向所选传输实现提交远端写。使用本地描述、远端地址和任务流生成后续传输任务。具体进一步下钻取决于 Channel 协议。</a:t>
            </a:r>
          </a:p>
          <a:p xmlns:a="http://schemas.openxmlformats.org/drawingml/2006/main">
            <a:r>
              <a:t>7. [HCOMM 数据面</a:t>
            </a:r>
          </a:p>
          <a:p xmlns:a="http://schemas.openxmlformats.org/drawingml/2006/main">
            <a:r>
              <a:t>本地拷贝 API] HcommLocalCopyOnThread：处理自分片或接收后的本地拷贝。它最终通过 Thread 的本地拷贝能力搬字节，不走同一个跨 Rank 远端写过程。</a:t>
            </a:r>
          </a:p>
          <a:p xmlns:a="http://schemas.openxmlformats.org/drawingml/2006/main">
            <a:r>
              <a:t>8. [HCOMM 数据面</a:t>
            </a:r>
          </a:p>
          <a:p xmlns:a="http://schemas.openxmlformats.org/drawingml/2006/main">
            <a:r>
              <a:t>内部方法] Thread::LocalCopy：在指定任务流安排本地复制。在后拷贝场景，将本地 CCL 中的数据放入本地用户输出的正确位置。</a:t>
            </a:r>
          </a:p>
          <a:p xmlns:a="http://schemas.openxmlformats.org/drawingml/2006/main">
            <a:r>
              <a:t>UB 传输分支会继续构造网络工作请求并提交任务/门铃，其他协议使用各自传输实现。这里不把 UB 下钻虚构为所有 950 模式的必经路径。Byte copy 没有归约计算，因此 AllToAll 主线不需要 Reduce 类原语。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hcomm/src/base_comm/primitives/api_c_adpt/aicpu_ts_primitives_c_adpt.cc:495–535,1118</a:t>
            </a:r>
          </a:p>
          <a:p xmlns:a="http://schemas.openxmlformats.org/drawingml/2006/main">
            <a:r>
              <a:t>hccl/src/ops/op_common/algorithm/template/wrapper/alg_data_trans_wrapper.cc:428–472,880; hccl/src/common/hcomm_dlsym/hcomm_primitives_dl.cc:176</a:t>
            </a:r>
          </a:p>
          <a:p xmlns:a="http://schemas.openxmlformats.org/drawingml/2006/main">
            <a:r>
              <a:t>源码基线：hccl 170ddeec，hcomm 87ce550f。静态调用分析，数值示例未上板运行。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本次不穷举日志、profiling、报错退出和所有替代算法。内部函数与导出 API 分别标注。HCCL 经动态符号包装层调用 HCOMM。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补充 2. 拓扑查询里的每个接口分别回答什么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本例前提：Ascend 950，AICPU_TS，OPBASE，4 Rank，每对 Rank 发送 2 个 FP32，普通 Mesh Write，普通用户内存。通信域和用户 stream 已建立。按资源缓存未命中、Task Cache 关闭的正常主线解释。4 Rank 数值只是教学例子，不是实测记录。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逐项讲解：</a:t>
            </a:r>
          </a:p>
          <a:p xmlns:a="http://schemas.openxmlformats.org/drawingml/2006/main">
            <a:r>
              <a:t>1. [HCCL 调 HCOMM</a:t>
            </a:r>
          </a:p>
          <a:p xmlns:a="http://schemas.openxmlformats.org/drawingml/2006/main">
            <a:r>
              <a:t>控制面 / 拓扑] HcclRankGraphGetLayers：有哪些网络层。返回网络层标识，用于了解通信域是怎样分层组织的。</a:t>
            </a:r>
          </a:p>
          <a:p xmlns:a="http://schemas.openxmlformats.org/drawingml/2006/main">
            <a:r>
              <a:t>2. [HCCL 调 HCOMM</a:t>
            </a:r>
          </a:p>
          <a:p xmlns:a="http://schemas.openxmlformats.org/drawingml/2006/main">
            <a:r>
              <a:t>控制面 / 拓扑] HcclRankGraphGetInstSizeListByLayer：这一层各拓扑实例有多大。返回实例规模信息，帮助 HCCL 判断这一层的组织形态。</a:t>
            </a:r>
          </a:p>
          <a:p xmlns:a="http://schemas.openxmlformats.org/drawingml/2006/main">
            <a:r>
              <a:t>3. [HCCL 调 HCOMM</a:t>
            </a:r>
          </a:p>
          <a:p xmlns:a="http://schemas.openxmlformats.org/drawingml/2006/main">
            <a:r>
              <a:t>控制面 / 拓扑] HcclRankGraphGetRanksByLayer：这一层包含哪些 Rank。给出层级成员，用于构造算法通信分组。</a:t>
            </a:r>
          </a:p>
          <a:p xmlns:a="http://schemas.openxmlformats.org/drawingml/2006/main">
            <a:r>
              <a:t>4. [HCCL 调 HCOMM</a:t>
            </a:r>
          </a:p>
          <a:p xmlns:a="http://schemas.openxmlformats.org/drawingml/2006/main">
            <a:r>
              <a:t>控制面 / 拓扑] HcclRankGraphGetTopoInstsByLayer：这一层有哪些拓扑实例。列举该层的具体实例，下一步可逐实例查询类型和成员。</a:t>
            </a:r>
          </a:p>
          <a:p xmlns:a="http://schemas.openxmlformats.org/drawingml/2006/main">
            <a:r>
              <a:t>5. [HCCL 调 HCOMM</a:t>
            </a:r>
          </a:p>
          <a:p xmlns:a="http://schemas.openxmlformats.org/drawingml/2006/main">
            <a:r>
              <a:t>控制面 / 拓扑] HcclRankGraphGetTopoType：指定实例是什么拓扑类型。给出拓扑类型信息，帮助选择能用于该拓扑的算法。</a:t>
            </a:r>
          </a:p>
          <a:p xmlns:a="http://schemas.openxmlformats.org/drawingml/2006/main">
            <a:r>
              <a:t>6. [HCCL 调 HCOMM</a:t>
            </a:r>
          </a:p>
          <a:p xmlns:a="http://schemas.openxmlformats.org/drawingml/2006/main">
            <a:r>
              <a:t>控制面 / 拓扑] HcclRankGraphGetRanksByTopoInst：指定实例有哪些成员。将拓扑实例与实际 Rank 编号对应起来。</a:t>
            </a:r>
          </a:p>
          <a:p xmlns:a="http://schemas.openxmlformats.org/drawingml/2006/main">
            <a:r>
              <a:t>7. [HCCL 调 HCOMM</a:t>
            </a:r>
          </a:p>
          <a:p xmlns:a="http://schemas.openxmlformats.org/drawingml/2006/main">
            <a:r>
              <a:t>控制面 / 拓扑] HcclRankGraphGetEndpointNum：一个 Rank 有多少可查询端点。先得到端点数量，准备后续端点描述查询。</a:t>
            </a:r>
          </a:p>
          <a:p xmlns:a="http://schemas.openxmlformats.org/drawingml/2006/main">
            <a:r>
              <a:t>8. [HCCL 调 HCOMM</a:t>
            </a:r>
          </a:p>
          <a:p xmlns:a="http://schemas.openxmlformats.org/drawingml/2006/main">
            <a:r>
              <a:t>控制面 / 拓扑] HcclRankGraphGetEndpointDesc：这些端点怎样标识。返回端点描述，供链路选择和 Channel 请求使用。</a:t>
            </a:r>
          </a:p>
          <a:p xmlns:a="http://schemas.openxmlformats.org/drawingml/2006/main">
            <a:r>
              <a:t>9. [HCCL 调 HCOMM</a:t>
            </a:r>
          </a:p>
          <a:p xmlns:a="http://schemas.openxmlformats.org/drawingml/2006/main">
            <a:r>
              <a:t>控制面 / 拓扑] HcclRankGraphGetEndpointInfo：端点还有哪些属性。查询带宽系数、Die 等属性，后面按端口切分数据也会用到。</a:t>
            </a:r>
          </a:p>
          <a:p xmlns:a="http://schemas.openxmlformats.org/drawingml/2006/main">
            <a:r>
              <a:t>10. [HCCL 调 HCOMM</a:t>
            </a:r>
          </a:p>
          <a:p xmlns:a="http://schemas.openxmlformats.org/drawingml/2006/main">
            <a:r>
              <a:t>控制面 / 拓扑] HcclRankGraphGetLinks：两个 Rank 之间有哪些链路。得到可用链路信息，帮助选定通信端点、协议及建链请求。</a:t>
            </a:r>
          </a:p>
          <a:p xmlns:a="http://schemas.openxmlformats.org/drawingml/2006/main">
            <a:r>
              <a:t>此页是拓扑查询接口的含义清单，不宣称十项一定按表中顺序或各调用一次。不同内部构建方法按实际层级和端点需要调用。构造结束后使用 HcclEngineCtxCreate（创建具名拓扑上下文）保存可复用说明。HcclGetRankSize/HcclGetRankId 则分别回答总成员数和本 Rank 编号，已在主流程解释。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hccl/src/ops/op_common/topo_info/; hcomm/include/hccl/hccl_rank_graph.h</a:t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>源码基线：hccl 170ddeec，hcomm 87ce550f。静态调用分析，数值示例未上板运行。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本次不穷举日志、profiling、报错退出和所有替代算法。内部函数与导出 API 分别标注。HCCL 经动态符号包装层调用 HCOMM。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补充 3. 再运行一次时，哪些步骤可能省掉或改变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本例前提：Ascend 950，AICPU_TS，OPBASE，4 Rank，每对 Rank 发送 2 个 FP32，普通 Mesh Write，普通用户内存。通信域和用户 stream 已建立。按资源缓存未命中、Task Cache 关闭的正常主线解释。4 Rank 数值只是教学例子，不是实测记录。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逐项讲解：</a:t>
            </a:r>
          </a:p>
          <a:p xmlns:a="http://schemas.openxmlformats.org/drawingml/2006/main">
            <a:r>
              <a:t>1. [HCCL 调 HCOMM</a:t>
            </a:r>
          </a:p>
          <a:p xmlns:a="http://schemas.openxmlformats.org/drawingml/2006/main">
            <a:r>
              <a:t>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>2. [HCCL 调 HCOMM</a:t>
            </a:r>
          </a:p>
          <a:p xmlns:a="http://schemas.openxmlformats.org/drawingml/2006/main">
            <a:r>
              <a:t>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>3. [HCCL 调 HCOMM</a:t>
            </a:r>
          </a:p>
          <a:p xmlns:a="http://schemas.openxmlformats.org/drawingml/2006/main">
            <a:r>
              <a:t>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>4. [HCCL 调 HCOMM</a:t>
            </a:r>
          </a:p>
          <a:p xmlns:a="http://schemas.openxmlformats.org/drawingml/2006/main">
            <a:r>
              <a:t>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>5. [HCCL 调 HCOMM</a:t>
            </a:r>
          </a:p>
          <a:p xmlns:a="http://schemas.openxmlformats.org/drawingml/2006/main">
            <a:r>
              <a:t>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>6. [HCCL 调 HCOMM</a:t>
            </a:r>
          </a:p>
          <a:p xmlns:a="http://schemas.openxmlformats.org/drawingml/2006/main">
            <a:r>
              <a:t>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>7. [HCCL 调 HCOMM</a:t>
            </a:r>
          </a:p>
          <a:p xmlns:a="http://schemas.openxmlformats.org/drawingml/2006/main">
            <a:r>
              <a:t>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>8. [HCCL 调 HCOMM</a:t>
            </a:r>
          </a:p>
          <a:p xmlns:a="http://schemas.openxmlformats.org/drawingml/2006/main">
            <a:r>
              <a:t>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>9. [HCCL 调 HCOMM</a:t>
            </a:r>
          </a:p>
          <a:p xmlns:a="http://schemas.openxmlformats.org/drawingml/2006/main">
            <a:r>
              <a:t>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>hccl/src/ops/op_common/algorithm/template/wrapper/alg_data_trans_wrapper.cc:428–472,880; hccl/src/common/hcomm_dlsym/hcomm_primitives_dl.cc:176</a:t>
            </a:r>
          </a:p>
          <a:p xmlns:a="http://schemas.openxmlformats.org/drawingml/2006/main">
            <a:r>
              <a:t>源码基线：hccl 170ddeec，hcomm 87ce550f。静态调用分析，数值示例未上板运行。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本次不穷举日志、profiling、报错退出和所有替代算法。内部函数与导出 API 分别标注。HCCL 经动态符号包装层调用 HCOMM。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2b137d10a54e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f87b8dd9bb4c1b" /><Relationship Type="http://schemas.openxmlformats.org/officeDocument/2006/relationships/slideLayout" Target="/ppt/slideLayouts/slideLayout1.xml" Id="Rbfadd8ea301946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add8ea301946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e1ed9a27f4665" /><Relationship Type="http://schemas.openxmlformats.org/officeDocument/2006/relationships/notesSlide" Target="/ppt/notesSlides/notesSlide1.xml" Id="R98a21d9f49c24e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200ab44924a93" /><Relationship Type="http://schemas.openxmlformats.org/officeDocument/2006/relationships/notesSlide" Target="/ppt/notesSlides/notesSlide2.xml" Id="R33b28ce722624b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b23b61de14988" /><Relationship Type="http://schemas.openxmlformats.org/officeDocument/2006/relationships/notesSlide" Target="/ppt/notesSlides/notesSlide3.xml" Id="Rdb654a89c97f46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a515f9d1c40fa" /><Relationship Type="http://schemas.openxmlformats.org/officeDocument/2006/relationships/notesSlide" Target="/ppt/notesSlides/notesSlide4.xml" Id="R4e754b28ace846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7d876948c4a75" /><Relationship Type="http://schemas.openxmlformats.org/officeDocument/2006/relationships/notesSlide" Target="/ppt/notesSlides/notesSlide5.xml" Id="R37ab7a12dc6b4f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ffc0805ac42a9" /><Relationship Type="http://schemas.openxmlformats.org/officeDocument/2006/relationships/notesSlide" Target="/ppt/notesSlides/notesSlide6.xml" Id="Re5d7050e4ec845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c32e0edf547f9" /><Relationship Type="http://schemas.openxmlformats.org/officeDocument/2006/relationships/notesSlide" Target="/ppt/notesSlides/notesSlide7.xml" Id="R56d49daa48be4f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d4bbfe89f4b2f" /><Relationship Type="http://schemas.openxmlformats.org/officeDocument/2006/relationships/notesSlide" Target="/ppt/notesSlides/notesSlide8.xml" Id="R1e20e28c9d684f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451ce33be466b" /><Relationship Type="http://schemas.openxmlformats.org/officeDocument/2006/relationships/notesSlide" Target="/ppt/notesSlides/notesSlide9.xml" Id="R1ab96c95326b40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844ddac394fbc" /><Relationship Type="http://schemas.openxmlformats.org/officeDocument/2006/relationships/notesSlide" Target="/ppt/notesSlides/notesSlide10.xml" Id="Rb4edc3f258574e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ceac5c6cf4c26" /><Relationship Type="http://schemas.openxmlformats.org/officeDocument/2006/relationships/notesSlide" Target="/ppt/notesSlides/notesSlide11.xml" Id="R9219ec6e18484f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e08ceb75040e0" /><Relationship Type="http://schemas.openxmlformats.org/officeDocument/2006/relationships/notesSlide" Target="/ppt/notesSlides/notesSlide12.xml" Id="R2c861e12951c43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9bcfe28f14999" /><Relationship Type="http://schemas.openxmlformats.org/officeDocument/2006/relationships/notesSlide" Target="/ppt/notesSlides/notesSlide13.xml" Id="R5c18e2b705cf49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4e25e122b41e7" /><Relationship Type="http://schemas.openxmlformats.org/officeDocument/2006/relationships/notesSlide" Target="/ppt/notesSlides/notesSlide14.xml" Id="R49345eb5c8224bb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e733ce4ae4605" /><Relationship Type="http://schemas.openxmlformats.org/officeDocument/2006/relationships/notesSlide" Target="/ppt/notesSlides/notesSlide15.xml" Id="R69a33e1367054f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一次 AllToAll：每个 Rank 把指定的数据交给其他 Rank">
            <a:extLst xmlns:a="http://schemas.openxmlformats.org/drawingml/2006/main">
              <a:ext uri="{FF2B5EF4-FFF2-40B4-BE49-F238E27FC236}">
                <a16:creationId xmlns:a16="http://schemas.microsoft.com/office/drawing/2014/main" id="{D2B77E18-F71F-4DF7-9D1C-1EC93A89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一次 AllToAll：每个 Rank 把指定的数据交给其他 Rank</a:t>
            </a:r>
          </a:p>
        </p:txBody>
      </p:sp>
      <p:sp>
        <p:nvSpPr>
          <p:cNvPr id="2" name="讲解例子：4 个 Rank，每对 Rank 交换 2 个 FP32。通信域 comm、输入输出内存、用户 stream 已准备好。">
            <a:extLst xmlns:a="http://schemas.openxmlformats.org/drawingml/2006/main">
              <a:ext uri="{FF2B5EF4-FFF2-40B4-BE49-F238E27FC236}">
                <a16:creationId xmlns:a16="http://schemas.microsoft.com/office/drawing/2014/main" id="{A8E6BFC6-9345-4427-B732-D5026BD6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1123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讲解例子：4 个 Rank，每对 Rank 交换 2 个 FP32。通信域 comm、输入输出内存、用户 stream 已准备好。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4BD54B20-6824-4B24-A127-9B0F1565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1912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E6512-FBDE-453F-863B-924837ED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D94DB-1642-4471-8A79-CA0CFAAE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</a:ln>
        </p:spPr>
      </p:cxnSp>
      <p:sp>
        <p:nvSpPr>
          <p:cNvPr id="7" name="源码基线：hccl 170ddeec，hcomm 87ce550f。静态调用分析，数值示例未上板运行。">
            <a:extLst xmlns:a="http://schemas.openxmlformats.org/drawingml/2006/main">
              <a:ext uri="{FF2B5EF4-FFF2-40B4-BE49-F238E27FC236}">
                <a16:creationId xmlns:a16="http://schemas.microsoft.com/office/drawing/2014/main" id="{47C8994E-470F-44AA-A249-39BA2D12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源码基线：hccl 170ddeec，hcomm 87ce550f。静态调用分析，数值示例未上板运行。</a:t>
            </a:r>
          </a:p>
        </p:txBody>
      </p:sp>
      <p:sp>
        <p:nvSpPr>
          <p:cNvPr id="8" name="上层调用方在各个 Rank 上发起同一项通信">
            <a:extLst xmlns:a="http://schemas.openxmlformats.org/drawingml/2006/main">
              <a:ext uri="{FF2B5EF4-FFF2-40B4-BE49-F238E27FC236}">
                <a16:creationId xmlns:a16="http://schemas.microsoft.com/office/drawing/2014/main" id="{525183BE-1D59-4228-A3B3-0B209FA4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990600"/>
            <a:ext cx="1152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上层调用方在各个 Rank 上发起同一项通信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25D4C-5406-454B-B3BC-C55DB657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95400"/>
            <a:ext cx="11620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" name="HcclAlltoAll(sendBuf, 2, FP32, recvBuf, 2, FP32, comm, stream)">
            <a:extLst xmlns:a="http://schemas.openxmlformats.org/drawingml/2006/main">
              <a:ext uri="{FF2B5EF4-FFF2-40B4-BE49-F238E27FC236}">
                <a16:creationId xmlns:a16="http://schemas.microsoft.com/office/drawing/2014/main" id="{472D3675-3A19-45A8-907F-96080D96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52550"/>
            <a:ext cx="1133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HcclAlltoAll(sendBuf, 2, FP32, recvBuf, 2, FP32, comm, stream)</a:t>
            </a:r>
          </a:p>
        </p:txBody>
      </p:sp>
      <p:sp>
        <p:nvSpPr>
          <p:cNvPr id="11" name="作用：每个 Rank 按目标 Rank 切出 4 份输入，再把从 4 个来源收到的数据按来源 Rank 放入输出。">
            <a:extLst xmlns:a="http://schemas.openxmlformats.org/drawingml/2006/main">
              <a:ext uri="{FF2B5EF4-FFF2-40B4-BE49-F238E27FC236}">
                <a16:creationId xmlns:a16="http://schemas.microsoft.com/office/drawing/2014/main" id="{48FC6C12-B63B-4A3C-9796-A53E3C8D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00200"/>
            <a:ext cx="1133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作用：每个 Rank 按目标 Rank 切出 4 份输入，再把从 4 个来源收到的数据按来源 Rank 放入输出。</a:t>
            </a:r>
          </a:p>
        </p:txBody>
      </p:sp>
      <p:sp>
        <p:nvSpPr>
          <p:cNvPr id="12" name="输入：每两项属于一个目标 Rank">
            <a:extLst xmlns:a="http://schemas.openxmlformats.org/drawingml/2006/main">
              <a:ext uri="{FF2B5EF4-FFF2-40B4-BE49-F238E27FC236}">
                <a16:creationId xmlns:a16="http://schemas.microsoft.com/office/drawing/2014/main" id="{20C9BDCD-01DF-4371-B354-671E36CD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981200"/>
            <a:ext cx="5495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输入：每两项属于一个目标 Rank</a:t>
            </a:r>
          </a:p>
        </p:txBody>
      </p:sp>
      <p:sp>
        <p:nvSpPr>
          <p:cNvPr id="13" name="结果：Rank 0 收齐来自所有 Rank 的第 0 份">
            <a:extLst xmlns:a="http://schemas.openxmlformats.org/drawingml/2006/main">
              <a:ext uri="{FF2B5EF4-FFF2-40B4-BE49-F238E27FC236}">
                <a16:creationId xmlns:a16="http://schemas.microsoft.com/office/drawing/2014/main" id="{A7E83DA7-1D01-40BF-A330-A3A86063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981200"/>
            <a:ext cx="5448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结果：Rank 0 收齐来自所有 Rank 的第 0 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CFE050-A1E2-4BCB-95EA-94823441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295525"/>
            <a:ext cx="55340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5715">
            <a:solidFill>
              <a:srgbClr val="DCDFD9"/>
            </a:solidFill>
          </a:ln>
        </p:spPr>
      </p:sp>
      <p:sp>
        <p:nvSpPr>
          <p:cNvPr id="15" name="Rank 0    [0,1]   [2,3]   [4,5]   [6,7]">
            <a:extLst xmlns:a="http://schemas.openxmlformats.org/drawingml/2006/main">
              <a:ext uri="{FF2B5EF4-FFF2-40B4-BE49-F238E27FC236}">
                <a16:creationId xmlns:a16="http://schemas.microsoft.com/office/drawing/2014/main" id="{6D1970A6-A6B9-4F22-8DA8-5B1BEB46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33625"/>
            <a:ext cx="5314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0    [0,1]   [2,3]   [4,5]   [6,7]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C5B3F1-008E-49C6-9C98-AFBA2387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619375"/>
            <a:ext cx="55340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CDFD9"/>
            </a:solidFill>
          </a:ln>
        </p:spPr>
      </p:sp>
      <p:sp>
        <p:nvSpPr>
          <p:cNvPr id="17" name="Rank 1    [10,11] [12,13] [14,15] [16,17]">
            <a:extLst xmlns:a="http://schemas.openxmlformats.org/drawingml/2006/main">
              <a:ext uri="{FF2B5EF4-FFF2-40B4-BE49-F238E27FC236}">
                <a16:creationId xmlns:a16="http://schemas.microsoft.com/office/drawing/2014/main" id="{AA50ECD9-D574-4D9D-8E1D-B8774E98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657475"/>
            <a:ext cx="5314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1    [10,11] [12,13] [14,15] [16,17]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8365C1-1C65-45DC-98DC-182A050F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943225"/>
            <a:ext cx="55340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CDFD9"/>
            </a:solidFill>
          </a:ln>
        </p:spPr>
      </p:sp>
      <p:sp>
        <p:nvSpPr>
          <p:cNvPr id="19" name="Rank 2    [20,21] [22,23] [24,25] [26,27]">
            <a:extLst xmlns:a="http://schemas.openxmlformats.org/drawingml/2006/main">
              <a:ext uri="{FF2B5EF4-FFF2-40B4-BE49-F238E27FC236}">
                <a16:creationId xmlns:a16="http://schemas.microsoft.com/office/drawing/2014/main" id="{EEAB4C81-834E-4789-95A4-67FE58A2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981325"/>
            <a:ext cx="5314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2    [20,21] [22,23] [24,25] [26,27]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6048DB-35AB-4886-91A6-8DEB37FC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267075"/>
            <a:ext cx="55340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CDFD9"/>
            </a:solidFill>
          </a:ln>
        </p:spPr>
      </p:sp>
      <p:sp>
        <p:nvSpPr>
          <p:cNvPr id="21" name="Rank 3    [30,31] [32,33] [34,35] [36,37]">
            <a:extLst xmlns:a="http://schemas.openxmlformats.org/drawingml/2006/main">
              <a:ext uri="{FF2B5EF4-FFF2-40B4-BE49-F238E27FC236}">
                <a16:creationId xmlns:a16="http://schemas.microsoft.com/office/drawing/2014/main" id="{6E38376A-4943-4CB1-828D-C62D56D1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305175"/>
            <a:ext cx="5314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3    [30,31] [32,33] [34,35] [36,37]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0BFF55-17F4-43B1-904F-4C43B55D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05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8533D8-DA90-4B54-BFD5-3EC9F602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905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944553" y="2905602"/>
            <a:ext cx="35147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9FA795-DC89-4607-B272-B3A0A687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95525"/>
            <a:ext cx="54387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5715">
            <a:solidFill>
              <a:srgbClr val="8C908B"/>
            </a:solidFill>
          </a:ln>
        </p:spPr>
      </p:sp>
      <p:sp>
        <p:nvSpPr>
          <p:cNvPr id="26" name="Rank 0 输出">
            <a:extLst xmlns:a="http://schemas.openxmlformats.org/drawingml/2006/main">
              <a:ext uri="{FF2B5EF4-FFF2-40B4-BE49-F238E27FC236}">
                <a16:creationId xmlns:a16="http://schemas.microsoft.com/office/drawing/2014/main" id="{16A9A5A9-21A4-4425-88C7-8E717E7C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62200"/>
            <a:ext cx="520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0 输出</a:t>
            </a:r>
          </a:p>
        </p:txBody>
      </p:sp>
      <p:sp>
        <p:nvSpPr>
          <p:cNvPr id="27" name="[0,1]   [10,11]   [20,21]   [30,31]">
            <a:extLst xmlns:a="http://schemas.openxmlformats.org/drawingml/2006/main">
              <a:ext uri="{FF2B5EF4-FFF2-40B4-BE49-F238E27FC236}">
                <a16:creationId xmlns:a16="http://schemas.microsoft.com/office/drawing/2014/main" id="{A3532342-915F-4FC9-B156-598EAD9D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520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[0,1]   [10,11]   [20,21]   [30,31]</a:t>
            </a:r>
          </a:p>
        </p:txBody>
      </p:sp>
      <p:sp>
        <p:nvSpPr>
          <p:cNvPr id="28" name="自己的 [0,1] 本地拷贝，其他三份通过通信获得。&#10;Rank 1 同理得到 [2,3] [12,13] [22,23] [32,33]。">
            <a:extLst xmlns:a="http://schemas.openxmlformats.org/drawingml/2006/main">
              <a:ext uri="{FF2B5EF4-FFF2-40B4-BE49-F238E27FC236}">
                <a16:creationId xmlns:a16="http://schemas.microsoft.com/office/drawing/2014/main" id="{8E7A899B-A8CC-4E4E-9761-06BEF1E6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133725"/>
            <a:ext cx="533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自己的 [0,1] 本地拷贝，其他三份通过通信获得。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1 同理得到 [2,3] [12,13] [22,23] [32,33]。</a:t>
            </a:r>
          </a:p>
        </p:txBody>
      </p:sp>
      <p:sp>
        <p:nvSpPr>
          <p:cNvPr id="29" name="这次调用后面具体发生什么">
            <a:extLst xmlns:a="http://schemas.openxmlformats.org/drawingml/2006/main">
              <a:ext uri="{FF2B5EF4-FFF2-40B4-BE49-F238E27FC236}">
                <a16:creationId xmlns:a16="http://schemas.microsoft.com/office/drawing/2014/main" id="{8081DCD5-35F6-418E-AB36-8D3E9642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752850"/>
            <a:ext cx="1143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这次调用后面具体发生什么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350ECC-1E9B-499A-974B-8A0094DE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133850"/>
            <a:ext cx="22098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C908B"/>
            </a:solidFill>
          </a:ln>
        </p:spPr>
      </p:sp>
      <p:sp>
        <p:nvSpPr>
          <p:cNvPr id="31" name="HCCL Host">
            <a:extLst xmlns:a="http://schemas.openxmlformats.org/drawingml/2006/main">
              <a:ext uri="{FF2B5EF4-FFF2-40B4-BE49-F238E27FC236}">
                <a16:creationId xmlns:a16="http://schemas.microsoft.com/office/drawing/2014/main" id="{8A4B062A-0038-47BB-AA72-35445A78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210050"/>
            <a:ext cx="2057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32" name="读参数、识别成员&#10;决定用哪个算法">
            <a:extLst xmlns:a="http://schemas.openxmlformats.org/drawingml/2006/main">
              <a:ext uri="{FF2B5EF4-FFF2-40B4-BE49-F238E27FC236}">
                <a16:creationId xmlns:a16="http://schemas.microsoft.com/office/drawing/2014/main" id="{37DE37B4-6D9C-4191-9DEB-D67D57D7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514850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读参数、识别成员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决定用哪个算法</a:t>
            </a:r>
          </a:p>
        </p:txBody>
      </p:sp>
      <p:sp>
        <p:nvSpPr>
          <p:cNvPr id="33" name="第 2–4 页">
            <a:extLst xmlns:a="http://schemas.openxmlformats.org/drawingml/2006/main">
              <a:ext uri="{FF2B5EF4-FFF2-40B4-BE49-F238E27FC236}">
                <a16:creationId xmlns:a16="http://schemas.microsoft.com/office/drawing/2014/main" id="{1791B319-1AC8-4364-AD17-399E4161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000625"/>
            <a:ext cx="2057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第 2–4 页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4D1A21-F947-401B-A57A-35632FB5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648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A93600-BAB8-452E-9ACF-E4CE45E5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48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2506028" y="464867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5B1221-A786-4803-B1FB-3C9AF5D1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33850"/>
            <a:ext cx="22098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C908B"/>
            </a:solidFill>
          </a:ln>
        </p:spPr>
      </p:sp>
      <p:sp>
        <p:nvSpPr>
          <p:cNvPr id="38" name="HCOMM 控制面">
            <a:extLst xmlns:a="http://schemas.openxmlformats.org/drawingml/2006/main">
              <a:ext uri="{FF2B5EF4-FFF2-40B4-BE49-F238E27FC236}">
                <a16:creationId xmlns:a16="http://schemas.microsoft.com/office/drawing/2014/main" id="{E7CAD17F-2E0C-436E-8149-6D3CDDC5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10050"/>
            <a:ext cx="2057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控制面</a:t>
            </a:r>
          </a:p>
        </p:txBody>
      </p:sp>
      <p:sp>
        <p:nvSpPr>
          <p:cNvPr id="39" name="取得线程和缓冲区&#10;建立到其他 Rank 的通道">
            <a:extLst xmlns:a="http://schemas.openxmlformats.org/drawingml/2006/main">
              <a:ext uri="{FF2B5EF4-FFF2-40B4-BE49-F238E27FC236}">
                <a16:creationId xmlns:a16="http://schemas.microsoft.com/office/drawing/2014/main" id="{37D377E4-5003-4A20-A447-D8519701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14850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取得线程和缓冲区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建立到其他 Rank 的通道</a:t>
            </a:r>
          </a:p>
        </p:txBody>
      </p:sp>
      <p:sp>
        <p:nvSpPr>
          <p:cNvPr id="40" name="第 5–7 页">
            <a:extLst xmlns:a="http://schemas.openxmlformats.org/drawingml/2006/main">
              <a:ext uri="{FF2B5EF4-FFF2-40B4-BE49-F238E27FC236}">
                <a16:creationId xmlns:a16="http://schemas.microsoft.com/office/drawing/2014/main" id="{E649AC4F-9283-48D4-A05C-FD6C5D35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00625"/>
            <a:ext cx="2057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第 5–7 页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1E848C-08B0-4D04-AADB-31D2BAAD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48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908F1E-CA57-4EAA-AE4A-C70303B3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48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4858703" y="464867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C4960F-3D0E-4556-ADA1-FD41D96A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133850"/>
            <a:ext cx="22098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C908B"/>
            </a:solidFill>
          </a:ln>
        </p:spPr>
      </p:sp>
      <p:sp>
        <p:nvSpPr>
          <p:cNvPr id="45" name="ACL Runtime">
            <a:extLst xmlns:a="http://schemas.openxmlformats.org/drawingml/2006/main">
              <a:ext uri="{FF2B5EF4-FFF2-40B4-BE49-F238E27FC236}">
                <a16:creationId xmlns:a16="http://schemas.microsoft.com/office/drawing/2014/main" id="{4209A4D4-C01F-4900-AF04-E9BBD0A2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210050"/>
            <a:ext cx="2057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 Runtime</a:t>
            </a:r>
          </a:p>
        </p:txBody>
      </p:sp>
      <p:sp>
        <p:nvSpPr>
          <p:cNvPr id="46" name="把参数交给设备&#10;启动 AICPU 入口">
            <a:extLst xmlns:a="http://schemas.openxmlformats.org/drawingml/2006/main">
              <a:ext uri="{FF2B5EF4-FFF2-40B4-BE49-F238E27FC236}">
                <a16:creationId xmlns:a16="http://schemas.microsoft.com/office/drawing/2014/main" id="{37B1A66C-0EC3-4464-B003-CE1809E2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514850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把参数交给设备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启动 AICPU 入口</a:t>
            </a:r>
          </a:p>
        </p:txBody>
      </p:sp>
      <p:sp>
        <p:nvSpPr>
          <p:cNvPr id="47" name="第 8 页">
            <a:extLst xmlns:a="http://schemas.openxmlformats.org/drawingml/2006/main">
              <a:ext uri="{FF2B5EF4-FFF2-40B4-BE49-F238E27FC236}">
                <a16:creationId xmlns:a16="http://schemas.microsoft.com/office/drawing/2014/main" id="{992E1372-7676-4069-96A0-E51540F5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000625"/>
            <a:ext cx="2057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第 8 页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9E8826-921F-4F36-82B6-413FA8F8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648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4854B64-FE59-41BB-9E43-B8F265FD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48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5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7211378" y="464867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F16913A-3896-4E08-A7AC-BD093946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33850"/>
            <a:ext cx="22098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C908B"/>
            </a:solidFill>
          </a:ln>
        </p:spPr>
      </p:sp>
      <p:sp>
        <p:nvSpPr>
          <p:cNvPr id="52" name="HCCL AICPU">
            <a:extLst xmlns:a="http://schemas.openxmlformats.org/drawingml/2006/main">
              <a:ext uri="{FF2B5EF4-FFF2-40B4-BE49-F238E27FC236}">
                <a16:creationId xmlns:a16="http://schemas.microsoft.com/office/drawing/2014/main" id="{B2729A57-1525-4DF3-B695-64E34B91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10050"/>
            <a:ext cx="2057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</p:txBody>
      </p:sp>
      <p:sp>
        <p:nvSpPr>
          <p:cNvPr id="53" name="计算分片与地址&#10;逐个 Peer 组织通信">
            <a:extLst xmlns:a="http://schemas.openxmlformats.org/drawingml/2006/main">
              <a:ext uri="{FF2B5EF4-FFF2-40B4-BE49-F238E27FC236}">
                <a16:creationId xmlns:a16="http://schemas.microsoft.com/office/drawing/2014/main" id="{250D60AD-41F1-4A56-A694-5E7D5539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14850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计算分片与地址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逐个 Peer 组织通信</a:t>
            </a:r>
          </a:p>
        </p:txBody>
      </p:sp>
      <p:sp>
        <p:nvSpPr>
          <p:cNvPr id="54" name="第 9–10 页">
            <a:extLst xmlns:a="http://schemas.openxmlformats.org/drawingml/2006/main">
              <a:ext uri="{FF2B5EF4-FFF2-40B4-BE49-F238E27FC236}">
                <a16:creationId xmlns:a16="http://schemas.microsoft.com/office/drawing/2014/main" id="{1C0AEE52-E77A-4EB3-A70E-F2DDF0DA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00625"/>
            <a:ext cx="2057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第 9–10 页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6E3B8E8-2313-4908-B90C-BD07E695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48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D5C1CE3-B353-4BFB-A57D-DA212802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648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9564053" y="464867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7354C1B-4041-4556-851B-929A869C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133850"/>
            <a:ext cx="22098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C908B"/>
            </a:solidFill>
          </a:ln>
        </p:spPr>
      </p:sp>
      <p:sp>
        <p:nvSpPr>
          <p:cNvPr id="59" name="HCOMM 数据面">
            <a:extLst xmlns:a="http://schemas.openxmlformats.org/drawingml/2006/main">
              <a:ext uri="{FF2B5EF4-FFF2-40B4-BE49-F238E27FC236}">
                <a16:creationId xmlns:a16="http://schemas.microsoft.com/office/drawing/2014/main" id="{F502ECB0-4907-4F09-B337-08C0F6B6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210050"/>
            <a:ext cx="2057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</p:txBody>
      </p:sp>
      <p:sp>
        <p:nvSpPr>
          <p:cNvPr id="60" name="排入握手、搬运任务&#10;用通知约束执行顺序">
            <a:extLst xmlns:a="http://schemas.openxmlformats.org/drawingml/2006/main">
              <a:ext uri="{FF2B5EF4-FFF2-40B4-BE49-F238E27FC236}">
                <a16:creationId xmlns:a16="http://schemas.microsoft.com/office/drawing/2014/main" id="{ABA7C60F-CB72-4E57-A2AF-9616E342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514850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排入握手、搬运任务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用通知约束执行顺序</a:t>
            </a:r>
          </a:p>
        </p:txBody>
      </p:sp>
      <p:sp>
        <p:nvSpPr>
          <p:cNvPr id="61" name="第 11–13 页">
            <a:extLst xmlns:a="http://schemas.openxmlformats.org/drawingml/2006/main">
              <a:ext uri="{FF2B5EF4-FFF2-40B4-BE49-F238E27FC236}">
                <a16:creationId xmlns:a16="http://schemas.microsoft.com/office/drawing/2014/main" id="{3CB25ED9-8F1E-4B6F-A533-AE72871C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000625"/>
            <a:ext cx="2057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第 11–13 页</a:t>
            </a:r>
          </a:p>
        </p:txBody>
      </p:sp>
      <p:sp>
        <p:nvSpPr>
          <p:cNvPr id="62" name="Rank = 通信成员编号　　Peer = 与本 Rank 交换数据的对方　　CCL Buffer = 通信中转缓冲区">
            <a:extLst xmlns:a="http://schemas.openxmlformats.org/drawingml/2006/main">
              <a:ext uri="{FF2B5EF4-FFF2-40B4-BE49-F238E27FC236}">
                <a16:creationId xmlns:a16="http://schemas.microsoft.com/office/drawing/2014/main" id="{1B61FB7F-991D-4B36-B300-DD6DCF18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400675"/>
            <a:ext cx="1160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= 通信成员编号　　Peer = 与本 Rank 交换数据的对方　　CCL Buffer = 通信中转缓冲区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40B685E-7FDC-476D-9750-AF871FCB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810250"/>
            <a:ext cx="11620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64" name="判断完成：用户 stream 上的“等待完成”满足后，排在后面的任务才可以使用 recvBuf。">
            <a:extLst xmlns:a="http://schemas.openxmlformats.org/drawingml/2006/main">
              <a:ext uri="{FF2B5EF4-FFF2-40B4-BE49-F238E27FC236}">
                <a16:creationId xmlns:a16="http://schemas.microsoft.com/office/drawing/2014/main" id="{8F0521CE-9D56-4BAD-BEEE-06DD0C5A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139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判断完成：用户 stream 上的“等待完成”满足后，排在后面的任务才可以使用 recvBuf。</a:t>
            </a:r>
          </a:p>
        </p:txBody>
      </p:sp>
      <p:sp>
        <p:nvSpPr>
          <p:cNvPr id="65" name="HcclAlltoAll 的 CPU 调用返回，仅说明调用和任务提交阶段结束，不能据此判断数据已经全部到达。">
            <a:extLst xmlns:a="http://schemas.openxmlformats.org/drawingml/2006/main">
              <a:ext uri="{FF2B5EF4-FFF2-40B4-BE49-F238E27FC236}">
                <a16:creationId xmlns:a16="http://schemas.microsoft.com/office/drawing/2014/main" id="{3351B43B-572E-475B-B905-71AADBF9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62675"/>
            <a:ext cx="11391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HcclAlltoAll 的 CPU 调用返回，仅说明调用和任务提交阶段结束，不能据此判断数据已经全部到达。</a:t>
            </a:r>
          </a:p>
        </p:txBody>
      </p:sp>
    </p:spTree>
    <p:extLst>
      <p:ext uri="{BB962C8B-B14F-4D97-AF65-F5344CB8AC3E}">
        <p14:creationId xmlns:p14="http://schemas.microsoft.com/office/powerpoint/2010/main" val="4469380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1. 上层调用进来后，HCCL 先把请求整理完整">
            <a:extLst xmlns:a="http://schemas.openxmlformats.org/drawingml/2006/main">
              <a:ext uri="{FF2B5EF4-FFF2-40B4-BE49-F238E27FC236}">
                <a16:creationId xmlns:a16="http://schemas.microsoft.com/office/drawing/2014/main" id="{C7144A23-4FBA-44C3-9A51-06C3FB8A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1. 上层调用进来后，HCCL 先把请求整理完整</a:t>
            </a:r>
          </a:p>
        </p:txBody>
      </p:sp>
      <p:sp>
        <p:nvSpPr>
          <p:cNvPr id="2" name="发生在 Host CPU。输入是指针、数量、数据类型、通信域和用户 stream，此时还没有发送用户数据。">
            <a:extLst xmlns:a="http://schemas.openxmlformats.org/drawingml/2006/main">
              <a:ext uri="{FF2B5EF4-FFF2-40B4-BE49-F238E27FC236}">
                <a16:creationId xmlns:a16="http://schemas.microsoft.com/office/drawing/2014/main" id="{A561CAFE-6503-445A-8BD4-5A7D3FA2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1123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发生在 Host CPU。输入是指针、数量、数据类型、通信域和用户 stream，此时还没有发送用户数据。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C27552E2-5E86-4458-BB6C-A515BE2B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1912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13AFE-4F9A-48BA-8F6A-FAA41567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37098-6D19-4289-B53E-7D020292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</a:ln>
        </p:spPr>
      </p:cxnSp>
      <p:sp>
        <p:nvSpPr>
          <p:cNvPr id="7" name="源码基线：hccl 170ddeec，hcomm 87ce550f。静态调用分析，数值示例未上板运行。">
            <a:extLst xmlns:a="http://schemas.openxmlformats.org/drawingml/2006/main">
              <a:ext uri="{FF2B5EF4-FFF2-40B4-BE49-F238E27FC236}">
                <a16:creationId xmlns:a16="http://schemas.microsoft.com/office/drawing/2014/main" id="{00F79A8E-84E5-4FDB-9DEB-C2842ECB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源码基线：hccl 170ddeec，hcomm 87ce550f。静态调用分析，数值示例未上板运行。</a:t>
            </a:r>
          </a:p>
        </p:txBody>
      </p:sp>
      <p:sp>
        <p:nvSpPr>
          <p:cNvPr id="8" name="顺序 / 调用发生在哪里">
            <a:extLst xmlns:a="http://schemas.openxmlformats.org/drawingml/2006/main">
              <a:ext uri="{FF2B5EF4-FFF2-40B4-BE49-F238E27FC236}">
                <a16:creationId xmlns:a16="http://schemas.microsoft.com/office/drawing/2014/main" id="{B2997AD1-288F-4059-B25A-DB89162F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76300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顺序 / 调用发生在哪里</a:t>
            </a:r>
          </a:p>
        </p:txBody>
      </p:sp>
      <p:sp>
        <p:nvSpPr>
          <p:cNvPr id="9" name="函数名后直接说明作用，下行说明本例得到什么">
            <a:extLst xmlns:a="http://schemas.openxmlformats.org/drawingml/2006/main">
              <a:ext uri="{FF2B5EF4-FFF2-40B4-BE49-F238E27FC236}">
                <a16:creationId xmlns:a16="http://schemas.microsoft.com/office/drawing/2014/main" id="{E4F51E5D-1AC6-4F78-A9DD-0B905BC4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76300"/>
            <a:ext cx="923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函数名后直接说明作用，下行说明本例得到什么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34714-6EC1-4870-B3DC-EC0355E4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79FD8E-3DDF-4396-8281-CABB5FC5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91027" y="1201103"/>
            <a:ext cx="0" cy="4542472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5A18F-D52D-4610-B303-5DB1DFDD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14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01">
            <a:extLst xmlns:a="http://schemas.openxmlformats.org/drawingml/2006/main">
              <a:ext uri="{FF2B5EF4-FFF2-40B4-BE49-F238E27FC236}">
                <a16:creationId xmlns:a16="http://schemas.microsoft.com/office/drawing/2014/main" id="{D0A2851D-0591-4E9F-98F8-F9EA2840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23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上层调用 HCCL&#10;算子 API">
            <a:extLst xmlns:a="http://schemas.openxmlformats.org/drawingml/2006/main">
              <a:ext uri="{FF2B5EF4-FFF2-40B4-BE49-F238E27FC236}">
                <a16:creationId xmlns:a16="http://schemas.microsoft.com/office/drawing/2014/main" id="{E653143D-011D-4556-886D-0FB21923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095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上层调用 HCCL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算子 API</a:t>
            </a:r>
          </a:p>
        </p:txBody>
      </p:sp>
      <p:sp>
        <p:nvSpPr>
          <p:cNvPr id="1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9E50CAAC-93B3-4708-9A60-0B3461DD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76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HcclAlltoAll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接收等长全互换请求</a:t>
            </a:r>
          </a:p>
        </p:txBody>
      </p:sp>
      <p:sp>
        <p:nvSpPr>
          <p:cNvPr id="17" name="本例 sendCount=recvCount=2，表示“给每个 Rank 发送 2 个数”，不是总共只发 2 个数。">
            <a:extLst xmlns:a="http://schemas.openxmlformats.org/drawingml/2006/main">
              <a:ext uri="{FF2B5EF4-FFF2-40B4-BE49-F238E27FC236}">
                <a16:creationId xmlns:a16="http://schemas.microsoft.com/office/drawing/2014/main" id="{32D8378C-56A3-498D-83A6-89AA63CB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04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本例 sendCount=recvCount=2，表示“给每个 Rank 发送 2 个数”，不是总共只发 2 个数。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6ABED3-33DE-4190-B48C-69CCA71C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7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F5D110-9D87-46C5-8F84-FDD60870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77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15353" y="15784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3FF93-AE93-4AC6-B438-4FECFBD5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54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02">
            <a:extLst xmlns:a="http://schemas.openxmlformats.org/drawingml/2006/main">
              <a:ext uri="{FF2B5EF4-FFF2-40B4-BE49-F238E27FC236}">
                <a16:creationId xmlns:a16="http://schemas.microsoft.com/office/drawing/2014/main" id="{12DBCEB4-2195-440E-9ECF-E9C60BC3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637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CBA7282A-31E7-4AC1-B8A9-C4F62647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6351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2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7F7AD2BD-899D-4F7E-BDBE-BD055DF7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160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CheckAlltoAllInputPara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检查请求是否合法</a:t>
            </a:r>
          </a:p>
        </p:txBody>
      </p:sp>
      <p:sp>
        <p:nvSpPr>
          <p:cNvPr id="25" name="检查通信域、指针、stream、数据类型与数量等。本例输入输出分开，参数有效才继续。">
            <a:extLst xmlns:a="http://schemas.openxmlformats.org/drawingml/2006/main">
              <a:ext uri="{FF2B5EF4-FFF2-40B4-BE49-F238E27FC236}">
                <a16:creationId xmlns:a16="http://schemas.microsoft.com/office/drawing/2014/main" id="{23612F72-9588-40E1-9C40-C6010D93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446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检查通信域、指针、stream、数据类型与数量等。本例输入输出分开，参数有效才继续。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9C181F-B256-430E-B45E-B591B59A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44EBE0-56C7-4423-9967-70D135E1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11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15353" y="21182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4BFD5B-370E-4276-A2A5-BFE93EC5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39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2EDF7616-9841-4892-BD1E-62F0654D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034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1" name="HCCL 调 HCOMM&#10;控制面 / 拓扑">
            <a:extLst xmlns:a="http://schemas.openxmlformats.org/drawingml/2006/main">
              <a:ext uri="{FF2B5EF4-FFF2-40B4-BE49-F238E27FC236}">
                <a16:creationId xmlns:a16="http://schemas.microsoft.com/office/drawing/2014/main" id="{B49686AD-19CC-4FF3-9608-48DF4098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748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拓扑</a:t>
            </a:r>
          </a:p>
        </p:txBody>
      </p:sp>
      <p:sp>
        <p:nvSpPr>
          <p:cNvPr id="3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F0BBCE47-F81F-46A2-8606-CCD8D7EB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558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HcclGetRankSize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读取通信域的成员数</a:t>
            </a:r>
          </a:p>
        </p:txBody>
      </p:sp>
      <p:sp>
        <p:nvSpPr>
          <p:cNvPr id="33" name="本例得到 4。HCCL 据此准备 4 个发送数量和 4 个接收数量。">
            <a:extLst xmlns:a="http://schemas.openxmlformats.org/drawingml/2006/main">
              <a:ext uri="{FF2B5EF4-FFF2-40B4-BE49-F238E27FC236}">
                <a16:creationId xmlns:a16="http://schemas.microsoft.com/office/drawing/2014/main" id="{F88366F1-4DC0-431A-83EA-69E2D5BB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844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本例得到 4。HCCL 据此准备 4 个发送数量和 4 个接收数量。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995C16-B33C-4797-8082-A547744F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3E5885-CD17-480B-B36B-507DA7A7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65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15353" y="26579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4F69BE-7170-48DA-BCDE-87EEBD69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336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8" name="04">
            <a:extLst xmlns:a="http://schemas.openxmlformats.org/drawingml/2006/main">
              <a:ext uri="{FF2B5EF4-FFF2-40B4-BE49-F238E27FC236}">
                <a16:creationId xmlns:a16="http://schemas.microsoft.com/office/drawing/2014/main" id="{2A5F6DCF-4C5A-45A4-81F7-837307FE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432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9" name="HCCL 调 HCOMM&#10;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FD4DEEB8-EA43-46E5-8794-F1809EBA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146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域资源</a:t>
            </a:r>
          </a:p>
        </p:txBody>
      </p:sp>
      <p:sp>
        <p:nvSpPr>
          <p:cNvPr id="4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1553BA59-EBA9-4355-A096-B05676A7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955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HcclGetCommName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读取通信域名称</a:t>
            </a:r>
          </a:p>
        </p:txBody>
      </p:sp>
      <p:sp>
        <p:nvSpPr>
          <p:cNvPr id="41" name="用于组成算子标识和后续上下文查找键，避免不同通信域的资源混用。">
            <a:extLst xmlns:a="http://schemas.openxmlformats.org/drawingml/2006/main">
              <a:ext uri="{FF2B5EF4-FFF2-40B4-BE49-F238E27FC236}">
                <a16:creationId xmlns:a16="http://schemas.microsoft.com/office/drawing/2014/main" id="{F211F2EB-2F45-496B-95B8-8E23DF93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241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用于组成算子标识和后续上下文查找键，避免不同通信域的资源混用。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B96C40-076C-4B8F-9931-EDE4304B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FD114D-9BAA-4AAD-BC47-49B486AA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19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15353" y="31977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D807D7-5C78-44AA-BB3C-68CF44A8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73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05">
            <a:extLst xmlns:a="http://schemas.openxmlformats.org/drawingml/2006/main">
              <a:ext uri="{FF2B5EF4-FFF2-40B4-BE49-F238E27FC236}">
                <a16:creationId xmlns:a16="http://schemas.microsoft.com/office/drawing/2014/main" id="{5FF19071-17C1-486A-9320-F531C714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82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7" name="HCCL 调 HCOMM&#10;控制面 / 拓扑">
            <a:extLst xmlns:a="http://schemas.openxmlformats.org/drawingml/2006/main">
              <a:ext uri="{FF2B5EF4-FFF2-40B4-BE49-F238E27FC236}">
                <a16:creationId xmlns:a16="http://schemas.microsoft.com/office/drawing/2014/main" id="{8AE56C50-9C8F-4FE7-8859-6857C819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54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拓扑</a:t>
            </a:r>
          </a:p>
        </p:txBody>
      </p:sp>
      <p:sp>
        <p:nvSpPr>
          <p:cNvPr id="4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269321EB-2408-41F6-8416-F235EDB2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35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HcclGetRankId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读取本 Rank 的编号</a:t>
            </a:r>
          </a:p>
        </p:txBody>
      </p:sp>
      <p:sp>
        <p:nvSpPr>
          <p:cNvPr id="49" name="以 Rank 0 为讲解视角，这里得到 0，后续据此区分本地分片和远端分片。">
            <a:extLst xmlns:a="http://schemas.openxmlformats.org/drawingml/2006/main">
              <a:ext uri="{FF2B5EF4-FFF2-40B4-BE49-F238E27FC236}">
                <a16:creationId xmlns:a16="http://schemas.microsoft.com/office/drawing/2014/main" id="{14ADE743-3249-4B4E-9A7A-B892E1F9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63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以 Rank 0 为讲解视角，这里得到 0，后续据此区分本地分片和远端分片。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31B053-72A6-48DF-A2FA-B4072590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BBC0C28-8E27-4164-AD5D-E844D452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3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915353" y="37374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BCA26CC-7533-4A27-9753-EFD63D34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3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06">
            <a:extLst xmlns:a="http://schemas.openxmlformats.org/drawingml/2006/main">
              <a:ext uri="{FF2B5EF4-FFF2-40B4-BE49-F238E27FC236}">
                <a16:creationId xmlns:a16="http://schemas.microsoft.com/office/drawing/2014/main" id="{5C2D687F-1AFE-42E5-B713-21E92BE7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8227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5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C5949199-381C-442F-A42C-E0645A80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941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5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499AD1E8-AEAB-4015-B4AC-78CD47AB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750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ConvertAlltoAllParam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计算每份数据在数组中的起点</a:t>
            </a:r>
          </a:p>
        </p:txBody>
      </p:sp>
      <p:sp>
        <p:nvSpPr>
          <p:cNvPr id="57" name="本例数量数组为 [2,2,2,2]，发送和接收位移数组为 [0,2,4,6]，位移单位是元素。">
            <a:extLst xmlns:a="http://schemas.openxmlformats.org/drawingml/2006/main">
              <a:ext uri="{FF2B5EF4-FFF2-40B4-BE49-F238E27FC236}">
                <a16:creationId xmlns:a16="http://schemas.microsoft.com/office/drawing/2014/main" id="{0CEDEF40-F97A-43BB-9ABB-5C494C16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036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本例数量数组为 [2,2,2,2]，发送和接收位移数组为 [0,2,4,6]，位移单位是元素。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52C3B7B-512A-4F9E-9076-8C8E71F9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E8F47FC-31A2-44A2-BB88-A0AC06AC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915353" y="42772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24ABB59-C40B-46FA-9D63-ED05B7A5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529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2" name="07">
            <a:extLst xmlns:a="http://schemas.openxmlformats.org/drawingml/2006/main">
              <a:ext uri="{FF2B5EF4-FFF2-40B4-BE49-F238E27FC236}">
                <a16:creationId xmlns:a16="http://schemas.microsoft.com/office/drawing/2014/main" id="{A09C1388-AFAF-40E8-A47E-6B66EF4E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624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3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4786BAAB-B731-4C7B-BFD6-8A7FAC98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338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6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E955C85E-5A5D-4A35-8D7C-F871AA05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148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AlltoAllVOutPlace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进入共用的非原地执行入口</a:t>
            </a:r>
          </a:p>
        </p:txBody>
      </p:sp>
      <p:sp>
        <p:nvSpPr>
          <p:cNvPr id="65" name="等长 AllToAll 使用可变长框架的实现，算子类型仍然保持 ALLTOALL。">
            <a:extLst xmlns:a="http://schemas.openxmlformats.org/drawingml/2006/main">
              <a:ext uri="{FF2B5EF4-FFF2-40B4-BE49-F238E27FC236}">
                <a16:creationId xmlns:a16="http://schemas.microsoft.com/office/drawing/2014/main" id="{7F1FB43E-0B6E-4E0B-9CA3-B962AA7D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434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等长 AllToAll 使用可变长框架的实现，算子类型仍然保持 ALLTOALL。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1248EB1-AC39-4883-B328-9931DDA1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28357B5-F065-40D6-8548-AD1D9F6E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1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915353" y="48169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B090DB1-326D-4F17-B8AA-FB7F7F82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926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0" name="08">
            <a:extLst xmlns:a="http://schemas.openxmlformats.org/drawingml/2006/main">
              <a:ext uri="{FF2B5EF4-FFF2-40B4-BE49-F238E27FC236}">
                <a16:creationId xmlns:a16="http://schemas.microsoft.com/office/drawing/2014/main" id="{AC425430-9D38-4085-8051-7FDB1D9C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9022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1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75B003E0-4290-4C2C-913E-20D3EAC6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736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7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9E10FA0D-C92E-4C9B-BFB4-26A6BFB8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545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AlltoAllVOutPlaceCommon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进入共用的参数处理与调度流程</a:t>
            </a:r>
          </a:p>
        </p:txBody>
      </p:sp>
      <p:sp>
        <p:nvSpPr>
          <p:cNvPr id="73" name="它继续构造算子参数、读取展开模式，再进入下一页的选择与执行分发。">
            <a:extLst xmlns:a="http://schemas.openxmlformats.org/drawingml/2006/main">
              <a:ext uri="{FF2B5EF4-FFF2-40B4-BE49-F238E27FC236}">
                <a16:creationId xmlns:a16="http://schemas.microsoft.com/office/drawing/2014/main" id="{7E6E97D0-ECA5-4821-8C7F-68CC9AA8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831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它继续构造算子参数、读取展开模式，再进入下一页的选择与执行分发。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F5FC52B-F5A3-4457-A596-6FF33E48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6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08223DE-96C8-4619-870C-140A9C7A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356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915353" y="53567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E2C2057-7BA2-4082-AE48-B6ED8AF8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432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09">
            <a:extLst xmlns:a="http://schemas.openxmlformats.org/drawingml/2006/main">
              <a:ext uri="{FF2B5EF4-FFF2-40B4-BE49-F238E27FC236}">
                <a16:creationId xmlns:a16="http://schemas.microsoft.com/office/drawing/2014/main" id="{4E9B37BC-38D2-44FD-B7C4-6663BEFA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441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79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C5B0EC64-9904-418C-8E97-D5405788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413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8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1DFC82E1-2149-4CA6-BE0F-8E80164B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94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AlltoAllVConstructOpParam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把零散参数封成一个执行请求</a:t>
            </a:r>
          </a:p>
        </p:txBody>
      </p:sp>
      <p:sp>
        <p:nvSpPr>
          <p:cNvPr id="81" name="保存输入输出地址、数量和位移、数据类型及 stream，形成后面要传给 AICPU 的参数。">
            <a:extLst xmlns:a="http://schemas.openxmlformats.org/drawingml/2006/main">
              <a:ext uri="{FF2B5EF4-FFF2-40B4-BE49-F238E27FC236}">
                <a16:creationId xmlns:a16="http://schemas.microsoft.com/office/drawing/2014/main" id="{5EE7DCE7-21A4-4FDA-A677-6213E6D7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22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保存输入输出地址、数量和位移、数据类型及 stream，形成后面要传给 AICPU 的参数。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82AAE9D-921B-48C3-AD86-3054EA68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38850"/>
            <a:ext cx="1162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3" name="此页结束：HCCL 已知道“我是谁、给谁发多少、从哪里取、收到后放哪里”。">
            <a:extLst xmlns:a="http://schemas.openxmlformats.org/drawingml/2006/main">
              <a:ext uri="{FF2B5EF4-FFF2-40B4-BE49-F238E27FC236}">
                <a16:creationId xmlns:a16="http://schemas.microsoft.com/office/drawing/2014/main" id="{9BA0FBB5-C636-493E-A350-1A1BB04D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1382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此页结束：HCCL 已知道“我是谁、给谁发多少、从哪里取、收到后放哪里”。</a:t>
            </a:r>
          </a:p>
        </p:txBody>
      </p:sp>
    </p:spTree>
    <p:extLst>
      <p:ext uri="{BB962C8B-B14F-4D97-AF65-F5344CB8AC3E}">
        <p14:creationId xmlns:p14="http://schemas.microsoft.com/office/powerpoint/2010/main" val="1990060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2. HCCL 查询配置和拓扑，决定由哪个算法来做">
            <a:extLst xmlns:a="http://schemas.openxmlformats.org/drawingml/2006/main">
              <a:ext uri="{FF2B5EF4-FFF2-40B4-BE49-F238E27FC236}">
                <a16:creationId xmlns:a16="http://schemas.microsoft.com/office/drawing/2014/main" id="{168C4C84-F06D-4819-81DE-C632F6C6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2. HCCL 查询配置和拓扑，决定由哪个算法来做</a:t>
            </a:r>
          </a:p>
        </p:txBody>
      </p:sp>
      <p:sp>
        <p:nvSpPr>
          <p:cNvPr id="2" name="接上一页的执行请求。以下按自动选择命中普通 MESH_1D / CLOS 拓扑说明，具体配置可改变分支。">
            <a:extLst xmlns:a="http://schemas.openxmlformats.org/drawingml/2006/main">
              <a:ext uri="{FF2B5EF4-FFF2-40B4-BE49-F238E27FC236}">
                <a16:creationId xmlns:a16="http://schemas.microsoft.com/office/drawing/2014/main" id="{E67E2016-20B9-4D34-87F5-EA84948F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1123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接上一页的执行请求。以下按自动选择命中普通 MESH_1D / CLOS 拓扑说明，具体配置可改变分支。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81CC0948-EEBF-4E11-A8B3-511D36F6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1912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720E6-7980-4FA6-A5E7-3A9980D1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55CD2-634F-4CEC-9700-10E46A30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</a:ln>
        </p:spPr>
      </p:cxnSp>
      <p:sp>
        <p:nvSpPr>
          <p:cNvPr id="7" name="源码基线：hccl 170ddeec，hcomm 87ce550f。静态调用分析，数值示例未上板运行。">
            <a:extLst xmlns:a="http://schemas.openxmlformats.org/drawingml/2006/main">
              <a:ext uri="{FF2B5EF4-FFF2-40B4-BE49-F238E27FC236}">
                <a16:creationId xmlns:a16="http://schemas.microsoft.com/office/drawing/2014/main" id="{E6DEA22F-15D6-4FA4-8464-3E58B252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源码基线：hccl 170ddeec，hcomm 87ce550f。静态调用分析，数值示例未上板运行。</a:t>
            </a:r>
          </a:p>
        </p:txBody>
      </p:sp>
      <p:sp>
        <p:nvSpPr>
          <p:cNvPr id="8" name="顺序 / 调用发生在哪里">
            <a:extLst xmlns:a="http://schemas.openxmlformats.org/drawingml/2006/main">
              <a:ext uri="{FF2B5EF4-FFF2-40B4-BE49-F238E27FC236}">
                <a16:creationId xmlns:a16="http://schemas.microsoft.com/office/drawing/2014/main" id="{F8BB456A-B429-465E-81F6-F852E21F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76300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顺序 / 调用发生在哪里</a:t>
            </a:r>
          </a:p>
        </p:txBody>
      </p:sp>
      <p:sp>
        <p:nvSpPr>
          <p:cNvPr id="9" name="函数名后直接说明作用，下行说明本例得到什么">
            <a:extLst xmlns:a="http://schemas.openxmlformats.org/drawingml/2006/main">
              <a:ext uri="{FF2B5EF4-FFF2-40B4-BE49-F238E27FC236}">
                <a16:creationId xmlns:a16="http://schemas.microsoft.com/office/drawing/2014/main" id="{4A91C8E4-95C9-49F0-BAB4-43190595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76300"/>
            <a:ext cx="923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函数名后直接说明作用，下行说明本例得到什么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0AB6F-8398-48B5-B4C6-2E9364EA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E4751-882F-4063-837E-EEBA754F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91027" y="1201103"/>
            <a:ext cx="0" cy="4542472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92845-BA75-4161-8B4F-9D83E7EB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14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01">
            <a:extLst xmlns:a="http://schemas.openxmlformats.org/drawingml/2006/main">
              <a:ext uri="{FF2B5EF4-FFF2-40B4-BE49-F238E27FC236}">
                <a16:creationId xmlns:a16="http://schemas.microsoft.com/office/drawing/2014/main" id="{1BC7567F-F856-4B58-80F9-A4903745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23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0DA9E69D-AA26-40B8-80FD-459AF859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095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1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4F85AC36-8114-4AA9-AD16-13E41406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76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HcclGetOpExpansionMode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决定本次采用哪种展开方式</a:t>
            </a:r>
          </a:p>
        </p:txBody>
      </p:sp>
      <p:sp>
        <p:nvSpPr>
          <p:cNvPr id="17" name="本例使用 AICPU_TS，表示把集合算法的任务编排放到 AICPU 侧执行。">
            <a:extLst xmlns:a="http://schemas.openxmlformats.org/drawingml/2006/main">
              <a:ext uri="{FF2B5EF4-FFF2-40B4-BE49-F238E27FC236}">
                <a16:creationId xmlns:a16="http://schemas.microsoft.com/office/drawing/2014/main" id="{197DC4D8-2286-4D1B-BD96-395B7339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04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本例使用 AICPU_TS，表示把集合算法的任务编排放到 AICPU 侧执行。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6B0182-8397-40CF-84CB-A5D47A5B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7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8BDB04-5815-48DB-A691-91E60765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77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15353" y="15784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5CC3A0-04EE-4D0E-B43F-88C68349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54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02">
            <a:extLst xmlns:a="http://schemas.openxmlformats.org/drawingml/2006/main">
              <a:ext uri="{FF2B5EF4-FFF2-40B4-BE49-F238E27FC236}">
                <a16:creationId xmlns:a16="http://schemas.microsoft.com/office/drawing/2014/main" id="{FC8381B6-3EAC-491E-8216-325423B6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637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HCCL 调 HCOMM&#10;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2CD29E52-2520-4836-832E-6FE500EA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6351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域资源</a:t>
            </a:r>
          </a:p>
        </p:txBody>
      </p:sp>
      <p:sp>
        <p:nvSpPr>
          <p:cNvPr id="2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8F8096C8-D252-473A-A640-D27EB099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160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HcclConfigGetInfo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从通信域读取展开模式配置</a:t>
            </a:r>
          </a:p>
        </p:txBody>
      </p:sp>
      <p:sp>
        <p:nvSpPr>
          <p:cNvPr id="25" name="这是上一项内部实际使用的 HCOMM 配置接口，返回配置给 HCCL 判断。">
            <a:extLst xmlns:a="http://schemas.openxmlformats.org/drawingml/2006/main">
              <a:ext uri="{FF2B5EF4-FFF2-40B4-BE49-F238E27FC236}">
                <a16:creationId xmlns:a16="http://schemas.microsoft.com/office/drawing/2014/main" id="{459ECF3B-8932-4711-9EB8-5B1CC44C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446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这是上一项内部实际使用的 HCOMM 配置接口，返回配置给 HCCL 判断。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C346F1-CB55-4CFE-BD25-EFEC0793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8FECFE-183B-4578-B49D-DC366556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11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15353" y="21182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9AA36F-6431-4F0B-8674-81FAC63A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39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1E909B3A-01BD-487F-91F1-6C391894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034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1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8CED76E4-2867-4190-A23E-201EA191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748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3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12762C31-AD14-4C1E-9064-0BE94CFB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558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AlltoAllVExecDispatch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把请求交给选择器和执行器</a:t>
            </a:r>
          </a:p>
        </p:txBody>
      </p:sp>
      <p:sp>
        <p:nvSpPr>
          <p:cNvPr id="33" name="它先得到算法名称与拓扑信息，再发起后续资源准备和执行。">
            <a:extLst xmlns:a="http://schemas.openxmlformats.org/drawingml/2006/main">
              <a:ext uri="{FF2B5EF4-FFF2-40B4-BE49-F238E27FC236}">
                <a16:creationId xmlns:a16="http://schemas.microsoft.com/office/drawing/2014/main" id="{17C0C20E-8C5D-4AFA-8261-292659A7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844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它先得到算法名称与拓扑信息，再发起后续资源准备和执行。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538B89-75DA-408A-98D5-7B7F139A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19DE21-74C4-4F57-8D77-104E2BC6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65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15353" y="26579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4F57D9-9E1B-4725-BB21-C9779191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336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8" name="04">
            <a:extLst xmlns:a="http://schemas.openxmlformats.org/drawingml/2006/main">
              <a:ext uri="{FF2B5EF4-FFF2-40B4-BE49-F238E27FC236}">
                <a16:creationId xmlns:a16="http://schemas.microsoft.com/office/drawing/2014/main" id="{B8EC289E-2862-4227-82C8-4849DE12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432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9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226D2550-B307-4579-9C0C-6045119D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146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4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36E6D54F-619E-4719-87F7-52A738AA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955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Selector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统筹选择本次要使用的算法</a:t>
            </a:r>
          </a:p>
        </p:txBody>
      </p:sp>
      <p:sp>
        <p:nvSpPr>
          <p:cNvPr id="41" name="综合设备、执行方式、拓扑、数据量和配置，不能只凭 AICPU_TS 就确定所有调用。">
            <a:extLst xmlns:a="http://schemas.openxmlformats.org/drawingml/2006/main">
              <a:ext uri="{FF2B5EF4-FFF2-40B4-BE49-F238E27FC236}">
                <a16:creationId xmlns:a16="http://schemas.microsoft.com/office/drawing/2014/main" id="{58C440F7-44E5-43BB-8291-957CB104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241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综合设备、执行方式、拓扑、数据量和配置，不能只凭 AICPU_TS 就确定所有调用。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2CFE2C-82EC-4656-A359-0E9235C8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7096FD-A1CF-4008-97AF-CA4F508D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19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15353" y="31977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DC3746-E64C-436F-B6C3-E293D5D2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73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05">
            <a:extLst xmlns:a="http://schemas.openxmlformats.org/drawingml/2006/main">
              <a:ext uri="{FF2B5EF4-FFF2-40B4-BE49-F238E27FC236}">
                <a16:creationId xmlns:a16="http://schemas.microsoft.com/office/drawing/2014/main" id="{65755D2E-6EB3-4C15-AA3A-C32120B8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82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7" name="HCCL 调 HCOMM&#10;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E7A9ECB7-9D96-49B0-A355-40526DE5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54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域资源</a:t>
            </a:r>
          </a:p>
        </p:txBody>
      </p:sp>
      <p:sp>
        <p:nvSpPr>
          <p:cNvPr id="4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8A69A859-7148-4143-9065-7AD5539E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35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HcclCommGetStatus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检查通信域是否可用</a:t>
            </a:r>
          </a:p>
        </p:txBody>
      </p:sp>
      <p:sp>
        <p:nvSpPr>
          <p:cNvPr id="49" name="接口能力支持时检查 READY 状态，域正在挂起等情况不能按正常主线继续。">
            <a:extLst xmlns:a="http://schemas.openxmlformats.org/drawingml/2006/main">
              <a:ext uri="{FF2B5EF4-FFF2-40B4-BE49-F238E27FC236}">
                <a16:creationId xmlns:a16="http://schemas.microsoft.com/office/drawing/2014/main" id="{1DECDA91-CC1B-476C-9DF4-9DD92C3E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63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接口能力支持时检查 READY 状态，域正在挂起等情况不能按正常主线继续。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9B6F91-1DB4-43E0-9E3C-B667AB79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FDD684-BE24-40E8-B18A-A6722A92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3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915353" y="37374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F6E13F3-CC90-46E7-A868-9320562F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3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06">
            <a:extLst xmlns:a="http://schemas.openxmlformats.org/drawingml/2006/main">
              <a:ext uri="{FF2B5EF4-FFF2-40B4-BE49-F238E27FC236}">
                <a16:creationId xmlns:a16="http://schemas.microsoft.com/office/drawing/2014/main" id="{04B0F57B-021D-4012-81C2-226F98E5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8227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5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92801E91-94C7-4D88-A898-681B4FD5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941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5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B0E1E03C-FC10-4368-B44D-0970DDE2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750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HcclCalcTopoInfo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恢复或构造拓扑说明</a:t>
            </a:r>
          </a:p>
        </p:txBody>
      </p:sp>
      <p:sp>
        <p:nvSpPr>
          <p:cNvPr id="57" name="得到成员关系、网络层、端点与链路信息，供算法和建链请求使用。">
            <a:extLst xmlns:a="http://schemas.openxmlformats.org/drawingml/2006/main">
              <a:ext uri="{FF2B5EF4-FFF2-40B4-BE49-F238E27FC236}">
                <a16:creationId xmlns:a16="http://schemas.microsoft.com/office/drawing/2014/main" id="{AD5C6C7F-8955-471D-A64B-DB5BE868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036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得到成员关系、网络层、端点与链路信息，供算法和建链请求使用。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2C4F716-D2FB-4B45-83AD-57F6306F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A11F1D3-E3D6-45A0-BE68-0BC1AB22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915353" y="42772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B275F9D-5E46-4EE8-AFF2-455F9298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529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2" name="07">
            <a:extLst xmlns:a="http://schemas.openxmlformats.org/drawingml/2006/main">
              <a:ext uri="{FF2B5EF4-FFF2-40B4-BE49-F238E27FC236}">
                <a16:creationId xmlns:a16="http://schemas.microsoft.com/office/drawing/2014/main" id="{BC535BCD-9FB1-4C31-99F1-2B132921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624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3" name="HCCL 调 HCOMM&#10;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3EB45D77-44B8-441C-B505-E8166614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338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域资源</a:t>
            </a:r>
          </a:p>
        </p:txBody>
      </p:sp>
      <p:sp>
        <p:nvSpPr>
          <p:cNvPr id="6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AE68A598-F947-4606-B23A-04EA8F39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148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HcclEngineCtxGet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先查已有的拓扑上下文</a:t>
            </a:r>
          </a:p>
        </p:txBody>
      </p:sp>
      <p:sp>
        <p:nvSpPr>
          <p:cNvPr id="65" name="命中则直接恢复已有说明。未命中才查询拓扑并保存，具体查询逐项解释在第 14 页。">
            <a:extLst xmlns:a="http://schemas.openxmlformats.org/drawingml/2006/main">
              <a:ext uri="{FF2B5EF4-FFF2-40B4-BE49-F238E27FC236}">
                <a16:creationId xmlns:a16="http://schemas.microsoft.com/office/drawing/2014/main" id="{60706BFD-CF94-4C66-85E9-7743CFD9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434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命中则直接恢复已有说明。未命中才查询拓扑并保存，具体查询逐项解释在第 14 页。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CD29554-A81C-48B7-BD23-1133CE22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CA8C98B-4ECC-47B0-9696-DCDC10A0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1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915353" y="48169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66EE8BD-97BE-47CD-99C7-2DB008D8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926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0" name="08">
            <a:extLst xmlns:a="http://schemas.openxmlformats.org/drawingml/2006/main">
              <a:ext uri="{FF2B5EF4-FFF2-40B4-BE49-F238E27FC236}">
                <a16:creationId xmlns:a16="http://schemas.microsoft.com/office/drawing/2014/main" id="{CE18FE7F-E42C-487D-97A9-8422B85A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9022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1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0CC72620-A6B6-49C3-B0D4-199FBF1A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736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7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306DCF75-43CB-4A4D-AA60-4C1B0773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545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AlltoAllAutoSelector::SelectAicpuAlgo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按拓扑与数据量选 AICPU 算法</a:t>
            </a:r>
          </a:p>
        </p:txBody>
      </p:sp>
      <p:sp>
        <p:nvSpPr>
          <p:cNvPr id="73" name="本例每 Rank 共发送 32 字节，在该选择器分支选中单 Channel 的普通 Mesh 算法。">
            <a:extLst xmlns:a="http://schemas.openxmlformats.org/drawingml/2006/main">
              <a:ext uri="{FF2B5EF4-FFF2-40B4-BE49-F238E27FC236}">
                <a16:creationId xmlns:a16="http://schemas.microsoft.com/office/drawing/2014/main" id="{F056CA7E-2A64-48F3-B436-33D0B372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831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本例每 Rank 共发送 32 字节，在该选择器分支选中单 Channel 的普通 Mesh 算法。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537DAB1-A5F2-4C05-A05A-CF77C3BD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6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D164FBF-7505-49C9-AF2D-4B062FDE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356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915353" y="53567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E245EF9-36E5-443C-9C68-6DA33E17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432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09">
            <a:extLst xmlns:a="http://schemas.openxmlformats.org/drawingml/2006/main">
              <a:ext uri="{FF2B5EF4-FFF2-40B4-BE49-F238E27FC236}">
                <a16:creationId xmlns:a16="http://schemas.microsoft.com/office/drawing/2014/main" id="{F51E96CF-A266-4639-BA88-2041E0AB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441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79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6A0C5BFB-367F-49D7-A6D4-186FD411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413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8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89394377-780B-4555-AB54-2A28A7D2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94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HcclExecOp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进入已选算法的执行准备</a:t>
            </a:r>
          </a:p>
        </p:txBody>
      </p:sp>
      <p:sp>
        <p:nvSpPr>
          <p:cNvPr id="81" name="读取注册的算法实现，绑定用户 stream，准备或复用这次执行所需资源。">
            <a:extLst xmlns:a="http://schemas.openxmlformats.org/drawingml/2006/main">
              <a:ext uri="{FF2B5EF4-FFF2-40B4-BE49-F238E27FC236}">
                <a16:creationId xmlns:a16="http://schemas.microsoft.com/office/drawing/2014/main" id="{B53AE96D-F19B-4DF9-AB04-EDABB3B6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22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读取注册的算法实现，绑定用户 stream，准备或复用这次执行所需资源。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E1D7D8A-6B82-4786-BB4C-7E3D8C7A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38850"/>
            <a:ext cx="1162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3" name="此页结束：确定“采用普通 Mesh、在 AICPU_TS 上编排”，下一步才是拿到可用资源。">
            <a:extLst xmlns:a="http://schemas.openxmlformats.org/drawingml/2006/main">
              <a:ext uri="{FF2B5EF4-FFF2-40B4-BE49-F238E27FC236}">
                <a16:creationId xmlns:a16="http://schemas.microsoft.com/office/drawing/2014/main" id="{825952D7-795D-4018-8C6E-D8D8EDAC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1382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此页结束：确定“采用普通 Mesh、在 AICPU_TS 上编排”，下一步才是拿到可用资源。</a:t>
            </a:r>
          </a:p>
        </p:txBody>
      </p:sp>
    </p:spTree>
    <p:extLst>
      <p:ext uri="{BB962C8B-B14F-4D97-AF65-F5344CB8AC3E}">
        <p14:creationId xmlns:p14="http://schemas.microsoft.com/office/powerpoint/2010/main" val="17249835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3. HCCL 先绑定用户流，再计算缺少哪些资源">
            <a:extLst xmlns:a="http://schemas.openxmlformats.org/drawingml/2006/main">
              <a:ext uri="{FF2B5EF4-FFF2-40B4-BE49-F238E27FC236}">
                <a16:creationId xmlns:a16="http://schemas.microsoft.com/office/drawing/2014/main" id="{98E55357-0093-4F4F-B802-3DFC8971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3. HCCL 先绑定用户流，再计算缺少哪些资源</a:t>
            </a:r>
          </a:p>
        </p:txBody>
      </p:sp>
      <p:sp>
        <p:nvSpPr>
          <p:cNvPr id="2" name="这页仍在 Host。Thread 是通信任务队列的句柄，不能简单理解成每次都新建一个操作系统线程。">
            <a:extLst xmlns:a="http://schemas.openxmlformats.org/drawingml/2006/main">
              <a:ext uri="{FF2B5EF4-FFF2-40B4-BE49-F238E27FC236}">
                <a16:creationId xmlns:a16="http://schemas.microsoft.com/office/drawing/2014/main" id="{7B0278CE-A6B6-43B5-B003-9640F92E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1123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这页仍在 Host。Thread 是通信任务队列的句柄，不能简单理解成每次都新建一个操作系统线程。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2BD31F4B-DC29-40BA-B207-B87CD488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1912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A00E0-B109-43F2-8D48-8FD6FBC2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31195-C5DD-4651-94B3-B8B31BBB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</a:ln>
        </p:spPr>
      </p:cxnSp>
      <p:sp>
        <p:nvSpPr>
          <p:cNvPr id="7" name="源码基线：hccl 170ddeec，hcomm 87ce550f。静态调用分析，数值示例未上板运行。">
            <a:extLst xmlns:a="http://schemas.openxmlformats.org/drawingml/2006/main">
              <a:ext uri="{FF2B5EF4-FFF2-40B4-BE49-F238E27FC236}">
                <a16:creationId xmlns:a16="http://schemas.microsoft.com/office/drawing/2014/main" id="{610ABAE0-F8B8-4B8E-868B-790D658A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源码基线：hccl 170ddeec，hcomm 87ce550f。静态调用分析，数值示例未上板运行。</a:t>
            </a:r>
          </a:p>
        </p:txBody>
      </p:sp>
      <p:sp>
        <p:nvSpPr>
          <p:cNvPr id="8" name="顺序 / 调用发生在哪里">
            <a:extLst xmlns:a="http://schemas.openxmlformats.org/drawingml/2006/main">
              <a:ext uri="{FF2B5EF4-FFF2-40B4-BE49-F238E27FC236}">
                <a16:creationId xmlns:a16="http://schemas.microsoft.com/office/drawing/2014/main" id="{4C293026-7CB1-4B78-AAEB-775DAC6D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76300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顺序 / 调用发生在哪里</a:t>
            </a:r>
          </a:p>
        </p:txBody>
      </p:sp>
      <p:sp>
        <p:nvSpPr>
          <p:cNvPr id="9" name="函数名后直接说明作用，下行说明本例得到什么">
            <a:extLst xmlns:a="http://schemas.openxmlformats.org/drawingml/2006/main">
              <a:ext uri="{FF2B5EF4-FFF2-40B4-BE49-F238E27FC236}">
                <a16:creationId xmlns:a16="http://schemas.microsoft.com/office/drawing/2014/main" id="{9E94BB50-C806-49BD-B374-84336E6C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76300"/>
            <a:ext cx="923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函数名后直接说明作用，下行说明本例得到什么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B01CA-1992-4C1D-B669-B70A430C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1CACE-19F4-4937-B72D-3C283F65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91027" y="1201103"/>
            <a:ext cx="0" cy="4542472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48CB3D-FB3B-47E4-8DB8-D9224638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14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01">
            <a:extLst xmlns:a="http://schemas.openxmlformats.org/drawingml/2006/main">
              <a:ext uri="{FF2B5EF4-FFF2-40B4-BE49-F238E27FC236}">
                <a16:creationId xmlns:a16="http://schemas.microsoft.com/office/drawing/2014/main" id="{A8BC9516-87E7-4F23-B9BF-61222574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23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614910EB-6428-4964-B876-901C11F0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095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1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D0B3ACDB-CBC0-4654-8E74-1B8FCFA2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76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GetAlgExec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按算法名称取出执行器对象</a:t>
            </a:r>
          </a:p>
        </p:txBody>
      </p:sp>
      <p:sp>
        <p:nvSpPr>
          <p:cNvPr id="17" name="执行器负责计算资源需求，并在设备侧组织该算法的执行。此处只取得 Host 侧对象。">
            <a:extLst xmlns:a="http://schemas.openxmlformats.org/drawingml/2006/main">
              <a:ext uri="{FF2B5EF4-FFF2-40B4-BE49-F238E27FC236}">
                <a16:creationId xmlns:a16="http://schemas.microsoft.com/office/drawing/2014/main" id="{1D2EAB79-7761-4757-BDA6-04BA5B38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04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执行器负责计算资源需求，并在设备侧组织该算法的执行。此处只取得 Host 侧对象。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EB6914-1C66-467D-9A50-FE3EECF3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7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35EFF0-8A87-41C7-BC83-AB2C2136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77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15353" y="15784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B15FCF-123C-4177-AD26-AE154D56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54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02">
            <a:extLst xmlns:a="http://schemas.openxmlformats.org/drawingml/2006/main">
              <a:ext uri="{FF2B5EF4-FFF2-40B4-BE49-F238E27FC236}">
                <a16:creationId xmlns:a16="http://schemas.microsoft.com/office/drawing/2014/main" id="{0C00F39A-F8D9-405E-B630-FD21E30A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637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HCCL 调 HCOMM&#10;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A75893E5-5F3A-4D25-801F-3B2EF0D6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6351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域资源</a:t>
            </a:r>
          </a:p>
        </p:txBody>
      </p:sp>
      <p:sp>
        <p:nvSpPr>
          <p:cNvPr id="2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798B08A1-360C-4244-94E8-F50D0C20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160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HcclThreadAcquireWithStream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把用户 stream 包装成通信 Thread</a:t>
            </a:r>
          </a:p>
        </p:txBody>
      </p:sp>
      <p:sp>
        <p:nvSpPr>
          <p:cNvPr id="25" name="得到 CPU_TS Thread，后面用它提交“输入就绪”和“等待完成”通知。">
            <a:extLst xmlns:a="http://schemas.openxmlformats.org/drawingml/2006/main">
              <a:ext uri="{FF2B5EF4-FFF2-40B4-BE49-F238E27FC236}">
                <a16:creationId xmlns:a16="http://schemas.microsoft.com/office/drawing/2014/main" id="{9B4E69B0-D763-4468-AB04-5EF2911D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446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得到 CPU_TS Thread，后面用它提交“输入就绪”和“等待完成”通知。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D9A434-08CC-4C05-93C9-9193022E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CDD149-A147-4AD8-8633-D40E387D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11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15353" y="21182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C924A8-24CB-49F6-8461-174A4879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39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12623715-2FF3-4DBC-B92A-0C421A39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034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1" name="HCCL 调 HCOMM&#10;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38ACF324-CD16-43E9-8F45-C3AEEEC0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748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域资源</a:t>
            </a:r>
          </a:p>
        </p:txBody>
      </p:sp>
      <p:sp>
        <p:nvSpPr>
          <p:cNvPr id="3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E5C7700C-5036-46AD-979D-58A27255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558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把用户 Thread 转成 AICPU 可使用的句柄</a:t>
            </a:r>
          </a:p>
        </p:txBody>
      </p:sp>
      <p:sp>
        <p:nvSpPr>
          <p:cNvPr id="33" name="这是第一个导出方向：CPU_TS 到 AICPU_TS。设备完成后要通过它通知用户流。">
            <a:extLst xmlns:a="http://schemas.openxmlformats.org/drawingml/2006/main">
              <a:ext uri="{FF2B5EF4-FFF2-40B4-BE49-F238E27FC236}">
                <a16:creationId xmlns:a16="http://schemas.microsoft.com/office/drawing/2014/main" id="{554C9E27-8DBB-4403-ACB5-1D4A8F50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844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这是第一个导出方向：CPU_TS 到 AICPU_TS。设备完成后要通过它通知用户流。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FCF132-5A2B-4799-B937-320E4C72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3C3254-1560-4496-B8E0-BC46B4D3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65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15353" y="26579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15557B-4560-47AC-A46F-BDDB7898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336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8" name="04">
            <a:extLst xmlns:a="http://schemas.openxmlformats.org/drawingml/2006/main">
              <a:ext uri="{FF2B5EF4-FFF2-40B4-BE49-F238E27FC236}">
                <a16:creationId xmlns:a16="http://schemas.microsoft.com/office/drawing/2014/main" id="{F77FC209-5FB7-422C-A2FA-71DF7871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432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9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7C657A4B-62D5-41C6-AC60-6E9C9657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146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4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1F6C116D-A665-4790-821C-E1616BDE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955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HcclGetAlgRes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统一取得本次算法的资源</a:t>
            </a:r>
          </a:p>
        </p:txBody>
      </p:sp>
      <p:sp>
        <p:nvSpPr>
          <p:cNvPr id="41" name="先尝试复用，资源没有准备过才继续计算与申请。">
            <a:extLst xmlns:a="http://schemas.openxmlformats.org/drawingml/2006/main">
              <a:ext uri="{FF2B5EF4-FFF2-40B4-BE49-F238E27FC236}">
                <a16:creationId xmlns:a16="http://schemas.microsoft.com/office/drawing/2014/main" id="{C8D99418-FBA8-49FF-B2F6-E6FFE75F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241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先尝试复用，资源没有准备过才继续计算与申请。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B2F8E0-F7BD-4282-B79A-AC319B2A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8A3AF8-81C0-42BC-AC52-5F1808BA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19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15353" y="31977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D3904E-C3DE-4E5E-81D8-17FFEB15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73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05">
            <a:extLst xmlns:a="http://schemas.openxmlformats.org/drawingml/2006/main">
              <a:ext uri="{FF2B5EF4-FFF2-40B4-BE49-F238E27FC236}">
                <a16:creationId xmlns:a16="http://schemas.microsoft.com/office/drawing/2014/main" id="{FC6BC635-22FD-417F-830C-34052348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82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7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BC434A4F-57F9-4E61-9EC5-4B602754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54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4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C5173DED-26E3-4A0B-881E-8A99E8A8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35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GetAlgoMeta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读取算法登记的属性</a:t>
            </a:r>
          </a:p>
        </p:txBody>
      </p:sp>
      <p:sp>
        <p:nvSpPr>
          <p:cNvPr id="49" name="取出算法引擎、算子类型和算法层次等描述，供资源规划使用。">
            <a:extLst xmlns:a="http://schemas.openxmlformats.org/drawingml/2006/main">
              <a:ext uri="{FF2B5EF4-FFF2-40B4-BE49-F238E27FC236}">
                <a16:creationId xmlns:a16="http://schemas.microsoft.com/office/drawing/2014/main" id="{2A38C67A-6B4E-4A4A-BD53-A55E9142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63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取出算法引擎、算子类型和算法层次等描述，供资源规划使用。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88BF63-4078-4215-9831-CDA75CC7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0A4F0F-F727-4F38-9E19-2204D8F4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3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915353" y="37374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8E162B3-8889-404A-9AE9-824DF5C3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3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06">
            <a:extLst xmlns:a="http://schemas.openxmlformats.org/drawingml/2006/main">
              <a:ext uri="{FF2B5EF4-FFF2-40B4-BE49-F238E27FC236}">
                <a16:creationId xmlns:a16="http://schemas.microsoft.com/office/drawing/2014/main" id="{2E8B86EF-B610-4BB5-94C4-00FB0E36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8227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5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747C9EBD-D3AC-4B16-BA04-91E33961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941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5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3CB0E19C-06E6-4239-9238-8AA5273F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750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TryReuseResource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判断算法资源是否已经存在</a:t>
            </a:r>
          </a:p>
        </p:txBody>
      </p:sp>
      <p:sp>
        <p:nvSpPr>
          <p:cNvPr id="57" name="使用算法标识查询资源上下文。命中时跳过下面的重新计算和创建。">
            <a:extLst xmlns:a="http://schemas.openxmlformats.org/drawingml/2006/main">
              <a:ext uri="{FF2B5EF4-FFF2-40B4-BE49-F238E27FC236}">
                <a16:creationId xmlns:a16="http://schemas.microsoft.com/office/drawing/2014/main" id="{C15326B1-AD55-4919-AA72-B9EE4C31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036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使用算法标识查询资源上下文。命中时跳过下面的重新计算和创建。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9C575F7-F7F2-4971-8CE9-0666C9FF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0CDFC1C-F4C6-4521-8A87-BD1967AA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915353" y="42772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611AB26-28ED-4B0E-9CAD-748A9CCD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529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2" name="07">
            <a:extLst xmlns:a="http://schemas.openxmlformats.org/drawingml/2006/main">
              <a:ext uri="{FF2B5EF4-FFF2-40B4-BE49-F238E27FC236}">
                <a16:creationId xmlns:a16="http://schemas.microsoft.com/office/drawing/2014/main" id="{804DE582-5670-49CC-84C5-C15BAF30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624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3" name="HCCL 调 HCOMM&#10;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AD31BFB8-85E4-4E8B-B9E8-3BCFE536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338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域资源</a:t>
            </a:r>
          </a:p>
        </p:txBody>
      </p:sp>
      <p:sp>
        <p:nvSpPr>
          <p:cNvPr id="6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EAFCEFF1-B0D3-4CD7-A9A8-0E4DCBF2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148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HcclEngineCtxGet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查找算法资源上下文</a:t>
            </a:r>
          </a:p>
        </p:txBody>
      </p:sp>
      <p:sp>
        <p:nvSpPr>
          <p:cNvPr id="65" name="这次查的是算法资源，不是上一页的拓扑缓存。本例按未命中继续。">
            <a:extLst xmlns:a="http://schemas.openxmlformats.org/drawingml/2006/main">
              <a:ext uri="{FF2B5EF4-FFF2-40B4-BE49-F238E27FC236}">
                <a16:creationId xmlns:a16="http://schemas.microsoft.com/office/drawing/2014/main" id="{32E94349-32CA-465D-8BEC-FA3F3524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434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这次查的是算法资源，不是上一页的拓扑缓存。本例按未命中继续。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E4AE072-8AF1-491E-957F-B1D9F0E1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9260CF7-D983-4293-9E88-356F421E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1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915353" y="48169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0B14492-7D9E-4CB6-AA95-E35FBF07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926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0" name="08">
            <a:extLst xmlns:a="http://schemas.openxmlformats.org/drawingml/2006/main">
              <a:ext uri="{FF2B5EF4-FFF2-40B4-BE49-F238E27FC236}">
                <a16:creationId xmlns:a16="http://schemas.microsoft.com/office/drawing/2014/main" id="{52AC42E9-DFEE-4F20-A387-EEA49197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9022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1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C86ACF76-B959-414C-9A2F-33E0BAA4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736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7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116A016A-DE37-42BE-BE4C-23996C85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545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CalcAlgHierarchyInfoV2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把拓扑整理成算法使用的通信分组</a:t>
            </a:r>
          </a:p>
        </p:txBody>
      </p:sp>
      <p:sp>
        <p:nvSpPr>
          <p:cNvPr id="73" name="得到各层成员和本 Rank 在组中的位置，为资源数量计算提供依据。">
            <a:extLst xmlns:a="http://schemas.openxmlformats.org/drawingml/2006/main">
              <a:ext uri="{FF2B5EF4-FFF2-40B4-BE49-F238E27FC236}">
                <a16:creationId xmlns:a16="http://schemas.microsoft.com/office/drawing/2014/main" id="{371D9DE4-25E4-4774-B8DB-AB38A049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831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得到各层成员和本 Rank 在组中的位置，为资源数量计算提供依据。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A27BD24-BA7D-4EBD-A157-BB3E60D5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6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82A4B15-5FB5-4C35-9267-F7B31751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356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915353" y="53567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12DF8BB-78BA-4D58-809F-E1204258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432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09">
            <a:extLst xmlns:a="http://schemas.openxmlformats.org/drawingml/2006/main">
              <a:ext uri="{FF2B5EF4-FFF2-40B4-BE49-F238E27FC236}">
                <a16:creationId xmlns:a16="http://schemas.microsoft.com/office/drawing/2014/main" id="{B70A4C94-84C8-4EA2-883B-B0BD4A8E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441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79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D89E2C4C-9954-4EAC-A084-C3FCE43F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413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8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4A1D757F-F792-49E5-A80D-B280F8BE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94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CalcRes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列出算法需要的资源清单</a:t>
            </a:r>
          </a:p>
        </p:txBody>
      </p:sp>
      <p:sp>
        <p:nvSpPr>
          <p:cNvPr id="81" name="计算主从 Thread、通知槽位以及到哪些 Peer 的 Channel 请求，此时只是算需求。">
            <a:extLst xmlns:a="http://schemas.openxmlformats.org/drawingml/2006/main">
              <a:ext uri="{FF2B5EF4-FFF2-40B4-BE49-F238E27FC236}">
                <a16:creationId xmlns:a16="http://schemas.microsoft.com/office/drawing/2014/main" id="{75007C85-55C2-446E-B678-D5F248D7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22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计算主从 Thread、通知槽位以及到哪些 Peer 的 Channel 请求，此时只是算需求。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94F622F-8B92-42B9-A24C-9A4DCE09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38850"/>
            <a:ext cx="1162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3" name="此页结束：已拿到用户流句柄，并列出“需要多少线程、通知槽位和对端通道”。">
            <a:extLst xmlns:a="http://schemas.openxmlformats.org/drawingml/2006/main">
              <a:ext uri="{FF2B5EF4-FFF2-40B4-BE49-F238E27FC236}">
                <a16:creationId xmlns:a16="http://schemas.microsoft.com/office/drawing/2014/main" id="{2D1E8396-B932-47FF-8B90-0445342D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1382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此页结束：已拿到用户流句柄，并列出“需要多少线程、通知槽位和对端通道”。</a:t>
            </a:r>
          </a:p>
        </p:txBody>
      </p:sp>
    </p:spTree>
    <p:extLst>
      <p:ext uri="{BB962C8B-B14F-4D97-AF65-F5344CB8AC3E}">
        <p14:creationId xmlns:p14="http://schemas.microsoft.com/office/powerpoint/2010/main" val="14044540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4. HCCL 向 HCOMM 取得缓冲区、线程和通道">
            <a:extLst xmlns:a="http://schemas.openxmlformats.org/drawingml/2006/main">
              <a:ext uri="{FF2B5EF4-FFF2-40B4-BE49-F238E27FC236}">
                <a16:creationId xmlns:a16="http://schemas.microsoft.com/office/drawing/2014/main" id="{031040D9-BD87-4C41-B896-8D903347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4. HCCL 向 HCOMM 取得缓冲区、线程和通道</a:t>
            </a:r>
          </a:p>
        </p:txBody>
      </p:sp>
      <p:sp>
        <p:nvSpPr>
          <p:cNvPr id="2" name="接上一页的资源清单。这里开始获得可实际使用的句柄和地址，尚未搬运本次 AllToAll 的数据。">
            <a:extLst xmlns:a="http://schemas.openxmlformats.org/drawingml/2006/main">
              <a:ext uri="{FF2B5EF4-FFF2-40B4-BE49-F238E27FC236}">
                <a16:creationId xmlns:a16="http://schemas.microsoft.com/office/drawing/2014/main" id="{A78E3F87-CAD0-4184-AD60-4C0FD0A0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1123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接上一页的资源清单。这里开始获得可实际使用的句柄和地址，尚未搬运本次 AllToAll 的数据。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C100AC87-E28A-4EB0-8F81-2FFB04F3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1912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C5D79-033A-4041-9BD7-20AECFA4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D2018-2351-491C-B279-E2374AED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</a:ln>
        </p:spPr>
      </p:cxnSp>
      <p:sp>
        <p:nvSpPr>
          <p:cNvPr id="7" name="源码基线：hccl 170ddeec，hcomm 87ce550f。静态调用分析，数值示例未上板运行。">
            <a:extLst xmlns:a="http://schemas.openxmlformats.org/drawingml/2006/main">
              <a:ext uri="{FF2B5EF4-FFF2-40B4-BE49-F238E27FC236}">
                <a16:creationId xmlns:a16="http://schemas.microsoft.com/office/drawing/2014/main" id="{03B2AD3C-8811-4877-B118-2FDAFC61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源码基线：hccl 170ddeec，hcomm 87ce550f。静态调用分析，数值示例未上板运行。</a:t>
            </a:r>
          </a:p>
        </p:txBody>
      </p:sp>
      <p:sp>
        <p:nvSpPr>
          <p:cNvPr id="8" name="顺序 / 调用发生在哪里">
            <a:extLst xmlns:a="http://schemas.openxmlformats.org/drawingml/2006/main">
              <a:ext uri="{FF2B5EF4-FFF2-40B4-BE49-F238E27FC236}">
                <a16:creationId xmlns:a16="http://schemas.microsoft.com/office/drawing/2014/main" id="{A21A50EB-0980-42D0-8759-E3F99C0A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76300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顺序 / 调用发生在哪里</a:t>
            </a:r>
          </a:p>
        </p:txBody>
      </p:sp>
      <p:sp>
        <p:nvSpPr>
          <p:cNvPr id="9" name="函数名后直接说明作用，下行说明本例得到什么">
            <a:extLst xmlns:a="http://schemas.openxmlformats.org/drawingml/2006/main">
              <a:ext uri="{FF2B5EF4-FFF2-40B4-BE49-F238E27FC236}">
                <a16:creationId xmlns:a16="http://schemas.microsoft.com/office/drawing/2014/main" id="{8A9FBD03-AF69-4A06-984F-50B29EBF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76300"/>
            <a:ext cx="923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函数名后直接说明作用，下行说明本例得到什么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477E7E-1B70-4D22-AE02-21B862BC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8C281-B230-4C84-9F7B-C3D79B9A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91027" y="1201103"/>
            <a:ext cx="0" cy="4542472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72641D-050F-468C-9F9A-FDD5FB89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14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01">
            <a:extLst xmlns:a="http://schemas.openxmlformats.org/drawingml/2006/main">
              <a:ext uri="{FF2B5EF4-FFF2-40B4-BE49-F238E27FC236}">
                <a16:creationId xmlns:a16="http://schemas.microsoft.com/office/drawing/2014/main" id="{35DFC3D7-8139-4857-BC94-7A0CE3FC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23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03967882-8E73-4EF5-8453-B8A67370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095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1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BD719C58-F0A1-47C4-88DE-12A344C2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76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GetAlgResAICPU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进入 AICPU 专用的资源准备流程</a:t>
            </a:r>
          </a:p>
        </p:txBody>
      </p:sp>
      <p:sp>
        <p:nvSpPr>
          <p:cNvPr id="17" name="把拓扑、分组信息和通信域信息放入资源上下文，组织下面的分配。">
            <a:extLst xmlns:a="http://schemas.openxmlformats.org/drawingml/2006/main">
              <a:ext uri="{FF2B5EF4-FFF2-40B4-BE49-F238E27FC236}">
                <a16:creationId xmlns:a16="http://schemas.microsoft.com/office/drawing/2014/main" id="{6B938C25-B8D1-416F-9D61-E4EC4D84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04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把拓扑、分组信息和通信域信息放入资源上下文，组织下面的分配。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C0CD3E-8A07-44D3-BFC8-C67CA387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7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63F745-8E9F-4336-BC6E-DE91E0F5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77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15353" y="15784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A7C279-4D0A-4D45-AB48-31C19D88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54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02">
            <a:extLst xmlns:a="http://schemas.openxmlformats.org/drawingml/2006/main">
              <a:ext uri="{FF2B5EF4-FFF2-40B4-BE49-F238E27FC236}">
                <a16:creationId xmlns:a16="http://schemas.microsoft.com/office/drawing/2014/main" id="{ED93C7C0-5757-4EA5-8550-CA60C7CE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637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931AE415-6DEA-419D-99EF-629E12E2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6351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2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B3D0CFC7-9E64-4613-AF13-2D8765FA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160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按清单准备 AICPU 所需资源</a:t>
            </a:r>
          </a:p>
        </p:txBody>
      </p:sp>
      <p:sp>
        <p:nvSpPr>
          <p:cNvPr id="25" name="先拿本地缓冲区，再取得 Thread，最后取得到各个 Peer 的 Channel。">
            <a:extLst xmlns:a="http://schemas.openxmlformats.org/drawingml/2006/main">
              <a:ext uri="{FF2B5EF4-FFF2-40B4-BE49-F238E27FC236}">
                <a16:creationId xmlns:a16="http://schemas.microsoft.com/office/drawing/2014/main" id="{44AFC2D9-F71B-447D-89ED-C14E7C2E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446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先拿本地缓冲区，再取得 Thread，最后取得到各个 Peer 的 Channel。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404AEC-7060-445A-B232-13C32B9D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58A849-DC48-444D-80D0-87771059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11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15353" y="21182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92CB1B-660C-4309-B97A-E8FE7FD6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39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6E8DB42E-96BF-4825-9623-27A99907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034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1" name="HCCL 调 HCOMM&#10;控制面 / 内存">
            <a:extLst xmlns:a="http://schemas.openxmlformats.org/drawingml/2006/main">
              <a:ext uri="{FF2B5EF4-FFF2-40B4-BE49-F238E27FC236}">
                <a16:creationId xmlns:a16="http://schemas.microsoft.com/office/drawing/2014/main" id="{D9B27F7A-1409-4D13-910F-F71A33A5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748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内存</a:t>
            </a:r>
          </a:p>
        </p:txBody>
      </p:sp>
      <p:sp>
        <p:nvSpPr>
          <p:cNvPr id="3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7CB44A5C-0006-4555-A11E-CAC8B81A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558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HcclGetHcclBuffer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取得本 Rank 的通信中转缓冲区</a:t>
            </a:r>
          </a:p>
        </p:txBody>
      </p:sp>
      <p:sp>
        <p:nvSpPr>
          <p:cNvPr id="33" name="返回本地 CCL Buffer 的地址和大小。普通 Write 路径接收远端数据时使用它。">
            <a:extLst xmlns:a="http://schemas.openxmlformats.org/drawingml/2006/main">
              <a:ext uri="{FF2B5EF4-FFF2-40B4-BE49-F238E27FC236}">
                <a16:creationId xmlns:a16="http://schemas.microsoft.com/office/drawing/2014/main" id="{CDC110B1-FC94-455E-8F72-03F74A43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844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返回本地 CCL Buffer 的地址和大小。普通 Write 路径接收远端数据时使用它。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40D270-BF2A-452C-925A-49B45913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A16229-1655-4E7B-9CD9-5A2BE54A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65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15353" y="26579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55E092-B290-4F20-9684-984531CD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336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8" name="04">
            <a:extLst xmlns:a="http://schemas.openxmlformats.org/drawingml/2006/main">
              <a:ext uri="{FF2B5EF4-FFF2-40B4-BE49-F238E27FC236}">
                <a16:creationId xmlns:a16="http://schemas.microsoft.com/office/drawing/2014/main" id="{82264809-AEF1-452A-9462-37FC5942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432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9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845FAD62-6DD3-4E9A-8FC2-280B76AE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146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4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A6593899-777D-4C5B-8C5A-ECB2A69F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955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HcclGetThread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组织本次算法的 Thread 获取</a:t>
            </a:r>
          </a:p>
        </p:txBody>
      </p:sp>
      <p:sp>
        <p:nvSpPr>
          <p:cNvPr id="41" name="AICPU_TS 分支继续取得一个主 Thread 和所需的从 Thread，并保存通知槽位数量。">
            <a:extLst xmlns:a="http://schemas.openxmlformats.org/drawingml/2006/main">
              <a:ext uri="{FF2B5EF4-FFF2-40B4-BE49-F238E27FC236}">
                <a16:creationId xmlns:a16="http://schemas.microsoft.com/office/drawing/2014/main" id="{4BF798CB-D53A-485E-8FD1-23DD3FD6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241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AICPU_TS 分支继续取得一个主 Thread 和所需的从 Thread，并保存通知槽位数量。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FF2378-A499-463E-B7DF-A7BCCF18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E888EC-B4ED-4D59-B28F-D814037C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19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15353" y="31977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E6EB19-7688-455A-8C8D-9D85FFAF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73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05">
            <a:extLst xmlns:a="http://schemas.openxmlformats.org/drawingml/2006/main">
              <a:ext uri="{FF2B5EF4-FFF2-40B4-BE49-F238E27FC236}">
                <a16:creationId xmlns:a16="http://schemas.microsoft.com/office/drawing/2014/main" id="{CF0DABFE-8E12-4802-BC32-665DFD60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82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7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D7F1903D-CF92-4C3C-89FE-6B733589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54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4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D4FFB0F4-A8D5-4D45-9C58-03C84567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35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HcclGetAicpuThread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准备设备主从 Thread 和展开 Thread</a:t>
            </a:r>
          </a:p>
        </p:txBody>
      </p:sp>
      <p:sp>
        <p:nvSpPr>
          <p:cNvPr id="49" name="还会尝试复用已有展开 Thread，后者用于提交 AICPU Kernel。">
            <a:extLst xmlns:a="http://schemas.openxmlformats.org/drawingml/2006/main">
              <a:ext uri="{FF2B5EF4-FFF2-40B4-BE49-F238E27FC236}">
                <a16:creationId xmlns:a16="http://schemas.microsoft.com/office/drawing/2014/main" id="{554886F1-CC57-40D7-A4F4-AB943E0D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63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还会尝试复用已有展开 Thread，后者用于提交 AICPU Kernel。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9C1D932-B8B6-4248-A4E8-D4A404EA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08BE7E-3C2D-4341-BCBD-6FA9A55D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3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915353" y="37374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592C56E-E9AC-45BA-B516-91AB9AC5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3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06">
            <a:extLst xmlns:a="http://schemas.openxmlformats.org/drawingml/2006/main">
              <a:ext uri="{FF2B5EF4-FFF2-40B4-BE49-F238E27FC236}">
                <a16:creationId xmlns:a16="http://schemas.microsoft.com/office/drawing/2014/main" id="{400D6FCD-5E95-4EF2-8A32-F4E4AE09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8227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5" name="HCCL 调 HCOMM&#10;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1322C8E5-76CF-4D91-8A56-B52E381A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941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域资源</a:t>
            </a:r>
          </a:p>
        </p:txBody>
      </p:sp>
      <p:sp>
        <p:nvSpPr>
          <p:cNvPr id="5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40AD5AAB-855A-461C-97A7-B062E298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750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按每个 Thread 的配置获取资源</a:t>
            </a:r>
          </a:p>
        </p:txBody>
      </p:sp>
      <p:sp>
        <p:nvSpPr>
          <p:cNvPr id="57" name="能力支持时分别指定通知数量，取得任务队列和通知资源。">
            <a:extLst xmlns:a="http://schemas.openxmlformats.org/drawingml/2006/main">
              <a:ext uri="{FF2B5EF4-FFF2-40B4-BE49-F238E27FC236}">
                <a16:creationId xmlns:a16="http://schemas.microsoft.com/office/drawing/2014/main" id="{2205264E-1300-4534-BCE6-D2B9DFAA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036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能力支持时分别指定通知数量，取得任务队列和通知资源。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A47DA2-E5BA-4817-8390-EEF2671F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AD8AE8B-875E-4459-88BC-E265B9A2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915353" y="42772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DF929CB-A3AA-4E05-B6D2-8AFB90C8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529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2" name="07">
            <a:extLst xmlns:a="http://schemas.openxmlformats.org/drawingml/2006/main">
              <a:ext uri="{FF2B5EF4-FFF2-40B4-BE49-F238E27FC236}">
                <a16:creationId xmlns:a16="http://schemas.microsoft.com/office/drawing/2014/main" id="{AB64E12B-119E-4F79-B338-23D5217D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624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3" name="HCCL 调 HCOMM&#10;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F8159769-8B11-4213-8BEB-0C92A839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338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域资源</a:t>
            </a:r>
          </a:p>
        </p:txBody>
      </p:sp>
      <p:sp>
        <p:nvSpPr>
          <p:cNvPr id="6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323F843B-F3EB-4C70-B3E4-87DCDF22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148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兼容分支中按统一通知数量获取资源</a:t>
            </a:r>
          </a:p>
        </p:txBody>
      </p:sp>
      <p:sp>
        <p:nvSpPr>
          <p:cNvPr id="65" name="仅在上一接口能力不支持时使用。两者是替代关系，不是每次都顺序调用。">
            <a:extLst xmlns:a="http://schemas.openxmlformats.org/drawingml/2006/main">
              <a:ext uri="{FF2B5EF4-FFF2-40B4-BE49-F238E27FC236}">
                <a16:creationId xmlns:a16="http://schemas.microsoft.com/office/drawing/2014/main" id="{D639E98D-9693-46EF-801B-CD8D23A0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434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仅在上一接口能力不支持时使用。两者是替代关系，不是每次都顺序调用。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1AEBD61-430D-4074-9312-8C7FF02F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63BD5C5-BFC0-4B82-9C79-E69D0C51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1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915353" y="48169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D4CD494-670D-48E2-B178-B2D5AA05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926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0" name="08">
            <a:extLst xmlns:a="http://schemas.openxmlformats.org/drawingml/2006/main">
              <a:ext uri="{FF2B5EF4-FFF2-40B4-BE49-F238E27FC236}">
                <a16:creationId xmlns:a16="http://schemas.microsoft.com/office/drawing/2014/main" id="{5F3A2966-DD9A-4BF5-B196-6BBFFD29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9022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1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7BB19CA9-FAEA-4B1B-858F-EA420837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736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7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A41AA821-C353-4D28-8A26-3A28B01D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545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HcclGetChannel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为资源清单中的 Peer 组织通道请求</a:t>
            </a:r>
          </a:p>
        </p:txBody>
      </p:sp>
      <p:sp>
        <p:nvSpPr>
          <p:cNvPr id="73" name="请求描述包含远端 Rank、协议、端点和通知数，内部进入实际的通道获取函数。">
            <a:extLst xmlns:a="http://schemas.openxmlformats.org/drawingml/2006/main">
              <a:ext uri="{FF2B5EF4-FFF2-40B4-BE49-F238E27FC236}">
                <a16:creationId xmlns:a16="http://schemas.microsoft.com/office/drawing/2014/main" id="{6185252C-4AC7-4E26-AEA5-E46C55EC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831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请求描述包含远端 Rank、协议、端点和通知数，内部进入实际的通道获取函数。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217B59B-794A-4003-8759-031B5371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6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8DAA351-A3AD-4F1A-820A-192DFA9D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356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915353" y="53567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9FA933A-8AD6-4AAB-A648-A4E84AB0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432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09">
            <a:extLst xmlns:a="http://schemas.openxmlformats.org/drawingml/2006/main">
              <a:ext uri="{FF2B5EF4-FFF2-40B4-BE49-F238E27FC236}">
                <a16:creationId xmlns:a16="http://schemas.microsoft.com/office/drawing/2014/main" id="{52B6DAE0-AB68-451E-AEEA-704C53CA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441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79" name="HCCL 调 HCOMM&#10;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23BF0F87-2D86-4247-B3F4-B7AF0251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413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域资源</a:t>
            </a:r>
          </a:p>
        </p:txBody>
      </p:sp>
      <p:sp>
        <p:nvSpPr>
          <p:cNvPr id="8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220B8A41-3225-482A-BBB7-D4C24EAA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94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HcclChannelAcquire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取得本 Rank 到对端的通信通道</a:t>
            </a:r>
          </a:p>
        </p:txBody>
      </p:sp>
      <p:sp>
        <p:nvSpPr>
          <p:cNvPr id="81" name="返回 Channel 句柄。内部创建或复用、注册和连接的具体过程展开在下一页。">
            <a:extLst xmlns:a="http://schemas.openxmlformats.org/drawingml/2006/main">
              <a:ext uri="{FF2B5EF4-FFF2-40B4-BE49-F238E27FC236}">
                <a16:creationId xmlns:a16="http://schemas.microsoft.com/office/drawing/2014/main" id="{2CE4349C-2624-40FE-9F09-66E6FD02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22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返回 Channel 句柄。内部创建或复用、注册和连接的具体过程展开在下一页。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4EC2087-8955-404D-92EA-60214C10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38850"/>
            <a:ext cx="1162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3" name="此页结束：本地中转区和任务队列已取得，接着在 HCOMM 内部完成通道准备。">
            <a:extLst xmlns:a="http://schemas.openxmlformats.org/drawingml/2006/main">
              <a:ext uri="{FF2B5EF4-FFF2-40B4-BE49-F238E27FC236}">
                <a16:creationId xmlns:a16="http://schemas.microsoft.com/office/drawing/2014/main" id="{707B514F-F900-4D08-AD34-3B60983C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1382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此页结束：本地中转区和任务队列已取得，接着在 HCOMM 内部完成通道准备。</a:t>
            </a:r>
          </a:p>
        </p:txBody>
      </p:sp>
    </p:spTree>
    <p:extLst>
      <p:ext uri="{BB962C8B-B14F-4D97-AF65-F5344CB8AC3E}">
        <p14:creationId xmlns:p14="http://schemas.microsoft.com/office/powerpoint/2010/main" val="4757878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5. HcclChannelAcquire 内部具体怎样建链">
            <a:extLst xmlns:a="http://schemas.openxmlformats.org/drawingml/2006/main">
              <a:ext uri="{FF2B5EF4-FFF2-40B4-BE49-F238E27FC236}">
                <a16:creationId xmlns:a16="http://schemas.microsoft.com/office/drawing/2014/main" id="{E496CA10-ADC3-4A50-B713-8CB31CBE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5. HcclChannelAcquire 内部具体怎样建链</a:t>
            </a:r>
          </a:p>
        </p:txBody>
      </p:sp>
      <p:sp>
        <p:nvSpPr>
          <p:cNvPr id="2" name="上一页停在通道获取 API。以下进入 HCOMM 内部，按缺少对应资源时的顺序解释。">
            <a:extLst xmlns:a="http://schemas.openxmlformats.org/drawingml/2006/main">
              <a:ext uri="{FF2B5EF4-FFF2-40B4-BE49-F238E27FC236}">
                <a16:creationId xmlns:a16="http://schemas.microsoft.com/office/drawing/2014/main" id="{F8F1092D-E92E-4745-9618-B0240361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1123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上一页停在通道获取 API。以下进入 HCOMM 内部，按缺少对应资源时的顺序解释。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181756CD-3223-45AE-9498-BC91DACC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1912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36EC1-CBE4-4A68-ADE0-2AEA3E80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163A5-0694-4BBF-A1D6-11668A7F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</a:ln>
        </p:spPr>
      </p:cxnSp>
      <p:sp>
        <p:nvSpPr>
          <p:cNvPr id="7" name="源码基线：hccl 170ddeec，hcomm 87ce550f。静态调用分析，数值示例未上板运行。">
            <a:extLst xmlns:a="http://schemas.openxmlformats.org/drawingml/2006/main">
              <a:ext uri="{FF2B5EF4-FFF2-40B4-BE49-F238E27FC236}">
                <a16:creationId xmlns:a16="http://schemas.microsoft.com/office/drawing/2014/main" id="{6A66241B-3608-4BEB-9824-8E3F7607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源码基线：hccl 170ddeec，hcomm 87ce550f。静态调用分析，数值示例未上板运行。</a:t>
            </a:r>
          </a:p>
        </p:txBody>
      </p:sp>
      <p:sp>
        <p:nvSpPr>
          <p:cNvPr id="8" name="顺序 / 调用发生在哪里">
            <a:extLst xmlns:a="http://schemas.openxmlformats.org/drawingml/2006/main">
              <a:ext uri="{FF2B5EF4-FFF2-40B4-BE49-F238E27FC236}">
                <a16:creationId xmlns:a16="http://schemas.microsoft.com/office/drawing/2014/main" id="{82808030-B818-4D7F-B1E3-A57458E5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76300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顺序 / 调用发生在哪里</a:t>
            </a:r>
          </a:p>
        </p:txBody>
      </p:sp>
      <p:sp>
        <p:nvSpPr>
          <p:cNvPr id="9" name="函数名后直接说明作用，下行说明本例得到什么">
            <a:extLst xmlns:a="http://schemas.openxmlformats.org/drawingml/2006/main">
              <a:ext uri="{FF2B5EF4-FFF2-40B4-BE49-F238E27FC236}">
                <a16:creationId xmlns:a16="http://schemas.microsoft.com/office/drawing/2014/main" id="{54391499-4441-4D5C-A40E-9E09F1BC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76300"/>
            <a:ext cx="923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函数名后直接说明作用，下行说明本例得到什么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9CAF4-2BBB-4157-BE2B-188B38DC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AD9EB-345A-4CD5-AA14-7220F6CC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91027" y="1201103"/>
            <a:ext cx="0" cy="4542472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06DB44-5C1A-433C-8886-5B44BCD5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14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01">
            <a:extLst xmlns:a="http://schemas.openxmlformats.org/drawingml/2006/main">
              <a:ext uri="{FF2B5EF4-FFF2-40B4-BE49-F238E27FC236}">
                <a16:creationId xmlns:a16="http://schemas.microsoft.com/office/drawing/2014/main" id="{BD0C3035-39C0-4D21-B13C-242BC3B6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23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HCOMM 内部&#10;资源管理">
            <a:extLst xmlns:a="http://schemas.openxmlformats.org/drawingml/2006/main">
              <a:ext uri="{FF2B5EF4-FFF2-40B4-BE49-F238E27FC236}">
                <a16:creationId xmlns:a16="http://schemas.microsoft.com/office/drawing/2014/main" id="{518BB6A7-25C7-44EE-8D8B-B9B31E5C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09537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内部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资源管理</a:t>
            </a:r>
          </a:p>
        </p:txBody>
      </p:sp>
      <p:sp>
        <p:nvSpPr>
          <p:cNvPr id="1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5388EC20-46FD-4987-BACE-41D0FA5B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76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MyRank::CreateChannels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统筹这一批通道的建立</a:t>
            </a:r>
          </a:p>
        </p:txBody>
      </p:sp>
      <p:sp>
        <p:nvSpPr>
          <p:cNvPr id="17" name="安排控制连接、端点、内存、基础通道、连接状态和一致性检查。">
            <a:extLst xmlns:a="http://schemas.openxmlformats.org/drawingml/2006/main">
              <a:ext uri="{FF2B5EF4-FFF2-40B4-BE49-F238E27FC236}">
                <a16:creationId xmlns:a16="http://schemas.microsoft.com/office/drawing/2014/main" id="{919DC56C-1A4A-4912-A9F1-6F3B18BD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0492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安排控制连接、端点、内存、基础通道、连接状态和一致性检查。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E15C16-AF1D-4E01-98A1-38C45D45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F12BDB-BA45-424F-94E1-A359FE8A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2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15353" y="15244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061545-3694-4067-9090-2682E875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00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02">
            <a:extLst xmlns:a="http://schemas.openxmlformats.org/drawingml/2006/main">
              <a:ext uri="{FF2B5EF4-FFF2-40B4-BE49-F238E27FC236}">
                <a16:creationId xmlns:a16="http://schemas.microsoft.com/office/drawing/2014/main" id="{1DAEF703-0DF6-4109-B1D1-D09156C1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097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HCOMM 内部&#10;资源管理">
            <a:extLst xmlns:a="http://schemas.openxmlformats.org/drawingml/2006/main">
              <a:ext uri="{FF2B5EF4-FFF2-40B4-BE49-F238E27FC236}">
                <a16:creationId xmlns:a16="http://schemas.microsoft.com/office/drawing/2014/main" id="{772EC01D-AAC9-4DB3-A2F0-55E3C78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5811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内部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资源管理</a:t>
            </a:r>
          </a:p>
        </p:txBody>
      </p:sp>
      <p:sp>
        <p:nvSpPr>
          <p:cNvPr id="2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AF153873-5629-4C1F-B9E6-EE002171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621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BatchCreateSockets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准备与对端交换控制信息的连接</a:t>
            </a:r>
          </a:p>
        </p:txBody>
      </p:sp>
      <p:sp>
        <p:nvSpPr>
          <p:cNvPr id="25" name="控制信息包括建链所需地址和参数，不能把它当成本次用户数据已开始发送。">
            <a:extLst xmlns:a="http://schemas.openxmlformats.org/drawingml/2006/main">
              <a:ext uri="{FF2B5EF4-FFF2-40B4-BE49-F238E27FC236}">
                <a16:creationId xmlns:a16="http://schemas.microsoft.com/office/drawing/2014/main" id="{DDD629C4-DB47-48A5-8278-3F9A4377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907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控制信息包括建链所需地址和参数，不能把它当成本次用户数据已开始发送。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ECA626-2756-4482-9267-42F171AF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9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F3E5DA-8C27-41D9-99E0-4A0A9AD7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009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15353" y="20102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E464EA-3453-469B-A7F4-A223E69F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859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67C418C6-F0B7-4AE5-AE97-7507F81E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955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1" name="HCOMM 内部&#10;资源管理">
            <a:extLst xmlns:a="http://schemas.openxmlformats.org/drawingml/2006/main">
              <a:ext uri="{FF2B5EF4-FFF2-40B4-BE49-F238E27FC236}">
                <a16:creationId xmlns:a16="http://schemas.microsoft.com/office/drawing/2014/main" id="{B64439B3-3CC6-486B-ACDD-D489543D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6692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内部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资源管理</a:t>
            </a:r>
          </a:p>
        </p:txBody>
      </p:sp>
      <p:sp>
        <p:nvSpPr>
          <p:cNvPr id="3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2629B7F2-6B6A-48E2-B950-56DA1F48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478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BatchCreateChannels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逐项准备底层通信通道</a:t>
            </a:r>
          </a:p>
        </p:txBody>
      </p:sp>
      <p:sp>
        <p:nvSpPr>
          <p:cNvPr id="33" name="调用端点管理器取得或创建端点，再准备可用内存并建立基础 Channel。">
            <a:extLst xmlns:a="http://schemas.openxmlformats.org/drawingml/2006/main">
              <a:ext uri="{FF2B5EF4-FFF2-40B4-BE49-F238E27FC236}">
                <a16:creationId xmlns:a16="http://schemas.microsoft.com/office/drawing/2014/main" id="{B1DADEC1-9793-41A2-8373-E78B4D6D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7647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调用端点管理器取得或创建端点，再准备可用内存并建立基础 Channel。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C540CE-7026-4727-B2E6-F64D637F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D1155F-5CB4-44DE-A1D1-72DD4995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15353" y="249602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1CD635-D9D6-42FF-BDB2-A068D611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717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8" name="04">
            <a:extLst xmlns:a="http://schemas.openxmlformats.org/drawingml/2006/main">
              <a:ext uri="{FF2B5EF4-FFF2-40B4-BE49-F238E27FC236}">
                <a16:creationId xmlns:a16="http://schemas.microsoft.com/office/drawing/2014/main" id="{9E452DC2-F2E3-4702-A708-BE2ACC86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58127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9" name="HCOMM 内部调用&#10;底层资源 API">
            <a:extLst xmlns:a="http://schemas.openxmlformats.org/drawingml/2006/main">
              <a:ext uri="{FF2B5EF4-FFF2-40B4-BE49-F238E27FC236}">
                <a16:creationId xmlns:a16="http://schemas.microsoft.com/office/drawing/2014/main" id="{6FF1C6EB-58CF-421F-8F38-DFAE9D42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5270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内部调用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底层资源 API</a:t>
            </a:r>
          </a:p>
        </p:txBody>
      </p:sp>
      <p:sp>
        <p:nvSpPr>
          <p:cNvPr id="4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7B761739-6B40-4CA5-862B-B2902211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3365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HcommEndpointCreate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创建底层通信端点</a:t>
            </a:r>
          </a:p>
        </p:txBody>
      </p:sp>
      <p:sp>
        <p:nvSpPr>
          <p:cNvPr id="41" name="端点缓存未命中才创建，已有匹配端点可以复用。类别：底层通信资源管理。">
            <a:extLst xmlns:a="http://schemas.openxmlformats.org/drawingml/2006/main">
              <a:ext uri="{FF2B5EF4-FFF2-40B4-BE49-F238E27FC236}">
                <a16:creationId xmlns:a16="http://schemas.microsoft.com/office/drawing/2014/main" id="{C0DEFF07-5781-40BB-B5FD-AAA3FAF7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622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端点缓存未命中才创建，已有匹配端点可以复用。类别：底层通信资源管理。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FEE243-8099-4B7D-9111-99250A62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EC7508D-C9CC-452E-905F-096E49B3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15353" y="29818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94D28F9-BAFB-451B-806E-7C95DBA7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57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05">
            <a:extLst xmlns:a="http://schemas.openxmlformats.org/drawingml/2006/main">
              <a:ext uri="{FF2B5EF4-FFF2-40B4-BE49-F238E27FC236}">
                <a16:creationId xmlns:a16="http://schemas.microsoft.com/office/drawing/2014/main" id="{A8007285-3276-4DFF-9F7C-61618018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670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7" name="HCOMM 内部调用&#10;底层资源 API">
            <a:extLst xmlns:a="http://schemas.openxmlformats.org/drawingml/2006/main">
              <a:ext uri="{FF2B5EF4-FFF2-40B4-BE49-F238E27FC236}">
                <a16:creationId xmlns:a16="http://schemas.microsoft.com/office/drawing/2014/main" id="{12E7425C-B20D-49A2-AB42-2BA4D9EC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3847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内部调用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底层资源 API</a:t>
            </a:r>
          </a:p>
        </p:txBody>
      </p:sp>
      <p:sp>
        <p:nvSpPr>
          <p:cNvPr id="4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B4B4530E-CC71-4E8B-8856-D55379D4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194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使本地端点具备接入能力</a:t>
            </a:r>
          </a:p>
        </p:txBody>
      </p:sp>
      <p:sp>
        <p:nvSpPr>
          <p:cNvPr id="49" name="为后续对端建链做好准备，属于端点资源准备。">
            <a:extLst xmlns:a="http://schemas.openxmlformats.org/drawingml/2006/main">
              <a:ext uri="{FF2B5EF4-FFF2-40B4-BE49-F238E27FC236}">
                <a16:creationId xmlns:a16="http://schemas.microsoft.com/office/drawing/2014/main" id="{A2D6A500-A443-4955-A2C2-67C7544D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4802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为后续对端建链做好准备，属于端点资源准备。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87D717B-0478-4E92-9B44-86C897FD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0D379D3-D1CA-45A1-8F3A-AAEA02AC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915353" y="34675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6C4EE28-C02D-4F12-9FFD-A923D3A4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43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06">
            <a:extLst xmlns:a="http://schemas.openxmlformats.org/drawingml/2006/main">
              <a:ext uri="{FF2B5EF4-FFF2-40B4-BE49-F238E27FC236}">
                <a16:creationId xmlns:a16="http://schemas.microsoft.com/office/drawing/2014/main" id="{7FAE19C2-08CF-4619-A8DB-9DA32C8F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528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5" name="HCOMM 内部调用&#10;底层资源 API">
            <a:extLst xmlns:a="http://schemas.openxmlformats.org/drawingml/2006/main">
              <a:ext uri="{FF2B5EF4-FFF2-40B4-BE49-F238E27FC236}">
                <a16:creationId xmlns:a16="http://schemas.microsoft.com/office/drawing/2014/main" id="{BA78F710-E50E-4B9F-B7BD-46159601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5242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内部调用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底层资源 API</a:t>
            </a:r>
          </a:p>
        </p:txBody>
      </p:sp>
      <p:sp>
        <p:nvSpPr>
          <p:cNvPr id="5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E1EEEB04-1B9C-43E0-A95C-3268C27D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052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HcommMemReg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把通信内存登记为端点可访问的内存</a:t>
            </a:r>
          </a:p>
        </p:txBody>
      </p:sp>
      <p:sp>
        <p:nvSpPr>
          <p:cNvPr id="57" name="准备内存句柄时按缺失情况注册 CCL 等通信内存。类别：内存管理。">
            <a:extLst xmlns:a="http://schemas.openxmlformats.org/drawingml/2006/main">
              <a:ext uri="{FF2B5EF4-FFF2-40B4-BE49-F238E27FC236}">
                <a16:creationId xmlns:a16="http://schemas.microsoft.com/office/drawing/2014/main" id="{F9E9A3D0-9350-46F9-AE72-C5FDF9D1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33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准备内存句柄时按缺失情况注册 CCL 等通信内存。类别：内存管理。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C2978D2-85A4-4811-91A0-3D653EA3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957E28E-96AA-4F03-960B-3DDF7895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952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915353" y="39533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FD75BE6-027E-4C6E-9D56-875A4344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29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2" name="07">
            <a:extLst xmlns:a="http://schemas.openxmlformats.org/drawingml/2006/main">
              <a:ext uri="{FF2B5EF4-FFF2-40B4-BE49-F238E27FC236}">
                <a16:creationId xmlns:a16="http://schemas.microsoft.com/office/drawing/2014/main" id="{DE886388-A691-45C3-B988-ADB7CCDB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386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3" name="HCOMM 内部调用&#10;底层资源 API">
            <a:extLst xmlns:a="http://schemas.openxmlformats.org/drawingml/2006/main">
              <a:ext uri="{FF2B5EF4-FFF2-40B4-BE49-F238E27FC236}">
                <a16:creationId xmlns:a16="http://schemas.microsoft.com/office/drawing/2014/main" id="{F34936A4-9BA6-4C68-AF9F-53BB437E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01002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内部调用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底层资源 API</a:t>
            </a:r>
          </a:p>
        </p:txBody>
      </p:sp>
      <p:sp>
        <p:nvSpPr>
          <p:cNvPr id="6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B15A9FF9-F9A2-4A05-83BE-418D18F7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909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建立集合通信使用的基础通道</a:t>
            </a:r>
          </a:p>
        </p:txBody>
      </p:sp>
      <p:sp>
        <p:nvSpPr>
          <p:cNvPr id="65" name="已有匹配 Channel 时复用，不能写成每次都重新创建。">
            <a:extLst xmlns:a="http://schemas.openxmlformats.org/drawingml/2006/main">
              <a:ext uri="{FF2B5EF4-FFF2-40B4-BE49-F238E27FC236}">
                <a16:creationId xmlns:a16="http://schemas.microsoft.com/office/drawing/2014/main" id="{29316938-2D04-46D1-973C-A9CC34D1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1957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已有匹配 Channel 时复用，不能写成每次都重新创建。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51D5ADE-FCAC-4CB1-AF2D-F58D4D89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B339091-D777-4354-8BD8-862C3F55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915353" y="443912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F25E8C6-3AD1-4BF6-B317-6656B114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148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0" name="08">
            <a:extLst xmlns:a="http://schemas.openxmlformats.org/drawingml/2006/main">
              <a:ext uri="{FF2B5EF4-FFF2-40B4-BE49-F238E27FC236}">
                <a16:creationId xmlns:a16="http://schemas.microsoft.com/office/drawing/2014/main" id="{F3198C15-FFB7-4A46-91D2-60EC2517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52437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1" name="HCOMM 内部&#10;资源管理">
            <a:extLst xmlns:a="http://schemas.openxmlformats.org/drawingml/2006/main">
              <a:ext uri="{FF2B5EF4-FFF2-40B4-BE49-F238E27FC236}">
                <a16:creationId xmlns:a16="http://schemas.microsoft.com/office/drawing/2014/main" id="{0A79B035-F218-43D6-A5FA-CE1170CA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49580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内部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资源管理</a:t>
            </a:r>
          </a:p>
        </p:txBody>
      </p:sp>
      <p:sp>
        <p:nvSpPr>
          <p:cNvPr id="7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7DD86ED2-5CE2-44CE-B97C-691C1DB0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7675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BatchConnectChannels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检查并等待这一批通道连接到位</a:t>
            </a:r>
          </a:p>
        </p:txBody>
      </p:sp>
      <p:sp>
        <p:nvSpPr>
          <p:cNvPr id="73" name="内部调用 ChannelProcess::ChannelGetStatus 轮询连接状态，不是另一个公开 GetStatus API。">
            <a:extLst xmlns:a="http://schemas.openxmlformats.org/drawingml/2006/main">
              <a:ext uri="{FF2B5EF4-FFF2-40B4-BE49-F238E27FC236}">
                <a16:creationId xmlns:a16="http://schemas.microsoft.com/office/drawing/2014/main" id="{9E8FADE4-343E-4E51-990A-B11E2EEC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053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内部调用 ChannelProcess::ChannelGetStatus 轮询连接状态，不是另一个公开 GetStatus API。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64B613A-78E1-4E63-9B54-71DECA5B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24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2536CB1-C196-4FDA-9371-3D99817D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924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915353" y="49249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9527147-2B5F-406A-B31B-6E21843F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006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09">
            <a:extLst xmlns:a="http://schemas.openxmlformats.org/drawingml/2006/main">
              <a:ext uri="{FF2B5EF4-FFF2-40B4-BE49-F238E27FC236}">
                <a16:creationId xmlns:a16="http://schemas.microsoft.com/office/drawing/2014/main" id="{AF52F90B-3D88-44FC-873F-9575C497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0101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79" name="HCOMM 内部&#10;资源管理">
            <a:extLst xmlns:a="http://schemas.openxmlformats.org/drawingml/2006/main">
              <a:ext uri="{FF2B5EF4-FFF2-40B4-BE49-F238E27FC236}">
                <a16:creationId xmlns:a16="http://schemas.microsoft.com/office/drawing/2014/main" id="{997831F1-17C0-4291-A1B2-D2A6061E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98157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内部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资源管理</a:t>
            </a:r>
          </a:p>
        </p:txBody>
      </p:sp>
      <p:sp>
        <p:nvSpPr>
          <p:cNvPr id="8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1F49ADC6-293C-49A5-9F71-536A632D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625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交换并检查双方建链参数</a:t>
            </a:r>
          </a:p>
        </p:txBody>
      </p:sp>
      <p:sp>
        <p:nvSpPr>
          <p:cNvPr id="81" name="950 路径检查两端信息一致，降低参数不匹配导致的通信错误。">
            <a:extLst xmlns:a="http://schemas.openxmlformats.org/drawingml/2006/main">
              <a:ext uri="{FF2B5EF4-FFF2-40B4-BE49-F238E27FC236}">
                <a16:creationId xmlns:a16="http://schemas.microsoft.com/office/drawing/2014/main" id="{01D994B3-6E58-422D-9086-D020723B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9112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950 路径检查两端信息一致，降低参数不匹配导致的通信错误。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527C777-AB2D-45C5-8FAA-F0920335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08E12E5-D4E3-4987-83EB-157FFA32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41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" name=""/>
          <p:cNvCxnSpPr>
            <a:stCxn xmlns:a="http://schemas.openxmlformats.org/drawingml/2006/main" id="82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915353" y="54106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7B393EF-E17E-4040-9138-6368EBFC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486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6" name="10">
            <a:extLst xmlns:a="http://schemas.openxmlformats.org/drawingml/2006/main">
              <a:ext uri="{FF2B5EF4-FFF2-40B4-BE49-F238E27FC236}">
                <a16:creationId xmlns:a16="http://schemas.microsoft.com/office/drawing/2014/main" id="{9AC4AF95-A458-455F-B796-8931ED95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4959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87" name="HCOMM 内部&#10;资源管理">
            <a:extLst xmlns:a="http://schemas.openxmlformats.org/drawingml/2006/main">
              <a:ext uri="{FF2B5EF4-FFF2-40B4-BE49-F238E27FC236}">
                <a16:creationId xmlns:a16="http://schemas.microsoft.com/office/drawing/2014/main" id="{C0D8D42C-D34D-434A-95D6-AE50FD50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4673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内部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资源管理</a:t>
            </a:r>
          </a:p>
        </p:txBody>
      </p:sp>
      <p:sp>
        <p:nvSpPr>
          <p:cNvPr id="8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B23E7D12-4525-41B2-9692-6178D890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483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整理执行引擎能使用的通道句柄</a:t>
            </a:r>
          </a:p>
        </p:txBody>
      </p:sp>
      <p:sp>
        <p:nvSpPr>
          <p:cNvPr id="89" name="为 AICPU 准备最终 Channel 表示，返回到 Host 的资源构造流程。">
            <a:extLst xmlns:a="http://schemas.openxmlformats.org/drawingml/2006/main">
              <a:ext uri="{FF2B5EF4-FFF2-40B4-BE49-F238E27FC236}">
                <a16:creationId xmlns:a16="http://schemas.microsoft.com/office/drawing/2014/main" id="{7AEA8C56-14A7-4742-9B55-FD107DFB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769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为 AICPU 准备最终 Channel 表示，返回到 Host 的资源构造流程。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4132087-DEF2-409A-BCAA-3513269A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38850"/>
            <a:ext cx="1162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91" name="建链解决的是“通信通道能不能用”。本次要传的 [2,3] 等用户数据还没有在这里发送。">
            <a:extLst xmlns:a="http://schemas.openxmlformats.org/drawingml/2006/main">
              <a:ext uri="{FF2B5EF4-FFF2-40B4-BE49-F238E27FC236}">
                <a16:creationId xmlns:a16="http://schemas.microsoft.com/office/drawing/2014/main" id="{9C9E607E-0AD5-4478-9B67-BF926720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1382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建链解决的是“通信通道能不能用”。本次要传的 [2,3] 等用户数据还没有在这里发送。</a:t>
            </a:r>
          </a:p>
        </p:txBody>
      </p:sp>
    </p:spTree>
    <p:extLst>
      <p:ext uri="{BB962C8B-B14F-4D97-AF65-F5344CB8AC3E}">
        <p14:creationId xmlns:p14="http://schemas.microsoft.com/office/powerpoint/2010/main" val="11949222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6. Host 整理资源，把设备执行所需信息交过去">
            <a:extLst xmlns:a="http://schemas.openxmlformats.org/drawingml/2006/main">
              <a:ext uri="{FF2B5EF4-FFF2-40B4-BE49-F238E27FC236}">
                <a16:creationId xmlns:a16="http://schemas.microsoft.com/office/drawing/2014/main" id="{C519F895-6831-4D94-BA94-7D0AFC9C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6. Host 整理资源，把设备执行所需信息交过去</a:t>
            </a:r>
          </a:p>
        </p:txBody>
      </p:sp>
      <p:sp>
        <p:nvSpPr>
          <p:cNvPr id="2" name="HCOMM 已返回通道句柄。这一页解释“资源已经创建好”怎样变成 AICPU 能读懂的执行上下文。">
            <a:extLst xmlns:a="http://schemas.openxmlformats.org/drawingml/2006/main">
              <a:ext uri="{FF2B5EF4-FFF2-40B4-BE49-F238E27FC236}">
                <a16:creationId xmlns:a16="http://schemas.microsoft.com/office/drawing/2014/main" id="{0A44E9F2-EC33-490D-AB68-A53C31F0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1123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已返回通道句柄。这一页解释“资源已经创建好”怎样变成 AICPU 能读懂的执行上下文。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6F571B62-6115-40AB-8B14-2840B2B4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1912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30EEB-2F37-48E4-A921-BA3089A4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87C32-676E-499E-AC2F-4D241F5D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</a:ln>
        </p:spPr>
      </p:cxnSp>
      <p:sp>
        <p:nvSpPr>
          <p:cNvPr id="7" name="源码基线：hccl 170ddeec，hcomm 87ce550f。静态调用分析，数值示例未上板运行。">
            <a:extLst xmlns:a="http://schemas.openxmlformats.org/drawingml/2006/main">
              <a:ext uri="{FF2B5EF4-FFF2-40B4-BE49-F238E27FC236}">
                <a16:creationId xmlns:a16="http://schemas.microsoft.com/office/drawing/2014/main" id="{52C737B3-2A87-4B65-9D6F-2D483CE1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源码基线：hccl 170ddeec，hcomm 87ce550f。静态调用分析，数值示例未上板运行。</a:t>
            </a:r>
          </a:p>
        </p:txBody>
      </p:sp>
      <p:sp>
        <p:nvSpPr>
          <p:cNvPr id="8" name="顺序 / 调用发生在哪里">
            <a:extLst xmlns:a="http://schemas.openxmlformats.org/drawingml/2006/main">
              <a:ext uri="{FF2B5EF4-FFF2-40B4-BE49-F238E27FC236}">
                <a16:creationId xmlns:a16="http://schemas.microsoft.com/office/drawing/2014/main" id="{6488EADB-9ADC-4C94-ACC2-CA591844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76300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顺序 / 调用发生在哪里</a:t>
            </a:r>
          </a:p>
        </p:txBody>
      </p:sp>
      <p:sp>
        <p:nvSpPr>
          <p:cNvPr id="9" name="函数名后直接说明作用，下行说明本例得到什么">
            <a:extLst xmlns:a="http://schemas.openxmlformats.org/drawingml/2006/main">
              <a:ext uri="{FF2B5EF4-FFF2-40B4-BE49-F238E27FC236}">
                <a16:creationId xmlns:a16="http://schemas.microsoft.com/office/drawing/2014/main" id="{BB7E88A2-D1D6-463F-ACE6-09D923FE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76300"/>
            <a:ext cx="923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函数名后直接说明作用，下行说明本例得到什么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689E11-945F-4E08-B640-13C3488D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CCD6A-D7FE-47B8-B7AE-79C7F58E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91027" y="1201103"/>
            <a:ext cx="0" cy="4542472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FBE195-F9C4-47E3-B257-08299DA9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14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01">
            <a:extLst xmlns:a="http://schemas.openxmlformats.org/drawingml/2006/main">
              <a:ext uri="{FF2B5EF4-FFF2-40B4-BE49-F238E27FC236}">
                <a16:creationId xmlns:a16="http://schemas.microsoft.com/office/drawing/2014/main" id="{AB2BF001-0126-4F64-9000-88BDA6A2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23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A5BFCB67-8BFD-4FD1-B6EA-9C9E6788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095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1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5A356357-5000-41EA-92E0-ACDD0F9D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76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BuildChannelInfo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把 Channel 句柄补成算法需要的通道说明</a:t>
            </a:r>
          </a:p>
        </p:txBody>
      </p:sp>
      <p:sp>
        <p:nvSpPr>
          <p:cNvPr id="17" name="保存远端 Rank、协议、通知数量、端口分片属性，以及远端 CCL 地址。">
            <a:extLst xmlns:a="http://schemas.openxmlformats.org/drawingml/2006/main">
              <a:ext uri="{FF2B5EF4-FFF2-40B4-BE49-F238E27FC236}">
                <a16:creationId xmlns:a16="http://schemas.microsoft.com/office/drawing/2014/main" id="{FC1A45E2-42B9-421D-B1C8-87E42C5F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04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保存远端 Rank、协议、通知数量、端口分片属性，以及远端 CCL 地址。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41C421-0029-4125-BB14-60EAB11C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7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387178-A5CE-4EDA-BBC4-B120BC2D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77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15353" y="15784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9683BC-8AA5-427B-A508-7EC0A82F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54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02">
            <a:extLst xmlns:a="http://schemas.openxmlformats.org/drawingml/2006/main">
              <a:ext uri="{FF2B5EF4-FFF2-40B4-BE49-F238E27FC236}">
                <a16:creationId xmlns:a16="http://schemas.microsoft.com/office/drawing/2014/main" id="{DB09B323-A234-4ECF-8884-0AADCF1C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637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HCCL 调 HCOMM&#10;控制面 / 拓扑">
            <a:extLst xmlns:a="http://schemas.openxmlformats.org/drawingml/2006/main">
              <a:ext uri="{FF2B5EF4-FFF2-40B4-BE49-F238E27FC236}">
                <a16:creationId xmlns:a16="http://schemas.microsoft.com/office/drawing/2014/main" id="{09ED7E32-5BC4-4A46-B7C1-817DC90B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6351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拓扑</a:t>
            </a:r>
          </a:p>
        </p:txBody>
      </p:sp>
      <p:sp>
        <p:nvSpPr>
          <p:cNvPr id="2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5B43D1A7-6D72-4E9B-B0BF-354D19C6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160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HcclRankGraphGetEndpointInfo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查询所选端点的属性</a:t>
            </a:r>
          </a:p>
        </p:txBody>
      </p:sp>
      <p:sp>
        <p:nvSpPr>
          <p:cNvPr id="25" name="取得带宽系数等，用于按端口分片。能力允许时也读取 Die 信息。">
            <a:extLst xmlns:a="http://schemas.openxmlformats.org/drawingml/2006/main">
              <a:ext uri="{FF2B5EF4-FFF2-40B4-BE49-F238E27FC236}">
                <a16:creationId xmlns:a16="http://schemas.microsoft.com/office/drawing/2014/main" id="{44780647-B515-41F2-A8B9-3C3BC8B1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446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取得带宽系数等，用于按端口分片。能力允许时也读取 Die 信息。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86CAFD-8082-4013-9AB7-D9A71681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1EB163-EAA1-4092-83FD-F6E6967E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11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15353" y="21182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4E7748-0F34-48B2-AD63-8973DAEC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39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0BA28E3B-E6F4-42D1-AE08-641F5926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034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1" name="HCCL 调 HCOMM&#10;控制面 / 内存">
            <a:extLst xmlns:a="http://schemas.openxmlformats.org/drawingml/2006/main">
              <a:ext uri="{FF2B5EF4-FFF2-40B4-BE49-F238E27FC236}">
                <a16:creationId xmlns:a16="http://schemas.microsoft.com/office/drawing/2014/main" id="{1AC374A3-9F82-4199-90CC-993DE550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748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内存</a:t>
            </a:r>
          </a:p>
        </p:txBody>
      </p:sp>
      <p:sp>
        <p:nvSpPr>
          <p:cNvPr id="3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8629961B-3E8F-40C7-A7A2-DAB8C022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558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查询该通道对应的远端 CCL 缓冲区</a:t>
            </a:r>
          </a:p>
        </p:txBody>
      </p:sp>
      <p:sp>
        <p:nvSpPr>
          <p:cNvPr id="33" name="得到对端缓冲区可访问地址和大小，后面才知道 Write 的目的地址。">
            <a:extLst xmlns:a="http://schemas.openxmlformats.org/drawingml/2006/main">
              <a:ext uri="{FF2B5EF4-FFF2-40B4-BE49-F238E27FC236}">
                <a16:creationId xmlns:a16="http://schemas.microsoft.com/office/drawing/2014/main" id="{7962BA15-F172-4627-B1D4-AAE98214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844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得到对端缓冲区可访问地址和大小，后面才知道 Write 的目的地址。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0B013B-08D2-449B-9B8E-9247984B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B8ACBF-94D4-48BC-B7AC-230837ED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65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15353" y="26579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00EC55-57FF-4A16-A5BA-85669DFE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336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8" name="04">
            <a:extLst xmlns:a="http://schemas.openxmlformats.org/drawingml/2006/main">
              <a:ext uri="{FF2B5EF4-FFF2-40B4-BE49-F238E27FC236}">
                <a16:creationId xmlns:a16="http://schemas.microsoft.com/office/drawing/2014/main" id="{31999850-8DC5-464D-B6D9-E9FD2F40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432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9" name="HCOMM 内部调用&#10;内存管理 API">
            <a:extLst xmlns:a="http://schemas.openxmlformats.org/drawingml/2006/main">
              <a:ext uri="{FF2B5EF4-FFF2-40B4-BE49-F238E27FC236}">
                <a16:creationId xmlns:a16="http://schemas.microsoft.com/office/drawing/2014/main" id="{6E68B672-F873-486D-9A78-C5068FB1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146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内部调用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内存管理 API</a:t>
            </a:r>
          </a:p>
        </p:txBody>
      </p:sp>
      <p:sp>
        <p:nvSpPr>
          <p:cNvPr id="4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6CD6B1FF-ED92-4468-809A-A588BA73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955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HcommChannelGetRemoteMems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查询基础通道上的远端内存映射</a:t>
            </a:r>
          </a:p>
        </p:txBody>
      </p:sp>
      <p:sp>
        <p:nvSpPr>
          <p:cNvPr id="41" name="供上一项解析远端 CCL。查询返回地址信息，这一步不搬用户数据。">
            <a:extLst xmlns:a="http://schemas.openxmlformats.org/drawingml/2006/main">
              <a:ext uri="{FF2B5EF4-FFF2-40B4-BE49-F238E27FC236}">
                <a16:creationId xmlns:a16="http://schemas.microsoft.com/office/drawing/2014/main" id="{4656C4E5-0F2F-4FA6-867B-6008DBA1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241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供上一项解析远端 CCL。查询返回地址信息，这一步不搬用户数据。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7E584B-0010-49CD-B47F-BDB25CB6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9BF4F1-8542-4ECE-A23A-52A4D920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19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15353" y="31977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5F08A55-ACC9-496A-B2FD-C73212EF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73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05">
            <a:extLst xmlns:a="http://schemas.openxmlformats.org/drawingml/2006/main">
              <a:ext uri="{FF2B5EF4-FFF2-40B4-BE49-F238E27FC236}">
                <a16:creationId xmlns:a16="http://schemas.microsoft.com/office/drawing/2014/main" id="{3AC181E2-8AB9-46EC-BFA2-55AC1F0A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82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7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946E5642-7A00-40A1-BF82-708647E8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54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4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2AF3E9E4-5BEC-477A-89A2-6D1B3DBA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35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Serialize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把资源上下文打包成连续字节</a:t>
            </a:r>
          </a:p>
        </p:txBody>
      </p:sp>
      <p:sp>
        <p:nvSpPr>
          <p:cNvPr id="49" name="打包 Thread、Channel、缓冲区地址、拓扑和分组信息，便于交给设备。">
            <a:extLst xmlns:a="http://schemas.openxmlformats.org/drawingml/2006/main">
              <a:ext uri="{FF2B5EF4-FFF2-40B4-BE49-F238E27FC236}">
                <a16:creationId xmlns:a16="http://schemas.microsoft.com/office/drawing/2014/main" id="{9C7B7334-9CA0-4673-88C3-2D6A6CE1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63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打包 Thread、Channel、缓冲区地址、拓扑和分组信息，便于交给设备。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28F51E-7E5A-4FB7-BD58-E1FA8646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5D116BB-C9F2-42A8-B052-6BDC7C35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3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915353" y="37374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D82723-D64D-431D-986D-E42BF0D8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3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06">
            <a:extLst xmlns:a="http://schemas.openxmlformats.org/drawingml/2006/main">
              <a:ext uri="{FF2B5EF4-FFF2-40B4-BE49-F238E27FC236}">
                <a16:creationId xmlns:a16="http://schemas.microsoft.com/office/drawing/2014/main" id="{61E2A25D-9A88-45C1-90BE-1A42D06C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8227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5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193C298B-DD22-4BD5-8207-C6682EA0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941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5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472A0D10-98CF-4FCA-BC2A-46FF8ECD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750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组织资源上下文向设备侧的交付</a:t>
            </a:r>
          </a:p>
        </p:txBody>
      </p:sp>
      <p:sp>
        <p:nvSpPr>
          <p:cNvPr id="57" name="它依次调用下面两个 HCOMM API，传的是资源描述，不是 AllToAll 输入张量。">
            <a:extLst xmlns:a="http://schemas.openxmlformats.org/drawingml/2006/main">
              <a:ext uri="{FF2B5EF4-FFF2-40B4-BE49-F238E27FC236}">
                <a16:creationId xmlns:a16="http://schemas.microsoft.com/office/drawing/2014/main" id="{56BC3651-0C2D-433B-A79F-455292D2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036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它依次调用下面两个 HCOMM API，传的是资源描述，不是 AllToAll 输入张量。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ACBD4DE-64DC-40CE-9D76-B77E7666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5BAB977-9270-4491-8F8D-D4F8B985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915353" y="42772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B9CCDAF-ABA5-4930-8339-0FB8BC11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529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2" name="07">
            <a:extLst xmlns:a="http://schemas.openxmlformats.org/drawingml/2006/main">
              <a:ext uri="{FF2B5EF4-FFF2-40B4-BE49-F238E27FC236}">
                <a16:creationId xmlns:a16="http://schemas.microsoft.com/office/drawing/2014/main" id="{DA13B4A1-4861-4C37-87DF-6E31F6A2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624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3" name="HCCL 调 HCOMM&#10;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90EEDA3C-72FE-4AAA-BF29-FEE00415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338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域资源</a:t>
            </a:r>
          </a:p>
        </p:txBody>
      </p:sp>
      <p:sp>
        <p:nvSpPr>
          <p:cNvPr id="6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D634954D-4EF7-4F15-809D-1A25C457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148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HcclEngineCtxCreate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为 AICPU 创建具名上下文空间</a:t>
            </a:r>
          </a:p>
        </p:txBody>
      </p:sp>
      <p:sp>
        <p:nvSpPr>
          <p:cNvPr id="65" name="按算法标识和所需大小取得空间，供后续查询或跨算子复用。">
            <a:extLst xmlns:a="http://schemas.openxmlformats.org/drawingml/2006/main">
              <a:ext uri="{FF2B5EF4-FFF2-40B4-BE49-F238E27FC236}">
                <a16:creationId xmlns:a16="http://schemas.microsoft.com/office/drawing/2014/main" id="{B92497E2-2EC1-4160-86A2-9A04BEB0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434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按算法标识和所需大小取得空间，供后续查询或跨算子复用。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D887D81-231C-4426-9CE8-C7932E65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807AC62-5D94-4801-A2A6-EBAD7ACF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1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915353" y="48169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4E2BA04-5237-421D-9F49-D35CF402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926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0" name="08">
            <a:extLst xmlns:a="http://schemas.openxmlformats.org/drawingml/2006/main">
              <a:ext uri="{FF2B5EF4-FFF2-40B4-BE49-F238E27FC236}">
                <a16:creationId xmlns:a16="http://schemas.microsoft.com/office/drawing/2014/main" id="{5CAB71C6-7CA2-4451-AC31-C952878A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9022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1" name="HCCL 调 HCOMM&#10;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8D00BF0B-903A-42C0-B34D-F20C5A7D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736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域资源</a:t>
            </a:r>
          </a:p>
        </p:txBody>
      </p:sp>
      <p:sp>
        <p:nvSpPr>
          <p:cNvPr id="7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2893436F-05A3-43E6-8545-2F9AF787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545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HcclEngineCtxCopy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把打包好的资源描述复制进上下文</a:t>
            </a:r>
          </a:p>
        </p:txBody>
      </p:sp>
      <p:sp>
        <p:nvSpPr>
          <p:cNvPr id="73" name="设备随后从这里恢复 Thread、Channel 和地址等信息。类别仍是通信域资源管理。">
            <a:extLst xmlns:a="http://schemas.openxmlformats.org/drawingml/2006/main">
              <a:ext uri="{FF2B5EF4-FFF2-40B4-BE49-F238E27FC236}">
                <a16:creationId xmlns:a16="http://schemas.microsoft.com/office/drawing/2014/main" id="{C9B769B2-72D6-42CE-8AD9-7BDD8F97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831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设备随后从这里恢复 Thread、Channel 和地址等信息。类别仍是通信域资源管理。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50FCC00-FB38-48FF-A444-D386293F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6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49DABF9-F43F-4202-A7DD-E5FEACBA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356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915353" y="53567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49543AA-8FF6-403E-8DCA-FCA23A5B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432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09">
            <a:extLst xmlns:a="http://schemas.openxmlformats.org/drawingml/2006/main">
              <a:ext uri="{FF2B5EF4-FFF2-40B4-BE49-F238E27FC236}">
                <a16:creationId xmlns:a16="http://schemas.microsoft.com/office/drawing/2014/main" id="{68116035-B4EB-4DAF-83C2-6E370BF4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441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79" name="HCCL 调 HCOMM&#10;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6D323257-8CB5-4585-B16A-C5ACAF18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413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域资源</a:t>
            </a:r>
          </a:p>
        </p:txBody>
      </p:sp>
      <p:sp>
        <p:nvSpPr>
          <p:cNvPr id="8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4AF269BA-F064-4987-ADCC-C21A63ED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94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把设备主 Thread 转成 Host 可使用的句柄</a:t>
            </a:r>
          </a:p>
        </p:txBody>
      </p:sp>
      <p:sp>
        <p:nvSpPr>
          <p:cNvPr id="81" name="第二个导出方向是 AICPU_TS 到 CPU_TS。Host 用它向设备发“输入已经就绪”的通知。">
            <a:extLst xmlns:a="http://schemas.openxmlformats.org/drawingml/2006/main">
              <a:ext uri="{FF2B5EF4-FFF2-40B4-BE49-F238E27FC236}">
                <a16:creationId xmlns:a16="http://schemas.microsoft.com/office/drawing/2014/main" id="{6F5D6F5F-AE81-400C-B018-6FAF7C59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22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第二个导出方向是 AICPU_TS 到 CPU_TS。Host 用它向设备发“输入已经就绪”的通知。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CFEDAE8-0CA9-4EE2-AC6E-4754D03E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38850"/>
            <a:ext cx="1162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3" name="此页结束：设备资源上下文已备好，Host 和 AICPU 也都有了向对方发通知的句柄。">
            <a:extLst xmlns:a="http://schemas.openxmlformats.org/drawingml/2006/main">
              <a:ext uri="{FF2B5EF4-FFF2-40B4-BE49-F238E27FC236}">
                <a16:creationId xmlns:a16="http://schemas.microsoft.com/office/drawing/2014/main" id="{54E90215-9BE6-43E5-A690-7994E069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1382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此页结束：设备资源上下文已备好，Host 和 AICPU 也都有了向对方发通知的句柄。</a:t>
            </a:r>
          </a:p>
        </p:txBody>
      </p:sp>
    </p:spTree>
    <p:extLst>
      <p:ext uri="{BB962C8B-B14F-4D97-AF65-F5344CB8AC3E}">
        <p14:creationId xmlns:p14="http://schemas.microsoft.com/office/powerpoint/2010/main" val="145205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7. Host 发输入就绪通知，再通过 ACL 启动 AICPU">
            <a:extLst xmlns:a="http://schemas.openxmlformats.org/drawingml/2006/main">
              <a:ext uri="{FF2B5EF4-FFF2-40B4-BE49-F238E27FC236}">
                <a16:creationId xmlns:a16="http://schemas.microsoft.com/office/drawing/2014/main" id="{C765E9BC-20C8-41D7-BB20-2F6A330C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7. Host 发输入就绪通知，再通过 ACL 启动 AICPU</a:t>
            </a:r>
          </a:p>
        </p:txBody>
      </p:sp>
      <p:sp>
        <p:nvSpPr>
          <p:cNvPr id="2" name="前面都是准备工作。这里提交设备执行入口，并在用户流上排好“什么时候才允许继续”的依赖。">
            <a:extLst xmlns:a="http://schemas.openxmlformats.org/drawingml/2006/main">
              <a:ext uri="{FF2B5EF4-FFF2-40B4-BE49-F238E27FC236}">
                <a16:creationId xmlns:a16="http://schemas.microsoft.com/office/drawing/2014/main" id="{DD016E3A-F29F-4C61-A72F-5AEED54A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1123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前面都是准备工作。这里提交设备执行入口，并在用户流上排好“什么时候才允许继续”的依赖。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243BE0D4-D895-499A-A901-1A482DDB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1912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5F564-734E-4F1C-B016-1AD6CF26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4B097-DE0A-4015-81F5-8F1221BE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</a:ln>
        </p:spPr>
      </p:cxnSp>
      <p:sp>
        <p:nvSpPr>
          <p:cNvPr id="7" name="源码基线：hccl 170ddeec，hcomm 87ce550f。静态调用分析，数值示例未上板运行。">
            <a:extLst xmlns:a="http://schemas.openxmlformats.org/drawingml/2006/main">
              <a:ext uri="{FF2B5EF4-FFF2-40B4-BE49-F238E27FC236}">
                <a16:creationId xmlns:a16="http://schemas.microsoft.com/office/drawing/2014/main" id="{12324911-44C7-4C55-8EE1-EF72E3AC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源码基线：hccl 170ddeec，hcomm 87ce550f。静态调用分析，数值示例未上板运行。</a:t>
            </a:r>
          </a:p>
        </p:txBody>
      </p:sp>
      <p:sp>
        <p:nvSpPr>
          <p:cNvPr id="8" name="顺序 / 调用发生在哪里">
            <a:extLst xmlns:a="http://schemas.openxmlformats.org/drawingml/2006/main">
              <a:ext uri="{FF2B5EF4-FFF2-40B4-BE49-F238E27FC236}">
                <a16:creationId xmlns:a16="http://schemas.microsoft.com/office/drawing/2014/main" id="{89D8EE6D-D437-4F34-86ED-335A289C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76300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顺序 / 调用发生在哪里</a:t>
            </a:r>
          </a:p>
        </p:txBody>
      </p:sp>
      <p:sp>
        <p:nvSpPr>
          <p:cNvPr id="9" name="函数名后直接说明作用，下行说明本例得到什么">
            <a:extLst xmlns:a="http://schemas.openxmlformats.org/drawingml/2006/main">
              <a:ext uri="{FF2B5EF4-FFF2-40B4-BE49-F238E27FC236}">
                <a16:creationId xmlns:a16="http://schemas.microsoft.com/office/drawing/2014/main" id="{B5069BDF-0347-4E3D-A63B-100D73E2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76300"/>
            <a:ext cx="923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函数名后直接说明作用，下行说明本例得到什么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55179-CA16-4771-A15F-90B1554C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8CF9C-3F4C-40DF-A3A1-413DF923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91027" y="1201103"/>
            <a:ext cx="0" cy="4542472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A95C8-AD80-46EA-8866-99AFA9D0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14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01">
            <a:extLst xmlns:a="http://schemas.openxmlformats.org/drawingml/2006/main">
              <a:ext uri="{FF2B5EF4-FFF2-40B4-BE49-F238E27FC236}">
                <a16:creationId xmlns:a16="http://schemas.microsoft.com/office/drawing/2014/main" id="{3664F01D-B89B-4B34-B83B-ACB92888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23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13F87FA6-3663-4AEF-BED8-BDDC6CFA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09537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1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609F3123-C628-4FC0-B6C1-70FB9112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76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组织输入通知、Kernel 发射和完成等待</a:t>
            </a:r>
          </a:p>
        </p:txBody>
      </p:sp>
      <p:sp>
        <p:nvSpPr>
          <p:cNvPr id="17" name="把设备资源上下文指针放入算子参数，衔接 Host 与 AICPU。">
            <a:extLst xmlns:a="http://schemas.openxmlformats.org/drawingml/2006/main">
              <a:ext uri="{FF2B5EF4-FFF2-40B4-BE49-F238E27FC236}">
                <a16:creationId xmlns:a16="http://schemas.microsoft.com/office/drawing/2014/main" id="{FE49278C-FE4C-4903-9FFA-DA4B95A8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0492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把设备资源上下文指针放入算子参数，衔接 Host 与 AICPU。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91110A-8CA9-4017-8330-1BC88ED9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29B53D-68E1-4CD4-8600-88FA1F49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2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15353" y="15244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55F8D8-5624-404D-BE66-10B40845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00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02">
            <a:extLst xmlns:a="http://schemas.openxmlformats.org/drawingml/2006/main">
              <a:ext uri="{FF2B5EF4-FFF2-40B4-BE49-F238E27FC236}">
                <a16:creationId xmlns:a16="http://schemas.microsoft.com/office/drawing/2014/main" id="{DA2C0539-6D9C-46B7-8C25-9B75D3BB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097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HCCL 调 HCOMM&#10;数据面 / 同步">
            <a:extLst xmlns:a="http://schemas.openxmlformats.org/drawingml/2006/main">
              <a:ext uri="{FF2B5EF4-FFF2-40B4-BE49-F238E27FC236}">
                <a16:creationId xmlns:a16="http://schemas.microsoft.com/office/drawing/2014/main" id="{A1F77B3A-E7E6-4CF3-9731-5764AE1E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5811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同步</a:t>
            </a:r>
          </a:p>
        </p:txBody>
      </p:sp>
      <p:sp>
        <p:nvSpPr>
          <p:cNvPr id="2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F67C80DE-3F9E-45EA-97D2-35103C9B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621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在用户流中记录“输入就绪”通知</a:t>
            </a:r>
          </a:p>
        </p:txBody>
      </p:sp>
      <p:sp>
        <p:nvSpPr>
          <p:cNvPr id="25" name="前置任务完成后通知设备主 Thread。设备即使提前开始编排，数据任务也受这项依赖约束。">
            <a:extLst xmlns:a="http://schemas.openxmlformats.org/drawingml/2006/main">
              <a:ext uri="{FF2B5EF4-FFF2-40B4-BE49-F238E27FC236}">
                <a16:creationId xmlns:a16="http://schemas.microsoft.com/office/drawing/2014/main" id="{BB8E64B3-8A25-439D-943E-01842211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907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前置任务完成后通知设备主 Thread。设备即使提前开始编排，数据任务也受这项依赖约束。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8C8EC4-D829-4224-B67F-60E69C86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9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F36556-0D36-4FD0-A055-3A7F2D82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009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15353" y="20102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1D1DA3-1831-4CDD-A165-A15B3AF0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859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ADA24677-4980-4377-82C5-5E6554BE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955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1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01B0185F-D8D8-4A14-8BB6-6B98EAD1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6692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3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D723BE73-C26D-49DD-B600-335E12C8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478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HcclOrderLaunchToOrderStream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准备按序启动的同步关系</a:t>
            </a:r>
          </a:p>
        </p:txBody>
      </p:sp>
      <p:sp>
        <p:nvSpPr>
          <p:cNvPr id="33" name="提前展开能力等条件满足时，约束不同 Kernel 的展开顺序，内部细节在备注。">
            <a:extLst xmlns:a="http://schemas.openxmlformats.org/drawingml/2006/main">
              <a:ext uri="{FF2B5EF4-FFF2-40B4-BE49-F238E27FC236}">
                <a16:creationId xmlns:a16="http://schemas.microsoft.com/office/drawing/2014/main" id="{D28A081C-17B9-4AA3-93A1-9ABC2AA3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7647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提前展开能力等条件满足时，约束不同 Kernel 的展开顺序，内部细节在备注。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A31479-1B29-407B-99A0-21F4813B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4E960C-8059-44DB-BC40-03AA27D7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15353" y="249602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6508B1-0B0F-438E-8376-CF48F5D6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717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8" name="04">
            <a:extLst xmlns:a="http://schemas.openxmlformats.org/drawingml/2006/main">
              <a:ext uri="{FF2B5EF4-FFF2-40B4-BE49-F238E27FC236}">
                <a16:creationId xmlns:a16="http://schemas.microsoft.com/office/drawing/2014/main" id="{CD4554D9-62E5-43A5-8AC5-C3CEAA1D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58127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9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CA37F289-E522-40A2-A60E-5FABB93D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5270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4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BA54AF97-9508-40E1-95EB-45C874AE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3365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AicpuKernelLaunch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开始组装 ACL 发射参数</a:t>
            </a:r>
          </a:p>
        </p:txBody>
      </p:sp>
      <p:sp>
        <p:nvSpPr>
          <p:cNvPr id="41" name="下面 5 个 ACL API 位于此函数内部，AllToAll 从这里直接调用 ACL Runtime。">
            <a:extLst xmlns:a="http://schemas.openxmlformats.org/drawingml/2006/main">
              <a:ext uri="{FF2B5EF4-FFF2-40B4-BE49-F238E27FC236}">
                <a16:creationId xmlns:a16="http://schemas.microsoft.com/office/drawing/2014/main" id="{6BE0BDB7-5A61-4DF8-AF8A-6D8CC304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622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下面 5 个 ACL API 位于此函数内部，AllToAll 从这里直接调用 ACL Runtime。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1D1306E-0E21-4E0A-84B4-A71901E3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A69778-2BFE-4478-A49E-9F7E45D6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15353" y="29818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2BB495-E00D-48C6-A288-1756F34A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57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05">
            <a:extLst xmlns:a="http://schemas.openxmlformats.org/drawingml/2006/main">
              <a:ext uri="{FF2B5EF4-FFF2-40B4-BE49-F238E27FC236}">
                <a16:creationId xmlns:a16="http://schemas.microsoft.com/office/drawing/2014/main" id="{1EA23F23-193D-4474-86D7-EAFD4DA5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670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7" name="HCCL 调 ACL&#10;运行时 API">
            <a:extLst xmlns:a="http://schemas.openxmlformats.org/drawingml/2006/main">
              <a:ext uri="{FF2B5EF4-FFF2-40B4-BE49-F238E27FC236}">
                <a16:creationId xmlns:a16="http://schemas.microsoft.com/office/drawing/2014/main" id="{09A6BBBA-0B4F-4234-B040-A0559E88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3847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ACL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运行时 API</a:t>
            </a:r>
          </a:p>
        </p:txBody>
      </p:sp>
      <p:sp>
        <p:nvSpPr>
          <p:cNvPr id="4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719B72A8-C091-44DB-AB0C-D417D099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194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aclrtBinaryGetFunction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找到设备侧函数入口</a:t>
            </a:r>
          </a:p>
        </p:txBody>
      </p:sp>
      <p:sp>
        <p:nvSpPr>
          <p:cNvPr id="49" name="取得 HcclLaunchAicpuKernel 的函数句柄，明确“设备上要从哪里开始执行”。">
            <a:extLst xmlns:a="http://schemas.openxmlformats.org/drawingml/2006/main">
              <a:ext uri="{FF2B5EF4-FFF2-40B4-BE49-F238E27FC236}">
                <a16:creationId xmlns:a16="http://schemas.microsoft.com/office/drawing/2014/main" id="{C8E65A06-E081-4DCA-8302-149D4C16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4802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取得 HcclLaunchAicpuKernel 的函数句柄，明确“设备上要从哪里开始执行”。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8CE0D07-08EB-4CD8-97FF-965B4DFA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022AC93-8DCF-453A-9DEC-5BB4C42B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915353" y="34675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DB057C7-D501-4170-B7F7-EB47BD96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43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06">
            <a:extLst xmlns:a="http://schemas.openxmlformats.org/drawingml/2006/main">
              <a:ext uri="{FF2B5EF4-FFF2-40B4-BE49-F238E27FC236}">
                <a16:creationId xmlns:a16="http://schemas.microsoft.com/office/drawing/2014/main" id="{9670D415-52DF-4FEB-8394-86FFC644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528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5" name="HCCL 调 ACL&#10;运行时 API">
            <a:extLst xmlns:a="http://schemas.openxmlformats.org/drawingml/2006/main">
              <a:ext uri="{FF2B5EF4-FFF2-40B4-BE49-F238E27FC236}">
                <a16:creationId xmlns:a16="http://schemas.microsoft.com/office/drawing/2014/main" id="{52312C5B-307B-4A7D-9F93-25441F90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5242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ACL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运行时 API</a:t>
            </a:r>
          </a:p>
        </p:txBody>
      </p:sp>
      <p:sp>
        <p:nvSpPr>
          <p:cNvPr id="5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9C53ED04-6395-4621-B583-386CF878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052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aclrtKernelArgsInit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创建本次 Kernel 的参数包</a:t>
            </a:r>
          </a:p>
        </p:txBody>
      </p:sp>
      <p:sp>
        <p:nvSpPr>
          <p:cNvPr id="57" name="得到空的参数句柄，随后把算子参数加入其中。">
            <a:extLst xmlns:a="http://schemas.openxmlformats.org/drawingml/2006/main">
              <a:ext uri="{FF2B5EF4-FFF2-40B4-BE49-F238E27FC236}">
                <a16:creationId xmlns:a16="http://schemas.microsoft.com/office/drawing/2014/main" id="{B5E97F51-EC5D-4DEB-A53E-468EC066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33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得到空的参数句柄，随后把算子参数加入其中。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018F544-ABE0-488F-A8B8-25283C6A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AEE754-5CFA-4AE5-8C2D-89BFC0C7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952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915353" y="39533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897FF8D-1C8E-4F73-AEAF-043212E0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29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2" name="07">
            <a:extLst xmlns:a="http://schemas.openxmlformats.org/drawingml/2006/main">
              <a:ext uri="{FF2B5EF4-FFF2-40B4-BE49-F238E27FC236}">
                <a16:creationId xmlns:a16="http://schemas.microsoft.com/office/drawing/2014/main" id="{BF8E43CB-D683-4F47-9A45-9C061D2D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386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3" name="HCCL 调 ACL&#10;运行时 API">
            <a:extLst xmlns:a="http://schemas.openxmlformats.org/drawingml/2006/main">
              <a:ext uri="{FF2B5EF4-FFF2-40B4-BE49-F238E27FC236}">
                <a16:creationId xmlns:a16="http://schemas.microsoft.com/office/drawing/2014/main" id="{707FFF81-8D94-445B-8E53-32A14988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01002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ACL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运行时 API</a:t>
            </a:r>
          </a:p>
        </p:txBody>
      </p:sp>
      <p:sp>
        <p:nvSpPr>
          <p:cNvPr id="6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55F0FE28-77A5-4120-8E4D-D8F43983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909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aclrtKernelArgsAppend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加入算子参数和变长数据</a:t>
            </a:r>
          </a:p>
        </p:txBody>
      </p:sp>
      <p:sp>
        <p:nvSpPr>
          <p:cNvPr id="65" name="传入输入输出地址、算法名、资源上下文指针、counts 和位移等描述。">
            <a:extLst xmlns:a="http://schemas.openxmlformats.org/drawingml/2006/main">
              <a:ext uri="{FF2B5EF4-FFF2-40B4-BE49-F238E27FC236}">
                <a16:creationId xmlns:a16="http://schemas.microsoft.com/office/drawing/2014/main" id="{6CB17352-D8F7-4A08-BA7E-32BF5F09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1957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传入输入输出地址、算法名、资源上下文指针、counts 和位移等描述。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5E8B918-DD15-4F44-83DA-923D7BC8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302F53D-FAFF-4089-8F49-A337A185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915353" y="443912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61B6F22-D0BC-41A0-BC37-FFD0DFF1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148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0" name="08">
            <a:extLst xmlns:a="http://schemas.openxmlformats.org/drawingml/2006/main">
              <a:ext uri="{FF2B5EF4-FFF2-40B4-BE49-F238E27FC236}">
                <a16:creationId xmlns:a16="http://schemas.microsoft.com/office/drawing/2014/main" id="{5E7DF746-3F3B-472D-83C3-E3859AB4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52437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1" name="HCCL 调 ACL&#10;运行时 API">
            <a:extLst xmlns:a="http://schemas.openxmlformats.org/drawingml/2006/main">
              <a:ext uri="{FF2B5EF4-FFF2-40B4-BE49-F238E27FC236}">
                <a16:creationId xmlns:a16="http://schemas.microsoft.com/office/drawing/2014/main" id="{7A8AFD57-DEA2-48AD-B4D6-97C7852A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49580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ACL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运行时 API</a:t>
            </a:r>
          </a:p>
        </p:txBody>
      </p:sp>
      <p:sp>
        <p:nvSpPr>
          <p:cNvPr id="7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F4FEB60C-89DD-441D-A634-F379EB04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7675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aclrtKernelArgsFinalize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结束参数构造</a:t>
            </a:r>
          </a:p>
        </p:txBody>
      </p:sp>
      <p:sp>
        <p:nvSpPr>
          <p:cNvPr id="73" name="把参数包整理成可以交给运行时启动的形式。">
            <a:extLst xmlns:a="http://schemas.openxmlformats.org/drawingml/2006/main">
              <a:ext uri="{FF2B5EF4-FFF2-40B4-BE49-F238E27FC236}">
                <a16:creationId xmlns:a16="http://schemas.microsoft.com/office/drawing/2014/main" id="{EB40BB52-7BC4-4181-8D77-3953434E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053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把参数包整理成可以交给运行时启动的形式。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C97C871-AB7F-4E74-AA15-C20F9DBE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24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696A434-31B6-4743-828A-8A7D05EB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924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915353" y="49249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8A9776D-2EFE-4D75-A652-CB93BEF7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006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09">
            <a:extLst xmlns:a="http://schemas.openxmlformats.org/drawingml/2006/main">
              <a:ext uri="{FF2B5EF4-FFF2-40B4-BE49-F238E27FC236}">
                <a16:creationId xmlns:a16="http://schemas.microsoft.com/office/drawing/2014/main" id="{D85CEAFB-FB05-4885-97D3-D1270A5E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0101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79" name="HCCL 调 ACL&#10;运行时 API">
            <a:extLst xmlns:a="http://schemas.openxmlformats.org/drawingml/2006/main">
              <a:ext uri="{FF2B5EF4-FFF2-40B4-BE49-F238E27FC236}">
                <a16:creationId xmlns:a16="http://schemas.microsoft.com/office/drawing/2014/main" id="{3AAB781F-7CE1-48F3-9833-2649C91F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98157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ACL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运行时 API</a:t>
            </a:r>
          </a:p>
        </p:txBody>
      </p:sp>
      <p:sp>
        <p:nvSpPr>
          <p:cNvPr id="8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32DBC393-ED9B-4F76-82E6-52F6F661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625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向运行时提交 AICPU Kernel</a:t>
            </a:r>
          </a:p>
        </p:txBody>
      </p:sp>
      <p:sp>
        <p:nvSpPr>
          <p:cNvPr id="81" name="按能力使用展开 stream，或回退到用户 stream。设备随后进入下一页的 HCCL 入口。">
            <a:extLst xmlns:a="http://schemas.openxmlformats.org/drawingml/2006/main">
              <a:ext uri="{FF2B5EF4-FFF2-40B4-BE49-F238E27FC236}">
                <a16:creationId xmlns:a16="http://schemas.microsoft.com/office/drawing/2014/main" id="{635F11C4-8B40-4F8A-9A0F-54C7E894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9112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按能力使用展开 stream，或回退到用户 stream。设备随后进入下一页的 HCCL 入口。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E212123-94D3-4F66-A709-D4036BCD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9E69BD0-119C-4B11-9ACE-1ABDF05C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41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" name=""/>
          <p:cNvCxnSpPr>
            <a:stCxn xmlns:a="http://schemas.openxmlformats.org/drawingml/2006/main" id="82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915353" y="54106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5241A1E-B722-429B-9579-4721986B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486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6" name="10">
            <a:extLst xmlns:a="http://schemas.openxmlformats.org/drawingml/2006/main">
              <a:ext uri="{FF2B5EF4-FFF2-40B4-BE49-F238E27FC236}">
                <a16:creationId xmlns:a16="http://schemas.microsoft.com/office/drawing/2014/main" id="{3DE18278-76A1-429A-BC03-997712B2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4959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87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6E453955-A52F-48C0-B967-0801E6B3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4673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8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D4C784C4-8551-49C3-B065-896AF432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483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HcclOrderLaunchToKernelStream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完成发射后的按序同步安排</a:t>
            </a:r>
          </a:p>
        </p:txBody>
      </p:sp>
      <p:sp>
        <p:nvSpPr>
          <p:cNvPr id="89" name="随后还要把“等待本次通信完成”的任务排入用户流，具体完成关系见第 12 页。">
            <a:extLst xmlns:a="http://schemas.openxmlformats.org/drawingml/2006/main">
              <a:ext uri="{FF2B5EF4-FFF2-40B4-BE49-F238E27FC236}">
                <a16:creationId xmlns:a16="http://schemas.microsoft.com/office/drawing/2014/main" id="{19BF5296-B1CB-4829-8611-8571DBFA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769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随后还要把“等待本次通信完成”的任务排入用户流，具体完成关系见第 12 页。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2DF551C-DA13-4D46-8C61-6E6582AC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38850"/>
            <a:ext cx="1162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91" name="这里完成了“启动请求”。数据真正搬运发生在后面生成的通信任务执行时。">
            <a:extLst xmlns:a="http://schemas.openxmlformats.org/drawingml/2006/main">
              <a:ext uri="{FF2B5EF4-FFF2-40B4-BE49-F238E27FC236}">
                <a16:creationId xmlns:a16="http://schemas.microsoft.com/office/drawing/2014/main" id="{AD92BBF7-188F-4DB1-89AE-7A2BAFBD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1382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这里完成了“启动请求”。数据真正搬运发生在后面生成的通信任务执行时。</a:t>
            </a:r>
          </a:p>
        </p:txBody>
      </p:sp>
    </p:spTree>
    <p:extLst>
      <p:ext uri="{BB962C8B-B14F-4D97-AF65-F5344CB8AC3E}">
        <p14:creationId xmlns:p14="http://schemas.microsoft.com/office/powerpoint/2010/main" val="10283161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8. AICPU 收到任务后，恢复参数并进入算法编排">
            <a:extLst xmlns:a="http://schemas.openxmlformats.org/drawingml/2006/main">
              <a:ext uri="{FF2B5EF4-FFF2-40B4-BE49-F238E27FC236}">
                <a16:creationId xmlns:a16="http://schemas.microsoft.com/office/drawing/2014/main" id="{07B33C4A-4263-44F3-AC39-7F72B72B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8. AICPU 收到任务后，恢复参数并进入算法编排</a:t>
            </a:r>
          </a:p>
        </p:txBody>
      </p:sp>
      <p:sp>
        <p:nvSpPr>
          <p:cNvPr id="2" name="执行地点从 Host 转到设备上的 AICPU。先恢复这次任务需要的信息，再让后续通信任务等待输入就绪。">
            <a:extLst xmlns:a="http://schemas.openxmlformats.org/drawingml/2006/main">
              <a:ext uri="{FF2B5EF4-FFF2-40B4-BE49-F238E27FC236}">
                <a16:creationId xmlns:a16="http://schemas.microsoft.com/office/drawing/2014/main" id="{CAF0F53C-2021-4663-9FD7-47AADF26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1123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执行地点从 Host 转到设备上的 AICPU。先恢复这次任务需要的信息，再让后续通信任务等待输入就绪。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A2CC84F0-836B-4713-AE33-E4AA4178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1912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8AC3D-59F7-4C80-BD4F-3CCA6539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C3E83-ED58-48CC-983A-6B2741C9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</a:ln>
        </p:spPr>
      </p:cxnSp>
      <p:sp>
        <p:nvSpPr>
          <p:cNvPr id="7" name="源码基线：hccl 170ddeec，hcomm 87ce550f。静态调用分析，数值示例未上板运行。">
            <a:extLst xmlns:a="http://schemas.openxmlformats.org/drawingml/2006/main">
              <a:ext uri="{FF2B5EF4-FFF2-40B4-BE49-F238E27FC236}">
                <a16:creationId xmlns:a16="http://schemas.microsoft.com/office/drawing/2014/main" id="{C9993D0D-B861-4B0A-B27F-669CD375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源码基线：hccl 170ddeec，hcomm 87ce550f。静态调用分析，数值示例未上板运行。</a:t>
            </a:r>
          </a:p>
        </p:txBody>
      </p:sp>
      <p:sp>
        <p:nvSpPr>
          <p:cNvPr id="8" name="顺序 / 调用发生在哪里">
            <a:extLst xmlns:a="http://schemas.openxmlformats.org/drawingml/2006/main">
              <a:ext uri="{FF2B5EF4-FFF2-40B4-BE49-F238E27FC236}">
                <a16:creationId xmlns:a16="http://schemas.microsoft.com/office/drawing/2014/main" id="{7EA3D1CD-C020-4AA3-A499-E21A3B0C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76300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顺序 / 调用发生在哪里</a:t>
            </a:r>
          </a:p>
        </p:txBody>
      </p:sp>
      <p:sp>
        <p:nvSpPr>
          <p:cNvPr id="9" name="函数名后直接说明作用，下行说明本例得到什么">
            <a:extLst xmlns:a="http://schemas.openxmlformats.org/drawingml/2006/main">
              <a:ext uri="{FF2B5EF4-FFF2-40B4-BE49-F238E27FC236}">
                <a16:creationId xmlns:a16="http://schemas.microsoft.com/office/drawing/2014/main" id="{319E7B78-C020-4284-BA75-262FE644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76300"/>
            <a:ext cx="923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函数名后直接说明作用，下行说明本例得到什么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5255EA-5E07-48E5-8FB2-A238393A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ABA1BA-A5B3-48E0-A0DF-DD192EE6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91027" y="1201103"/>
            <a:ext cx="0" cy="4542472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F6C9A0-378B-4826-872E-4FF8C9E1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14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01">
            <a:extLst xmlns:a="http://schemas.openxmlformats.org/drawingml/2006/main">
              <a:ext uri="{FF2B5EF4-FFF2-40B4-BE49-F238E27FC236}">
                <a16:creationId xmlns:a16="http://schemas.microsoft.com/office/drawing/2014/main" id="{47256338-0947-4405-BD25-6BDEF52B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23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ACL 启动 HCCL&#10;AICPU 入口">
            <a:extLst xmlns:a="http://schemas.openxmlformats.org/drawingml/2006/main">
              <a:ext uri="{FF2B5EF4-FFF2-40B4-BE49-F238E27FC236}">
                <a16:creationId xmlns:a16="http://schemas.microsoft.com/office/drawing/2014/main" id="{BBA410B5-A583-441E-94AB-17657DF6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09537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ACL 启动 HCCL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AICPU 入口</a:t>
            </a:r>
          </a:p>
        </p:txBody>
      </p:sp>
      <p:sp>
        <p:nvSpPr>
          <p:cNvPr id="1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281B0894-CE6A-4B67-ACE8-2989F557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76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HcclLaunchAicpuKernel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接收运行时交来的算子参数</a:t>
            </a:r>
          </a:p>
        </p:txBody>
      </p:sp>
      <p:sp>
        <p:nvSpPr>
          <p:cNvPr id="17" name="这个入口读出算法名称和资源上下文，开始本次设备侧执行。">
            <a:extLst xmlns:a="http://schemas.openxmlformats.org/drawingml/2006/main">
              <a:ext uri="{FF2B5EF4-FFF2-40B4-BE49-F238E27FC236}">
                <a16:creationId xmlns:a16="http://schemas.microsoft.com/office/drawing/2014/main" id="{1A2292AF-56DB-4C03-A133-3AEF533E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0492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这个入口读出算法名称和资源上下文，开始本次设备侧执行。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39D480-0DD4-471A-BCA0-FC5AD075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771E66-01B4-4296-9887-40825587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2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15353" y="15244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AF1BED-40BC-4A81-840F-38AD1134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00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02">
            <a:extLst xmlns:a="http://schemas.openxmlformats.org/drawingml/2006/main">
              <a:ext uri="{FF2B5EF4-FFF2-40B4-BE49-F238E27FC236}">
                <a16:creationId xmlns:a16="http://schemas.microsoft.com/office/drawing/2014/main" id="{133B59B0-2EBD-4F09-B00A-9F1B6216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097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HCCL 调 HCOMM&#10;数据面 / 执行控制">
            <a:extLst xmlns:a="http://schemas.openxmlformats.org/drawingml/2006/main">
              <a:ext uri="{FF2B5EF4-FFF2-40B4-BE49-F238E27FC236}">
                <a16:creationId xmlns:a16="http://schemas.microsoft.com/office/drawing/2014/main" id="{7121092A-1880-4278-9AFA-66FB3554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5811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执行控制</a:t>
            </a:r>
          </a:p>
        </p:txBody>
      </p:sp>
      <p:sp>
        <p:nvSpPr>
          <p:cNvPr id="2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6E911D39-B0F5-4EA6-841E-35C9B72C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621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HcommAcquireComm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取得正在使用通信域的保护</a:t>
            </a:r>
          </a:p>
        </p:txBody>
      </p:sp>
      <p:sp>
        <p:nvSpPr>
          <p:cNvPr id="25" name="保护本次运行期间的通信域使用关系。这里没有新建通信域。">
            <a:extLst xmlns:a="http://schemas.openxmlformats.org/drawingml/2006/main">
              <a:ext uri="{FF2B5EF4-FFF2-40B4-BE49-F238E27FC236}">
                <a16:creationId xmlns:a16="http://schemas.microsoft.com/office/drawing/2014/main" id="{9A898247-6ECC-46F3-A710-4A513E67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907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保护本次运行期间的通信域使用关系。这里没有新建通信域。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723FDA-E787-4DE2-82A7-3387E159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9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A8113E-9052-4C51-815A-64CA3E6A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009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15353" y="20102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9DA6F7-1D6B-49F7-A135-E531EDA1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859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703655D7-7F11-43B9-932D-F2DD1803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955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1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ABC94F12-C58E-49CE-BD56-9C55E9DD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6692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3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86A3CCDD-A901-4F4E-B4E3-5299B0D5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478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HcclOrderLaunchNotifyRecord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在设备入口发送按序启动通知</a:t>
            </a:r>
          </a:p>
        </p:txBody>
      </p:sp>
      <p:sp>
        <p:nvSpPr>
          <p:cNvPr id="33" name="与上一页的保序安排配合，满足后续 Kernel 的启动依赖，按配置生效。">
            <a:extLst xmlns:a="http://schemas.openxmlformats.org/drawingml/2006/main">
              <a:ext uri="{FF2B5EF4-FFF2-40B4-BE49-F238E27FC236}">
                <a16:creationId xmlns:a16="http://schemas.microsoft.com/office/drawing/2014/main" id="{D24C646B-A204-489B-84B8-84064327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7647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与上一页的保序安排配合，满足后续 Kernel 的启动依赖，按配置生效。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70A784-6F60-494F-9A5A-FAE192DE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F0672D-1DB8-42C0-8EE9-A95A6A81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15353" y="249602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DE7E4A-CBE9-4BB7-B785-0BED5B2E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717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8" name="04">
            <a:extLst xmlns:a="http://schemas.openxmlformats.org/drawingml/2006/main">
              <a:ext uri="{FF2B5EF4-FFF2-40B4-BE49-F238E27FC236}">
                <a16:creationId xmlns:a16="http://schemas.microsoft.com/office/drawing/2014/main" id="{B1E06D21-ACFF-458D-AF9C-4E266210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58127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9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1E376937-F4CD-4E47-A2CA-EC91C18E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5270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4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ED9DD7A8-3FA3-4C05-BF02-8315F8CC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3365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DeserializeResCtx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恢复 Host 打包的资源上下文</a:t>
            </a:r>
          </a:p>
        </p:txBody>
      </p:sp>
      <p:sp>
        <p:nvSpPr>
          <p:cNvPr id="41" name="拿到主从 Thread、Channel、CCL 地址和拓扑。设备缓存有效时可以复用已有反序列化对象。">
            <a:extLst xmlns:a="http://schemas.openxmlformats.org/drawingml/2006/main">
              <a:ext uri="{FF2B5EF4-FFF2-40B4-BE49-F238E27FC236}">
                <a16:creationId xmlns:a16="http://schemas.microsoft.com/office/drawing/2014/main" id="{BB8835F0-DED1-4AD0-8316-24608239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622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拿到主从 Thread、Channel、CCL 地址和拓扑。设备缓存有效时可以复用已有反序列化对象。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BC99C7-5C7A-466F-9E9D-D585F81C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76B94E-C1B2-41BF-A265-6EC7C39C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15353" y="29818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1D5AD1F-344A-42E8-8438-1B26AEAA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57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05">
            <a:extLst xmlns:a="http://schemas.openxmlformats.org/drawingml/2006/main">
              <a:ext uri="{FF2B5EF4-FFF2-40B4-BE49-F238E27FC236}">
                <a16:creationId xmlns:a16="http://schemas.microsoft.com/office/drawing/2014/main" id="{7D9C2CAD-4426-4B16-A02F-07C8A501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670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7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813D5891-0765-441C-929A-1455F87D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3847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4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2E8F2935-EA64-45C7-8ABD-CD927C8E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194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恢复数量和位移数组的设备侧指针</a:t>
            </a:r>
          </a:p>
        </p:txBody>
      </p:sp>
      <p:sp>
        <p:nvSpPr>
          <p:cNvPr id="49" name="本例恢复 [2,2,2,2] 和 [0,2,4,6]，让后续算法能逐 Rank 计算地址。">
            <a:extLst xmlns:a="http://schemas.openxmlformats.org/drawingml/2006/main">
              <a:ext uri="{FF2B5EF4-FFF2-40B4-BE49-F238E27FC236}">
                <a16:creationId xmlns:a16="http://schemas.microsoft.com/office/drawing/2014/main" id="{2B703559-5948-4AF3-B705-11B66ECF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4802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本例恢复 [2,2,2,2] 和 [0,2,4,6]，让后续算法能逐 Rank 计算地址。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70AEBE-5199-4518-96C6-C445F555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EA5A43-6651-4112-9FAE-D98B2B09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915353" y="34675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500A98F-E20C-4116-8C41-3D30D287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43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06">
            <a:extLst xmlns:a="http://schemas.openxmlformats.org/drawingml/2006/main">
              <a:ext uri="{FF2B5EF4-FFF2-40B4-BE49-F238E27FC236}">
                <a16:creationId xmlns:a16="http://schemas.microsoft.com/office/drawing/2014/main" id="{74469063-30E9-4ACE-876C-9DB73FB2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528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5" name="HCCL 调 HCOMM&#10;数据面 / 执行控制">
            <a:extLst xmlns:a="http://schemas.openxmlformats.org/drawingml/2006/main">
              <a:ext uri="{FF2B5EF4-FFF2-40B4-BE49-F238E27FC236}">
                <a16:creationId xmlns:a16="http://schemas.microsoft.com/office/drawing/2014/main" id="{384AB575-CDA0-44E4-865F-0663671B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5242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执行控制</a:t>
            </a:r>
          </a:p>
        </p:txBody>
      </p:sp>
      <p:sp>
        <p:nvSpPr>
          <p:cNvPr id="5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6EA26810-69A1-4585-BEDD-0E5271D6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052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HcommBatchModeStart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开始批量提交通信任务</a:t>
            </a:r>
          </a:p>
        </p:txBody>
      </p:sp>
      <p:sp>
        <p:nvSpPr>
          <p:cNvPr id="57" name="接下来生成的任务按批模式管理，收尾时配对结束。它本身不执行数据交换。">
            <a:extLst xmlns:a="http://schemas.openxmlformats.org/drawingml/2006/main">
              <a:ext uri="{FF2B5EF4-FFF2-40B4-BE49-F238E27FC236}">
                <a16:creationId xmlns:a16="http://schemas.microsoft.com/office/drawing/2014/main" id="{7AE4AB8C-CD80-477D-A4C3-A784A92D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33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接下来生成的任务按批模式管理，收尾时配对结束。它本身不执行数据交换。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90A4A0C-132F-4E3C-B308-805649D6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0A1526B-3AC0-4F67-8CC2-3BF9714C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952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915353" y="39533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4A21859-9FBE-41FA-8C86-943AA083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29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2" name="07">
            <a:extLst xmlns:a="http://schemas.openxmlformats.org/drawingml/2006/main">
              <a:ext uri="{FF2B5EF4-FFF2-40B4-BE49-F238E27FC236}">
                <a16:creationId xmlns:a16="http://schemas.microsoft.com/office/drawing/2014/main" id="{2E4414B7-EF1B-4A08-957D-A870E1B4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386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3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7236F11F-B3F7-40BC-BB1E-AD57B49B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01002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6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910C8B7C-8D4D-42F4-AAFD-8E2DC588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909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OpOrchestrate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组织本次通信任务的生成</a:t>
            </a:r>
          </a:p>
        </p:txBody>
      </p:sp>
      <p:sp>
        <p:nvSpPr>
          <p:cNvPr id="65" name="设置受支持的等待超时、安排输入就绪依赖，再取出执行器。Task Cache 关闭时进入这里。">
            <a:extLst xmlns:a="http://schemas.openxmlformats.org/drawingml/2006/main">
              <a:ext uri="{FF2B5EF4-FFF2-40B4-BE49-F238E27FC236}">
                <a16:creationId xmlns:a16="http://schemas.microsoft.com/office/drawing/2014/main" id="{E63DFBB3-B630-44E0-8302-57E748B9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1957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设置受支持的等待超时、安排输入就绪依赖，再取出执行器。Task Cache 关闭时进入这里。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A879D7F-86EF-4654-BDBF-618AF524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A210172-CDA2-4F3C-984F-C65415F8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915353" y="443912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57B8EB9-586A-4D50-AE7C-8376C565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148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0" name="08">
            <a:extLst xmlns:a="http://schemas.openxmlformats.org/drawingml/2006/main">
              <a:ext uri="{FF2B5EF4-FFF2-40B4-BE49-F238E27FC236}">
                <a16:creationId xmlns:a16="http://schemas.microsoft.com/office/drawing/2014/main" id="{4BF54804-835B-4088-ADC9-1BB51E97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52437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1" name="HCCL 调 HCOMM&#10;数据面 / 同步">
            <a:extLst xmlns:a="http://schemas.openxmlformats.org/drawingml/2006/main">
              <a:ext uri="{FF2B5EF4-FFF2-40B4-BE49-F238E27FC236}">
                <a16:creationId xmlns:a16="http://schemas.microsoft.com/office/drawing/2014/main" id="{0FD7A998-A6BE-4E6B-8479-3B4D85D7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49580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同步</a:t>
            </a:r>
          </a:p>
        </p:txBody>
      </p:sp>
      <p:sp>
        <p:nvSpPr>
          <p:cNvPr id="7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399E0618-5CB4-40FE-9FD9-C8E42C35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7675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HcommThreadNotifyWaitOnThreadWithDefaultTimeout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让设备主 Thread 等待输入就绪</a:t>
            </a:r>
          </a:p>
        </p:txBody>
      </p:sp>
      <p:sp>
        <p:nvSpPr>
          <p:cNvPr id="73" name="HCCL 包装层能力支持时调用此接口。它排入等待任务，不能理解成 AICPU CPU 在这里一直阻塞。">
            <a:extLst xmlns:a="http://schemas.openxmlformats.org/drawingml/2006/main">
              <a:ext uri="{FF2B5EF4-FFF2-40B4-BE49-F238E27FC236}">
                <a16:creationId xmlns:a16="http://schemas.microsoft.com/office/drawing/2014/main" id="{AF899BC2-C7A3-4ABF-890C-FA4B36D4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053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包装层能力支持时调用此接口。它排入等待任务，不能理解成 AICPU CPU 在这里一直阻塞。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2C14847-C7A9-428D-82F6-7EBAE3F1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24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3AABF85-307B-4677-BB73-EFCD62DA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924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915353" y="49249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948D1FB-3EA4-41E7-8F27-D155513A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006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09">
            <a:extLst xmlns:a="http://schemas.openxmlformats.org/drawingml/2006/main">
              <a:ext uri="{FF2B5EF4-FFF2-40B4-BE49-F238E27FC236}">
                <a16:creationId xmlns:a16="http://schemas.microsoft.com/office/drawing/2014/main" id="{5AA53C3C-6CDD-49F7-ADB6-4C6FCE78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0101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79" name="HCCL 调 HCOMM&#10;数据面 / 同步">
            <a:extLst xmlns:a="http://schemas.openxmlformats.org/drawingml/2006/main">
              <a:ext uri="{FF2B5EF4-FFF2-40B4-BE49-F238E27FC236}">
                <a16:creationId xmlns:a16="http://schemas.microsoft.com/office/drawing/2014/main" id="{1F7C48BA-ECDC-4C82-94F8-AB2027D0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98157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同步</a:t>
            </a:r>
          </a:p>
        </p:txBody>
      </p:sp>
      <p:sp>
        <p:nvSpPr>
          <p:cNvPr id="8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E0488274-3BC7-42D6-A615-CBEAD162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625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旧能力下用显式超时排入同一种等待</a:t>
            </a:r>
          </a:p>
        </p:txBody>
      </p:sp>
      <p:sp>
        <p:nvSpPr>
          <p:cNvPr id="81" name="与上一项为兼容选择关系。通知满足之前，受它约束的数据任务不能使用尚未就绪的输入。">
            <a:extLst xmlns:a="http://schemas.openxmlformats.org/drawingml/2006/main">
              <a:ext uri="{FF2B5EF4-FFF2-40B4-BE49-F238E27FC236}">
                <a16:creationId xmlns:a16="http://schemas.microsoft.com/office/drawing/2014/main" id="{9E01FB90-595C-4F86-A4F6-6752121A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9112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与上一项为兼容选择关系。通知满足之前，受它约束的数据任务不能使用尚未就绪的输入。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80A2D42-1E35-453D-A986-6B2DD30D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842CE1C-28C3-41FC-9EBC-6F346009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41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" name=""/>
          <p:cNvCxnSpPr>
            <a:stCxn xmlns:a="http://schemas.openxmlformats.org/drawingml/2006/main" id="82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915353" y="54106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D911150-55F6-434A-9909-537E6DED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486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6" name="10">
            <a:extLst xmlns:a="http://schemas.openxmlformats.org/drawingml/2006/main">
              <a:ext uri="{FF2B5EF4-FFF2-40B4-BE49-F238E27FC236}">
                <a16:creationId xmlns:a16="http://schemas.microsoft.com/office/drawing/2014/main" id="{6CBDEF5F-1B35-471B-93F8-59A8A755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4959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87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EA1E6710-8E9D-40B5-A29E-085E61B7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4673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8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311E0CCD-0109-4018-89A4-880B9CD3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483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GetAlgExec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在 AICPU 侧取得算法执行器</a:t>
            </a:r>
          </a:p>
        </p:txBody>
      </p:sp>
      <p:sp>
        <p:nvSpPr>
          <p:cNvPr id="89" name="随后调用执行器的 Orchestrate 方法，进入下一页的分块和逐 Peer 编排。">
            <a:extLst xmlns:a="http://schemas.openxmlformats.org/drawingml/2006/main">
              <a:ext uri="{FF2B5EF4-FFF2-40B4-BE49-F238E27FC236}">
                <a16:creationId xmlns:a16="http://schemas.microsoft.com/office/drawing/2014/main" id="{AE62C507-7278-40BA-AE63-DBC1CC75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769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随后调用执行器的 Orchestrate 方法，进入下一页的分块和逐 Peer 编排。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2250B9D-6AC5-4279-88A5-46898FA7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38850"/>
            <a:ext cx="1162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91" name="此页结束：资源和参数已恢复，输入就绪依赖已排入，AICPU 开始生成具体通信任务。">
            <a:extLst xmlns:a="http://schemas.openxmlformats.org/drawingml/2006/main">
              <a:ext uri="{FF2B5EF4-FFF2-40B4-BE49-F238E27FC236}">
                <a16:creationId xmlns:a16="http://schemas.microsoft.com/office/drawing/2014/main" id="{72FA9F4F-8A6B-4F69-9D2C-659F3C59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1382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此页结束：资源和参数已恢复，输入就绪依赖已排入，AICPU 开始生成具体通信任务。</a:t>
            </a:r>
          </a:p>
        </p:txBody>
      </p:sp>
    </p:spTree>
    <p:extLst>
      <p:ext uri="{BB962C8B-B14F-4D97-AF65-F5344CB8AC3E}">
        <p14:creationId xmlns:p14="http://schemas.microsoft.com/office/powerpoint/2010/main" val="16125482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9. AICPU 把“全互换”拆成可执行的分片任务">
            <a:extLst xmlns:a="http://schemas.openxmlformats.org/drawingml/2006/main">
              <a:ext uri="{FF2B5EF4-FFF2-40B4-BE49-F238E27FC236}">
                <a16:creationId xmlns:a16="http://schemas.microsoft.com/office/drawing/2014/main" id="{628CB405-12C4-4848-AA0C-81D36D1A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9. AICPU 把“全互换”拆成可执行的分片任务</a:t>
            </a:r>
          </a:p>
        </p:txBody>
      </p:sp>
      <p:sp>
        <p:nvSpPr>
          <p:cNvPr id="2" name="这页各函数都在 HCCL 内部。由执行器控制一次处理多大，再由模板决定本块与哪些 Rank、Channel 通信。">
            <a:extLst xmlns:a="http://schemas.openxmlformats.org/drawingml/2006/main">
              <a:ext uri="{FF2B5EF4-FFF2-40B4-BE49-F238E27FC236}">
                <a16:creationId xmlns:a16="http://schemas.microsoft.com/office/drawing/2014/main" id="{8D0BEF74-E65E-401F-A42D-90149EAB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1123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这页各函数都在 HCCL 内部。由执行器控制一次处理多大，再由模板决定本块与哪些 Rank、Channel 通信。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1FD52CAE-886C-424D-8669-54DB0492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1912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D0D74-4170-444F-A562-B0694190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6D67D-4279-4AD2-A558-BEC777DB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</a:ln>
        </p:spPr>
      </p:cxnSp>
      <p:sp>
        <p:nvSpPr>
          <p:cNvPr id="7" name="源码基线：hccl 170ddeec，hcomm 87ce550f。静态调用分析，数值示例未上板运行。">
            <a:extLst xmlns:a="http://schemas.openxmlformats.org/drawingml/2006/main">
              <a:ext uri="{FF2B5EF4-FFF2-40B4-BE49-F238E27FC236}">
                <a16:creationId xmlns:a16="http://schemas.microsoft.com/office/drawing/2014/main" id="{11BB7754-9939-4701-B12D-49B02DC1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源码基线：hccl 170ddeec，hcomm 87ce550f。静态调用分析，数值示例未上板运行。</a:t>
            </a:r>
          </a:p>
        </p:txBody>
      </p:sp>
      <p:sp>
        <p:nvSpPr>
          <p:cNvPr id="8" name="顺序 / 调用发生在哪里">
            <a:extLst xmlns:a="http://schemas.openxmlformats.org/drawingml/2006/main">
              <a:ext uri="{FF2B5EF4-FFF2-40B4-BE49-F238E27FC236}">
                <a16:creationId xmlns:a16="http://schemas.microsoft.com/office/drawing/2014/main" id="{BA1C8F72-2748-431F-A308-10BC9D8E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76300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顺序 / 调用发生在哪里</a:t>
            </a:r>
          </a:p>
        </p:txBody>
      </p:sp>
      <p:sp>
        <p:nvSpPr>
          <p:cNvPr id="9" name="函数名后直接说明作用，下行说明本例得到什么">
            <a:extLst xmlns:a="http://schemas.openxmlformats.org/drawingml/2006/main">
              <a:ext uri="{FF2B5EF4-FFF2-40B4-BE49-F238E27FC236}">
                <a16:creationId xmlns:a16="http://schemas.microsoft.com/office/drawing/2014/main" id="{D76D4C43-A5F2-4191-994D-D9855D95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76300"/>
            <a:ext cx="923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函数名后直接说明作用，下行说明本例得到什么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985536-BCEF-4912-93B3-16EF2189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57715-8B94-4BF2-9086-8C8E8E80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91027" y="1201103"/>
            <a:ext cx="0" cy="4542472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33712-CDCC-4C7E-AA55-1000F531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14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01">
            <a:extLst xmlns:a="http://schemas.openxmlformats.org/drawingml/2006/main">
              <a:ext uri="{FF2B5EF4-FFF2-40B4-BE49-F238E27FC236}">
                <a16:creationId xmlns:a16="http://schemas.microsoft.com/office/drawing/2014/main" id="{883F42E5-D122-43ED-9AB5-5371F7FE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23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84112FE5-7453-4492-BA84-BCB029E0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09537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1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2E045F9E-0D39-4584-B779-26C26DB8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76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InsV2AlltoAllVSoleExecutor::Orchestrate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恢复各 Peer 的发送和接收信息</a:t>
            </a:r>
          </a:p>
        </p:txBody>
      </p:sp>
      <p:sp>
        <p:nvSpPr>
          <p:cNvPr id="17" name="根据资源上下文建立远端 Rank 到 Channel 的映射，读取本次数量和位移。">
            <a:extLst xmlns:a="http://schemas.openxmlformats.org/drawingml/2006/main">
              <a:ext uri="{FF2B5EF4-FFF2-40B4-BE49-F238E27FC236}">
                <a16:creationId xmlns:a16="http://schemas.microsoft.com/office/drawing/2014/main" id="{97C12343-B138-4962-A321-322DA3B3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0492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根据资源上下文建立远端 Rank 到 Channel 的映射，读取本次数量和位移。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1193F-2A2E-42AF-A935-A0997CE3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0FEC45-CE03-4C10-9C20-F89BAC53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2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15353" y="15244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AD6838-D7D2-4461-85B5-DFD9E1B7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00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02">
            <a:extLst xmlns:a="http://schemas.openxmlformats.org/drawingml/2006/main">
              <a:ext uri="{FF2B5EF4-FFF2-40B4-BE49-F238E27FC236}">
                <a16:creationId xmlns:a16="http://schemas.microsoft.com/office/drawing/2014/main" id="{1586DA35-DA0B-4282-B289-8D160CD6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097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FBACA2FC-147A-4BFF-80EE-C347381E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5811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2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087CDE87-9404-4AB1-AA82-2A4AD76F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621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OrchestrateLoop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按缓冲区容量和传输上限分块</a:t>
            </a:r>
          </a:p>
        </p:txBody>
      </p:sp>
      <p:sp>
        <p:nvSpPr>
          <p:cNvPr id="25" name="本例每个 Peer 只有 2 个数，可在容量足够时一次处理。大数据则分多块重复下面的过程。">
            <a:extLst xmlns:a="http://schemas.openxmlformats.org/drawingml/2006/main">
              <a:ext uri="{FF2B5EF4-FFF2-40B4-BE49-F238E27FC236}">
                <a16:creationId xmlns:a16="http://schemas.microsoft.com/office/drawing/2014/main" id="{408FE8EE-5E42-4600-9BF7-850543B1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907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本例每个 Peer 只有 2 个数，可在容量足够时一次处理。大数据则分多块重复下面的过程。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BB912F-F4E3-46CA-A497-D21231F1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9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B710F9-764C-4A04-8759-91247160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009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15353" y="20102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9DFF97-BACD-4C40-9198-F4AA428A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859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7A730FD5-D6A9-40BF-A95C-4FB6A9AC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955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1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FEA0309B-D9B1-4C00-B467-B08A224E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6692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3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0A72F8B2-F633-484B-9DC1-7673C244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478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CalcScratchMultiple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计算模板需要多少中转空间</a:t>
            </a:r>
          </a:p>
        </p:txBody>
      </p:sp>
      <p:sp>
        <p:nvSpPr>
          <p:cNvPr id="33" name="用它约束每块大小，避免为每个 Peer 安排的数据超过可用 CCL Buffer。">
            <a:extLst xmlns:a="http://schemas.openxmlformats.org/drawingml/2006/main">
              <a:ext uri="{FF2B5EF4-FFF2-40B4-BE49-F238E27FC236}">
                <a16:creationId xmlns:a16="http://schemas.microsoft.com/office/drawing/2014/main" id="{F399406B-604D-4C69-8207-7A2308E1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7647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用它约束每块大小，避免为每个 Peer 安排的数据超过可用 CCL Buffer。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E7CB54-3BB9-4BEE-9468-4320B279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00848E-C4E5-46CD-9B50-1C5BA01E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15353" y="249602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1B36A9-5BD9-4F6F-8FCB-A5A92951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717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8" name="04">
            <a:extLst xmlns:a="http://schemas.openxmlformats.org/drawingml/2006/main">
              <a:ext uri="{FF2B5EF4-FFF2-40B4-BE49-F238E27FC236}">
                <a16:creationId xmlns:a16="http://schemas.microsoft.com/office/drawing/2014/main" id="{D2BB0E82-20EE-4F9B-AB4B-143B53BF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58127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9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C704FEF1-D800-4870-A20C-727ED456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5270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4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EA364C7C-1B69-4888-AAB0-B797EB29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3365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InsTempAlltoAllVMesh1D::KernelRun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让普通 Mesh 模板处理当前块</a:t>
            </a:r>
          </a:p>
        </p:txBody>
      </p:sp>
      <p:sp>
        <p:nvSpPr>
          <p:cNvPr id="41" name="取出 Channel、Thread 和本块地址，判断协议。本例非 PCIe，因此进入 Write 路径。">
            <a:extLst xmlns:a="http://schemas.openxmlformats.org/drawingml/2006/main">
              <a:ext uri="{FF2B5EF4-FFF2-40B4-BE49-F238E27FC236}">
                <a16:creationId xmlns:a16="http://schemas.microsoft.com/office/drawing/2014/main" id="{DD011332-134C-49F2-9F75-CF3BC0F5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622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取出 Channel、Thread 和本块地址，判断协议。本例非 PCIe，因此进入 Write 路径。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7103FD-136D-4751-9791-81A65A02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8446B6-9B0B-45BF-8089-89B0514E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15353" y="29818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049D33-5A03-452A-B477-BCC9AA1C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57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05">
            <a:extLst xmlns:a="http://schemas.openxmlformats.org/drawingml/2006/main">
              <a:ext uri="{FF2B5EF4-FFF2-40B4-BE49-F238E27FC236}">
                <a16:creationId xmlns:a16="http://schemas.microsoft.com/office/drawing/2014/main" id="{0DD3AD50-C902-48E7-89C5-B3A43FE0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670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7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DA5BDB47-85AE-4F92-B5A1-102BC398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3847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4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5EC0221D-5AD1-4000-8480-86BE295F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194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RunALLtoALL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组织本块的通信轮次和收尾同步</a:t>
            </a:r>
          </a:p>
        </p:txBody>
      </p:sp>
      <p:sp>
        <p:nvSpPr>
          <p:cNvPr id="49" name="多 Thread 时先安排主从开始通知，第一轮还处理属于自己的那份数据。">
            <a:extLst xmlns:a="http://schemas.openxmlformats.org/drawingml/2006/main">
              <a:ext uri="{FF2B5EF4-FFF2-40B4-BE49-F238E27FC236}">
                <a16:creationId xmlns:a16="http://schemas.microsoft.com/office/drawing/2014/main" id="{FEA5E6A0-3C63-406C-B83D-9CD0F921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4802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多 Thread 时先安排主从开始通知，第一轮还处理属于自己的那份数据。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6212F87-DB88-4101-A794-690C2283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2BC809-7141-429A-8985-960DC6FB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915353" y="34675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6E732B1-C455-43E9-8CB9-EB0846AB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43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06">
            <a:extLst xmlns:a="http://schemas.openxmlformats.org/drawingml/2006/main">
              <a:ext uri="{FF2B5EF4-FFF2-40B4-BE49-F238E27FC236}">
                <a16:creationId xmlns:a16="http://schemas.microsoft.com/office/drawing/2014/main" id="{D1A33D17-8DAC-4F86-AEAE-46D8EF02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528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5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E6E6F051-6C18-484B-A9D2-9CBAB4A7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5242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5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B9258370-CA62-4A01-89C6-4383BC7E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052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CalcCommLoops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计算需要分多少轮覆盖所有远端 Rank</a:t>
            </a:r>
          </a:p>
        </p:txBody>
      </p:sp>
      <p:sp>
        <p:nvSpPr>
          <p:cNvPr id="57" name="这取决于成员和并行资源，不把“4 Rank”简单等同为固定 4 轮。">
            <a:extLst xmlns:a="http://schemas.openxmlformats.org/drawingml/2006/main">
              <a:ext uri="{FF2B5EF4-FFF2-40B4-BE49-F238E27FC236}">
                <a16:creationId xmlns:a16="http://schemas.microsoft.com/office/drawing/2014/main" id="{2BEB1BD3-743A-439A-B411-C3A1E55E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33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这取决于成员和并行资源，不把“4 Rank”简单等同为固定 4 轮。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696EC90-B5F2-4FAA-98C6-D75FD121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75776F8-AC08-4E0A-88B5-A9C40EBD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952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915353" y="39533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2CCFC85-DE36-434E-8C13-71FC8AB0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29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2" name="07">
            <a:extLst xmlns:a="http://schemas.openxmlformats.org/drawingml/2006/main">
              <a:ext uri="{FF2B5EF4-FFF2-40B4-BE49-F238E27FC236}">
                <a16:creationId xmlns:a16="http://schemas.microsoft.com/office/drawing/2014/main" id="{EBA256B7-EE92-4E92-9AA7-4A816ABF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386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3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2194A78B-D0E6-4FF4-9C10-0A6BEA51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01002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6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C24DAA61-934C-4DB4-96F6-239D83B0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909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LocalCopyForMyRank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处理发给自己的分片</a:t>
            </a:r>
          </a:p>
        </p:txBody>
      </p:sp>
      <p:sp>
        <p:nvSpPr>
          <p:cNvPr id="65" name="调用本地拷贝包装。本例 Rank 0 将输入 [0,1] 复制到自己的输出第 0 份。">
            <a:extLst xmlns:a="http://schemas.openxmlformats.org/drawingml/2006/main">
              <a:ext uri="{FF2B5EF4-FFF2-40B4-BE49-F238E27FC236}">
                <a16:creationId xmlns:a16="http://schemas.microsoft.com/office/drawing/2014/main" id="{CBF80D41-0284-4BCF-93D3-AB7A9052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1957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调用本地拷贝包装。本例 Rank 0 将输入 [0,1] 复制到自己的输出第 0 份。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D35F613-5B33-4501-8F7A-AC2F24B1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CA69AB6-F7E7-4B01-A7B7-6F0114F8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915353" y="443912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9E7C266-5873-4DAE-87F9-54842CE5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148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0" name="08">
            <a:extLst xmlns:a="http://schemas.openxmlformats.org/drawingml/2006/main">
              <a:ext uri="{FF2B5EF4-FFF2-40B4-BE49-F238E27FC236}">
                <a16:creationId xmlns:a16="http://schemas.microsoft.com/office/drawing/2014/main" id="{0EE58667-1116-46E4-8637-89488937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52437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1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DC8AC2B1-4D9F-493E-808A-D59A8A4E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49580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7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06CC0606-714F-4EF1-BE4C-2C1A1C7F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7675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CalcCommRankSetForOneLoop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列出当前轮要通信的 Peer</a:t>
            </a:r>
          </a:p>
        </p:txBody>
      </p:sp>
      <p:sp>
        <p:nvSpPr>
          <p:cNvPr id="73" name="例如当前需要处理 Rank 1，则下面进一步取出通往 Rank 1 的 Channel。">
            <a:extLst xmlns:a="http://schemas.openxmlformats.org/drawingml/2006/main">
              <a:ext uri="{FF2B5EF4-FFF2-40B4-BE49-F238E27FC236}">
                <a16:creationId xmlns:a16="http://schemas.microsoft.com/office/drawing/2014/main" id="{CE903114-8EEB-4210-A44D-817EF196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053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例如当前需要处理 Rank 1，则下面进一步取出通往 Rank 1 的 Channel。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D16A7A1-57FA-4509-B3D6-2FBD4202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24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0810269-6136-4CBB-8BD5-40A884D3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924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915353" y="49249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73B6616-7A99-401E-B839-E89E995D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006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09">
            <a:extLst xmlns:a="http://schemas.openxmlformats.org/drawingml/2006/main">
              <a:ext uri="{FF2B5EF4-FFF2-40B4-BE49-F238E27FC236}">
                <a16:creationId xmlns:a16="http://schemas.microsoft.com/office/drawing/2014/main" id="{29DB5076-EDB8-474F-9C0A-B6A08B18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0101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79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D51BFE4A-7CBE-432D-B569-B13C028E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98157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8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922B7ED1-3EE6-402B-92C7-14B9AD7C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625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RunSendRecvByLoop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遍历本轮 Peer 并组织每个 Peer 的任务</a:t>
            </a:r>
          </a:p>
        </p:txBody>
      </p:sp>
      <p:sp>
        <p:nvSpPr>
          <p:cNvPr id="81" name="按端口能力分配数据，再进入每个 Channel 的发送、接收与后拷贝。">
            <a:extLst xmlns:a="http://schemas.openxmlformats.org/drawingml/2006/main">
              <a:ext uri="{FF2B5EF4-FFF2-40B4-BE49-F238E27FC236}">
                <a16:creationId xmlns:a16="http://schemas.microsoft.com/office/drawing/2014/main" id="{2DB89FF0-D27C-4F0A-B9D1-99B8DE2A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9112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按端口能力分配数据，再进入每个 Channel 的发送、接收与后拷贝。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854C37F-9E4D-4540-9227-A7E328D6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275AB14-D867-4977-A8ED-843CD3E6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41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" name=""/>
          <p:cNvCxnSpPr>
            <a:stCxn xmlns:a="http://schemas.openxmlformats.org/drawingml/2006/main" id="82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915353" y="54106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A2EBEEE-6C16-4C55-AC96-0FF3A6AC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486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6" name="10">
            <a:extLst xmlns:a="http://schemas.openxmlformats.org/drawingml/2006/main">
              <a:ext uri="{FF2B5EF4-FFF2-40B4-BE49-F238E27FC236}">
                <a16:creationId xmlns:a16="http://schemas.microsoft.com/office/drawing/2014/main" id="{49C48652-28E8-4DCF-86B9-EEDD0AF3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4959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87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A4F598FD-10D6-4A2F-8A9F-143B4415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4673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8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2CE1FB7B-AF12-4A24-9A52-89930278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483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BuildDataSlices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计算实际的源地址、目的地址和字节数</a:t>
            </a:r>
          </a:p>
        </p:txBody>
      </p:sp>
      <p:sp>
        <p:nvSpPr>
          <p:cNvPr id="89" name="对 Rank 0 发给 Rank 1 的 [2,3]，源从 sendBuf 的第 2 项开始，长度为 8 字节。">
            <a:extLst xmlns:a="http://schemas.openxmlformats.org/drawingml/2006/main">
              <a:ext uri="{FF2B5EF4-FFF2-40B4-BE49-F238E27FC236}">
                <a16:creationId xmlns:a16="http://schemas.microsoft.com/office/drawing/2014/main" id="{078D8B0A-78F5-4B6A-8BDB-28D075E6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769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对 Rank 0 发给 Rank 1 的 [2,3]，源从 sendBuf 的第 2 项开始，长度为 8 字节。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6CAD4BB-EC57-4CEA-B443-3F22B879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38850"/>
            <a:ext cx="1162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91" name="此页结束：抽象的 AllToAll 已变成“某个 Thread，沿某个 Channel，从某地址传多少字节”。">
            <a:extLst xmlns:a="http://schemas.openxmlformats.org/drawingml/2006/main">
              <a:ext uri="{FF2B5EF4-FFF2-40B4-BE49-F238E27FC236}">
                <a16:creationId xmlns:a16="http://schemas.microsoft.com/office/drawing/2014/main" id="{8A0925BB-7298-4D93-B8ED-CE0908CE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1382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此页结束：抽象的 AllToAll 已变成“某个 Thread，沿某个 Channel，从某地址传多少字节”。</a:t>
            </a:r>
          </a:p>
        </p:txBody>
      </p:sp>
    </p:spTree>
    <p:extLst>
      <p:ext uri="{BB962C8B-B14F-4D97-AF65-F5344CB8AC3E}">
        <p14:creationId xmlns:p14="http://schemas.microsoft.com/office/powerpoint/2010/main" val="14778181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10. 只看 Rank 0 与 Rank 1：先握手，再写数据，再确认">
            <a:extLst xmlns:a="http://schemas.openxmlformats.org/drawingml/2006/main">
              <a:ext uri="{FF2B5EF4-FFF2-40B4-BE49-F238E27FC236}">
                <a16:creationId xmlns:a16="http://schemas.microsoft.com/office/drawing/2014/main" id="{97FDB404-A09F-481E-A82C-48A402EA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10. 只看 Rank 0 与 Rank 1：先握手，再写数据，再确认</a:t>
            </a:r>
          </a:p>
        </p:txBody>
      </p:sp>
      <p:sp>
        <p:nvSpPr>
          <p:cNvPr id="2" name="两端执行相同逻辑。下面按 Rank 0 的任务下发顺序读，第 1–5 项属于 SendRecvWrite，第 6 项属于模板的后拷贝。">
            <a:extLst xmlns:a="http://schemas.openxmlformats.org/drawingml/2006/main">
              <a:ext uri="{FF2B5EF4-FFF2-40B4-BE49-F238E27FC236}">
                <a16:creationId xmlns:a16="http://schemas.microsoft.com/office/drawing/2014/main" id="{E3E8D81F-982E-4888-AFBA-9BC077A9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1123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两端执行相同逻辑。下面按 Rank 0 的任务下发顺序读，第 1–5 项属于 SendRecvWrite，第 6 项属于模板的后拷贝。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167C517F-6672-4865-A59B-2224FD1B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1912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C46EC-A371-4F27-9C5B-B4ED6CA4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5E9D8-A26F-491F-87B2-21CAA1F5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</a:ln>
        </p:spPr>
      </p:cxnSp>
      <p:sp>
        <p:nvSpPr>
          <p:cNvPr id="7" name="源码基线：hccl 170ddeec，hcomm 87ce550f。静态调用分析，数值示例未上板运行。">
            <a:extLst xmlns:a="http://schemas.openxmlformats.org/drawingml/2006/main">
              <a:ext uri="{FF2B5EF4-FFF2-40B4-BE49-F238E27FC236}">
                <a16:creationId xmlns:a16="http://schemas.microsoft.com/office/drawing/2014/main" id="{DBE3F273-4470-4FC0-8CEC-3D93F676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源码基线：hccl 170ddeec，hcomm 87ce550f。静态调用分析，数值示例未上板运行。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04037-9E80-482F-8979-38F3CEDB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049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" name="1">
            <a:extLst xmlns:a="http://schemas.openxmlformats.org/drawingml/2006/main">
              <a:ext uri="{FF2B5EF4-FFF2-40B4-BE49-F238E27FC236}">
                <a16:creationId xmlns:a16="http://schemas.microsoft.com/office/drawing/2014/main" id="{DB22F742-AFF0-4FEC-91C5-3AB46C7E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12395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9F2CD-02A1-4BFD-8167-831F33CE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390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EE7FA-0F24-4BC9-9C20-25A4917E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676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86252" y="1391603"/>
            <a:ext cx="0" cy="284797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13" name="HcommChannel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F2D25F4E-D767-40B2-B6DB-72FB85EE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95375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</a:p>
        </p:txBody>
      </p:sp>
      <p:sp>
        <p:nvSpPr>
          <p:cNvPr id="14" name="告诉 Rank 1：我可以接收你的数据">
            <a:extLst xmlns:a="http://schemas.openxmlformats.org/drawingml/2006/main">
              <a:ext uri="{FF2B5EF4-FFF2-40B4-BE49-F238E27FC236}">
                <a16:creationId xmlns:a16="http://schemas.microsoft.com/office/drawing/2014/main" id="{78588970-EE98-424F-88B0-8A9853C9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09537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告诉 Rank 1：我可以接收你的数据</a:t>
            </a:r>
          </a:p>
        </p:txBody>
      </p:sp>
      <p:sp>
        <p:nvSpPr>
          <p:cNvPr id="15" name="Rank 0 在接收方向记录 ACK，表示本端接收中转区可以用于本轮交换。">
            <a:extLst xmlns:a="http://schemas.openxmlformats.org/drawingml/2006/main">
              <a:ext uri="{FF2B5EF4-FFF2-40B4-BE49-F238E27FC236}">
                <a16:creationId xmlns:a16="http://schemas.microsoft.com/office/drawing/2014/main" id="{6C68254A-4CF1-43B6-8475-551CACC5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52550"/>
            <a:ext cx="10963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Rank 0 在接收方向记录 ACK，表示本端接收中转区可以用于本轮交换。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0AF4B3-6C67-409B-B3F5-7913B7CC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676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3A06E5-7813-44ED-A118-AA8B6F20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676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29628" y="167687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74DEFF-F6A4-45BD-BBCD-51D06435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43075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2">
            <a:extLst xmlns:a="http://schemas.openxmlformats.org/drawingml/2006/main">
              <a:ext uri="{FF2B5EF4-FFF2-40B4-BE49-F238E27FC236}">
                <a16:creationId xmlns:a16="http://schemas.microsoft.com/office/drawing/2014/main" id="{FAE54612-4631-4416-8EE8-988C1453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76212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CE908D-77EA-43FD-B99A-156521DE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2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22A857-C979-4FFB-A1F0-C75A7313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314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486252" y="2029778"/>
            <a:ext cx="0" cy="284797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24" name="HcommChannelNotifyWaitOnThread">
            <a:extLst xmlns:a="http://schemas.openxmlformats.org/drawingml/2006/main">
              <a:ext uri="{FF2B5EF4-FFF2-40B4-BE49-F238E27FC236}">
                <a16:creationId xmlns:a16="http://schemas.microsoft.com/office/drawing/2014/main" id="{0F4AFBA7-2781-4377-A319-A456E9EB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HcommChannelNotifyWaitOnThread</a:t>
            </a:r>
          </a:p>
        </p:txBody>
      </p:sp>
      <p:sp>
        <p:nvSpPr>
          <p:cNvPr id="25" name="等待 Rank 1 也准备好接收">
            <a:extLst xmlns:a="http://schemas.openxmlformats.org/drawingml/2006/main">
              <a:ext uri="{FF2B5EF4-FFF2-40B4-BE49-F238E27FC236}">
                <a16:creationId xmlns:a16="http://schemas.microsoft.com/office/drawing/2014/main" id="{E52363FB-5F2C-4DFC-8905-5241AB9A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733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等待 Rank 1 也准备好接收</a:t>
            </a:r>
          </a:p>
        </p:txBody>
      </p:sp>
      <p:sp>
        <p:nvSpPr>
          <p:cNvPr id="26" name="在发送方向排入 ACK 等待。满足这项依赖后，向 Rank 1 的写操作才可执行。">
            <a:extLst xmlns:a="http://schemas.openxmlformats.org/drawingml/2006/main">
              <a:ext uri="{FF2B5EF4-FFF2-40B4-BE49-F238E27FC236}">
                <a16:creationId xmlns:a16="http://schemas.microsoft.com/office/drawing/2014/main" id="{FB86C4E7-644A-4A9F-AE31-EB9FD248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90725"/>
            <a:ext cx="10963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在发送方向排入 ACK 等待。满足这项依赖后，向 Rank 1 的写操作才可执行。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8EA184-5460-4AAD-BB11-B3F66DA2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14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F85014-AD9E-431D-8A76-2816BFB5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314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8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29628" y="231505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B45321-96FA-4DBE-9A77-47072812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3812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31" name="3">
            <a:extLst xmlns:a="http://schemas.openxmlformats.org/drawingml/2006/main">
              <a:ext uri="{FF2B5EF4-FFF2-40B4-BE49-F238E27FC236}">
                <a16:creationId xmlns:a16="http://schemas.microsoft.com/office/drawing/2014/main" id="{AD254B91-F02E-43CB-87F0-27D69E62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40030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634B8F-1F8E-4368-841F-4F65C5E8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667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BFC009-7E86-4798-BFA5-21408B9A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" name=""/>
          <p:cNvCxnSpPr>
            <a:stCxn xmlns:a="http://schemas.openxmlformats.org/drawingml/2006/main" id="3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486252" y="2667953"/>
            <a:ext cx="0" cy="284797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35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FD79DE3A-FBCC-438D-BD78-04C22DE4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71725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36" name="把 [2,3] 写入 Rank 1 的 CCL Buffer">
            <a:extLst xmlns:a="http://schemas.openxmlformats.org/drawingml/2006/main">
              <a:ext uri="{FF2B5EF4-FFF2-40B4-BE49-F238E27FC236}">
                <a16:creationId xmlns:a16="http://schemas.microsoft.com/office/drawing/2014/main" id="{18EE0810-9C24-4F29-8510-737551C1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37172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把 [2,3] 写入 Rank 1 的 CCL Buffer</a:t>
            </a:r>
          </a:p>
        </p:txBody>
      </p:sp>
      <p:sp>
        <p:nvSpPr>
          <p:cNvPr id="37" name="参数给出 Thread、Channel、远端目的地址、本地源地址、8 字节长度。每个非零 slice 都会生成搬运。">
            <a:extLst xmlns:a="http://schemas.openxmlformats.org/drawingml/2006/main">
              <a:ext uri="{FF2B5EF4-FFF2-40B4-BE49-F238E27FC236}">
                <a16:creationId xmlns:a16="http://schemas.microsoft.com/office/drawing/2014/main" id="{C415F3B3-8C70-463F-A9F9-541E46A4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0963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参数给出 Thread、Channel、远端目的地址、本地源地址、8 字节长度。每个非零 slice 都会生成搬运。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E19C4F-9713-44F0-9CAE-7358642F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9D2F3D-9FE8-4B64-987F-9DE0ED44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829628" y="295322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2BEEF9-C262-4A56-8D10-2DACD256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19425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2" name="4">
            <a:extLst xmlns:a="http://schemas.openxmlformats.org/drawingml/2006/main">
              <a:ext uri="{FF2B5EF4-FFF2-40B4-BE49-F238E27FC236}">
                <a16:creationId xmlns:a16="http://schemas.microsoft.com/office/drawing/2014/main" id="{C110A221-4550-49AF-ABA4-C7E18AA7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03847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50FBDD-74F1-409C-A81B-9132D59E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05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FC40A2-ACDB-44D3-92B3-C0CE697C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590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" name=""/>
          <p:cNvCxnSpPr>
            <a:stCxn xmlns:a="http://schemas.openxmlformats.org/drawingml/2006/main" id="4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486252" y="3306128"/>
            <a:ext cx="0" cy="284797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46" name="HcommChannel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7EB31925-B62A-41BF-9A03-0B5E6DB2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</a:p>
        </p:txBody>
      </p:sp>
      <p:sp>
        <p:nvSpPr>
          <p:cNvPr id="47" name="通知 Rank 1：我发给你的这一阶段已完成">
            <a:extLst xmlns:a="http://schemas.openxmlformats.org/drawingml/2006/main">
              <a:ext uri="{FF2B5EF4-FFF2-40B4-BE49-F238E27FC236}">
                <a16:creationId xmlns:a16="http://schemas.microsoft.com/office/drawing/2014/main" id="{A6EEA277-5D28-49BC-892C-BDDE0952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0099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通知 Rank 1：我发给你的这一阶段已完成</a:t>
            </a:r>
          </a:p>
        </p:txBody>
      </p:sp>
      <p:sp>
        <p:nvSpPr>
          <p:cNvPr id="48" name="这次通知索引为 DATA_SIGNAL，它约束 Rank 1 随后的接收处理。">
            <a:extLst xmlns:a="http://schemas.openxmlformats.org/drawingml/2006/main">
              <a:ext uri="{FF2B5EF4-FFF2-40B4-BE49-F238E27FC236}">
                <a16:creationId xmlns:a16="http://schemas.microsoft.com/office/drawing/2014/main" id="{C4C6BC29-45F6-4B89-AF61-45425451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67075"/>
            <a:ext cx="10963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这次通知索引为 DATA_SIGNAL，它约束 Rank 1 随后的接收处理。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49E6BBC-F2E2-477A-92E9-CF467531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90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98A8A21-6429-4636-BE32-E5BA95F4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590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829628" y="359140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8D8255D-67A3-4CE1-887E-73DA80A8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576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3" name="5">
            <a:extLst xmlns:a="http://schemas.openxmlformats.org/drawingml/2006/main">
              <a:ext uri="{FF2B5EF4-FFF2-40B4-BE49-F238E27FC236}">
                <a16:creationId xmlns:a16="http://schemas.microsoft.com/office/drawing/2014/main" id="{9AE80BA1-2846-493B-A96F-69D635C6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67665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2344C08-324F-4749-AAB2-50E46D55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43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67DB5C0-1CC3-4D0B-AE12-CAF6220C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229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486252" y="3944303"/>
            <a:ext cx="0" cy="284797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57" name="HcommChannelNotifyWaitOnThread">
            <a:extLst xmlns:a="http://schemas.openxmlformats.org/drawingml/2006/main">
              <a:ext uri="{FF2B5EF4-FFF2-40B4-BE49-F238E27FC236}">
                <a16:creationId xmlns:a16="http://schemas.microsoft.com/office/drawing/2014/main" id="{76915BC8-94B1-49DD-854D-25A84A00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48075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HcommChannelNotifyWaitOnThread</a:t>
            </a:r>
          </a:p>
        </p:txBody>
      </p:sp>
      <p:sp>
        <p:nvSpPr>
          <p:cNvPr id="58" name="等待 Rank 1 发给我的数据阶段完成">
            <a:extLst xmlns:a="http://schemas.openxmlformats.org/drawingml/2006/main">
              <a:ext uri="{FF2B5EF4-FFF2-40B4-BE49-F238E27FC236}">
                <a16:creationId xmlns:a16="http://schemas.microsoft.com/office/drawing/2014/main" id="{26A07E66-BBF6-492C-869D-165B82A3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64807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等待 Rank 1 发给我的数据阶段完成</a:t>
            </a:r>
          </a:p>
        </p:txBody>
      </p:sp>
      <p:sp>
        <p:nvSpPr>
          <p:cNvPr id="59" name="Rank 0 等的是反方向 DATA_SIGNAL，对应从 Rank 1 发来的 [10,11]。">
            <a:extLst xmlns:a="http://schemas.openxmlformats.org/drawingml/2006/main">
              <a:ext uri="{FF2B5EF4-FFF2-40B4-BE49-F238E27FC236}">
                <a16:creationId xmlns:a16="http://schemas.microsoft.com/office/drawing/2014/main" id="{EF19BD57-B549-45FF-AEB1-BC882CAE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10963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Rank 0 等的是反方向 DATA_SIGNAL，对应从 Rank 1 发来的 [10,11]。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E9393A1-2CE5-45FE-A431-0FA21AD5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29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C592B9B-AF29-4FF0-91FB-9C329518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229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829628" y="422957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E623157-BB05-439E-8818-89AD621F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95775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64" name="6">
            <a:extLst xmlns:a="http://schemas.openxmlformats.org/drawingml/2006/main">
              <a:ext uri="{FF2B5EF4-FFF2-40B4-BE49-F238E27FC236}">
                <a16:creationId xmlns:a16="http://schemas.microsoft.com/office/drawing/2014/main" id="{71F60F6B-74E5-4303-B7CE-E833AC97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31482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65" name="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8E7E96F7-FF28-4B9D-804A-93807B70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66" name="把收到的 [10,11] 拷入 Rank 0 输出">
            <a:extLst xmlns:a="http://schemas.openxmlformats.org/drawingml/2006/main">
              <a:ext uri="{FF2B5EF4-FFF2-40B4-BE49-F238E27FC236}">
                <a16:creationId xmlns:a16="http://schemas.microsoft.com/office/drawing/2014/main" id="{870F7F84-0775-4467-947F-9F9F13A2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2862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把收到的 [10,11] 拷入 Rank 0 输出</a:t>
            </a:r>
          </a:p>
        </p:txBody>
      </p:sp>
      <p:sp>
        <p:nvSpPr>
          <p:cNvPr id="67" name="模板的 PostCopy 发起此调用，源是本地 CCL，目的为 recvBuf 第 2 项开始的 8 字节。">
            <a:extLst xmlns:a="http://schemas.openxmlformats.org/drawingml/2006/main">
              <a:ext uri="{FF2B5EF4-FFF2-40B4-BE49-F238E27FC236}">
                <a16:creationId xmlns:a16="http://schemas.microsoft.com/office/drawing/2014/main" id="{FBE0D291-525A-406D-93D6-FEC4D49D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10963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模板的 PostCopy 发起此调用，源是本地 CCL，目的为 recvBuf 第 2 项开始的 8 字节。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423630D-746D-4297-9D81-23318B52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867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6E75EF7-8A1E-4B73-9907-1169F53E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67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68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829628" y="486775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0F1A7D7-8DF5-41CC-8BF7-0387E0D6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257800"/>
            <a:ext cx="33147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C908B"/>
            </a:solidFill>
          </a:ln>
        </p:spPr>
      </p:sp>
      <p:sp>
        <p:nvSpPr>
          <p:cNvPr id="72" name="Rank 0 用户输入">
            <a:extLst xmlns:a="http://schemas.openxmlformats.org/drawingml/2006/main">
              <a:ext uri="{FF2B5EF4-FFF2-40B4-BE49-F238E27FC236}">
                <a16:creationId xmlns:a16="http://schemas.microsoft.com/office/drawing/2014/main" id="{8A58BC82-3DCD-462B-A654-F50BEFF6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24475"/>
            <a:ext cx="314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0 用户输入</a:t>
            </a:r>
          </a:p>
        </p:txBody>
      </p:sp>
      <p:sp>
        <p:nvSpPr>
          <p:cNvPr id="73" name="[2,3]，发给 Rank 1">
            <a:extLst xmlns:a="http://schemas.openxmlformats.org/drawingml/2006/main">
              <a:ext uri="{FF2B5EF4-FFF2-40B4-BE49-F238E27FC236}">
                <a16:creationId xmlns:a16="http://schemas.microsoft.com/office/drawing/2014/main" id="{1619DD2D-FD07-4509-9303-8CBA3359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91175"/>
            <a:ext cx="314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[2,3]，发给 Rank 1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D89D4CE-9CFB-4D30-B1A4-18AF20A7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553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B15CBBA-20DF-412A-96F9-7B92CBCB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53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3610928" y="5553552"/>
            <a:ext cx="78962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52B89FF-A9F9-4233-B5C5-FE9DE9C1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257800"/>
            <a:ext cx="33147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5715">
            <a:solidFill>
              <a:srgbClr val="8C908B"/>
            </a:solidFill>
          </a:ln>
        </p:spPr>
      </p:sp>
      <p:sp>
        <p:nvSpPr>
          <p:cNvPr id="78" name="Rank 1 CCL Buffer">
            <a:extLst xmlns:a="http://schemas.openxmlformats.org/drawingml/2006/main">
              <a:ext uri="{FF2B5EF4-FFF2-40B4-BE49-F238E27FC236}">
                <a16:creationId xmlns:a16="http://schemas.microsoft.com/office/drawing/2014/main" id="{F80C782A-B7C9-47FB-A0C4-BD9D7468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324475"/>
            <a:ext cx="314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1 CCL Buffer</a:t>
            </a:r>
          </a:p>
        </p:txBody>
      </p:sp>
      <p:sp>
        <p:nvSpPr>
          <p:cNvPr id="79" name="通信接收中转区">
            <a:extLst xmlns:a="http://schemas.openxmlformats.org/drawingml/2006/main">
              <a:ext uri="{FF2B5EF4-FFF2-40B4-BE49-F238E27FC236}">
                <a16:creationId xmlns:a16="http://schemas.microsoft.com/office/drawing/2014/main" id="{324E9139-C862-48AA-85E5-3B55326E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591175"/>
            <a:ext cx="314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通信接收中转区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3E45C30-D412-41B7-A897-C50E8804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553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8A90CD6-1580-464E-B959-AE34EE0B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5553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" name=""/>
          <p:cNvCxnSpPr>
            <a:stCxn xmlns:a="http://schemas.openxmlformats.org/drawingml/2006/main" id="80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>
            <a:off x="7754303" y="5553552"/>
            <a:ext cx="78962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00AFCCE-0655-4CC7-A76E-4D7AE65C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257800"/>
            <a:ext cx="33147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C908B"/>
            </a:solidFill>
          </a:ln>
        </p:spPr>
      </p:sp>
      <p:sp>
        <p:nvSpPr>
          <p:cNvPr id="84" name="Rank 1 用户输出">
            <a:extLst xmlns:a="http://schemas.openxmlformats.org/drawingml/2006/main">
              <a:ext uri="{FF2B5EF4-FFF2-40B4-BE49-F238E27FC236}">
                <a16:creationId xmlns:a16="http://schemas.microsoft.com/office/drawing/2014/main" id="{155E08D1-A095-4511-A7B2-D6534A28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324475"/>
            <a:ext cx="314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1 用户输出</a:t>
            </a:r>
          </a:p>
        </p:txBody>
      </p:sp>
      <p:sp>
        <p:nvSpPr>
          <p:cNvPr id="85" name="[2,3]，来自 Rank 0">
            <a:extLst xmlns:a="http://schemas.openxmlformats.org/drawingml/2006/main">
              <a:ext uri="{FF2B5EF4-FFF2-40B4-BE49-F238E27FC236}">
                <a16:creationId xmlns:a16="http://schemas.microsoft.com/office/drawing/2014/main" id="{1A40F495-B072-42E8-A4F5-5A4E7054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91175"/>
            <a:ext cx="314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[2,3]，来自 Rank 0</a:t>
            </a:r>
          </a:p>
        </p:txBody>
      </p:sp>
      <p:sp>
        <p:nvSpPr>
          <p:cNvPr id="86" name="Write：远端写入">
            <a:extLst xmlns:a="http://schemas.openxmlformats.org/drawingml/2006/main">
              <a:ext uri="{FF2B5EF4-FFF2-40B4-BE49-F238E27FC236}">
                <a16:creationId xmlns:a16="http://schemas.microsoft.com/office/drawing/2014/main" id="{4D6F8626-20E4-4A7F-A4EF-CB347557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238750"/>
            <a:ext cx="790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Write：远端写入</a:t>
            </a:r>
          </a:p>
        </p:txBody>
      </p:sp>
      <p:sp>
        <p:nvSpPr>
          <p:cNvPr id="87" name="LocalCopy：本地取出">
            <a:extLst xmlns:a="http://schemas.openxmlformats.org/drawingml/2006/main">
              <a:ext uri="{FF2B5EF4-FFF2-40B4-BE49-F238E27FC236}">
                <a16:creationId xmlns:a16="http://schemas.microsoft.com/office/drawing/2014/main" id="{B8C17C58-7EC6-4801-8396-69530053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38750"/>
            <a:ext cx="790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LocalCopy：本地取出</a:t>
            </a:r>
          </a:p>
        </p:txBody>
      </p:sp>
      <p:sp>
        <p:nvSpPr>
          <p:cNvPr id="88" name="反方向完全对应：[10,11] 从 Rank 1 输入写到 Rank 0 CCL，再拷入 Rank 0 输出。">
            <a:extLst xmlns:a="http://schemas.openxmlformats.org/drawingml/2006/main">
              <a:ext uri="{FF2B5EF4-FFF2-40B4-BE49-F238E27FC236}">
                <a16:creationId xmlns:a16="http://schemas.microsoft.com/office/drawing/2014/main" id="{1E684691-CA27-4394-B297-3B85BC9A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972175"/>
            <a:ext cx="1152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反方向完全对应：[10,11] 从 Rank 1 输入写到 Rank 0 CCL，再拷入 Rank 0 输出。</a:t>
            </a:r>
          </a:p>
        </p:txBody>
      </p:sp>
      <p:sp>
        <p:nvSpPr>
          <p:cNvPr id="89" name="Wait 的能力分支：HcommChannelNotifyWaitOnThreadWithDefaultTimeout 使用默认超时，支持时替代显式超时接口。">
            <a:extLst xmlns:a="http://schemas.openxmlformats.org/drawingml/2006/main">
              <a:ext uri="{FF2B5EF4-FFF2-40B4-BE49-F238E27FC236}">
                <a16:creationId xmlns:a16="http://schemas.microsoft.com/office/drawing/2014/main" id="{57735D0A-F861-41AA-8CA9-B149DA0D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257925"/>
            <a:ext cx="1152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Wait 的能力分支：HcommChannelNotifyWaitOnThreadWithDefaultTimeout 使用默认超时，支持时替代显式超时接口。</a:t>
            </a:r>
          </a:p>
        </p:txBody>
      </p:sp>
    </p:spTree>
    <p:extLst>
      <p:ext uri="{BB962C8B-B14F-4D97-AF65-F5344CB8AC3E}">
        <p14:creationId xmlns:p14="http://schemas.microsoft.com/office/powerpoint/2010/main" val="2126751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11. 所有 Peer 的任务排好后，怎样通知上层可以继续">
            <a:extLst xmlns:a="http://schemas.openxmlformats.org/drawingml/2006/main">
              <a:ext uri="{FF2B5EF4-FFF2-40B4-BE49-F238E27FC236}">
                <a16:creationId xmlns:a16="http://schemas.microsoft.com/office/drawing/2014/main" id="{44671142-8409-40A3-AC7C-56B5F4CB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11. 所有 Peer 的任务排好后，怎样通知上层可以继续</a:t>
            </a:r>
          </a:p>
        </p:txBody>
      </p:sp>
      <p:sp>
        <p:nvSpPr>
          <p:cNvPr id="2" name="先完成当前块的主从汇合，再处理其他块。只有整个算子的任务都编排完，Kernel 才安排最后的完成通知。">
            <a:extLst xmlns:a="http://schemas.openxmlformats.org/drawingml/2006/main">
              <a:ext uri="{FF2B5EF4-FFF2-40B4-BE49-F238E27FC236}">
                <a16:creationId xmlns:a16="http://schemas.microsoft.com/office/drawing/2014/main" id="{31C59190-8D43-46DF-BAC5-4773B685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1123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先完成当前块的主从汇合，再处理其他块。只有整个算子的任务都编排完，Kernel 才安排最后的完成通知。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9AAB50DE-7170-451E-866B-F0F3A5CA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1912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6A176-98F3-444F-BA6D-F9178AB7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8E24A-93F7-456B-B278-E7BD67B3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</a:ln>
        </p:spPr>
      </p:cxnSp>
      <p:sp>
        <p:nvSpPr>
          <p:cNvPr id="7" name="源码基线：hccl 170ddeec，hcomm 87ce550f。静态调用分析，数值示例未上板运行。">
            <a:extLst xmlns:a="http://schemas.openxmlformats.org/drawingml/2006/main">
              <a:ext uri="{FF2B5EF4-FFF2-40B4-BE49-F238E27FC236}">
                <a16:creationId xmlns:a16="http://schemas.microsoft.com/office/drawing/2014/main" id="{A9415A9E-DDED-4F40-BE43-BEBD7097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源码基线：hccl 170ddeec，hcomm 87ce550f。静态调用分析，数值示例未上板运行。</a:t>
            </a:r>
          </a:p>
        </p:txBody>
      </p:sp>
      <p:sp>
        <p:nvSpPr>
          <p:cNvPr id="8" name="顺序 / 调用发生在哪里">
            <a:extLst xmlns:a="http://schemas.openxmlformats.org/drawingml/2006/main">
              <a:ext uri="{FF2B5EF4-FFF2-40B4-BE49-F238E27FC236}">
                <a16:creationId xmlns:a16="http://schemas.microsoft.com/office/drawing/2014/main" id="{23718736-C577-442D-925C-F54463AA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76300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顺序 / 调用发生在哪里</a:t>
            </a:r>
          </a:p>
        </p:txBody>
      </p:sp>
      <p:sp>
        <p:nvSpPr>
          <p:cNvPr id="9" name="函数名后直接说明作用，下行说明本例得到什么">
            <a:extLst xmlns:a="http://schemas.openxmlformats.org/drawingml/2006/main">
              <a:ext uri="{FF2B5EF4-FFF2-40B4-BE49-F238E27FC236}">
                <a16:creationId xmlns:a16="http://schemas.microsoft.com/office/drawing/2014/main" id="{1310D41E-6214-4524-8D03-9C4C657E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76300"/>
            <a:ext cx="923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函数名后直接说明作用，下行说明本例得到什么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4966C-DFB7-429D-ABC1-DE891E36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E8AD95-2F72-470A-B8C8-9CBC8692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91027" y="1201103"/>
            <a:ext cx="0" cy="4542472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5E6D16-447E-401D-9806-BDD49909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14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01">
            <a:extLst xmlns:a="http://schemas.openxmlformats.org/drawingml/2006/main">
              <a:ext uri="{FF2B5EF4-FFF2-40B4-BE49-F238E27FC236}">
                <a16:creationId xmlns:a16="http://schemas.microsoft.com/office/drawing/2014/main" id="{57D54A65-6490-4DCD-AD13-0869E574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23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5AC43B82-801E-47B0-B6DC-CB584CE0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095375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1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CB7D1173-054A-4FC5-AA60-35A6EB7A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76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PostSyncInterThreads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让主 Thread 等齐从 Thread 的工作</a:t>
            </a:r>
          </a:p>
        </p:txBody>
      </p:sp>
      <p:sp>
        <p:nvSpPr>
          <p:cNvPr id="17" name="存在从 Thread 时，为本块末尾建立汇合依赖，防止主 Thread 抢先发算子完成通知。">
            <a:extLst xmlns:a="http://schemas.openxmlformats.org/drawingml/2006/main">
              <a:ext uri="{FF2B5EF4-FFF2-40B4-BE49-F238E27FC236}">
                <a16:creationId xmlns:a16="http://schemas.microsoft.com/office/drawing/2014/main" id="{194222C4-BA94-4733-82AB-F588B00B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04925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存在从 Thread 时，为本块末尾建立汇合依赖，防止主 Thread 抢先发算子完成通知。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1BA74D-3B99-4392-AABA-3924F207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4544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16B67C-70E2-4173-801A-0AB90CD5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64544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15353" y="1645921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7AADCB-CC96-402B-88EF-A7496841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21644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02">
            <a:extLst xmlns:a="http://schemas.openxmlformats.org/drawingml/2006/main">
              <a:ext uri="{FF2B5EF4-FFF2-40B4-BE49-F238E27FC236}">
                <a16:creationId xmlns:a16="http://schemas.microsoft.com/office/drawing/2014/main" id="{DE06F03B-8224-46D5-A008-9942798D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31169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HCCL 调 HCOMM&#10;数据面 / 同步">
            <a:extLst xmlns:a="http://schemas.openxmlformats.org/drawingml/2006/main">
              <a:ext uri="{FF2B5EF4-FFF2-40B4-BE49-F238E27FC236}">
                <a16:creationId xmlns:a16="http://schemas.microsoft.com/office/drawing/2014/main" id="{A7C2A1D5-5D71-4338-ACD1-8934726A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702594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同步</a:t>
            </a:r>
          </a:p>
        </p:txBody>
      </p:sp>
      <p:sp>
        <p:nvSpPr>
          <p:cNvPr id="2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0E2E5D0F-7767-4733-82BE-C78BDFE3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83544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在主 Thread 上排入汇合等待</a:t>
            </a:r>
          </a:p>
        </p:txBody>
      </p:sp>
      <p:sp>
        <p:nvSpPr>
          <p:cNvPr id="25" name="主 Thread 必须等到各从 Thread 的对应通知。默认超时能力存在时由同义默认超时接口承接。">
            <a:extLst xmlns:a="http://schemas.openxmlformats.org/drawingml/2006/main">
              <a:ext uri="{FF2B5EF4-FFF2-40B4-BE49-F238E27FC236}">
                <a16:creationId xmlns:a16="http://schemas.microsoft.com/office/drawing/2014/main" id="{CFB0F7AA-0E76-4190-82D8-C14208CD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12144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主 Thread 必须等到各从 Thread 的对应通知。默认超时能力存在时由同义默认超时接口承接。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27B2D4-47EC-4A7E-9ABF-5A68CA8B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526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4FDDA0-29B9-4880-895A-83A95D9C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2526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15353" y="2253140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5285EB-0B6A-4760-8D97-294C9C0D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328863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EE3B16AF-CBF8-458D-886E-896CCDB1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38388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1" name="HCCL 调 HCOMM&#10;数据面 / 同步">
            <a:extLst xmlns:a="http://schemas.openxmlformats.org/drawingml/2006/main">
              <a:ext uri="{FF2B5EF4-FFF2-40B4-BE49-F238E27FC236}">
                <a16:creationId xmlns:a16="http://schemas.microsoft.com/office/drawing/2014/main" id="{519B3558-59F4-4434-B69C-E3D4BA9E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09813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同步</a:t>
            </a:r>
          </a:p>
        </p:txBody>
      </p:sp>
      <p:sp>
        <p:nvSpPr>
          <p:cNvPr id="3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BB91B435-CA03-42D5-B8C0-B23FFB70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90763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在从 Thread 上排入完成通知</a:t>
            </a:r>
          </a:p>
        </p:txBody>
      </p:sp>
      <p:sp>
        <p:nvSpPr>
          <p:cNvPr id="33" name="从 Thread 前面的搬运与后拷贝完成后才满足主 Thread 的等待。C++ 下发顺序可先 Wait 后 Record。">
            <a:extLst xmlns:a="http://schemas.openxmlformats.org/drawingml/2006/main">
              <a:ext uri="{FF2B5EF4-FFF2-40B4-BE49-F238E27FC236}">
                <a16:creationId xmlns:a16="http://schemas.microsoft.com/office/drawing/2014/main" id="{0EFA9EFE-3887-4E7A-89FC-3346EE39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19363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从 Thread 前面的搬运与后拷贝完成后才满足主 Thread 的等待。C++ 下发顺序可先 Wait 后 Record。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EBEB5E-E9ED-4443-8BD6-E03ED10E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988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44B72A-97F5-4D21-A683-BBA6DC5A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85988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15353" y="2860358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1FF0CF-1EAC-4E03-B2F2-1A9780E3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936081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8" name="04">
            <a:extLst xmlns:a="http://schemas.openxmlformats.org/drawingml/2006/main">
              <a:ext uri="{FF2B5EF4-FFF2-40B4-BE49-F238E27FC236}">
                <a16:creationId xmlns:a16="http://schemas.microsoft.com/office/drawing/2014/main" id="{408F1B61-72FB-414D-BE8E-ACEE15FC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945606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9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51EB0279-1523-49BD-A565-BC7AB827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17031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4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4D5FED41-8996-4725-8612-940954FD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97981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OrchestrateLoop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继续下一块或返回 Kernel</a:t>
            </a:r>
          </a:p>
        </p:txBody>
      </p:sp>
      <p:sp>
        <p:nvSpPr>
          <p:cNvPr id="41" name="仍有数据时更新地址和数量，再调模板。全部大块任务都排好后返回。">
            <a:extLst xmlns:a="http://schemas.openxmlformats.org/drawingml/2006/main">
              <a:ext uri="{FF2B5EF4-FFF2-40B4-BE49-F238E27FC236}">
                <a16:creationId xmlns:a16="http://schemas.microsoft.com/office/drawing/2014/main" id="{A1EC0C2B-9839-4408-9CB7-D0B9D7F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26581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仍有数据时更新地址和数量，再调模板。全部大块任务都排好后返回。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3E3815-585B-4593-9E63-BF921F77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5AF75D-823F-46F2-9E08-00420C35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15353" y="34675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7B58D1-E883-4BB0-9841-220E3FDE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43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05">
            <a:extLst xmlns:a="http://schemas.openxmlformats.org/drawingml/2006/main">
              <a:ext uri="{FF2B5EF4-FFF2-40B4-BE49-F238E27FC236}">
                <a16:creationId xmlns:a16="http://schemas.microsoft.com/office/drawing/2014/main" id="{B5F0FEA1-C000-4B16-ADB5-472A8E1C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528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7" name="HCCL 调 HCOMM&#10;数据面 / 同步">
            <a:extLst xmlns:a="http://schemas.openxmlformats.org/drawingml/2006/main">
              <a:ext uri="{FF2B5EF4-FFF2-40B4-BE49-F238E27FC236}">
                <a16:creationId xmlns:a16="http://schemas.microsoft.com/office/drawing/2014/main" id="{5A220BEC-D112-46D8-A59D-3552D686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524250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同步</a:t>
            </a:r>
          </a:p>
        </p:txBody>
      </p:sp>
      <p:sp>
        <p:nvSpPr>
          <p:cNvPr id="4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21011564-0D87-4C40-816C-19D4C279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052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在设备主 Thread 上安排算子完成通知</a:t>
            </a:r>
          </a:p>
        </p:txBody>
      </p:sp>
      <p:sp>
        <p:nvSpPr>
          <p:cNvPr id="49" name="这次目标是 Host 用户流对应的 Thread。通知排在本次通信及汇合依赖之后。">
            <a:extLst xmlns:a="http://schemas.openxmlformats.org/drawingml/2006/main">
              <a:ext uri="{FF2B5EF4-FFF2-40B4-BE49-F238E27FC236}">
                <a16:creationId xmlns:a16="http://schemas.microsoft.com/office/drawing/2014/main" id="{917E3B92-BB74-4EB7-BB4D-EA73FC86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33800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这次目标是 Host 用户流对应的 Thread。通知排在本次通信及汇合依赖之后。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C8272A-98A0-4841-A9D0-C45FF9F5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431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DD6B56-8254-4E13-BAA4-17375684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07431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915353" y="4074796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CD55B75-EF82-4B59-97D6-4C0882DA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150519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06">
            <a:extLst xmlns:a="http://schemas.openxmlformats.org/drawingml/2006/main">
              <a:ext uri="{FF2B5EF4-FFF2-40B4-BE49-F238E27FC236}">
                <a16:creationId xmlns:a16="http://schemas.microsoft.com/office/drawing/2014/main" id="{F05951BA-649F-41E6-861F-CB01AF71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160044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5" name="HCCL 调 HCOMM&#10;数据面 / 执行控制">
            <a:extLst xmlns:a="http://schemas.openxmlformats.org/drawingml/2006/main">
              <a:ext uri="{FF2B5EF4-FFF2-40B4-BE49-F238E27FC236}">
                <a16:creationId xmlns:a16="http://schemas.microsoft.com/office/drawing/2014/main" id="{1B827235-3796-4B15-8BDA-0CAEC6DD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31469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执行控制</a:t>
            </a:r>
          </a:p>
        </p:txBody>
      </p:sp>
      <p:sp>
        <p:nvSpPr>
          <p:cNvPr id="5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A616D620-4B48-47DF-A034-A25733B9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12419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HcommBatchModeEnd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结束批模式并提交剩余任务</a:t>
            </a:r>
          </a:p>
        </p:txBody>
      </p:sp>
      <p:sp>
        <p:nvSpPr>
          <p:cNvPr id="57" name="把批模式下尚未提交的任务交出去，配对前面的 BatchModeStart。">
            <a:extLst xmlns:a="http://schemas.openxmlformats.org/drawingml/2006/main">
              <a:ext uri="{FF2B5EF4-FFF2-40B4-BE49-F238E27FC236}">
                <a16:creationId xmlns:a16="http://schemas.microsoft.com/office/drawing/2014/main" id="{AB709310-8B20-46EF-B06E-B37332B3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41019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把批模式下尚未提交的任务交出去，配对前面的 BatchModeStart。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0524C5B-F82B-4477-A474-63B9090B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15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1ECEFB2-B512-45A2-8FC0-57D79DEB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815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915353" y="4682015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DB5032A-2A03-4ABF-B601-37A784CA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57738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2" name="07">
            <a:extLst xmlns:a="http://schemas.openxmlformats.org/drawingml/2006/main">
              <a:ext uri="{FF2B5EF4-FFF2-40B4-BE49-F238E27FC236}">
                <a16:creationId xmlns:a16="http://schemas.microsoft.com/office/drawing/2014/main" id="{F93E8A0F-ACB6-4433-A4FB-F40F0CDA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767263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3" name="HCCL 调 HCOMM&#10;数据面 / 执行控制">
            <a:extLst xmlns:a="http://schemas.openxmlformats.org/drawingml/2006/main">
              <a:ext uri="{FF2B5EF4-FFF2-40B4-BE49-F238E27FC236}">
                <a16:creationId xmlns:a16="http://schemas.microsoft.com/office/drawing/2014/main" id="{8750AFE0-5FDC-4F8E-895C-36205681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738688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执行控制</a:t>
            </a:r>
          </a:p>
        </p:txBody>
      </p:sp>
      <p:sp>
        <p:nvSpPr>
          <p:cNvPr id="6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A71AD9AB-F901-4981-B1C0-634B6975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19638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HcommReleaseComm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释放本次通信域使用保护</a:t>
            </a:r>
          </a:p>
        </p:txBody>
      </p:sp>
      <p:sp>
        <p:nvSpPr>
          <p:cNvPr id="65" name="退出这次 Kernel 对通信域的使用保护，不销毁通信域，也不要求释放全部缓存资源。">
            <a:extLst xmlns:a="http://schemas.openxmlformats.org/drawingml/2006/main">
              <a:ext uri="{FF2B5EF4-FFF2-40B4-BE49-F238E27FC236}">
                <a16:creationId xmlns:a16="http://schemas.microsoft.com/office/drawing/2014/main" id="{CD9D206C-850A-4B08-B4A8-D5CFC6DA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48238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退出这次 Kernel 对通信域的使用保护，不销毁通信域，也不要求释放全部缓存资源。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51FEFC9-57D0-4261-8401-459F9380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875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03B9530-BDB1-4407-A87F-06158DDE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28875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915353" y="5289233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ABDBC6D-D7A4-4542-899B-694B3A3B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64956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0" name="08">
            <a:extLst xmlns:a="http://schemas.openxmlformats.org/drawingml/2006/main">
              <a:ext uri="{FF2B5EF4-FFF2-40B4-BE49-F238E27FC236}">
                <a16:creationId xmlns:a16="http://schemas.microsoft.com/office/drawing/2014/main" id="{ECCD044F-0F66-450E-BE1A-41DCA7FC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74481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1" name="Host 已排入&#10;数据面 / 同步">
            <a:extLst xmlns:a="http://schemas.openxmlformats.org/drawingml/2006/main">
              <a:ext uri="{FF2B5EF4-FFF2-40B4-BE49-F238E27FC236}">
                <a16:creationId xmlns:a16="http://schemas.microsoft.com/office/drawing/2014/main" id="{BA1FB39F-A1F9-43F8-AEE4-6E8EC597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345906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Host 已排入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同步</a:t>
            </a:r>
          </a:p>
        </p:txBody>
      </p:sp>
      <p:sp>
        <p:nvSpPr>
          <p:cNvPr id="7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D49F154D-927A-4007-A76D-888E839C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26856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让用户流等待设备完成通知</a:t>
            </a:r>
          </a:p>
        </p:txBody>
      </p:sp>
      <p:sp>
        <p:nvSpPr>
          <p:cNvPr id="73" name="此等待在 Host 发射后就已入队。设备通知到达后，用户流中后续任务才能使用本次输出。">
            <a:extLst xmlns:a="http://schemas.openxmlformats.org/drawingml/2006/main">
              <a:ext uri="{FF2B5EF4-FFF2-40B4-BE49-F238E27FC236}">
                <a16:creationId xmlns:a16="http://schemas.microsoft.com/office/drawing/2014/main" id="{FE7568C8-52C1-4653-8518-E5D1ED9F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555456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此等待在 Host 发射后就已入队。设备通知到达后，用户流中后续任务才能使用本次输出。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03CFC44-5DB0-4D08-9D3E-9FE4266A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38850"/>
            <a:ext cx="1162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5" name="最终 Rank 0 输出为 [0,1,10,11,20,21,30,31]。上层通过用户流顺序或显式流同步判断可用。">
            <a:extLst xmlns:a="http://schemas.openxmlformats.org/drawingml/2006/main">
              <a:ext uri="{FF2B5EF4-FFF2-40B4-BE49-F238E27FC236}">
                <a16:creationId xmlns:a16="http://schemas.microsoft.com/office/drawing/2014/main" id="{75815F16-4D1D-4DBC-9C12-F97CAE4D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1382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最终 Rank 0 输出为 [0,1,10,11,20,21,30,31]。上层通过用户流顺序或显式流同步判断可用。</a:t>
            </a:r>
          </a:p>
        </p:txBody>
      </p:sp>
    </p:spTree>
    <p:extLst>
      <p:ext uri="{BB962C8B-B14F-4D97-AF65-F5344CB8AC3E}">
        <p14:creationId xmlns:p14="http://schemas.microsoft.com/office/powerpoint/2010/main" val="16989630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补充 1. HcommWriteOnThread 里面还做了什么">
            <a:extLst xmlns:a="http://schemas.openxmlformats.org/drawingml/2006/main">
              <a:ext uri="{FF2B5EF4-FFF2-40B4-BE49-F238E27FC236}">
                <a16:creationId xmlns:a16="http://schemas.microsoft.com/office/drawing/2014/main" id="{045CD2A2-DEF4-4EC6-9E42-DF2F69CC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补充 1. HcommWriteOnThread 里面还做了什么</a:t>
            </a:r>
          </a:p>
        </p:txBody>
      </p:sp>
      <p:sp>
        <p:nvSpPr>
          <p:cNvPr id="2" name="继续向下看同一次“Rank 0 写 [2,3] 到 Rank 1”。下面是 950 适配实现，不把 API 返回画成远端立即完成。">
            <a:extLst xmlns:a="http://schemas.openxmlformats.org/drawingml/2006/main">
              <a:ext uri="{FF2B5EF4-FFF2-40B4-BE49-F238E27FC236}">
                <a16:creationId xmlns:a16="http://schemas.microsoft.com/office/drawing/2014/main" id="{A0EF2795-60D1-48F3-ABA3-9C9DB4A3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1123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继续向下看同一次“Rank 0 写 [2,3] 到 Rank 1”。下面是 950 适配实现，不把 API 返回画成远端立即完成。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19E40FAA-37A5-495F-AAFF-9F84A755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1912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F12D3-21B8-4A49-B876-5CB757D9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4BAEA-31B8-472E-A448-BAE38979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</a:ln>
        </p:spPr>
      </p:cxnSp>
      <p:sp>
        <p:nvSpPr>
          <p:cNvPr id="7" name="源码基线：hccl 170ddeec，hcomm 87ce550f。静态调用分析，数值示例未上板运行。">
            <a:extLst xmlns:a="http://schemas.openxmlformats.org/drawingml/2006/main">
              <a:ext uri="{FF2B5EF4-FFF2-40B4-BE49-F238E27FC236}">
                <a16:creationId xmlns:a16="http://schemas.microsoft.com/office/drawing/2014/main" id="{F9C6E82B-E5B6-443B-9037-662132B9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源码基线：hccl 170ddeec，hcomm 87ce550f。静态调用分析，数值示例未上板运行。</a:t>
            </a:r>
          </a:p>
        </p:txBody>
      </p:sp>
      <p:sp>
        <p:nvSpPr>
          <p:cNvPr id="8" name="顺序 / 调用发生在哪里">
            <a:extLst xmlns:a="http://schemas.openxmlformats.org/drawingml/2006/main">
              <a:ext uri="{FF2B5EF4-FFF2-40B4-BE49-F238E27FC236}">
                <a16:creationId xmlns:a16="http://schemas.microsoft.com/office/drawing/2014/main" id="{A2C244E5-9935-4290-A032-872D9C66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76300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顺序 / 调用发生在哪里</a:t>
            </a:r>
          </a:p>
        </p:txBody>
      </p:sp>
      <p:sp>
        <p:nvSpPr>
          <p:cNvPr id="9" name="函数名后直接说明作用，下行说明本例得到什么">
            <a:extLst xmlns:a="http://schemas.openxmlformats.org/drawingml/2006/main">
              <a:ext uri="{FF2B5EF4-FFF2-40B4-BE49-F238E27FC236}">
                <a16:creationId xmlns:a16="http://schemas.microsoft.com/office/drawing/2014/main" id="{7CB167A8-DA8C-4E0F-8AA5-B2956338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76300"/>
            <a:ext cx="923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函数名后直接说明作用，下行说明本例得到什么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6E348C-7441-4088-A352-11B7A946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71500-8395-44E0-BC98-987F440A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91027" y="1201103"/>
            <a:ext cx="0" cy="4542472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AB01F4-E21D-473F-8ABD-9FDD5B50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14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01">
            <a:extLst xmlns:a="http://schemas.openxmlformats.org/drawingml/2006/main">
              <a:ext uri="{FF2B5EF4-FFF2-40B4-BE49-F238E27FC236}">
                <a16:creationId xmlns:a16="http://schemas.microsoft.com/office/drawing/2014/main" id="{3592E595-1DBC-452E-A417-90757666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23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HCCL 调 HCOMM&#10;数据面 / 搬运">
            <a:extLst xmlns:a="http://schemas.openxmlformats.org/drawingml/2006/main">
              <a:ext uri="{FF2B5EF4-FFF2-40B4-BE49-F238E27FC236}">
                <a16:creationId xmlns:a16="http://schemas.microsoft.com/office/drawing/2014/main" id="{4D820E93-52E3-41FF-9016-B9BA1F09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095375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搬运</a:t>
            </a:r>
          </a:p>
        </p:txBody>
      </p:sp>
      <p:sp>
        <p:nvSpPr>
          <p:cNvPr id="1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F9E5260A-92C4-410E-835D-8AD1B4B4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76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HcommWriteOnThread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接收一次远端写任务的描述</a:t>
            </a:r>
          </a:p>
        </p:txBody>
      </p:sp>
      <p:sp>
        <p:nvSpPr>
          <p:cNvPr id="17" name="输入是执行 Thread、Channel、本地源地址、远端目的地址和字节数。">
            <a:extLst xmlns:a="http://schemas.openxmlformats.org/drawingml/2006/main">
              <a:ext uri="{FF2B5EF4-FFF2-40B4-BE49-F238E27FC236}">
                <a16:creationId xmlns:a16="http://schemas.microsoft.com/office/drawing/2014/main" id="{CDF9EF7C-5F05-49C7-A05F-CD8E819F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04925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输入是执行 Thread、Channel、本地源地址、远端目的地址和字节数。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D7C24F-FD80-4EAD-89B6-9E6A7E36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4544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1FC056-4FE8-4D2D-98A4-2C72F577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64544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15353" y="1645921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B8242B-FCB0-486A-908C-3ADDDD0B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21644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02">
            <a:extLst xmlns:a="http://schemas.openxmlformats.org/drawingml/2006/main">
              <a:ext uri="{FF2B5EF4-FFF2-40B4-BE49-F238E27FC236}">
                <a16:creationId xmlns:a16="http://schemas.microsoft.com/office/drawing/2014/main" id="{5F681B8B-EA6E-4DBB-9522-217F5A03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31169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HCOMM 数据面&#10;内部函数">
            <a:extLst xmlns:a="http://schemas.openxmlformats.org/drawingml/2006/main">
              <a:ext uri="{FF2B5EF4-FFF2-40B4-BE49-F238E27FC236}">
                <a16:creationId xmlns:a16="http://schemas.microsoft.com/office/drawing/2014/main" id="{39A0283F-A0EB-4383-BF7C-9DAEAA83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702594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2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C3AB523B-F39A-4C94-B508-90600E92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83544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UnwrapChannelHandle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把通道句柄解包为实际通道对象</a:t>
            </a:r>
          </a:p>
        </p:txBody>
      </p:sp>
      <p:sp>
        <p:nvSpPr>
          <p:cNvPr id="25" name="后续才能访问该 Channel 对应的传输实现。">
            <a:extLst xmlns:a="http://schemas.openxmlformats.org/drawingml/2006/main">
              <a:ext uri="{FF2B5EF4-FFF2-40B4-BE49-F238E27FC236}">
                <a16:creationId xmlns:a16="http://schemas.microsoft.com/office/drawing/2014/main" id="{AA9E40A5-6241-478C-9210-403B73C5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12144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后续才能访问该 Channel 对应的传输实现。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982B2B-7549-4976-9AA5-24C745EA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526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1BBF5B-54A7-42B0-BC8B-2775A651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2526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15353" y="2253140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527617-D46F-4ED4-B02D-F55A885B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328863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325492E3-9563-439E-A40F-9467158A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38388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1" name="HCOMM 数据面&#10;内部函数">
            <a:extLst xmlns:a="http://schemas.openxmlformats.org/drawingml/2006/main">
              <a:ext uri="{FF2B5EF4-FFF2-40B4-BE49-F238E27FC236}">
                <a16:creationId xmlns:a16="http://schemas.microsoft.com/office/drawing/2014/main" id="{5626D04D-AB0F-4672-827A-3F5BFAAB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09813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3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38834458-921E-4EFF-92E8-377ACD32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90763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AddThread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把本次使用的 Thread 加入执行管理</a:t>
            </a:r>
          </a:p>
        </p:txBody>
      </p:sp>
      <p:sp>
        <p:nvSpPr>
          <p:cNvPr id="33" name="为后面的批模式与任务管理记录参与者，不是另外新建一条通信线程。">
            <a:extLst xmlns:a="http://schemas.openxmlformats.org/drawingml/2006/main">
              <a:ext uri="{FF2B5EF4-FFF2-40B4-BE49-F238E27FC236}">
                <a16:creationId xmlns:a16="http://schemas.microsoft.com/office/drawing/2014/main" id="{98AA0E27-EBE3-4B3E-8E26-865BADBC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19363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为后面的批模式与任务管理记录参与者，不是另外新建一条通信线程。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3E439E-6F78-426D-A81B-AFA47369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988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427C7F-0B89-461A-976D-655A9698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85988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15353" y="2860358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6D975C-5EC8-4BC2-8CD0-F349BA57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936081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8" name="04">
            <a:extLst xmlns:a="http://schemas.openxmlformats.org/drawingml/2006/main">
              <a:ext uri="{FF2B5EF4-FFF2-40B4-BE49-F238E27FC236}">
                <a16:creationId xmlns:a16="http://schemas.microsoft.com/office/drawing/2014/main" id="{A94A8B60-70F5-402F-B68B-5B1C225D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945606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9" name="HCOMM 数据面&#10;内部方法">
            <a:extLst xmlns:a="http://schemas.openxmlformats.org/drawingml/2006/main">
              <a:ext uri="{FF2B5EF4-FFF2-40B4-BE49-F238E27FC236}">
                <a16:creationId xmlns:a16="http://schemas.microsoft.com/office/drawing/2014/main" id="{1D6E9E5D-3209-4089-9ABF-B16A7ABB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17031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内部方法</a:t>
            </a:r>
          </a:p>
        </p:txBody>
      </p:sp>
      <p:sp>
        <p:nvSpPr>
          <p:cNvPr id="4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B3BF2940-9103-4BFD-B4B7-7F3CD748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97981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Thread::GetStreamLitePtr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取得 950 的轻量任务流对象</a:t>
            </a:r>
          </a:p>
        </p:txBody>
      </p:sp>
      <p:sp>
        <p:nvSpPr>
          <p:cNvPr id="41" name="把本次搬运放到这个 Thread 对应的任务流上，保持与握手任务的顺序。">
            <a:extLst xmlns:a="http://schemas.openxmlformats.org/drawingml/2006/main">
              <a:ext uri="{FF2B5EF4-FFF2-40B4-BE49-F238E27FC236}">
                <a16:creationId xmlns:a16="http://schemas.microsoft.com/office/drawing/2014/main" id="{9693F945-14E3-490B-AF3E-2FB016FE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26581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把本次搬运放到这个 Thread 对应的任务流上，保持与握手任务的顺序。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72FFF3-893A-41E2-8A22-17806179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458700-A75B-4798-A39D-79238B45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15353" y="34675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9A3D8A-711B-4318-861F-EE125730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43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05">
            <a:extLst xmlns:a="http://schemas.openxmlformats.org/drawingml/2006/main">
              <a:ext uri="{FF2B5EF4-FFF2-40B4-BE49-F238E27FC236}">
                <a16:creationId xmlns:a16="http://schemas.microsoft.com/office/drawing/2014/main" id="{EDAF034F-5754-4438-9FE8-5958B0A8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528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7" name="HCOMM 传输层&#10;内部方法">
            <a:extLst xmlns:a="http://schemas.openxmlformats.org/drawingml/2006/main">
              <a:ext uri="{FF2B5EF4-FFF2-40B4-BE49-F238E27FC236}">
                <a16:creationId xmlns:a16="http://schemas.microsoft.com/office/drawing/2014/main" id="{8F796AF4-8E5B-4161-8634-106ED352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524250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传输层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内部方法</a:t>
            </a:r>
          </a:p>
        </p:txBody>
      </p:sp>
      <p:sp>
        <p:nvSpPr>
          <p:cNvPr id="4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2C6CE3B4-CD3E-4CF9-A4A1-776843F2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052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BaseTransportLiteImpl::BuildLocRmaBufferLite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构造本地访问描述</a:t>
            </a:r>
          </a:p>
        </p:txBody>
      </p:sp>
      <p:sp>
        <p:nvSpPr>
          <p:cNvPr id="49" name="将 src 和 len 整理成传输层需要的本地缓冲描述，供后续远端写使用。">
            <a:extLst xmlns:a="http://schemas.openxmlformats.org/drawingml/2006/main">
              <a:ext uri="{FF2B5EF4-FFF2-40B4-BE49-F238E27FC236}">
                <a16:creationId xmlns:a16="http://schemas.microsoft.com/office/drawing/2014/main" id="{143038E0-7B76-4C54-BB25-7121CC5F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33800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将 src 和 len 整理成传输层需要的本地缓冲描述，供后续远端写使用。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3D6EAA-6952-49A0-98C9-F529ECD2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431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C4F659F-40CF-49F7-B0AD-2ADEAADC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07431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915353" y="4074796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69D575-9D2E-4A84-89FE-8623145B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150519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06">
            <a:extLst xmlns:a="http://schemas.openxmlformats.org/drawingml/2006/main">
              <a:ext uri="{FF2B5EF4-FFF2-40B4-BE49-F238E27FC236}">
                <a16:creationId xmlns:a16="http://schemas.microsoft.com/office/drawing/2014/main" id="{00C88339-101E-4804-B875-8C1B3FD2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160044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5" name="HCOMM 传输层&#10;内部方法">
            <a:extLst xmlns:a="http://schemas.openxmlformats.org/drawingml/2006/main">
              <a:ext uri="{FF2B5EF4-FFF2-40B4-BE49-F238E27FC236}">
                <a16:creationId xmlns:a16="http://schemas.microsoft.com/office/drawing/2014/main" id="{3F7B32B3-AA62-4B6E-A374-AAEE7B33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31469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传输层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内部方法</a:t>
            </a:r>
          </a:p>
        </p:txBody>
      </p:sp>
      <p:sp>
        <p:nvSpPr>
          <p:cNvPr id="5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FEE50E19-8523-4C3D-A552-A165D354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12419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BaseTransportLiteImpl::Write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向所选传输实现提交远端写</a:t>
            </a:r>
          </a:p>
        </p:txBody>
      </p:sp>
      <p:sp>
        <p:nvSpPr>
          <p:cNvPr id="57" name="使用本地描述、远端地址和任务流生成后续传输任务。具体进一步下钻取决于 Channel 协议。">
            <a:extLst xmlns:a="http://schemas.openxmlformats.org/drawingml/2006/main">
              <a:ext uri="{FF2B5EF4-FFF2-40B4-BE49-F238E27FC236}">
                <a16:creationId xmlns:a16="http://schemas.microsoft.com/office/drawing/2014/main" id="{C81A369E-8446-48E6-994D-71A50B5A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41019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使用本地描述、远端地址和任务流生成后续传输任务。具体进一步下钻取决于 Channel 协议。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3DCAF14-8933-4CCF-ACA3-18D65B0D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15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89DD00-A95F-4491-8366-40464A07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815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915353" y="4682015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56DDE42-F74E-4A72-9A5B-A2537BC9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57738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2" name="07">
            <a:extLst xmlns:a="http://schemas.openxmlformats.org/drawingml/2006/main">
              <a:ext uri="{FF2B5EF4-FFF2-40B4-BE49-F238E27FC236}">
                <a16:creationId xmlns:a16="http://schemas.microsoft.com/office/drawing/2014/main" id="{90EA51EE-A663-43F4-8309-577E5079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767263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3" name="HCOMM 数据面&#10;本地拷贝 API">
            <a:extLst xmlns:a="http://schemas.openxmlformats.org/drawingml/2006/main">
              <a:ext uri="{FF2B5EF4-FFF2-40B4-BE49-F238E27FC236}">
                <a16:creationId xmlns:a16="http://schemas.microsoft.com/office/drawing/2014/main" id="{ADBFD331-A1FA-4D1B-9EEB-F12315FA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738688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本地拷贝 API</a:t>
            </a:r>
          </a:p>
        </p:txBody>
      </p:sp>
      <p:sp>
        <p:nvSpPr>
          <p:cNvPr id="6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19E65605-F9EC-4E3E-A595-F1AB9D43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19638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处理自分片或接收后的本地拷贝</a:t>
            </a:r>
          </a:p>
        </p:txBody>
      </p:sp>
      <p:sp>
        <p:nvSpPr>
          <p:cNvPr id="65" name="它最终通过 Thread 的本地拷贝能力搬字节，不走同一个跨 Rank 远端写过程。">
            <a:extLst xmlns:a="http://schemas.openxmlformats.org/drawingml/2006/main">
              <a:ext uri="{FF2B5EF4-FFF2-40B4-BE49-F238E27FC236}">
                <a16:creationId xmlns:a16="http://schemas.microsoft.com/office/drawing/2014/main" id="{12D0CA04-D6EB-4A20-992D-2C2B0657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48238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它最终通过 Thread 的本地拷贝能力搬字节，不走同一个跨 Rank 远端写过程。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7608EBB-F1C7-4039-8DA0-0A2DA6B2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875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B53C32B-BC26-4591-A440-4040551E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28875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915353" y="5289233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AE15B03-721F-45E0-BB43-4C11BB7F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64956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0" name="08">
            <a:extLst xmlns:a="http://schemas.openxmlformats.org/drawingml/2006/main">
              <a:ext uri="{FF2B5EF4-FFF2-40B4-BE49-F238E27FC236}">
                <a16:creationId xmlns:a16="http://schemas.microsoft.com/office/drawing/2014/main" id="{F1723217-201D-4328-86DA-1864FF3F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74481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1" name="HCOMM 数据面&#10;内部方法">
            <a:extLst xmlns:a="http://schemas.openxmlformats.org/drawingml/2006/main">
              <a:ext uri="{FF2B5EF4-FFF2-40B4-BE49-F238E27FC236}">
                <a16:creationId xmlns:a16="http://schemas.microsoft.com/office/drawing/2014/main" id="{8EB36383-7050-4B6C-8D8F-6B488238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345906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内部方法</a:t>
            </a:r>
          </a:p>
        </p:txBody>
      </p:sp>
      <p:sp>
        <p:nvSpPr>
          <p:cNvPr id="7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3055FC1F-A737-4F7E-B521-EAB8F3CD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26856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Thread::LocalCopy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在指定任务流安排本地复制</a:t>
            </a:r>
          </a:p>
        </p:txBody>
      </p:sp>
      <p:sp>
        <p:nvSpPr>
          <p:cNvPr id="73" name="在后拷贝场景，将本地 CCL 中的数据放入本地用户输出的正确位置。">
            <a:extLst xmlns:a="http://schemas.openxmlformats.org/drawingml/2006/main">
              <a:ext uri="{FF2B5EF4-FFF2-40B4-BE49-F238E27FC236}">
                <a16:creationId xmlns:a16="http://schemas.microsoft.com/office/drawing/2014/main" id="{C4C98ED3-D5D0-419F-9497-91798110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555456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在后拷贝场景，将本地 CCL 中的数据放入本地用户输出的正确位置。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4E29DFC-7171-4FA1-9C6B-868ACE61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38850"/>
            <a:ext cx="1162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5" name="HCCL 决定“和谁交换哪一片”，HCOMM 把该片的握手与搬运描述交给相应任务流和传输实现。">
            <a:extLst xmlns:a="http://schemas.openxmlformats.org/drawingml/2006/main">
              <a:ext uri="{FF2B5EF4-FFF2-40B4-BE49-F238E27FC236}">
                <a16:creationId xmlns:a16="http://schemas.microsoft.com/office/drawing/2014/main" id="{58185C3A-1B31-4B4C-8A8E-DE8C2E49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1382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决定“和谁交换哪一片”，HCOMM 把该片的握手与搬运描述交给相应任务流和传输实现。</a:t>
            </a:r>
          </a:p>
        </p:txBody>
      </p:sp>
    </p:spTree>
    <p:extLst>
      <p:ext uri="{BB962C8B-B14F-4D97-AF65-F5344CB8AC3E}">
        <p14:creationId xmlns:p14="http://schemas.microsoft.com/office/powerpoint/2010/main" val="15249885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补充 2. 拓扑查询里的每个接口分别回答什么">
            <a:extLst xmlns:a="http://schemas.openxmlformats.org/drawingml/2006/main">
              <a:ext uri="{FF2B5EF4-FFF2-40B4-BE49-F238E27FC236}">
                <a16:creationId xmlns:a16="http://schemas.microsoft.com/office/drawing/2014/main" id="{B98041AD-1C71-4AE2-BACC-741BCB11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补充 2. 拓扑查询里的每个接口分别回答什么</a:t>
            </a:r>
          </a:p>
        </p:txBody>
      </p:sp>
      <p:sp>
        <p:nvSpPr>
          <p:cNvPr id="2" name="对应第 3 页拓扑缓存未命中的局部展开。下面按查询对象解释，实际调用组合和次数受拓扑分支影响。">
            <a:extLst xmlns:a="http://schemas.openxmlformats.org/drawingml/2006/main">
              <a:ext uri="{FF2B5EF4-FFF2-40B4-BE49-F238E27FC236}">
                <a16:creationId xmlns:a16="http://schemas.microsoft.com/office/drawing/2014/main" id="{C9EE165E-AF1F-4EBA-9E41-FBA241C1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1123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对应第 3 页拓扑缓存未命中的局部展开。下面按查询对象解释，实际调用组合和次数受拓扑分支影响。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6BDB034E-0BAB-40CF-B3DA-258F849A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1912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DBE34-45B8-446F-8119-110F92A9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745CC-5073-411D-9948-7F56C9F8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</a:ln>
        </p:spPr>
      </p:cxnSp>
      <p:sp>
        <p:nvSpPr>
          <p:cNvPr id="7" name="源码基线：hccl 170ddeec，hcomm 87ce550f。静态调用分析，数值示例未上板运行。">
            <a:extLst xmlns:a="http://schemas.openxmlformats.org/drawingml/2006/main">
              <a:ext uri="{FF2B5EF4-FFF2-40B4-BE49-F238E27FC236}">
                <a16:creationId xmlns:a16="http://schemas.microsoft.com/office/drawing/2014/main" id="{90561F58-F62C-405A-B468-D1A78DAC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源码基线：hccl 170ddeec，hcomm 87ce550f。静态调用分析，数值示例未上板运行。</a:t>
            </a:r>
          </a:p>
        </p:txBody>
      </p:sp>
      <p:sp>
        <p:nvSpPr>
          <p:cNvPr id="8" name="顺序 / 调用发生在哪里">
            <a:extLst xmlns:a="http://schemas.openxmlformats.org/drawingml/2006/main">
              <a:ext uri="{FF2B5EF4-FFF2-40B4-BE49-F238E27FC236}">
                <a16:creationId xmlns:a16="http://schemas.microsoft.com/office/drawing/2014/main" id="{5D740598-0CC2-4ADE-8285-A0EA45FA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76300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顺序 / 调用发生在哪里</a:t>
            </a:r>
          </a:p>
        </p:txBody>
      </p:sp>
      <p:sp>
        <p:nvSpPr>
          <p:cNvPr id="9" name="函数名后直接说明作用，下行说明本例得到什么">
            <a:extLst xmlns:a="http://schemas.openxmlformats.org/drawingml/2006/main">
              <a:ext uri="{FF2B5EF4-FFF2-40B4-BE49-F238E27FC236}">
                <a16:creationId xmlns:a16="http://schemas.microsoft.com/office/drawing/2014/main" id="{4E6905D7-1A67-4F84-AA6B-BA618B7B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76300"/>
            <a:ext cx="923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函数名后直接说明作用，下行说明本例得到什么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8A159-F667-40FD-952F-33FF9CE9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D4B6A-0902-4A3C-BAD7-0793B556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91027" y="1201103"/>
            <a:ext cx="0" cy="4542472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0BDDD6-213E-4C53-83D1-79FB10A6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14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01">
            <a:extLst xmlns:a="http://schemas.openxmlformats.org/drawingml/2006/main">
              <a:ext uri="{FF2B5EF4-FFF2-40B4-BE49-F238E27FC236}">
                <a16:creationId xmlns:a16="http://schemas.microsoft.com/office/drawing/2014/main" id="{D3BC0F97-592A-4633-A792-0AA14FDB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23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HCCL 调 HCOMM&#10;控制面 / 拓扑">
            <a:extLst xmlns:a="http://schemas.openxmlformats.org/drawingml/2006/main">
              <a:ext uri="{FF2B5EF4-FFF2-40B4-BE49-F238E27FC236}">
                <a16:creationId xmlns:a16="http://schemas.microsoft.com/office/drawing/2014/main" id="{D8EF165D-D5AD-42ED-A0B6-C0AB6F17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09537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拓扑</a:t>
            </a:r>
          </a:p>
        </p:txBody>
      </p:sp>
      <p:sp>
        <p:nvSpPr>
          <p:cNvPr id="1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B420AECA-43E4-430C-BA5C-318B675A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76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HcclRankGraphGetLayers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有哪些网络层</a:t>
            </a:r>
          </a:p>
        </p:txBody>
      </p:sp>
      <p:sp>
        <p:nvSpPr>
          <p:cNvPr id="17" name="返回网络层标识，用于了解通信域是怎样分层组织的。">
            <a:extLst xmlns:a="http://schemas.openxmlformats.org/drawingml/2006/main">
              <a:ext uri="{FF2B5EF4-FFF2-40B4-BE49-F238E27FC236}">
                <a16:creationId xmlns:a16="http://schemas.microsoft.com/office/drawing/2014/main" id="{3ED5F2C2-18E0-4971-A234-30663C1D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0492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返回网络层标识，用于了解通信域是怎样分层组织的。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CCE720-11C9-4A84-A70E-F19C3B01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F2B56A-D8C3-4D72-B9A2-AF4DC4C2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2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15353" y="15244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6F7671-5F53-4B4E-8670-0C57C04E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00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02">
            <a:extLst xmlns:a="http://schemas.openxmlformats.org/drawingml/2006/main">
              <a:ext uri="{FF2B5EF4-FFF2-40B4-BE49-F238E27FC236}">
                <a16:creationId xmlns:a16="http://schemas.microsoft.com/office/drawing/2014/main" id="{599F67CD-1B6D-4E5C-B55E-C51C0BB0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097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HCCL 调 HCOMM&#10;控制面 / 拓扑">
            <a:extLst xmlns:a="http://schemas.openxmlformats.org/drawingml/2006/main">
              <a:ext uri="{FF2B5EF4-FFF2-40B4-BE49-F238E27FC236}">
                <a16:creationId xmlns:a16="http://schemas.microsoft.com/office/drawing/2014/main" id="{35301844-0126-41BF-AC52-7F8FA511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5811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拓扑</a:t>
            </a:r>
          </a:p>
        </p:txBody>
      </p:sp>
      <p:sp>
        <p:nvSpPr>
          <p:cNvPr id="2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2060A6BC-4B44-4D82-A965-48707127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621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HcclRankGraphGetInstSizeListByLayer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这一层各拓扑实例有多大</a:t>
            </a:r>
          </a:p>
        </p:txBody>
      </p:sp>
      <p:sp>
        <p:nvSpPr>
          <p:cNvPr id="25" name="返回实例规模信息，帮助 HCCL 判断这一层的组织形态。">
            <a:extLst xmlns:a="http://schemas.openxmlformats.org/drawingml/2006/main">
              <a:ext uri="{FF2B5EF4-FFF2-40B4-BE49-F238E27FC236}">
                <a16:creationId xmlns:a16="http://schemas.microsoft.com/office/drawing/2014/main" id="{46FF6DA0-B0DC-4D45-9E93-0911E097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907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返回实例规模信息，帮助 HCCL 判断这一层的组织形态。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556E1E-1B88-47A6-85BD-D111CB45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9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7CE79A-5AEE-4C28-AECE-20FF7584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009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15353" y="20102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A9599E-55A7-4092-9EF7-A5AA0B93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859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181303BB-AF58-475F-8272-C61FD44F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955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1" name="HCCL 调 HCOMM&#10;控制面 / 拓扑">
            <a:extLst xmlns:a="http://schemas.openxmlformats.org/drawingml/2006/main">
              <a:ext uri="{FF2B5EF4-FFF2-40B4-BE49-F238E27FC236}">
                <a16:creationId xmlns:a16="http://schemas.microsoft.com/office/drawing/2014/main" id="{4BDA78E1-52C4-4327-812A-AC4C1BB3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6692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拓扑</a:t>
            </a:r>
          </a:p>
        </p:txBody>
      </p:sp>
      <p:sp>
        <p:nvSpPr>
          <p:cNvPr id="3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5489B7DA-41E6-4507-9FA4-F244AC89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478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HcclRankGraphGetRanksByLayer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这一层包含哪些 Rank</a:t>
            </a:r>
          </a:p>
        </p:txBody>
      </p:sp>
      <p:sp>
        <p:nvSpPr>
          <p:cNvPr id="33" name="给出层级成员，用于构造算法通信分组。">
            <a:extLst xmlns:a="http://schemas.openxmlformats.org/drawingml/2006/main">
              <a:ext uri="{FF2B5EF4-FFF2-40B4-BE49-F238E27FC236}">
                <a16:creationId xmlns:a16="http://schemas.microsoft.com/office/drawing/2014/main" id="{1046412D-4855-4D6A-9412-8482883E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7647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给出层级成员，用于构造算法通信分组。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8D81C7-C2AE-4FCF-83B5-3FBC9BBB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67616E-A1E3-4A38-B793-E628D97F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15353" y="249602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0AF5CC-B8BF-43C3-808F-6E6E0A4F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717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8" name="04">
            <a:extLst xmlns:a="http://schemas.openxmlformats.org/drawingml/2006/main">
              <a:ext uri="{FF2B5EF4-FFF2-40B4-BE49-F238E27FC236}">
                <a16:creationId xmlns:a16="http://schemas.microsoft.com/office/drawing/2014/main" id="{14A2CDDA-509A-470F-84A7-53E1EA54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58127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9" name="HCCL 调 HCOMM&#10;控制面 / 拓扑">
            <a:extLst xmlns:a="http://schemas.openxmlformats.org/drawingml/2006/main">
              <a:ext uri="{FF2B5EF4-FFF2-40B4-BE49-F238E27FC236}">
                <a16:creationId xmlns:a16="http://schemas.microsoft.com/office/drawing/2014/main" id="{624F0D2E-E619-448D-A91C-81B2EAC1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5270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拓扑</a:t>
            </a:r>
          </a:p>
        </p:txBody>
      </p:sp>
      <p:sp>
        <p:nvSpPr>
          <p:cNvPr id="4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D27BF3B6-1D1C-4431-87CC-B114C64A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3365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HcclRankGraphGetTopoInstsByLayer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这一层有哪些拓扑实例</a:t>
            </a:r>
          </a:p>
        </p:txBody>
      </p:sp>
      <p:sp>
        <p:nvSpPr>
          <p:cNvPr id="41" name="列举该层的具体实例，下一步可逐实例查询类型和成员。">
            <a:extLst xmlns:a="http://schemas.openxmlformats.org/drawingml/2006/main">
              <a:ext uri="{FF2B5EF4-FFF2-40B4-BE49-F238E27FC236}">
                <a16:creationId xmlns:a16="http://schemas.microsoft.com/office/drawing/2014/main" id="{AB9B3C4E-EF3A-4978-AAFA-60238D12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622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列举该层的具体实例，下一步可逐实例查询类型和成员。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F813D1-A001-48C9-A416-3857AAE0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68F9FE-86F1-47FD-ABC1-D81A79C8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15353" y="29818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18413A-FC1C-498B-8123-1B26A179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57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05">
            <a:extLst xmlns:a="http://schemas.openxmlformats.org/drawingml/2006/main">
              <a:ext uri="{FF2B5EF4-FFF2-40B4-BE49-F238E27FC236}">
                <a16:creationId xmlns:a16="http://schemas.microsoft.com/office/drawing/2014/main" id="{A6103DDF-0B7C-430E-A699-9A314B15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670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7" name="HCCL 调 HCOMM&#10;控制面 / 拓扑">
            <a:extLst xmlns:a="http://schemas.openxmlformats.org/drawingml/2006/main">
              <a:ext uri="{FF2B5EF4-FFF2-40B4-BE49-F238E27FC236}">
                <a16:creationId xmlns:a16="http://schemas.microsoft.com/office/drawing/2014/main" id="{12C1D0B9-333F-408D-B351-8A38E214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3847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拓扑</a:t>
            </a:r>
          </a:p>
        </p:txBody>
      </p:sp>
      <p:sp>
        <p:nvSpPr>
          <p:cNvPr id="4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56A691AD-BB1A-4B9F-90A1-5E425121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194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HcclRankGraphGetTopoType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指定实例是什么拓扑类型</a:t>
            </a:r>
          </a:p>
        </p:txBody>
      </p:sp>
      <p:sp>
        <p:nvSpPr>
          <p:cNvPr id="49" name="给出拓扑类型信息，帮助选择能用于该拓扑的算法。">
            <a:extLst xmlns:a="http://schemas.openxmlformats.org/drawingml/2006/main">
              <a:ext uri="{FF2B5EF4-FFF2-40B4-BE49-F238E27FC236}">
                <a16:creationId xmlns:a16="http://schemas.microsoft.com/office/drawing/2014/main" id="{87483A65-5046-4531-A889-339AEDD9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4802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给出拓扑类型信息，帮助选择能用于该拓扑的算法。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CC4506A-79CE-4964-AC6B-C3362F4F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55F8B45-3511-4E82-9226-43DC8578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915353" y="34675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F26446-BED3-4855-AF44-4305672A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43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06">
            <a:extLst xmlns:a="http://schemas.openxmlformats.org/drawingml/2006/main">
              <a:ext uri="{FF2B5EF4-FFF2-40B4-BE49-F238E27FC236}">
                <a16:creationId xmlns:a16="http://schemas.microsoft.com/office/drawing/2014/main" id="{1134D726-3AF2-409D-880F-4F234B0D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528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5" name="HCCL 调 HCOMM&#10;控制面 / 拓扑">
            <a:extLst xmlns:a="http://schemas.openxmlformats.org/drawingml/2006/main">
              <a:ext uri="{FF2B5EF4-FFF2-40B4-BE49-F238E27FC236}">
                <a16:creationId xmlns:a16="http://schemas.microsoft.com/office/drawing/2014/main" id="{4EE052C4-5F11-4B6A-9934-DCF7BF71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5242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拓扑</a:t>
            </a:r>
          </a:p>
        </p:txBody>
      </p:sp>
      <p:sp>
        <p:nvSpPr>
          <p:cNvPr id="5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498A7BCD-67D0-4D79-AC01-5D937ED5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052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HcclRankGraphGetRanksByTopoInst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指定实例有哪些成员</a:t>
            </a:r>
          </a:p>
        </p:txBody>
      </p:sp>
      <p:sp>
        <p:nvSpPr>
          <p:cNvPr id="57" name="将拓扑实例与实际 Rank 编号对应起来。">
            <a:extLst xmlns:a="http://schemas.openxmlformats.org/drawingml/2006/main">
              <a:ext uri="{FF2B5EF4-FFF2-40B4-BE49-F238E27FC236}">
                <a16:creationId xmlns:a16="http://schemas.microsoft.com/office/drawing/2014/main" id="{DC9336A8-79DC-40DE-8452-7D98D24D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33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将拓扑实例与实际 Rank 编号对应起来。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355E280-CDFE-4397-8BA0-835DCFF7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7A059E5-9DDC-448E-856B-844BC4F6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952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915353" y="39533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64DB277-B69D-4831-8273-467CA308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29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2" name="07">
            <a:extLst xmlns:a="http://schemas.openxmlformats.org/drawingml/2006/main">
              <a:ext uri="{FF2B5EF4-FFF2-40B4-BE49-F238E27FC236}">
                <a16:creationId xmlns:a16="http://schemas.microsoft.com/office/drawing/2014/main" id="{4AED86EC-5B82-46E4-AF3A-956241FF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386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3" name="HCCL 调 HCOMM&#10;控制面 / 拓扑">
            <a:extLst xmlns:a="http://schemas.openxmlformats.org/drawingml/2006/main">
              <a:ext uri="{FF2B5EF4-FFF2-40B4-BE49-F238E27FC236}">
                <a16:creationId xmlns:a16="http://schemas.microsoft.com/office/drawing/2014/main" id="{DF34D4B0-619D-4B11-A423-F14EFD57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01002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拓扑</a:t>
            </a:r>
          </a:p>
        </p:txBody>
      </p:sp>
      <p:sp>
        <p:nvSpPr>
          <p:cNvPr id="6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A689E98F-DD91-4082-801C-D59CC7F9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909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HcclRankGraphGetEndpointNum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一个 Rank 有多少可查询端点</a:t>
            </a:r>
          </a:p>
        </p:txBody>
      </p:sp>
      <p:sp>
        <p:nvSpPr>
          <p:cNvPr id="65" name="先得到端点数量，准备后续端点描述查询。">
            <a:extLst xmlns:a="http://schemas.openxmlformats.org/drawingml/2006/main">
              <a:ext uri="{FF2B5EF4-FFF2-40B4-BE49-F238E27FC236}">
                <a16:creationId xmlns:a16="http://schemas.microsoft.com/office/drawing/2014/main" id="{713AC183-C57F-4435-8EA3-CDDF4017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1957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先得到端点数量，准备后续端点描述查询。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2C59353-8B90-4504-B64C-03A1E353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34338F0-D78E-4C7D-AB23-019F2C8B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915353" y="443912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8FFAC35-344E-4772-97C2-691EFDF4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148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0" name="08">
            <a:extLst xmlns:a="http://schemas.openxmlformats.org/drawingml/2006/main">
              <a:ext uri="{FF2B5EF4-FFF2-40B4-BE49-F238E27FC236}">
                <a16:creationId xmlns:a16="http://schemas.microsoft.com/office/drawing/2014/main" id="{52295BEA-CCCB-44F4-B054-3D4DB699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52437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1" name="HCCL 调 HCOMM&#10;控制面 / 拓扑">
            <a:extLst xmlns:a="http://schemas.openxmlformats.org/drawingml/2006/main">
              <a:ext uri="{FF2B5EF4-FFF2-40B4-BE49-F238E27FC236}">
                <a16:creationId xmlns:a16="http://schemas.microsoft.com/office/drawing/2014/main" id="{5A70753C-E5F8-4E3C-96F1-CEBC6FC7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49580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拓扑</a:t>
            </a:r>
          </a:p>
        </p:txBody>
      </p:sp>
      <p:sp>
        <p:nvSpPr>
          <p:cNvPr id="7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5C2B57CD-92A2-4300-BEA1-3F53A657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7675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HcclRankGraphGetEndpointDesc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这些端点怎样标识</a:t>
            </a:r>
          </a:p>
        </p:txBody>
      </p:sp>
      <p:sp>
        <p:nvSpPr>
          <p:cNvPr id="73" name="返回端点描述，供链路选择和 Channel 请求使用。">
            <a:extLst xmlns:a="http://schemas.openxmlformats.org/drawingml/2006/main">
              <a:ext uri="{FF2B5EF4-FFF2-40B4-BE49-F238E27FC236}">
                <a16:creationId xmlns:a16="http://schemas.microsoft.com/office/drawing/2014/main" id="{74384C39-294F-4C43-A889-89A5C012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053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返回端点描述，供链路选择和 Channel 请求使用。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B739F67-2C72-4CC6-BC47-6735F1C1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24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F0FED0D-5AB0-4CE2-8B74-CC62C752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924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915353" y="49249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4D7946E-D2B6-4B49-AF4E-A0B7932E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006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09">
            <a:extLst xmlns:a="http://schemas.openxmlformats.org/drawingml/2006/main">
              <a:ext uri="{FF2B5EF4-FFF2-40B4-BE49-F238E27FC236}">
                <a16:creationId xmlns:a16="http://schemas.microsoft.com/office/drawing/2014/main" id="{C49522D5-1843-4E66-B5F2-958DC584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0101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79" name="HCCL 调 HCOMM&#10;控制面 / 拓扑">
            <a:extLst xmlns:a="http://schemas.openxmlformats.org/drawingml/2006/main">
              <a:ext uri="{FF2B5EF4-FFF2-40B4-BE49-F238E27FC236}">
                <a16:creationId xmlns:a16="http://schemas.microsoft.com/office/drawing/2014/main" id="{31B5CC57-D4B4-43D2-83EE-830F9314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98157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拓扑</a:t>
            </a:r>
          </a:p>
        </p:txBody>
      </p:sp>
      <p:sp>
        <p:nvSpPr>
          <p:cNvPr id="8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15D55698-A246-406A-9699-FE7BEB6F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625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HcclRankGraphGetEndpointInfo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端点还有哪些属性</a:t>
            </a:r>
          </a:p>
        </p:txBody>
      </p:sp>
      <p:sp>
        <p:nvSpPr>
          <p:cNvPr id="81" name="查询带宽系数、Die 等属性，后面按端口切分数据也会用到。">
            <a:extLst xmlns:a="http://schemas.openxmlformats.org/drawingml/2006/main">
              <a:ext uri="{FF2B5EF4-FFF2-40B4-BE49-F238E27FC236}">
                <a16:creationId xmlns:a16="http://schemas.microsoft.com/office/drawing/2014/main" id="{081DC7AC-895E-4E1B-BA6D-9607B92A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9112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查询带宽系数、Die 等属性，后面按端口切分数据也会用到。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A8234EB-F602-4FF1-9872-ADE6D317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59C5092-B008-4764-8538-8E61DF6E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41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" name=""/>
          <p:cNvCxnSpPr>
            <a:stCxn xmlns:a="http://schemas.openxmlformats.org/drawingml/2006/main" id="82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915353" y="54106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BF0ED8D-CDE8-4CD4-8754-2524D28E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486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6" name="10">
            <a:extLst xmlns:a="http://schemas.openxmlformats.org/drawingml/2006/main">
              <a:ext uri="{FF2B5EF4-FFF2-40B4-BE49-F238E27FC236}">
                <a16:creationId xmlns:a16="http://schemas.microsoft.com/office/drawing/2014/main" id="{9E9AF7B3-D4D6-41BB-8E61-19F4B67F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4959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87" name="HCCL 调 HCOMM&#10;控制面 / 拓扑">
            <a:extLst xmlns:a="http://schemas.openxmlformats.org/drawingml/2006/main">
              <a:ext uri="{FF2B5EF4-FFF2-40B4-BE49-F238E27FC236}">
                <a16:creationId xmlns:a16="http://schemas.microsoft.com/office/drawing/2014/main" id="{3CCACB1D-13B9-42B1-8B6F-C685BD66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4673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拓扑</a:t>
            </a:r>
          </a:p>
        </p:txBody>
      </p:sp>
      <p:sp>
        <p:nvSpPr>
          <p:cNvPr id="8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9A99AC39-4182-4BDE-A65B-0CB4B470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483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HcclRankGraphGetLinks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两个 Rank 之间有哪些链路</a:t>
            </a:r>
          </a:p>
        </p:txBody>
      </p:sp>
      <p:sp>
        <p:nvSpPr>
          <p:cNvPr id="89" name="得到可用链路信息，帮助选定通信端点、协议及建链请求。">
            <a:extLst xmlns:a="http://schemas.openxmlformats.org/drawingml/2006/main">
              <a:ext uri="{FF2B5EF4-FFF2-40B4-BE49-F238E27FC236}">
                <a16:creationId xmlns:a16="http://schemas.microsoft.com/office/drawing/2014/main" id="{935B8999-901A-4513-857E-4BD46A94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769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得到可用链路信息，帮助选定通信端点、协议及建链请求。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C68E803-BDFC-4599-82ED-8E21D34F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38850"/>
            <a:ext cx="1162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91" name="查询得到的是“怎么连接、有哪些成员和端点”的说明，既不建立所有通道，也不搬运用户输入。">
            <a:extLst xmlns:a="http://schemas.openxmlformats.org/drawingml/2006/main">
              <a:ext uri="{FF2B5EF4-FFF2-40B4-BE49-F238E27FC236}">
                <a16:creationId xmlns:a16="http://schemas.microsoft.com/office/drawing/2014/main" id="{141C3683-0282-4172-A849-F5A28C1C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1382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查询得到的是“怎么连接、有哪些成员和端点”的说明，既不建立所有通道，也不搬运用户输入。</a:t>
            </a:r>
          </a:p>
        </p:txBody>
      </p:sp>
    </p:spTree>
    <p:extLst>
      <p:ext uri="{BB962C8B-B14F-4D97-AF65-F5344CB8AC3E}">
        <p14:creationId xmlns:p14="http://schemas.microsoft.com/office/powerpoint/2010/main" val="18045398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补充 3. 再运行一次时，哪些步骤可能省掉或改变">
            <a:extLst xmlns:a="http://schemas.openxmlformats.org/drawingml/2006/main">
              <a:ext uri="{FF2B5EF4-FFF2-40B4-BE49-F238E27FC236}">
                <a16:creationId xmlns:a16="http://schemas.microsoft.com/office/drawing/2014/main" id="{5310773E-C8B6-4EB6-8C71-5ED37C35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补充 3. 再运行一次时，哪些步骤可能省掉或改变</a:t>
            </a:r>
          </a:p>
        </p:txBody>
      </p:sp>
      <p:sp>
        <p:nvSpPr>
          <p:cNvPr id="2" name="先讲清无缓存主线，再单独看变化。下面都是有条件的分支，不能串成每次 AllToAll 的固定执行顺序。">
            <a:extLst xmlns:a="http://schemas.openxmlformats.org/drawingml/2006/main">
              <a:ext uri="{FF2B5EF4-FFF2-40B4-BE49-F238E27FC236}">
                <a16:creationId xmlns:a16="http://schemas.microsoft.com/office/drawing/2014/main" id="{5482E1D9-3BDD-4C69-AE3F-EC551756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1123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先讲清无缓存主线，再单独看变化。下面都是有条件的分支，不能串成每次 AllToAll 的固定执行顺序。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D2B0DD6C-92B0-4922-B60A-78DED336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1912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4B092-9544-4DF3-9470-6B23AC1E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9CB68-1A25-4834-A92A-32A62BBF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</a:ln>
        </p:spPr>
      </p:cxnSp>
      <p:sp>
        <p:nvSpPr>
          <p:cNvPr id="7" name="源码基线：hccl 170ddeec，hcomm 87ce550f。静态调用分析，数值示例未上板运行。">
            <a:extLst xmlns:a="http://schemas.openxmlformats.org/drawingml/2006/main">
              <a:ext uri="{FF2B5EF4-FFF2-40B4-BE49-F238E27FC236}">
                <a16:creationId xmlns:a16="http://schemas.microsoft.com/office/drawing/2014/main" id="{204E2C48-DDE5-4F4B-8521-355E78EF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源码基线：hccl 170ddeec，hcomm 87ce550f。静态调用分析，数值示例未上板运行。</a:t>
            </a:r>
          </a:p>
        </p:txBody>
      </p:sp>
      <p:sp>
        <p:nvSpPr>
          <p:cNvPr id="8" name="顺序 / 调用发生在哪里">
            <a:extLst xmlns:a="http://schemas.openxmlformats.org/drawingml/2006/main">
              <a:ext uri="{FF2B5EF4-FFF2-40B4-BE49-F238E27FC236}">
                <a16:creationId xmlns:a16="http://schemas.microsoft.com/office/drawing/2014/main" id="{B0E545C3-8D33-4110-9D68-314F5A15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76300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顺序 / 调用发生在哪里</a:t>
            </a:r>
          </a:p>
        </p:txBody>
      </p:sp>
      <p:sp>
        <p:nvSpPr>
          <p:cNvPr id="9" name="函数名后直接说明作用，下行说明本例得到什么">
            <a:extLst xmlns:a="http://schemas.openxmlformats.org/drawingml/2006/main">
              <a:ext uri="{FF2B5EF4-FFF2-40B4-BE49-F238E27FC236}">
                <a16:creationId xmlns:a16="http://schemas.microsoft.com/office/drawing/2014/main" id="{FBF93C46-C53F-4705-9DF5-A6DF57C1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76300"/>
            <a:ext cx="923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函数名后直接说明作用，下行说明本例得到什么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137F7-3208-4CEF-8D3B-B8D585E5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2AB965-04B3-4001-AC34-B8565CEC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91027" y="1201103"/>
            <a:ext cx="0" cy="4542472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AF180B-C063-41C0-9A35-FF622734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14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01">
            <a:extLst xmlns:a="http://schemas.openxmlformats.org/drawingml/2006/main">
              <a:ext uri="{FF2B5EF4-FFF2-40B4-BE49-F238E27FC236}">
                <a16:creationId xmlns:a16="http://schemas.microsoft.com/office/drawing/2014/main" id="{85C0A7D7-0F14-4784-85FB-9CBE0C6C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23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HCCL 调 HCOMM&#10;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79AF7AC7-DC4B-4A53-8D34-AFEAE562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095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域资源</a:t>
            </a:r>
          </a:p>
        </p:txBody>
      </p:sp>
      <p:sp>
        <p:nvSpPr>
          <p:cNvPr id="1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8AC67E12-3F9E-47F0-A5B6-959A61F5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76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HcclEngineCtxGet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命中算法资源时复用已有上下文</a:t>
            </a:r>
          </a:p>
        </p:txBody>
      </p:sp>
      <p:sp>
        <p:nvSpPr>
          <p:cNvPr id="17" name="可跳过相应资源计算、建链和上下文复制，数据搬运与通知任务仍需执行。">
            <a:extLst xmlns:a="http://schemas.openxmlformats.org/drawingml/2006/main">
              <a:ext uri="{FF2B5EF4-FFF2-40B4-BE49-F238E27FC236}">
                <a16:creationId xmlns:a16="http://schemas.microsoft.com/office/drawing/2014/main" id="{75220279-0178-40E0-9709-5A05A39A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04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可跳过相应资源计算、建链和上下文复制，数据搬运与通知任务仍需执行。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85D506-4400-429A-8A76-5F112B85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7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E62469-EC1B-4006-9818-E403247E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77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15353" y="15784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65B901-EBC2-4A7E-AC3D-B425D2B3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54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02">
            <a:extLst xmlns:a="http://schemas.openxmlformats.org/drawingml/2006/main">
              <a:ext uri="{FF2B5EF4-FFF2-40B4-BE49-F238E27FC236}">
                <a16:creationId xmlns:a16="http://schemas.microsoft.com/office/drawing/2014/main" id="{72F6F2F0-9936-48B8-AB6B-3CCCC6F0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637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HCCL 调 HCOMM&#10;数据面 / 执行控制">
            <a:extLst xmlns:a="http://schemas.openxmlformats.org/drawingml/2006/main">
              <a:ext uri="{FF2B5EF4-FFF2-40B4-BE49-F238E27FC236}">
                <a16:creationId xmlns:a16="http://schemas.microsoft.com/office/drawing/2014/main" id="{DC8BFDBD-1681-4867-B723-5381C8DB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6351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执行控制</a:t>
            </a:r>
          </a:p>
        </p:txBody>
      </p:sp>
      <p:sp>
        <p:nvSpPr>
          <p:cNvPr id="2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F86E3864-BF81-4B00-8E7F-53558B05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160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HcommAicpuTsTaskCacheLookup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查询已经录制的通信任务</a:t>
            </a:r>
          </a:p>
        </p:txBody>
      </p:sp>
      <p:sp>
        <p:nvSpPr>
          <p:cNvPr id="25" name="须满足任务缓存开关和能力条件。它与 Host 的资源缓存是两件事。">
            <a:extLst xmlns:a="http://schemas.openxmlformats.org/drawingml/2006/main">
              <a:ext uri="{FF2B5EF4-FFF2-40B4-BE49-F238E27FC236}">
                <a16:creationId xmlns:a16="http://schemas.microsoft.com/office/drawing/2014/main" id="{220A00DB-4AA6-4576-9165-51352F05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446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须满足任务缓存开关和能力条件。它与 Host 的资源缓存是两件事。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DC0559-A78F-43CA-9CE3-47076A21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0DE3D0-CC6C-4B44-8485-84707F84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11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15353" y="21182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7F5EE6-6070-462D-9761-CFC998B2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39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B18182C7-31AB-4C45-A868-640505FF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034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1" name="HCCL 调 HCOMM&#10;数据面 / 执行控制">
            <a:extLst xmlns:a="http://schemas.openxmlformats.org/drawingml/2006/main">
              <a:ext uri="{FF2B5EF4-FFF2-40B4-BE49-F238E27FC236}">
                <a16:creationId xmlns:a16="http://schemas.microsoft.com/office/drawing/2014/main" id="{29FBEE5F-3D8B-4AC8-A1CB-2543B61E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748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执行控制</a:t>
            </a:r>
          </a:p>
        </p:txBody>
      </p:sp>
      <p:sp>
        <p:nvSpPr>
          <p:cNvPr id="3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186E34C5-C030-4DB1-BF44-535263CC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558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HcommAicpuTsTaskCacheStart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未命中时开始录制新任务</a:t>
            </a:r>
          </a:p>
        </p:txBody>
      </p:sp>
      <p:sp>
        <p:nvSpPr>
          <p:cNvPr id="33" name="后面仍执行普通编排，把产生的同步和搬运任务录下来。">
            <a:extLst xmlns:a="http://schemas.openxmlformats.org/drawingml/2006/main">
              <a:ext uri="{FF2B5EF4-FFF2-40B4-BE49-F238E27FC236}">
                <a16:creationId xmlns:a16="http://schemas.microsoft.com/office/drawing/2014/main" id="{726031B9-3CFA-4457-B87E-1C80DD7F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844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后面仍执行普通编排，把产生的同步和搬运任务录下来。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9EB84F-32B6-4190-9644-19E24E25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BD3496-066F-4F96-8374-EB53BB56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65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15353" y="26579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8C3872-76B2-41B8-8A33-44A9EF9F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336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8" name="04">
            <a:extLst xmlns:a="http://schemas.openxmlformats.org/drawingml/2006/main">
              <a:ext uri="{FF2B5EF4-FFF2-40B4-BE49-F238E27FC236}">
                <a16:creationId xmlns:a16="http://schemas.microsoft.com/office/drawing/2014/main" id="{20F26C52-3E68-415A-AB90-9951EC94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432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9" name="HCCL 调 HCOMM&#10;数据面 / 执行控制">
            <a:extLst xmlns:a="http://schemas.openxmlformats.org/drawingml/2006/main">
              <a:ext uri="{FF2B5EF4-FFF2-40B4-BE49-F238E27FC236}">
                <a16:creationId xmlns:a16="http://schemas.microsoft.com/office/drawing/2014/main" id="{6D29EE42-4373-4A81-8C85-0EB9AD5C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146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执行控制</a:t>
            </a:r>
          </a:p>
        </p:txBody>
      </p:sp>
      <p:sp>
        <p:nvSpPr>
          <p:cNvPr id="4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56E4E3F8-442E-4C8E-A6AF-430AACCF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955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HcommAicpuTsTaskCacheEnd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结束本次任务录制</a:t>
            </a:r>
          </a:p>
        </p:txBody>
      </p:sp>
      <p:sp>
        <p:nvSpPr>
          <p:cNvPr id="41" name="保存可重放的任务内容，首次使用仍然要完成真正的通信。">
            <a:extLst xmlns:a="http://schemas.openxmlformats.org/drawingml/2006/main">
              <a:ext uri="{FF2B5EF4-FFF2-40B4-BE49-F238E27FC236}">
                <a16:creationId xmlns:a16="http://schemas.microsoft.com/office/drawing/2014/main" id="{5C86A51A-D616-4865-9D2A-588CCD9D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241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保存可重放的任务内容，首次使用仍然要完成真正的通信。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B0BABD-9F18-4D85-B3DC-083E8ED4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08ECDB-7607-4E02-B299-067581D5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19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15353" y="31977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5239C1-5698-4CDD-9EED-FABACDC5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73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05">
            <a:extLst xmlns:a="http://schemas.openxmlformats.org/drawingml/2006/main">
              <a:ext uri="{FF2B5EF4-FFF2-40B4-BE49-F238E27FC236}">
                <a16:creationId xmlns:a16="http://schemas.microsoft.com/office/drawing/2014/main" id="{43E58AE2-A44B-40CC-B920-D1C64686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82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7" name="HCCL 调 HCOMM&#10;数据面 / 执行控制">
            <a:extLst xmlns:a="http://schemas.openxmlformats.org/drawingml/2006/main">
              <a:ext uri="{FF2B5EF4-FFF2-40B4-BE49-F238E27FC236}">
                <a16:creationId xmlns:a16="http://schemas.microsoft.com/office/drawing/2014/main" id="{ABD56D95-1DE1-4361-B9BC-2E755C9B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54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执行控制</a:t>
            </a:r>
          </a:p>
        </p:txBody>
      </p:sp>
      <p:sp>
        <p:nvSpPr>
          <p:cNvPr id="4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247F4F43-6364-4C07-8771-D7F9618C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35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HcommAicpuTsTaskCacheExecute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命中时刷新地址并重放任务</a:t>
            </a:r>
          </a:p>
        </p:txBody>
      </p:sp>
      <p:sp>
        <p:nvSpPr>
          <p:cNvPr id="49" name="可以跳过本次逐条算法编排，不能据此说本次没有搬运数据。">
            <a:extLst xmlns:a="http://schemas.openxmlformats.org/drawingml/2006/main">
              <a:ext uri="{FF2B5EF4-FFF2-40B4-BE49-F238E27FC236}">
                <a16:creationId xmlns:a16="http://schemas.microsoft.com/office/drawing/2014/main" id="{B5AC286A-CECC-4908-9032-7D61AE2D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63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可以跳过本次逐条算法编排，不能据此说本次没有搬运数据。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F13B35-F47A-4207-811C-3574AD55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A249C55-E92B-47C4-83A6-84ADE96B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3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915353" y="37374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875C60E-51F1-4977-904C-E36A5F94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3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06">
            <a:extLst xmlns:a="http://schemas.openxmlformats.org/drawingml/2006/main">
              <a:ext uri="{FF2B5EF4-FFF2-40B4-BE49-F238E27FC236}">
                <a16:creationId xmlns:a16="http://schemas.microsoft.com/office/drawing/2014/main" id="{47AD3F2E-ECD5-4CDB-9A8C-931AE8F9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8227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5" name="HCCL 调 HCOMM&#10;数据面 / 执行控制">
            <a:extLst xmlns:a="http://schemas.openxmlformats.org/drawingml/2006/main">
              <a:ext uri="{FF2B5EF4-FFF2-40B4-BE49-F238E27FC236}">
                <a16:creationId xmlns:a16="http://schemas.microsoft.com/office/drawing/2014/main" id="{9E9A8786-8F8E-4FC5-A2BA-61BBC114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941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执行控制</a:t>
            </a:r>
          </a:p>
        </p:txBody>
      </p:sp>
      <p:sp>
        <p:nvSpPr>
          <p:cNvPr id="5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C8CD06BB-AA5F-45EF-8770-59FEF7A4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750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HcommAicpuTsTaskCacheClear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异常或清理时移除缓存任务</a:t>
            </a:r>
          </a:p>
        </p:txBody>
      </p:sp>
      <p:sp>
        <p:nvSpPr>
          <p:cNvPr id="57" name="不是每次正常执行都调用，不能强行画入收尾主线。">
            <a:extLst xmlns:a="http://schemas.openxmlformats.org/drawingml/2006/main">
              <a:ext uri="{FF2B5EF4-FFF2-40B4-BE49-F238E27FC236}">
                <a16:creationId xmlns:a16="http://schemas.microsoft.com/office/drawing/2014/main" id="{BCA60496-BCA9-4B6A-A557-8329822D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036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不是每次正常执行都调用，不能强行画入收尾主线。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5C18E98-1DF7-458A-90F1-06DC89D5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2BA8A1F-A960-451F-B816-32E9222B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915353" y="42772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9BFB174-89D9-4CB3-BEDF-C552CBFA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529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2" name="07">
            <a:extLst xmlns:a="http://schemas.openxmlformats.org/drawingml/2006/main">
              <a:ext uri="{FF2B5EF4-FFF2-40B4-BE49-F238E27FC236}">
                <a16:creationId xmlns:a16="http://schemas.microsoft.com/office/drawing/2014/main" id="{C23C1A6E-AA8D-4196-9D1F-699D058F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624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3" name="HCCL 调 HCOMM&#10;数据面 / 搬运">
            <a:extLst xmlns:a="http://schemas.openxmlformats.org/drawingml/2006/main">
              <a:ext uri="{FF2B5EF4-FFF2-40B4-BE49-F238E27FC236}">
                <a16:creationId xmlns:a16="http://schemas.microsoft.com/office/drawing/2014/main" id="{24821037-2FE2-47DF-946A-DF297830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338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搬运</a:t>
            </a:r>
          </a:p>
        </p:txBody>
      </p:sp>
      <p:sp>
        <p:nvSpPr>
          <p:cNvPr id="6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E397C760-54F4-4E0D-95FA-56ED6185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148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HcommReadOnThread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PCIe 等对应 Read 分支主动读取远端数据</a:t>
            </a:r>
          </a:p>
        </p:txBody>
      </p:sp>
      <p:sp>
        <p:nvSpPr>
          <p:cNvPr id="65" name="普通 Mesh 模板检测到 PCIe 时可以改为 Read，发送方先准备本地中转数据。">
            <a:extLst xmlns:a="http://schemas.openxmlformats.org/drawingml/2006/main">
              <a:ext uri="{FF2B5EF4-FFF2-40B4-BE49-F238E27FC236}">
                <a16:creationId xmlns:a16="http://schemas.microsoft.com/office/drawing/2014/main" id="{B64F95C1-F5E2-40BD-B830-DE4C8FD2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434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普通 Mesh 模板检测到 PCIe 时可以改为 Read，发送方先准备本地中转数据。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A8CDCFA-C8F5-46CA-B904-0420529A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726681C-6A1E-4C19-B7C2-54EB389D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1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915353" y="48169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7E38459-F1E0-42D2-8598-1F25E266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926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0" name="08">
            <a:extLst xmlns:a="http://schemas.openxmlformats.org/drawingml/2006/main">
              <a:ext uri="{FF2B5EF4-FFF2-40B4-BE49-F238E27FC236}">
                <a16:creationId xmlns:a16="http://schemas.microsoft.com/office/drawing/2014/main" id="{9E6010F1-69DA-4277-8633-689606B2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9022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1" name="HCCL 调 HCOMM&#10;控制面 / 内存">
            <a:extLst xmlns:a="http://schemas.openxmlformats.org/drawingml/2006/main">
              <a:ext uri="{FF2B5EF4-FFF2-40B4-BE49-F238E27FC236}">
                <a16:creationId xmlns:a16="http://schemas.microsoft.com/office/drawing/2014/main" id="{EE8C92D1-86D9-42BE-B832-672A44EA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736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内存</a:t>
            </a:r>
          </a:p>
        </p:txBody>
      </p:sp>
      <p:sp>
        <p:nvSpPr>
          <p:cNvPr id="7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997973F8-F38C-4CC1-8BCA-1AF71820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545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HcclCommSymWinGet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查询可复用的对称内存窗口</a:t>
            </a:r>
          </a:p>
        </p:txBody>
      </p:sp>
      <p:sp>
        <p:nvSpPr>
          <p:cNvPr id="73" name="版本、能力和注册条件满足时探测。命中后某些算法可直接访问窗口，减少中转。">
            <a:extLst xmlns:a="http://schemas.openxmlformats.org/drawingml/2006/main">
              <a:ext uri="{FF2B5EF4-FFF2-40B4-BE49-F238E27FC236}">
                <a16:creationId xmlns:a16="http://schemas.microsoft.com/office/drawing/2014/main" id="{559B3028-D4F4-4BAD-AA80-CCAE8AD9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831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版本、能力和注册条件满足时探测。命中后某些算法可直接访问窗口，减少中转。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F6AC635-9A4C-484A-8CE8-2CB3DE6D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6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3B6C455-6D96-4438-8905-BF1E1B14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356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915353" y="53567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28BE776-810E-46F1-AF94-BD42195C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432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09">
            <a:extLst xmlns:a="http://schemas.openxmlformats.org/drawingml/2006/main">
              <a:ext uri="{FF2B5EF4-FFF2-40B4-BE49-F238E27FC236}">
                <a16:creationId xmlns:a16="http://schemas.microsoft.com/office/drawing/2014/main" id="{69019B89-3BD4-4FAF-9A3B-17BE27B5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441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79" name="HCCL 调 HCOMM&#10;数据面 / 搬运">
            <a:extLst xmlns:a="http://schemas.openxmlformats.org/drawingml/2006/main">
              <a:ext uri="{FF2B5EF4-FFF2-40B4-BE49-F238E27FC236}">
                <a16:creationId xmlns:a16="http://schemas.microsoft.com/office/drawing/2014/main" id="{5875E901-E90C-4461-882E-AC8F40E9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413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搬运</a:t>
            </a:r>
          </a:p>
        </p:txBody>
      </p:sp>
      <p:sp>
        <p:nvSpPr>
          <p:cNvPr id="8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EE10458D-5CCB-4E3B-953D-4C5D3BC7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94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HcommBatchTransferOnThread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批量描述多个搬运操作</a:t>
            </a:r>
          </a:p>
        </p:txBody>
      </p:sp>
      <p:sp>
        <p:nvSpPr>
          <p:cNvPr id="81" name="某些 MultiJetty 模板分支使用，普通 Mesh Write 不能列成每次必调。">
            <a:extLst xmlns:a="http://schemas.openxmlformats.org/drawingml/2006/main">
              <a:ext uri="{FF2B5EF4-FFF2-40B4-BE49-F238E27FC236}">
                <a16:creationId xmlns:a16="http://schemas.microsoft.com/office/drawing/2014/main" id="{6E4139F6-210C-4EA4-805F-FA503AD2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22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某些 MultiJetty 模板分支使用，普通 Mesh Write 不能列成每次必调。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88BE118-EF4E-47D1-AA91-C823C5FE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38850"/>
            <a:ext cx="1162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3" name="通信域可复用、任务可重放、协议可换路，但“一次全互换最终要得到哪些数据”不变。">
            <a:extLst xmlns:a="http://schemas.openxmlformats.org/drawingml/2006/main">
              <a:ext uri="{FF2B5EF4-FFF2-40B4-BE49-F238E27FC236}">
                <a16:creationId xmlns:a16="http://schemas.microsoft.com/office/drawing/2014/main" id="{F23BD1C3-48C0-43C7-A765-18691092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1382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通信域可复用、任务可重放、协议可换路，但“一次全互换最终要得到哪些数据”不变。</a:t>
            </a:r>
          </a:p>
        </p:txBody>
      </p:sp>
    </p:spTree>
    <p:extLst>
      <p:ext uri="{BB962C8B-B14F-4D97-AF65-F5344CB8AC3E}">
        <p14:creationId xmlns:p14="http://schemas.microsoft.com/office/powerpoint/2010/main" val="10388503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2026-09-27T12:09:29.4190000Z</dcterms:created>
  <dcterms:modified xsi:type="dcterms:W3CDTF">2026-09-27T12:09:29.4190000Z</dcterms:modified>
</coreProperties>
</file>