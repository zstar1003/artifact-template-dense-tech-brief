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6c21e1ca4449db" /><Relationship Type="http://schemas.openxmlformats.org/officeDocument/2006/relationships/extended-properties" Target="/docProps/app.xml" Id="Rceb89a7681984081" /><Relationship Type="http://schemas.openxmlformats.org/officeDocument/2006/relationships/officeDocument" Target="/ppt/presentation.xml" Id="R5b6302ea545f43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e9e1e6849c4874"/>
  </p:sldMasterIdLst>
  <p:notesMasterIdLst>
    <p:notesMasterId xmlns:r="http://schemas.openxmlformats.org/officeDocument/2006/relationships" r:id="R9995f58eaf364b43"/>
  </p:notesMasterIdLst>
  <p:sldIdLst>
    <p:sldId xmlns:r="http://schemas.openxmlformats.org/officeDocument/2006/relationships" id="256" r:id="R998e0e34420e409c"/>
    <p:sldId xmlns:r="http://schemas.openxmlformats.org/officeDocument/2006/relationships" id="257" r:id="R3047b41ab0814d53"/>
    <p:sldId xmlns:r="http://schemas.openxmlformats.org/officeDocument/2006/relationships" id="258" r:id="R131cc6804e30463f"/>
    <p:sldId xmlns:r="http://schemas.openxmlformats.org/officeDocument/2006/relationships" id="259" r:id="R1dc7c089e6234d76"/>
    <p:sldId xmlns:r="http://schemas.openxmlformats.org/officeDocument/2006/relationships" id="260" r:id="R99cc8f786e1e4e46"/>
    <p:sldId xmlns:r="http://schemas.openxmlformats.org/officeDocument/2006/relationships" id="261" r:id="R77ab891242074f18"/>
    <p:sldId xmlns:r="http://schemas.openxmlformats.org/officeDocument/2006/relationships" id="262" r:id="Rfa08f6cc1f4947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b3c691fc3f4d20" /><Relationship Type="http://schemas.openxmlformats.org/officeDocument/2006/relationships/slideMaster" Target="/ppt/slideMasters/slideMaster1.xml" Id="Rf6e9e1e6849c4874" /><Relationship Type="http://schemas.openxmlformats.org/officeDocument/2006/relationships/notesMaster" Target="/ppt/notesMasters/notesMaster1.xml" Id="R9995f58eaf364b43" /><Relationship Type="http://schemas.openxmlformats.org/officeDocument/2006/relationships/presProps" Target="/ppt/presProps.xml" Id="R45d6497e66314f08" /><Relationship Type="http://schemas.openxmlformats.org/officeDocument/2006/relationships/tableStyles" Target="/ppt/tableStyles.xml" Id="R5c77e4bee70349ba" /><Relationship Type="http://schemas.openxmlformats.org/officeDocument/2006/relationships/slide" Target="/ppt/slides/slide1.xml" Id="R998e0e34420e409c" /><Relationship Type="http://schemas.openxmlformats.org/officeDocument/2006/relationships/slide" Target="/ppt/slides/slide2.xml" Id="R3047b41ab0814d53" /><Relationship Type="http://schemas.openxmlformats.org/officeDocument/2006/relationships/slide" Target="/ppt/slides/slide3.xml" Id="R131cc6804e30463f" /><Relationship Type="http://schemas.openxmlformats.org/officeDocument/2006/relationships/slide" Target="/ppt/slides/slide4.xml" Id="R1dc7c089e6234d76" /><Relationship Type="http://schemas.openxmlformats.org/officeDocument/2006/relationships/slide" Target="/ppt/slides/slide5.xml" Id="R99cc8f786e1e4e46" /><Relationship Type="http://schemas.openxmlformats.org/officeDocument/2006/relationships/slide" Target="/ppt/slides/slide6.xml" Id="R77ab891242074f18" /><Relationship Type="http://schemas.openxmlformats.org/officeDocument/2006/relationships/slide" Target="/ppt/slides/slide7.xml" Id="Rfa08f6cc1f4947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de1e47554f42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cbd9eefab14fa9" /><Relationship Type="http://schemas.openxmlformats.org/officeDocument/2006/relationships/notesMaster" Target="/ppt/notesMasters/notesMaster1.xml" Id="R14e5a25820c44a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220a93bacf4329" /><Relationship Type="http://schemas.openxmlformats.org/officeDocument/2006/relationships/notesMaster" Target="/ppt/notesMasters/notesMaster1.xml" Id="Reade34a58a324c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df58a36cbb4b09" /><Relationship Type="http://schemas.openxmlformats.org/officeDocument/2006/relationships/notesMaster" Target="/ppt/notesMasters/notesMaster1.xml" Id="R79454379573f46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02bf8b90a94c39" /><Relationship Type="http://schemas.openxmlformats.org/officeDocument/2006/relationships/notesMaster" Target="/ppt/notesMasters/notesMaster1.xml" Id="Rb01bea5f8eaf45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b7e7c14e6a4272" /><Relationship Type="http://schemas.openxmlformats.org/officeDocument/2006/relationships/notesMaster" Target="/ppt/notesMasters/notesMaster1.xml" Id="R104311f0c8a54d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11a085c04f42d4" /><Relationship Type="http://schemas.openxmlformats.org/officeDocument/2006/relationships/notesMaster" Target="/ppt/notesMasters/notesMaster1.xml" Id="R3f9dfc7904f24c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45b33d951145b3" /><Relationship Type="http://schemas.openxmlformats.org/officeDocument/2006/relationships/notesMaster" Target="/ppt/notesMasters/notesMaster1.xml" Id="R14bea04f5a1c40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本页是职责与资源交接图，横向同层表示并列职责，并不表示左侧四类控制面资源在一次调用里严格串行。HCOMM C1 的 Thread / Channel 是域级获取接口，C5 是内部下钻的基础资源。L2/L3 与控制面/数据面是独立分类维度。图中的短数据面名称完整符号见备注中的分类清单。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此页按阶段展示嵌套调用及依赖，并不是每个格子同层串行。Host 端就绪 Record 在 Kernel 发射前，完成 Wait 在发射后入队；AICPU Kernel 先 AcquireComm 和 BatchModeStart，再 OpOrchestrate。图将运行保护放在 Kernel 对应列、数据原语放在模板对应列，便于职责对应。确切顺序和全部 Wait 符号见报告第5节。HcclAicpuKernelEntranceLaunch 是 HCCL 内部函数；当前 HcclAicpuKernelLaunch 导出调用点仅 Send / Recv。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顶部是 HCCL 调用 HCOMM 再回到 HCCL。中间大框是 HcclChannelAcquire 内 MyRank::CreateChannels 的顺序依赖，③向下展开。框内 API 是否触发取决于对象局部缓存。HcclChannelAcquire 还含 V2 准备与结束步骤，本页保留在顶部说明和备注。950 的连接后一致性校验使用 BatchExchangeAndCheckConsistency。FinalizeChannelsByEngine 为 AICPU 准备设备侧句柄。BuildChannelInfo 还调用 HcclRankGraphGetEndpointInfo〔C3〕。HcommChannelUpdateMemInfo 仅在复用通道且新增附加注册内存时调用。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先读左侧 API 和参数，再读两条生命线间的动作方向。步骤2、5箭头表示远端通知被本地 Wait 消费，并非本地 Wait 主动向远端发数据。Rank j 的对称 Write 没有另外画成第7步，以免改变本端调用次序。两个方向的实际入队可并行，该图不表示跨 Rank 全局串行。非零 slice 逐个 Write，零 slice 可跳过。Wait 的完整默认超时符号为 HcommChannelNotifyWaitOnThreadWithDefaultTimeout；否则调用 HcommChannelNotifyWaitOnThread(...timeout)。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图中的 i → j 始终指数据方向。Write 由发送方 i 发起，Read 由接收方 j 发起，不能将 Read 的数据方向误画为其调用方向。本页对称地重排了本 Rank 视角，以保持比较坐标一致。实际 Read 模式首轮 PreCopyByLoop 后有额外线程同步，后续轮次按分片 PreCopy；普通非对称内存的 Read 直接到用户输出。本页只比较普通内存，命中对称内存时可减少中转。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这两幅图是独立分支。资源命中并不自动意味着任务缓存命中。上图 miss 时通过 HcclGetAlgRes 计算资源，下图 miss 时执行 HcommAicpuTsTaskCacheStart、OpOrchestrate、HcommAicpuTsTaskCacheEnd；hit 为 HcommAicpuTsTaskCacheExecute。录制出错可 HcommAicpuTsTaskCacheClear。箭头表示逻辑分流，不含每个异常清理调用。Clear、Start、End、Execute 的公共前缀都是 HcommAicpuTsTaskCache。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矩阵列并非互斥的所有场景：对称内存、资源缓存和任务缓存属于可叠加条件。用文字状态确保黑白打印仍能理解。“使用”表示能力涉及，不是承诺每次都走同一个导出符号或调用固定次数。MultiJetty 对应 InsTempUbxAlltoAllVMesh1D，部分 SendRecvBatchRead 可使用 HcommBatchTransferOnThread，兼容能力不足有回退。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8ba12944846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33adfcd35542c9" /><Relationship Type="http://schemas.openxmlformats.org/officeDocument/2006/relationships/slideLayout" Target="/ppt/slideLayouts/slideLayout1.xml" Id="Rea4f28e9912349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4f28e9912349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97239b2ce4d97" /><Relationship Type="http://schemas.openxmlformats.org/officeDocument/2006/relationships/notesSlide" Target="/ppt/notesSlides/notesSlide1.xml" Id="Rc3cec75b44a84d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acfd804e44484" /><Relationship Type="http://schemas.openxmlformats.org/officeDocument/2006/relationships/notesSlide" Target="/ppt/notesSlides/notesSlide2.xml" Id="Rad7206e87b8e4c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3b80923a84135" /><Relationship Type="http://schemas.openxmlformats.org/officeDocument/2006/relationships/notesSlide" Target="/ppt/notesSlides/notesSlide3.xml" Id="R86b791b297084f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211b1432e447d" /><Relationship Type="http://schemas.openxmlformats.org/officeDocument/2006/relationships/notesSlide" Target="/ppt/notesSlides/notesSlide4.xml" Id="R569aa486258748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357f32edb4e6f" /><Relationship Type="http://schemas.openxmlformats.org/officeDocument/2006/relationships/notesSlide" Target="/ppt/notesSlides/notesSlide5.xml" Id="R6361d16ae93d42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b7b8f42ff4b45" /><Relationship Type="http://schemas.openxmlformats.org/officeDocument/2006/relationships/notesSlide" Target="/ppt/notesSlides/notesSlide6.xml" Id="R421e672c0c5445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8cd3965cb41e6" /><Relationship Type="http://schemas.openxmlformats.org/officeDocument/2006/relationships/notesSlide" Target="/ppt/notesSlides/notesSlide7.xml" Id="Rb6f1e668b1e647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EF67DBF-E876-4423-AF54-BF66F4DB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HCCL / HCOMM 分工与接口边界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821C6-B661-4D2C-B60C-E0DD971D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Ascend 950 · AICPU_TS · 单算子 OPBASE；多 Rank、非零数据，普通 Mesh 实例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24348-8BED-4536-B0B9-14C18763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7120F-262E-4200-91DC-0BDCD8CD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45B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6C84A-B836-41B4-876F-89B1DAC1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715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HCCL：集合算法与执行组织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9FBCC-CB09-4FD3-A696-A8AA12A1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2143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B5948-F389-4C52-A8E8-A2F1473E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8A24E-6873-43FA-A626-2A87D993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等长参数归一化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C4911-B156-493D-A316-F156F349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11223-1AE0-493B-9221-9A455055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52550"/>
            <a:ext cx="2200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9D9E1-936E-493C-A22E-E91C5286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00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拓扑与数据量决定算法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1F721-434C-4298-8D01-868A77D8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23975"/>
            <a:ext cx="29432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49957-4E38-4484-BA42-FA75D6DC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35255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Executor /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13BEF-E37F-4961-8C70-D93062F3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计算资源需求、编排每个 Peer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FC0BF-E99B-424A-B334-D234A7C7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323975"/>
            <a:ext cx="2362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C7028-E2FA-4F21-92ED-D20DAB7B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525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Kernel 发射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5B4E2-1792-448C-B5F8-DCA4B170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71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 内部函数调用 ACL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35125-236F-4544-848D-044A0865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1B119-E215-4AB4-905C-4A4AEC7D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0127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99C10-F749-4AF8-97D0-AE24CA9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33EB9-70DE-4BD0-800F-25C6768B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8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30203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9E794-3AE6-49E7-A34A-DC904E6F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31027-B5E6-4053-A653-E8C278D3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1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6872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42DAD7-6B6D-4E0B-8CC9-19914CCF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1162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0972F4-1442-485D-B58A-860C1451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5747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HCOMM 控制面：准备与复用资源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E3492B-E026-4B99-BBDF-E5C671BD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C3 拓扑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7E3B6B-3110-4BA8-807F-F802D5CA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Rank / Layer / Endpoint /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78F91-E6F1-43A5-8266-F4C74A4C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EFEEB3-049A-477D-A878-E38A597E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83024E-8AE3-4AE1-97B8-C0CF7C8E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9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21992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52E28E-9134-4BE1-9BC9-A14A5C10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C1 通信域资源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9CE3D4-2135-49A4-BBD2-0DDB1F8E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EngineCtx / Thread / Channel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579C00-8700-4601-BB9A-6AB192B7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F4E8A6-CDDA-41F7-9939-B141C15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6636D8-C5D6-4D53-9F53-EA7EF023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5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067902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AB84D0-B497-4C01-A750-5A9966FE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C2 内存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DBAAEE-F3EC-43E4-A0C5-A6CB7B3E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本地 / 远端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DEB581-BD3A-4D5D-81F0-95DC9DC1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58F6E6-988B-40FA-AFDE-14052E2F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751908-FF2A-4CED-BE95-5FB56171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1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91587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37CF9F-E9E1-442D-804C-D9BC6779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C5 基础通信资源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3759DC-E8DF-4F0F-BCE4-C4297FE3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Endpoint / 底层 Channel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2185D9-6DD3-4B14-B04D-078612FF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67F266-1885-4AA5-AFA6-6D9785D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A4C6B5-3C88-411C-9379-A38D2AE9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7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4267677" y="226790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495F7A-6687-44D4-B6A3-DA214A0F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05050"/>
            <a:ext cx="809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资源请求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6CE931-7D38-482F-8C13-7BC5DB19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434FF0-996E-4228-BD1F-3C240346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7668102" y="44300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E74024-5E02-4BEF-B267-978BDE2B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资源句柄 / 地址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6E48F0-EE74-4338-A4CD-67B7824B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5350"/>
            <a:ext cx="1162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45B8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4060F1-A83E-47A7-8FC3-D2D18FC1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434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AICPU 执行：HCCL 展开算法，调用 HCOMM 数据面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993068-20C7-474B-8ACB-33A44D4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932991-D3C9-4E68-9543-1A55AC28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D4 执行控制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30EC4A-64FE-4198-9844-4650BDD7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43525"/>
            <a:ext cx="3676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AcquireComm / BatchModeStart / End / ReleaseComm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620FA9-C22F-42AD-A399-7C5AA579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95875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3C3697-EFC1-4F98-9C5B-23DED9CC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D3 同步控制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90AC49A-7B1A-4575-8EBB-5B097596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3525"/>
            <a:ext cx="281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 Notify 与 Channel Notify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737013-18CC-4944-A73C-A2061285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95875"/>
            <a:ext cx="40290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2FD5E0-9194-43D2-B13B-3F90501F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24450"/>
            <a:ext cx="3895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D1 数据搬运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35D58B-A8ED-4BFD-806F-610031F1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43525"/>
            <a:ext cx="3895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LocalCopy / Write；PCIe 分支用 Read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2105FA-286A-46DF-B273-7B093E4B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4A860E-5E54-48B9-97A6-9386A66C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本例范围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15000C2-8A04-464A-810C-44CD5E56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C4 的主要算法编排位于 HCCL 内部，HCOMM 仅有条件查询。D2 归约原语、D5 CCU C++ 数据面不进入该主路径。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F5B54E-86FE-42B5-A9C5-DC37ADED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9CA9DD0-70A4-40D7-AACE-42749FC1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9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DAEA0C4-4A46-454F-BF0E-349EEFD0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源码：op_common.cc:780,1670；hcomm/include/hccl/hccl_res.h；AICPU Kernel / primitive 适配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855293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E337430-98C8-4EE2-B6D9-850CF877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AllToAll 的跨层执行流程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304EB-2B77-4DF2-A54F-5332EE86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横向为执行阶段，纵向为调用归属；冷启动、未重放任务缓存的主例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A5F79-DA6C-4C7B-83D0-4964815D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5953A-CFEC-4333-8C08-56A9856A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94297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DF822-6FE6-4EC5-A68D-9C98A19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62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① 入口 / 算法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0C204-3CCE-4CBB-9CF0-67539BA2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94297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5013D-E0D4-4778-90B5-7A543D4F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62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② 资源获取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6D2EC-127D-418E-A1B0-928C2851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4297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A0245-0532-4E54-A201-C8AEC8D3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962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③ Kernel 发射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8EDD5-3A05-47BA-9434-B5E88B61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94297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E9C78-13BE-4E35-A1BE-6A5654BF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962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④ Peer 交换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F1951-F49F-4707-9F1D-BE3434A8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297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E70B7-DACF-44CE-ADDB-40FBAFB9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62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⑤ 完成 / 收尾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2F558-AD62-4BC4-8C8B-92A2FFAC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52550"/>
            <a:ext cx="1162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8939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220F6-EAF4-4087-9867-DD3EDF5C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52550"/>
            <a:ext cx="1104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7C262-96DA-479D-9F93-B07D394B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43050"/>
            <a:ext cx="91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Host</a:t>
            </a:r>
          </a:p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9B1F6-8224-48DA-83D1-9CAEE5B3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47925"/>
            <a:ext cx="11620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8939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FBE56-D472-427B-B4A1-8F47DDB5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47925"/>
            <a:ext cx="11049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A174C-0B1F-4697-B011-91955937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38425"/>
            <a:ext cx="914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93775-12A6-48A1-BD50-0ED13397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48075"/>
            <a:ext cx="11620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8939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E7E82-7D40-4198-88BA-4087E1D7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48075"/>
            <a:ext cx="11049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14865-964C-40DE-9520-F4D1A92C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38575"/>
            <a:ext cx="914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AICPU</a:t>
            </a:r>
          </a:p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92C8C-048D-414F-99C3-CB736E83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38700"/>
            <a:ext cx="11620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8939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CA5D9-C325-4D68-A62E-6660D2E9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38700"/>
            <a:ext cx="11049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570F9-184A-4DC3-890D-513B39C2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29200"/>
            <a:ext cx="914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80C21D-2277-4416-94C9-1D93B256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495425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74267-EE61-4902-9399-E1D637E6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524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F58641-3807-4D54-A107-D81A1345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74307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归一化 → Selector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9E9797-CDA2-409A-B499-BBC8B5BD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95425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10ECBC-C0EA-465F-AFBD-D089E252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524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36DA02-2A99-48C2-A8E4-93F69B69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4307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764BCF-175D-448B-9163-CC809CC4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95425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7775D0-F1D6-456B-832C-1362127F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24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858E8A-AA50-4C3A-A3CE-3A8DDC84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74307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C3064E-65FA-4B46-8B36-971E3002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495425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83A978-B859-4A61-8467-68DB5A03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用户流等待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097DCF-6EE8-4361-AC91-8AD9BB61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4307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 Notify Wait*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56895C-7604-4CBC-BD10-8410651D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38425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CC24C3-3C3F-4BCE-9F91-AB7075F6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67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查询拓扑 / 配置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46CFC4-CF9C-414F-897E-F5CC480C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86075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RankGraph / EngineCtx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9B58B6-4E71-4CC2-8255-7ED9EE97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38425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85C16D-7397-49EF-888E-7F39EFD7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670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申请 / 复用资源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A9910B-E944-4434-8F34-32A4F585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86075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Thread、Channel、CCL</a:t>
            </a:r>
          </a:p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保存 EngineCtx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6A1FDE-8B6B-49F1-AF96-7125E9BD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29050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781D69-DD3C-4304-941F-212D003A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576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6038E0-1E6F-4F3A-92F4-88D311DE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0767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反序列化资源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FFCC10-5548-4136-AC36-85CE0E68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29050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88A714-263D-46E6-ADA7-0A1E9A35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576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F0FCC6-CD13-4D3E-BC65-7D83165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767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Executor → Template</a:t>
            </a:r>
          </a:p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RunALLtoALL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6F8C56-D84A-4973-8E65-1894F260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29050"/>
            <a:ext cx="1790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7B2E11-3013-4730-B060-13529691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576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完成通知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517365-6697-44D3-95E0-CF294C02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76700"/>
            <a:ext cx="1657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 Notify Record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7C0F3B-6FCD-4E1A-874E-DF937711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0292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528C96-468E-41A5-95C6-DC753DE8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0577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运行保护 / 批模式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42358A-96B1-4C13-BDAB-DCB3533E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276850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04414E-5204-41AF-AE81-43BF2D73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292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A37524-0CFC-451D-A789-30C2EF69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577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同步 / 搬运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0A06EAE-2603-4A25-8275-10CFA5D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276850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Channel Notify</a:t>
            </a:r>
          </a:p>
          <a:p xmlns:a="http://schemas.openxmlformats.org/drawingml/2006/main">
            <a:pPr algn="l">
              <a:def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Write / Read / LocalCopy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3EDFA3-B9C4-4A45-9D23-D46C24D2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29200"/>
            <a:ext cx="179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D7A1CA-6CBE-41D4-852E-A6FC50F8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577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任务提交 / 释放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C02DDD-B796-49CC-8E9B-4B6A3E82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276850"/>
            <a:ext cx="1657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C3C682-7788-4F3F-8212-A5A07E49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543232-398E-4C7E-B8CB-506F2767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4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449003" y="18388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BEBE33-704D-4945-8196-23A13D16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7B2450-C4AF-4066-AEFB-28A2E2B8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7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5506403" y="18388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563AAF-A08F-43D1-9389-561F6083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5BD600-6231-40AD-B957-30B7A685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0" name="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2553177" y="2182178"/>
            <a:ext cx="0" cy="4562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FACBDC-48E1-4CBE-B974-87D1BE8D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0D00AE4-4054-4407-B8F1-A30299B9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3" name=""/>
          <p:cNvCxnSpPr>
            <a:stCxn xmlns:a="http://schemas.openxmlformats.org/drawingml/2006/main" id="71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4610577" y="2182178"/>
            <a:ext cx="0" cy="4562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DFD1FA4-F378-4E59-9DBE-B1EE9312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C9E609-9397-4DDE-B823-5D47177B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6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5506403" y="3000852"/>
            <a:ext cx="94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84D84A4-8B50-424C-A3BC-33D838B6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6F57AB0-9786-4FB5-AEA3-F68D195F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9" name=""/>
          <p:cNvCxnSpPr>
            <a:stCxn xmlns:a="http://schemas.openxmlformats.org/drawingml/2006/main" id="77" idx="0"/>
            <a:endCxn xmlns:a="http://schemas.openxmlformats.org/drawingml/2006/main" id="78" idx="2"/>
          </p:cNvCxnSpPr>
          <p:nvPr/>
        </p:nvCxnSpPr>
        <p:spPr>
          <a:xfrm xmlns:a="http://schemas.openxmlformats.org/drawingml/2006/main" flipV="1">
            <a:off x="5601177" y="2334578"/>
            <a:ext cx="0" cy="6657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67EB6BB-94F8-4EDE-8209-4B5CCCB3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516D636-0DEB-49D0-9FFF-AD1D5A90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2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5601653" y="2334102"/>
            <a:ext cx="10563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7DCCA4-7F0B-432E-BA79-FA33E53C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830577F-5BD3-4C99-825F-82479796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5" name=""/>
          <p:cNvCxnSpPr>
            <a:stCxn xmlns:a="http://schemas.openxmlformats.org/drawingml/2006/main" id="83" idx="0"/>
            <a:endCxn xmlns:a="http://schemas.openxmlformats.org/drawingml/2006/main" id="84" idx="2"/>
          </p:cNvCxnSpPr>
          <p:nvPr/>
        </p:nvCxnSpPr>
        <p:spPr>
          <a:xfrm xmlns:a="http://schemas.openxmlformats.org/drawingml/2006/main" flipV="1">
            <a:off x="6658452" y="2182178"/>
            <a:ext cx="0" cy="1514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118DBB2-2919-4F13-962D-0D671BA7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81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C1D85F6-BFCE-4FDD-A079-3DAB2430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8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6667977" y="2182178"/>
            <a:ext cx="0" cy="16468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2A2916A-9DCB-4333-8F81-DA972E21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4956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启动 AICPU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BEE5B7D-344B-454D-9C74-91236BB8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7C93204-250D-4CA4-9E6C-1F9E5913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2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7563803" y="4181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785238-FCCA-42D8-AF0F-C81784AB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97C77E9-3339-456D-917F-7235565B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5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9621203" y="4181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0F58940-6B54-4020-9F1E-64064953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AAEC488-1F12-4053-A52D-EE603F05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8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6667977" y="4534853"/>
            <a:ext cx="0" cy="4943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D8772D1-9696-4F3F-8B60-25B89906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576C4CB-586B-42BB-A995-88C2470A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2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1" name=""/>
          <p:cNvCxnSpPr>
            <a:stCxn xmlns:a="http://schemas.openxmlformats.org/drawingml/2006/main" id="99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8725377" y="4534853"/>
            <a:ext cx="0" cy="4943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BD85037-0196-4B7E-A8CF-157FA1F4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0212452-A90D-420A-AE9E-6E1F9ACE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02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4" name=""/>
          <p:cNvCxnSpPr>
            <a:stCxn xmlns:a="http://schemas.openxmlformats.org/drawingml/2006/main" id="102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>
            <a:off x="10782777" y="4534853"/>
            <a:ext cx="0" cy="4943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590B53D-8845-4B45-9459-5A6011B8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B0F41C2-535C-4ABF-87F9-7BC4C79F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7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11678603" y="4181952"/>
            <a:ext cx="151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07106C-CB34-4781-8B29-A3141D8D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6CE164F-6534-4930-A898-E626CD1B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0" name=""/>
          <p:cNvCxnSpPr>
            <a:stCxn xmlns:a="http://schemas.openxmlformats.org/drawingml/2006/main" id="108" idx="0"/>
            <a:endCxn xmlns:a="http://schemas.openxmlformats.org/drawingml/2006/main" id="109" idx="2"/>
          </p:cNvCxnSpPr>
          <p:nvPr/>
        </p:nvCxnSpPr>
        <p:spPr>
          <a:xfrm xmlns:a="http://schemas.openxmlformats.org/drawingml/2006/main" flipV="1">
            <a:off x="11830527" y="1839278"/>
            <a:ext cx="0" cy="23421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964672B-6D9D-438F-A1F7-E1276477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E6AD653-3785-4828-9C40-368FB382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3" name=""/>
          <p:cNvCxnSpPr>
            <a:stCxn xmlns:a="http://schemas.openxmlformats.org/drawingml/2006/main" id="111" idx="1"/>
            <a:endCxn xmlns:a="http://schemas.openxmlformats.org/drawingml/2006/main" id="112" idx="3"/>
          </p:cNvCxnSpPr>
          <p:nvPr/>
        </p:nvCxnSpPr>
        <p:spPr>
          <a:xfrm xmlns:a="http://schemas.openxmlformats.org/drawingml/2006/main" flipH="1">
            <a:off x="11678603" y="1838802"/>
            <a:ext cx="151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A7AD7AC-F4FF-466E-A841-2E7E618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7695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2A7B6D1-64F6-4825-83F1-253FDB40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1505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两处同步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C097D94-C67C-4A96-BB8B-4EA00930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1505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Host Record / AICPU Wait 表示输入就绪；AICPU Record / Host Wait 表示本次执行完成。API 入队返回不等于全网同步完成。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5EA252F-61C6-4166-A614-623E303A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17E30C9-C089-4BDD-AEFD-0549BA47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9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A446509-ECBC-4191-949F-967BC05E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源码：op_common.cc:780,1005–1203；aicpu/kernel_launch.cc:348–725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133246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4F19B05-9ED1-4525-A2DF-06C4D6F5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HcclChannelAcquire 的建链展开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15190-7F76-4C19-9D27-7289E6B0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C1 域级资源获取下钻到 C5 基础通道和 C2 内存；灰色名称为内部方法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ABFAE-880F-40D8-9BC1-FCBDF98B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6F8D7-548B-44C1-B1B3-951A4E63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4F704-576B-48A0-8357-B9C785A1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1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HCCL：HcclGetChannelImpl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9840E-5BCC-43CC-BEE6-A1C3FDD0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9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构造 ChannelDesc、登记一致性信息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BDCD9-C5B8-442F-B6CD-4B495923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42975"/>
            <a:ext cx="43338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EC4FE-7C3F-41A8-90EE-E640AABF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4200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HcclChannelAcquire 〔C1〕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2E75A-BF6E-4054-BA66-D41A901B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190625"/>
            <a:ext cx="420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校验 / 归一化请求，调用 MyRank::CreateChannels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3AE22-5141-4859-B375-C50DC839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42975"/>
            <a:ext cx="295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8031E-AD3F-4460-8953-43A3D213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715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4A3EA-701A-4B44-8A8B-9016DBB9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906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回填 handle / protocol / remoteCclMem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74DFC-71D2-446F-BAE5-EEB394E2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BA38A-BBC3-4618-B6B6-6044C5FD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8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3303" y="1276827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1CC16-2EF2-4DC7-9ED8-BC3DF2F9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8ED51-26EF-4BBA-A3B6-7006C560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30578" y="1276827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E28CF-DED4-4982-9483-DD765460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返回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C5FAD-8B3E-4169-BBFB-341021FF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81200"/>
            <a:ext cx="11620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D2D7B-1DA0-4FDF-8EB4-BF34EF35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1930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MyRank::CreateChannels 内部依赖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FC44F-EFB1-493B-A4CF-DCC921BE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DBD63E-BC16-4C21-BA16-CC4EB23A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1  描述转换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DCCEFF-8C1C-46D1-8D3B-0DCD0F2C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ChannelDescHccl2Hcomm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F816B-3D90-4A67-BF7B-693FC318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FB16BE-6F46-4514-9A29-D155AF07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441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4270A-A9C8-4F2E-8511-4EC6E1F8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DAEFE8-DF00-4954-A3B6-952E07DF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2  Socket 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0417C8-60CB-4D9D-8624-844DB9DF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77B677-6D4C-4067-B1DC-37C5A861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3E6E90-1B79-44C0-8BD6-CA6C7786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6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8110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EED9BF-D068-4F1B-A9F7-F4790683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B78D00-47BB-461A-8CA6-16F70C7E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3  Channel 准备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30AFF0-DA63-4FCD-9834-EDEE79DF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0BAA84-A5A6-4003-BCAC-BA908BB5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2B53A7-C6B9-4EE8-8BDC-322ED63C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2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0780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FF5136-A01B-448D-A4E1-D0B895D0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093A76-3096-403B-AB5A-57DA382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4  连接 / 校验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17CD95-D84B-4B06-B1F7-62777EE0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  <a:p xmlns:a="http://schemas.openxmlformats.org/drawingml/2006/main">
            <a:pPr algn="l">
              <a:defRPr sz="78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BD6DD5-7273-42D1-9003-945048F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58762A-4AB0-4FDD-A701-B129313C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8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449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E96C1C-5A34-41F8-B51F-06B16644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3AA489-BD53-4BF1-9EE0-EA880769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5  引擎回填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565122-F62C-4D26-9D23-F2A53F0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81582A-92B8-43D5-9B11-8A031880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6535BB-0728-46C6-AB47-52FE56A2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4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6267927" y="163925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F2E209-AA1D-4C73-872B-9C390921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1A924B-342F-4894-9D5B-1C378C51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09950"/>
            <a:ext cx="11106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③ BatchCreateChannels：对每个 Peer / Link 处理，局部缓存命中可复用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449625-4EE5-4213-8220-CB91E74D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F94B01-B851-415E-8DC6-AC0BDCE2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EndpointMgr::Get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E94CD0-00ED-4100-97DF-B77A44BB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HcommEndpointCreate 〔C5〕</a:t>
            </a:r>
          </a:p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仅端点缺失时创建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761CB0-CA76-42FA-B593-EDF16386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E2439B-D844-4D52-B112-674BEC2A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2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19182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895576-8A79-4594-8955-FBA8DD13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797CD0-30B1-423B-B86F-1FCF53E8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端点监听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DA12D9-8AF7-4A8B-932C-387C3450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HcommEndpointStartListen 〔C5〕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58379B-48E8-47FE-8F54-DE271639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7DF97F-6F35-4F7B-93BD-B38CC5C0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8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5963603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DA1413-7592-4AD7-8762-0209F419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E60AE0-15A1-4C40-8DA9-A199FA4C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PrepareMemHandles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A1669B-D228-4FD9-9A23-E46AB3F7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HcommMemReg 〔C2〕</a:t>
            </a:r>
          </a:p>
          <a:p xmlns:a="http://schemas.openxmlformats.org/drawingml/2006/main">
            <a:pPr algn="l">
              <a:def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仅注册缺失时调用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7A6C00-B186-4CA3-A4A8-9DC93B72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4AD45AD-CC8E-4105-9EFD-C7F963A3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4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73537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E4E126-0657-4B88-A647-91A31F8E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FF1CA0-F1DB-4B96-A372-ED111AE2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EndpointPair::CreateChannel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DE206EE-61B0-4521-9E1E-439D2F58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HcommCollectiveChannelCreate 〔C5〕</a:t>
            </a:r>
          </a:p>
          <a:p xmlns:a="http://schemas.openxmlformats.org/drawingml/2006/main">
            <a:pPr algn="l">
              <a:defRPr sz="81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仅通道缺失时创建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E08C5C6-2925-4DCB-97D3-00443D14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77098A-000D-4163-AF63-0B8DF616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0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6029802" y="30965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583E21A-821E-4CE8-B13E-16B0CF0F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返回 HCCL 后的地址查询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6229A5F-ADFD-49AD-BA74-B9E21D21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4BE846A-08CC-4396-A186-278AD054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4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286703" y="5648802"/>
            <a:ext cx="5904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345B8C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D83D390-97D5-4BBD-A798-32232D78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D338A6A-8F6A-4E8F-8C6D-A0AC29E1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62650"/>
            <a:ext cx="576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内部 HcommChannelGetRemoteMems 读取 Peer 注册映射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CB34867-51F1-464F-8301-F56835E5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91150"/>
            <a:ext cx="5362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连接状态查询的精确边界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979E6A-ED2F-4A2D-AA2D-9B80FE40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B5ED59D-41B2-4A74-B410-EB642399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0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544628" y="5648802"/>
            <a:ext cx="536162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A1262D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5B4DDEC-2675-46DC-AF40-AF97533B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054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ChannelProcess::ChannelGetStatus 是内部方法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7526CA-B5B5-4853-B7BB-E95E70D6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721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本链路不应替换成导出 API HcommChannelGetStatus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707E91D-6ABE-44AC-9283-A804C4A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3A86A9B-F8FD-4F31-A866-52EDD8B3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5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63885E7-3486-43FD-A756-EC6A997D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源码：coll_comm_res_c_adpt.cc:755；my_rank.cc:675,1228,1303；endpoint_mgr.cc:76,138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2053231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2F7095F-EB93-4B17-88F9-2A83CA37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普通 Mesh Write：一个 Peer 的握手与数据传输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8884F-F8F0-4BC5-9DF1-9F01D712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Rank i 视角；非 PCIe、普通内存，双向 count 非零。实线箭头表示对应方向的通知或数据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06CED-37AB-43A5-92FF-24FB5645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71256-D4FA-4B22-B39B-4FFE0817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F1F5D-61D7-4E38-B858-356836C8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Rank i（本端）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40C01-4C0C-45DB-86C0-40F56732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AD105-4D6E-4D0D-8672-FB3F2BFE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Rank j（对端）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31AC9-E441-487E-B435-E5B4B508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216A2-C2CA-424B-AF98-0679E8C5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19185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45B8C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9EF84-64A7-424F-A318-72B61272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F7101-E2A3-43C0-861D-10918BA2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5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2560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37E80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7EF19-651A-46E5-9C3C-CB705CDC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① 接收区就绪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4F1D3-84FC-4468-9C9F-784C158A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90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71144-AD08-4EE9-8CA5-C2D201D8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recvChannel, 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60608-99BF-46C8-997A-20B39DF5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D1BB-3989-45D2-9268-E2803567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92328" y="17149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220B7-38F1-4545-8369-8C2A8781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ACK：i 可接收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E2F16-4B70-47F2-ACCD-46226D57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17B55B-24E0-4F5E-A469-D10A6381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5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86703" y="19531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08B59-FAA9-441D-BFBD-38BBE4E7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097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② 等对端就绪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8E361-EDDD-43A1-9D38-0E762B84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9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BD813-FDF6-454D-B3AB-899E66B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sendChannel, 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CA9015-4D8A-43E4-A8E9-9AE276A7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131C1E-AFBA-4C25-B06B-72D7F34C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1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192328" y="233410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FE548F-0CA4-4AF0-9CEF-71893B3B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ACK：j 可接收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607176-04BE-4A10-9896-22105935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526B09-95A9-47B6-ACEF-7FBA4B31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5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6703" y="25722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1CB22B-701F-49AD-9DA4-2A445A2D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289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③ 写远端数据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A92FDF-DC48-4CC7-82FB-84A49A48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597D59-54AA-454F-A948-DB36EA3E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6702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thread, sendChannel, dst, src, len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24B9A3-263E-48E1-833D-502B99E0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58923E-12D9-4085-81D9-7E58F3F3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192328" y="295322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FF729D-FE76-496D-B35B-5F4E299C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i.userIn[j] → j.CCL[i]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647CCE-B0CF-445A-B877-9E50CE4B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9A9095-52B8-4044-97F4-698BF12C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5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86703" y="319135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057830-0F76-4A7D-822F-6EDA8613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480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④ 通知写入阶段完成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873010-F583-4C05-9DD1-DFE4CB50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480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2CC5F7-E601-4922-A069-74E65CD1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sendChannel, DATA_SIGNAL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780C60-09C3-47D3-B146-FA96480B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647244-2CF4-4D85-93B0-416B4622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1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192328" y="357235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CD5668-DA37-433A-BE40-D1EFEE3C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DATA_SIGNAL：i → j 完成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C7A8D1-87C8-4AB0-932D-CFA714C4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00099A-41B9-43E4-88D3-9B3DCC1E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5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381047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C42BDD-AA73-40B7-8D7C-B6FB366E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671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⑤ 等本端接收完成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963368-7EE0-4B42-904A-DC1EFFD6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67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FC48F5-CC9A-4C38-B5C0-F85FCF56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052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recvChannel, DATA_SIGNAL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8D35CB-A1AF-4A23-85B9-3FCF590F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11ECF1-BF60-42CA-A593-795D6579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1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7192328" y="41914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034751-141E-4A57-9F86-B20FA9CA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DATA_SIGNAL：j → i 完成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FCF7C3-2CA1-4A52-86AC-63DBCF76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2739C4C-6987-47CC-8A4A-3BE938EB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5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86703" y="44296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9EBE07-B6F8-416A-84A5-E159C9F1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862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⑥ 从中转区取出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4F26F4-A7E7-4CA8-91B8-1906DF37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86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114CF1-9B80-4EF6-A11C-3A0AD779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244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i.CCL[j] → i.userOut[j]，模板 PostCopy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42282B-F3E2-4318-BDA3-B7817DBA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323563-B11C-4903-B664-3F50EB51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1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192328" y="45343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DDC29A6-95BC-4641-9619-C2186EB1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FF5C15-D5B4-4059-A991-E27368E2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4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8982552" y="4534853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36DDA1-4046-4519-B2BA-B9FF7D8A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005144D-AE67-4E10-A19A-61C711F7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7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7192328" y="48391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7E1C5C9-40D2-4B3B-8AE0-AE1D7D91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本地拷贝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50C2A99-E8CA-4501-A4D1-637B7EA5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8161D3-32F7-4011-8A68-15D293F6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1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86703" y="50487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E1E2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AB56F14-D7AC-4577-A0AC-D72863F8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48275"/>
            <a:ext cx="5734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98FB540-6B5A-4CC1-A064-A71A0DCB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556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对称执行与索引口径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D5FF02-BDA5-4D86-8EE1-E220319F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53075"/>
            <a:ext cx="550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j 也执行对称 Write。第五步等待的正是 j 写入 i 的数据。</a:t>
            </a:r>
          </a:p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CCL[j] 表示 Peer j 的逻辑分片，实际槽位由轮次与分片计算。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E90277F-C78C-42F2-9C6A-2F2A33F8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48275"/>
            <a:ext cx="57721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4448171-2858-44D7-92C9-E8B67F21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86375"/>
            <a:ext cx="560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API 归属与 Wait 分支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7286D5B-53CE-4582-8B7E-26D97151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53075"/>
            <a:ext cx="554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①–⑤位于 SendRecvWrite；⑥位于上层模板的 PostCopy。</a:t>
            </a:r>
          </a:p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Wait* 在默认超时 / 显式超时接口之间按能力二选一。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A512E32-84B2-4D89-9374-5436CB48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8647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445F607-C097-4DDE-8175-867252F6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2457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950 底层实现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0666A6-0594-41B4-AA8C-6BD4852E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HcommWriteOnThread 解包 Channel，构造 RmaBufferLite，再进入 BaseTransportLiteImpl::Write(...StreamLite)。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000077B-156D-44D4-9300-642DF9B5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2BC2AF-0459-4FF8-83E6-68E94B12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3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4EB8A64-BE26-4C6B-B1F9-7557963A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源码：alg_data_trans_wrapper.cc:428–464；Mesh 模板:327–380；AICPU primitive:495–545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630010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C21CA2-CFD0-47CE-B5C2-F3B684AC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Read / Write 分支的数据路径差异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20AF8-A181-4FA7-B0F8-220E97CB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普通 Mesh 模板按链路协议设置 isDmaRead_；两图使用同一发送方向 i → j，便于比较中转位置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92373-3959-4B44-B3C0-0101EE93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74CC3-07DC-48E0-826E-3AA927DD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Write 分支：发送方写入远端 CCL，接收方再取出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747E2-B8EC-4F8C-ADAD-CA91B1FF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45B8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8D326-1ECA-4790-89FC-02F33DF7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9E5BE-8F3C-44E2-85F5-746D103B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8998B-C34A-4BA2-83C0-8C46A0CC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D20EE-80DB-4E24-BAE2-8690B27A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F6094-3894-4F53-BCEC-38DD1D0F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44D66-9F57-47DC-9608-66E27669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A40E9-1642-4AA7-84DE-4BEE63E8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37FFA-2234-44D3-B316-25EC31B0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j.CCL[i]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9C43B-411F-46B4-B70B-B326BE42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2882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接收端通信中转区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9B4A2-0873-47AE-8857-DDE7AEA0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81175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99D81-D392-404A-A692-9E21857E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FE62B-508A-4B06-948D-6B8B4471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288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用户输出位置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58166-2559-44E3-9FE2-E3CB055D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4B6BF-6294-4FB3-A4E2-781D5DA2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4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268153" y="2115027"/>
            <a:ext cx="25898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9D68D-2C58-4C20-AC65-E99FEE17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AFBA1-AFBA-4216-9C69-E15D757F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135428" y="211502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F5308-56AD-4863-861B-D25ED26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383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97124-A027-4D44-BCE0-BB778350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3832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F7951D-FE64-4C29-BEB1-6EC591A2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发送 / 接收缓冲就绪后执行 Write；接收方等 DATA_SIGNAL，再 PostCopy 到自己的输出。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60D0B2-D511-43BC-8B8C-542743B7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PCIe Read 分支：发送方先放入本地 CCL，接收方主动读取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A0092-252C-4C01-80EF-CB0EB53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45B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A21267-C379-4D17-B218-A67B4EF5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B5EF89-F2F6-4789-A40E-17A9F68B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C5A7AC-DA26-4164-9023-C039625F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875C0B-4872-4A34-908C-15FC73FC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54D00B-6695-4337-A668-909DC2DB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624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74FF02-DED8-4175-8F20-0DD103F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814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0F4028-77D4-43C5-B09E-2B8B617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338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3E7496-61A2-4421-9681-0BB4A4AA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624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i.CCL[j]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02E291-E108-486F-99B1-F0C42E73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81475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发送端通信中转区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F43BDF-655F-4432-A9E0-88CDD3D9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33825"/>
            <a:ext cx="2943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F26501-975C-40F8-BA85-D3AFB6BF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BE8AB7-AC46-4108-A65A-BF9B790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814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j 从 i 的 CCL 主动读取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D07FB6-04D7-47ED-A956-200A2BD7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833A69-612C-4DF2-AA0E-D9F0C070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7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572703" y="426767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76C22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5A2571-EE5A-4281-BEEA-8FA8E5E0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C4936E-3879-4AE0-8530-7768E09D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0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54003" y="4267677"/>
            <a:ext cx="25803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C218D0-B631-406B-B189-DA117BCA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909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76C2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76C22"/>
                </a:solidFill>
                <a:latin typeface="PingFang SC"/>
                <a:ea typeface="PingFang SC"/>
                <a:cs typeface="PingFang SC"/>
              </a:rPr>
              <a:t>PreCopy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1FED35-C7A7-42D9-BB8E-4C6F2F50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90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HcommReadOnThread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580DAD-3639-4E61-9B60-C06229EB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0535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发送方先 PreCopy；接收方等 ACK 后执行 Read。完成握手约束双方的缓冲区复用。</a:t>
            </a:r>
          </a:p>
        </p:txBody>
      </p:sp>
      <p:graphicFrame>
        <p:nvGraphicFramePr>
          <p:cNvPr id="104" name=""/>
          <p:cNvGraphicFramePr/>
          <p:nvPr/>
        </p:nvGraphicFramePr>
        <p:xfrm>
          <a:off xmlns:a="http://schemas.openxmlformats.org/drawingml/2006/main" x="285750" y="5276850"/>
          <a:ext xmlns:a="http://schemas.openxmlformats.org/drawingml/2006/main" cx="11620500" cy="1123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24025"/>
                <a:gridCol w="4943475"/>
                <a:gridCol w="495300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比较项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Write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数据搬运 API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＋ HcommLocalCopyOnThread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 ＋ HcommReadOnThread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中转拷贝位置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接收侧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发送侧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共同同步能力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5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E61AD6-0CEF-4856-9CD7-5EA519BA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EA7FFB-2681-4327-A1B7-29E481AA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7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13888A-290D-44E2-849B-69A114A2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源码：Mesh 模板:167–192,217–269,327–411；SendRecvRead:652–689；LocalCopy:880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21093640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63CBA1C-279A-40AA-B78D-CFBED45E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资源缓存与任务缓存的两层复用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B7EC7-F44E-4562-B646-C2BD974C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资源缓存减少准备工作；任务缓存命中后跳过本次逐条展开，两者可以分别命中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3D740-0341-4187-92D6-F141F85C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880A8-3A61-47D8-940F-CD0211EA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控制面：算法资源缓存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4853D-C95C-4739-9ADD-E03B0E09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55692-E511-4D0F-B39E-C82AAA4A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3" y="1191102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37E8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6BC5D-C25A-47A5-88F8-34075592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EF68A-BA90-4526-A3BF-815F97BD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19225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TryReuseResource〔HCCL〕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5D1AD-6A51-48FE-8445-5F7D22F1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126A4-F9C9-454C-844E-129FD287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DD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6E660-8138-4832-A1A1-FE958DFB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192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hit：取已有上下文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177A7-858E-46A4-A38E-B874D906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383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复用 Thread / Channel / Buffer 描述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05022-FFB2-469F-A821-6E19BBB7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7F726-626A-42A2-9CCB-964FF78D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765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miss：重新计算资源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F978F-D6BD-4302-8924-BD2BFE67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955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CalcRes，申请 Thread / Channel，保存 EngineCtx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943A2-E603-4404-92E3-3B72E9F3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71D19-8F37-44ED-89FA-35DB6A8B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335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交付 AICPU 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F0536-8AC6-4346-8025-97E26AE6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52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继续 Kernel 发射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873F4-D58E-4C14-94C9-B9938CAE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ABE02-4B54-4E9E-8F03-90DCBD3A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10878" y="1753077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5853E-83F5-49D6-A762-94A8C95B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02B0A-DF5B-4C59-B578-69FEFE37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57537-33B5-4A61-A80D-518FF0D6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0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14977" y="2125028"/>
            <a:ext cx="0" cy="6943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2B42F0-AF8A-46E7-BF2E-917B16C5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4979E-23B6-44E9-B76B-8B0EE07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3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5453" y="28198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93C45B-F86E-4545-908F-44F6AF16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527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0AB63B-513C-4FAE-B7BF-16CDAC1E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757B19-0593-4532-8C9A-E335D0B7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7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297103" y="1753077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3497BC-5F50-4EAD-9B89-406F5E2E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3AD307-EE03-4784-B459-1CBC4FF4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0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344502" y="1753553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C95D88-94D2-4F4F-86CA-F21F772D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13520A-6B62-401B-A192-D06CEB37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344978" y="2267427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EB23B8-229E-4681-9055-269E4180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9D071A-EF96-4BFC-9E4A-300199AF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54453" y="28198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5FFD6A-ACBE-4E67-B2DC-6AC4302A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F24D4D-892E-4B61-91AA-4D95997F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9" name=""/>
          <p:cNvCxnSpPr>
            <a:stCxn xmlns:a="http://schemas.openxmlformats.org/drawingml/2006/main" id="43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9344502" y="2267903"/>
            <a:ext cx="0" cy="5514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5B4E91-06A3-4F60-BA75-E7A60278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数据面：AICPU 任务缓存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17702F-112F-473B-ADA7-AA4B292E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DDA762-FEB4-4BCC-B0C3-C9EE9C56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3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86703" y="37152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345B8C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62C748-4DF1-499A-8A9B-81227C11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14775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87DAF6-FA79-46E2-80B2-ED00B093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43350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Lookup：查任务缓存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030AED-939A-422F-98D3-C260FA39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624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HcommAicpuTsTaskCacheLookup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E56F8F-2AD8-43B4-A61B-01B1C1B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DD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93574F-E81B-42E5-998C-AFF37F76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433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hit：Execute 重放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7D09D8-B474-4517-8CFB-ADFE8DCA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624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刷新地址，跳过本次 OpOrchestrate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35D1FC-575E-4FD5-8BCE-B52D439E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CED1D3-9DBD-4D71-8EA3-0DEAEC68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006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702161-AF70-49EA-894F-6679942C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19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录制期间仍生成搬运和同步任务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4AB6AD-F404-4CCC-8577-DCA96A98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29125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87309D-4CC4-49B6-9A31-1D37C7A2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577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数据通信继续执行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2BBC09-E2D5-4644-AEBC-22BF7A7B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7677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D1 搬运 / D3 同步依赖仍存在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2E0C64-CE12-43D8-B771-FA9C76EC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F4B484-ED57-4831-B576-C3D0B457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8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210878" y="4277202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1733F38-F685-482E-A47C-7086D220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9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BDC1DB-CB66-4C82-B71B-42B1665D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8A5825-D440-448C-81B6-49B63952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2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714977" y="464915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DC79DF-E8D6-438E-9BBE-1D44440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0614974-928A-4E43-8D06-71CCCF8C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5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715453" y="53344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65002F9-34CF-4A50-BC94-F33A7F4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C88B972-A7DA-484E-B374-0F1FE33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5AB6D2-CA01-45A8-B4D2-148B37C9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9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7297103" y="4277202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C349EE-6B36-4DA5-AD16-BFAE6A06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85141A2-6BD8-485D-92FC-167FAF3D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2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9344502" y="4277678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B9A38FF-E784-4E6E-B3D3-D9F1576D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7435B0C-553D-4F9A-90F3-E1BAC328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5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9344978" y="479155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A07CE8-3CC4-4EED-BE85-4B8E3306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C207BCE-978E-4C7E-BA81-2A33763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8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8954453" y="53344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F216FC6-7CAF-400F-8B9B-C0E0C28C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35EE57-2ABD-4969-93D5-22B02662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1" name=""/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9344502" y="4792028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9422A16-F1D3-4F3E-8FD5-E45BC1F5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E5DAAAB-7D9A-4FE7-81E7-E2F1F4DB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任务缓存条件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A89459-8505-4C64-8F50-58D71717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要求开关、950、支持的算子和拓扑等。MC2、OFFLOAD、ACL graph、输入输出重叠等场景受限；关闭时直接编排。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CA29A6E-DFFA-49C9-B6D0-474C2159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AC692DD-06DB-4C24-B9DE-28F59091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7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5E679F6-22C3-4C3A-B0EF-F6F670D8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源码：op_common.cc:1331–1422；kernel_launch.cc:499–595；aicpu_task_cache_policy.cc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579789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D1B3A-DC11-4BE0-AC15-B894043F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接口变化的条件矩阵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8FB12-A4AD-4E5A-B31F-97E710BD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“使用”表示该路径涉及此能力；具体次数还取决于 Peer、Channel、分片与缓存，不是实测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67345-FFBF-4E39-8831-9D1BA4E7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3943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33700"/>
                <a:gridCol w="1609725"/>
                <a:gridCol w="1504950"/>
                <a:gridCol w="2076450"/>
                <a:gridCol w="1743075"/>
                <a:gridCol w="17526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 / API 族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Write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 相关分支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对称内存命中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hit</a:t>
                      </a:r>
                    </a:p>
                  </a:txBody>
                  <a:tcPr marL="57150" marR="57150" marT="9525" marB="9525" anchor="ctr">
                    <a:solidFill>
                      <a:srgbClr val="345B8C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HcommWriteOnThread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Read</a:t>
                      </a:r>
                    </a:p>
                  </a:txBody>
                  <a:tcPr marL="57150" marR="57150" marT="9525" marB="9525" anchor="ctr">
                    <a:solidFill>
                      <a:srgbClr val="F6EFC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可直接访问窗口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HcommReadOnThread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本分支不用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可批量 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 / 协议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HcommLocalCopyOnThread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可减少中转拷贝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非此包装器必经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非普通 Mesh 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 BatchRead 可用</a:t>
                      </a:r>
                    </a:p>
                  </a:txBody>
                  <a:tcPr marL="57150" marR="57150" marT="9525" marB="9525" anchor="ctr">
                    <a:solidFill>
                      <a:srgbClr val="F6EFC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不能仅据内存判断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取决于录制内容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· Channel / Thread Notify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按并发组织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仍需顺序约束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依赖随任务重放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· 批模式 / 使用保护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仍保留运行控制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/ C2 / C3 / C5 · 准备资源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请求形态可变化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 / 地址来源改变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还取决于资源缓存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· 数值归约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非归约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不因窗口改变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不因重放增加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D5 · CCU C++ DSL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仍为 AICPU 路径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仍看执行引擎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7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不因缓存切换引擎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91DD5-54F1-4724-B400-25F534F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汇报时需要保留的调用边界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35442-7E5A-4027-85ED-3E2F3A42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5A327-6955-4C9A-A935-A06FB24A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6703" y="53535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A1262D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13BB8-8540-4D64-9D40-86486BEC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8640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HcclAicpuKernelLaunch：当前调用点为 Send / Recv。AllToAll 由 HCCL 内部 launch 调用 ACL Runtime。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940F8-F110-4184-8112-66A94020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00725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HcclCommMemReg：普通 OPBASE 路径不能推断每次直调。底层按需调用的 HcommMemReg 是另一个接口。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D8D7A-43B9-403E-95D8-28F55D48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11505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C4 编排主要由 HCCL Executor / Template 完成；HcclGroupStatusGet 仅为能力支持时的 Group 状态查询。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5C9F2-C87D-4D1B-8F2C-F74695F4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B1EF6-D4AA-4870-86C0-4F8EE281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06778-D3DE-44EA-9455-C579D28B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源码：Mesh / UBX Template；hcomm_primitives_dl.cc；op_common.cc:1005；Task Cache policy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730627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2026-09-27T10:49:56.7140000Z</dcterms:created>
  <dcterms:modified xsi:type="dcterms:W3CDTF">2026-09-27T10:49:56.7140000Z</dcterms:modified>
</coreProperties>
</file>