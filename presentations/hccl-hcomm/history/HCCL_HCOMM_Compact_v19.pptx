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44471ba08436c" /><Relationship Type="http://schemas.openxmlformats.org/officeDocument/2006/relationships/extended-properties" Target="/docProps/app.xml" Id="R3596576941a64878" /><Relationship Type="http://schemas.openxmlformats.org/officeDocument/2006/relationships/officeDocument" Target="/ppt/presentation.xml" Id="R225164fed7b249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7e7f57cbe4dcf"/>
  </p:sldMasterIdLst>
  <p:notesMasterIdLst>
    <p:notesMasterId xmlns:r="http://schemas.openxmlformats.org/officeDocument/2006/relationships" r:id="Re4510594ec26454a"/>
  </p:notesMasterIdLst>
  <p:sldIdLst>
    <p:sldId xmlns:r="http://schemas.openxmlformats.org/officeDocument/2006/relationships" id="256" r:id="Rc9ff35cc8afb4c89"/>
    <p:sldId xmlns:r="http://schemas.openxmlformats.org/officeDocument/2006/relationships" id="257" r:id="Rbd39d081c7ec4356"/>
    <p:sldId xmlns:r="http://schemas.openxmlformats.org/officeDocument/2006/relationships" id="258" r:id="Rdd3c93b289444cb6"/>
    <p:sldId xmlns:r="http://schemas.openxmlformats.org/officeDocument/2006/relationships" id="259" r:id="R1e2428e013c94e71"/>
    <p:sldId xmlns:r="http://schemas.openxmlformats.org/officeDocument/2006/relationships" id="260" r:id="R3e0d498f44664854"/>
    <p:sldId xmlns:r="http://schemas.openxmlformats.org/officeDocument/2006/relationships" id="261" r:id="R53d36bd0d6474fa4"/>
    <p:sldId xmlns:r="http://schemas.openxmlformats.org/officeDocument/2006/relationships" id="262" r:id="R97c6c8002cf94a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03a23d2364bfa" /><Relationship Type="http://schemas.openxmlformats.org/officeDocument/2006/relationships/slideMaster" Target="/ppt/slideMasters/slideMaster1.xml" Id="Re017e7f57cbe4dcf" /><Relationship Type="http://schemas.openxmlformats.org/officeDocument/2006/relationships/notesMaster" Target="/ppt/notesMasters/notesMaster1.xml" Id="Re4510594ec26454a" /><Relationship Type="http://schemas.openxmlformats.org/officeDocument/2006/relationships/presProps" Target="/ppt/presProps.xml" Id="Rbc98d39d485c4632" /><Relationship Type="http://schemas.openxmlformats.org/officeDocument/2006/relationships/tableStyles" Target="/ppt/tableStyles.xml" Id="R473c4669d3214626" /><Relationship Type="http://schemas.openxmlformats.org/officeDocument/2006/relationships/slide" Target="/ppt/slides/slide1.xml" Id="Rc9ff35cc8afb4c89" /><Relationship Type="http://schemas.openxmlformats.org/officeDocument/2006/relationships/slide" Target="/ppt/slides/slide2.xml" Id="Rbd39d081c7ec4356" /><Relationship Type="http://schemas.openxmlformats.org/officeDocument/2006/relationships/slide" Target="/ppt/slides/slide3.xml" Id="Rdd3c93b289444cb6" /><Relationship Type="http://schemas.openxmlformats.org/officeDocument/2006/relationships/slide" Target="/ppt/slides/slide4.xml" Id="R1e2428e013c94e71" /><Relationship Type="http://schemas.openxmlformats.org/officeDocument/2006/relationships/slide" Target="/ppt/slides/slide5.xml" Id="R3e0d498f44664854" /><Relationship Type="http://schemas.openxmlformats.org/officeDocument/2006/relationships/slide" Target="/ppt/slides/slide6.xml" Id="R53d36bd0d6474fa4" /><Relationship Type="http://schemas.openxmlformats.org/officeDocument/2006/relationships/slide" Target="/ppt/slides/slide7.xml" Id="R97c6c8002cf94a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f94776e67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13401ded34d1f" /><Relationship Type="http://schemas.openxmlformats.org/officeDocument/2006/relationships/notesMaster" Target="/ppt/notesMasters/notesMaster1.xml" Id="R53d02a6adf4347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6101d5380c4f1a" /><Relationship Type="http://schemas.openxmlformats.org/officeDocument/2006/relationships/notesMaster" Target="/ppt/notesMasters/notesMaster1.xml" Id="R7e9f632c7bf341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9b8294224443c2" /><Relationship Type="http://schemas.openxmlformats.org/officeDocument/2006/relationships/notesMaster" Target="/ppt/notesMasters/notesMaster1.xml" Id="Rea5b501fdae347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8ba7c1ecb4212" /><Relationship Type="http://schemas.openxmlformats.org/officeDocument/2006/relationships/notesMaster" Target="/ppt/notesMasters/notesMaster1.xml" Id="Rb9de21ba2b63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a80656b9f24426" /><Relationship Type="http://schemas.openxmlformats.org/officeDocument/2006/relationships/notesMaster" Target="/ppt/notesMasters/notesMaster1.xml" Id="Rc57ea21d5c074a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51741bc02941ac" /><Relationship Type="http://schemas.openxmlformats.org/officeDocument/2006/relationships/notesMaster" Target="/ppt/notesMasters/notesMaster1.xml" Id="Rf6c0b06366d441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07b319eb1e476f" /><Relationship Type="http://schemas.openxmlformats.org/officeDocument/2006/relationships/notesMaster" Target="/ppt/notesMasters/notesMaster1.xml" Id="R659b5640ee30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先看垂直分层，再看各层内的职责。HCCL 根据算子语义、数据规模与拓扑选择算法。HCOMM L2 是多个算子的公共资源层，L3 负责具体通信能力。底部三个引擎是选择关系。Channel 和资源准备会随引擎不同而变化，不能把三个执行入口画成串行调用。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hccl/src/ops/op_common/op_common.cc；hccl/src/common/hcomm_dlsym/；HCCL_HCOMM_CALL_CHAIN_ANALYSIS.md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当前源码明确存在版本分流、零 count 返回、单 Rank、CCU FastLaunch、AIV 缓存、资源复用、算法插件和资源不足回退。正常链路依次进入 Selector 与 HcclExecOp，但这些条件路径可以提前结束或跳过部分步骤。SelectorEngine::Global()-&gt;Run 与 ExecuteSelector::Run 是二选一。HcclGetAlgRes 的 TryReuseResource 命中后直接返回，不重新执行 CalcRes 或完整建链。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hccl/src/ops/all_reduce/all_reduce.cc:23-55,113-260；hccl/src/ops/op_common/op_common.cc:158-223,780-941,1331-1396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CommEngine 枚举：COMM_ENGINE_AICPU_TS、COMM_ENGINE_AIV、COMM_ENGINE_CCU。OpExecuteConfig 分别为 AICPU_TS、AIV、AIV_ONLY、CCU_MS、CCU_SCHED。ApplyOpExpansionMode 先建立配置，Selector 再按拓扑等因素调整最终 Engine。AIV_ONLY 最终若不是 COMM_ENGINE_AIV，返回 HCCL_E_NOT_SUPPORT。资源缓存用 algTag 作为算法级键，缓存引擎不总等于执行引擎，AIV 的上下文保存在 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hccl/src/ops/op_common/op_common.cc:158-223,1331-1396,3418-3565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本页修正了单一线性列表的表达。HcclChannelAcquire 内部调用 MyRank::CreateChannels，后者先转换描述、创建 Socket、创建 Channel，再对新通道连接并校验。EndpointPair::CreateChannel 存在缓存分支：命中时直接返回 channelHandles_[engine][reuseIdx]，有新增内存时调用 HcommChannelUpdateMemInfo。HcclChannelAcquire 内部的 FinalizeV2ChannelAcquire 在 MyRank::CreateChannels 之后调用，本页放在此备注中。随后按 Engine 需要执行 ConvertAivChannelHandlesToDevicePtrs。HcclGetChannelImpl 返回后调用 BuildChannelInfo，其中 HcclChannelGetHcclBuffer 取得远端 CCL Buffer；远端 Buffer 并不是 HcclChannelAcquire 的直接返回参数。ChannelGetStatus 是 ChannelProcess::ChannelGetStatus。编号是阅读索引，而非 32 个同层的必经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2020-2091；hcomm/src/coll_communicator_mgr/api_c_adpt/coll_comm_res_c_adpt.cc:755-858；hcomm/src/coll_communicator_mgr/resource_mgr/local/my_rank/my_rank.cc:567-613,675-773,1228-1300；hcomm/src/base_comm/resources/endpoint_pairs/endpoint_pair.cc:199-226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搬运原语完整名称为 HcommReadOnThread、HcommWriteOnThread、HcommLocalCopyOnThread；归约为 HcommReadReduceOnThread、HcommWriteReduceOnThread、HcommLocalReduceOnThread；通知为 HcommChannelNotifyRecordOnThread、HcommChannelNotifyWaitOnThread、HcommThreadNotifyRecordOnThread、HcommThreadNotifyWaitOnThread。页面个别重复前缀以斜线合并展示，备注保留完整名称。表格是能力对照，不是每种算法的逐条动态调用记录。AIV 与 CCU 的数据面调用方式见下一页。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hccl/src/ops/op_common/algorithm/template/wrapper/alg_data_trans_wrapper.cc；各算子 Template 目录；HCCL_HCOMM_CALL_CHAIN_ANALYSIS.md 第 6 节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此处只展开三条主流 Engine 路径。AICPU_TS 在 AICPU Kernel 中执行模板并调用 OnThread 原语。AIV 使用 HCOMM 生成的设备侧通信资源，Host 侧通过 aclrtLaunchKernelWithHostArgs 发射 Vector Kernel。CCU 在资源申请过程中注册 Kernel，再由 Executor / Template 调用 HcommCcuKernelLaunch。CCU 的 MS 和 SCHED 共用 COMM_ENGINE_CCU 枚举，但执行配置、可选模板与资源预算不同。其它 CPU / DPU、Legacy 和插件分支不展开为这三列。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hccl/src/ops/op_common/op_common.cc:780-941,1521+,1790+,2440-2972；hccl/src/ops/op_common/algorithm/template/aiv/hccl_aiv_utils.cc；hcomm/src/base_comm/primitives/api_c_adpt/ccu/ccu_launch.cc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普通非批量 Write 分支中，AlgDataTransWrapper 对每个 DataSlice 取 addr + offset 并调用 HcommWriteOnThread。若功能探测支持，具体算法和封装可能用 HcclHcommBatchTransferOnThread 兼容包装提交 HcommBatchTransferOnThread，而非每片一个 Write。同步版还可以融合 Notify。HcommWriteOnThread 的 A5 路径进入 BaseTransportLiteImpl::Write，兼容设备进入 HcclRemoteWrite。本页将两个分支并列显示，不表示都执行。完整同步 API 为 HcommChannelNotifyRecordOnThread、HcommChannelNotifyWaitOnThread。归约 API 增加数据类型和归约操作描述。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源码与基线</a:t>
            </a:r>
          </a:p>
          <a:p xmlns:a="http://schemas.openxmlformats.org/drawingml/2006/main">
            <a:r>
              <a:t>hccl/src/ops/op_common/algorithm/template/wrapper/alg_data_trans_wrapper.cc:358-455,629-679,897；hcomm/src/base_comm/primitives/api_c_adpt/aicpu_ts_primitives_c_adpt.cc:495-545,832-907,1006-1080</a:t>
            </a:r>
          </a:p>
          <a:p xmlns:a="http://schemas.openxmlformats.org/drawingml/2006/main">
            <a:r>
              <a:t>本页依据本地已克隆代码分析。框架适配代码不在这两个仓库内。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5630d652647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da0fba41514d58" /><Relationship Type="http://schemas.openxmlformats.org/officeDocument/2006/relationships/slideLayout" Target="/ppt/slideLayouts/slideLayout1.xml" Id="R01b5311fb1e7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5311fb1e7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fdb2284e494a" /><Relationship Type="http://schemas.openxmlformats.org/officeDocument/2006/relationships/notesSlide" Target="/ppt/notesSlides/notesSlide1.xml" Id="R7b616e92f525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a5009e1d9480d" /><Relationship Type="http://schemas.openxmlformats.org/officeDocument/2006/relationships/notesSlide" Target="/ppt/notesSlides/notesSlide2.xml" Id="R7cf8409feb1e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7347b44b74146" /><Relationship Type="http://schemas.openxmlformats.org/officeDocument/2006/relationships/notesSlide" Target="/ppt/notesSlides/notesSlide3.xml" Id="R66658a4f354a42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7aa3a76124a74" /><Relationship Type="http://schemas.openxmlformats.org/officeDocument/2006/relationships/notesSlide" Target="/ppt/notesSlides/notesSlide4.xml" Id="Re677c69fe1b74d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7c8453fb24ec3" /><Relationship Type="http://schemas.openxmlformats.org/officeDocument/2006/relationships/notesSlide" Target="/ppt/notesSlides/notesSlide5.xml" Id="Rb6a0d66c63534c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f2b6feec4489e" /><Relationship Type="http://schemas.openxmlformats.org/officeDocument/2006/relationships/notesSlide" Target="/ppt/notesSlides/notesSlide6.xml" Id="R87e0dda09f8849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73d6e9ac14b5c" /><Relationship Type="http://schemas.openxmlformats.org/officeDocument/2006/relationships/notesSlide" Target="/ppt/notesSlides/notesSlide7.xml" Id="R69ab5e49d35f47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DF58AB1-057A-4B3C-A7C1-AB6E771B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软件栈与调用边界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5C4B3-C682-4A16-BD21-B6EC8FB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组织集合算法，HCOMM 提供通信域、资源管理与通信原语；同一算子可选择不同执行引擎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95636-019C-47BF-8C78-E92B693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C173-653D-48AD-AF86-12C0D7C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2AC34-2AA7-4DDE-A967-150A450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90575"/>
            <a:ext cx="11658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266C-DEAE-4821-B436-9640A3C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01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A138C-7604-419D-8FAA-9E93735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191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上层集合通信入口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8C548-ECF7-404D-B71A-E253EFBB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BDC95-FE23-470D-BB16-EB5BF32D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 / HcclReduceScatter / HcclReduce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BC596-59E9-4CBD-9218-7D9DEE8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全归约 / 归约分发 / 归约到 Root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CD6BE-9F6F-4BF3-AE4F-163C234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7D17B-49A1-41DF-8350-CE8CE5F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HcclAllGather / HcclBroadcast / HcclScatter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7C2EB-3290-4DD5-AF13-E82F12D3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收集 / 广播 / 分发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E3AAE-F5C4-4D42-9BCE-1D5B035E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66800"/>
            <a:ext cx="3790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835A1-C35E-46EE-8F1A-AA29EF72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76325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HcclAlltoAll[V/VC] / HcclSend / HcclRecv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2FD9A-514F-4ED5-95B6-74CEB564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22872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全交换 / 点对点；另有 BatchSendRecv、Barrier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564D1-6594-44E9-A889-E1D9E42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1A014-2187-4D41-AAB7-E14F7DE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477" y="147732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050BD-A792-4D1B-B51D-3D37E01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62100"/>
            <a:ext cx="116586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75F6C-845A-4627-9AF5-52BB951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716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9EEE7-DC02-4B01-95F6-8F6654A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906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L1：参数归一化、算法选择、Executor 与 Template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649E5-EE4B-4019-989D-52D37FA8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E7766-1709-4AEE-933F-9FBC046F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InitAndCheck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F07E4-8022-460C-B40B-DC657DC9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通信域、地址、类型校验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919DF-8823-4324-BB08-BE3E61A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70A095-DC4A-4F51-8BF8-C2F8AB4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15553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EE384-37AF-4A63-B435-DF248F3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0081E-D532-4724-8401-BE72760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Fill*OpParam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C653F-1C78-4A4D-977F-A66F6598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统一算子描述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F27194-D659-4FE8-9064-272E1CF0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2A49E-A2DB-4777-B6DF-C1F443A0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830128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E58D9B-B0F4-4487-9851-2E8AD250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08CDD-2CA7-4178-8D25-A77F89AD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38A2E5-497C-4A9B-92DA-DB6095A1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决定展开配置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6667C4-6205-44AA-A1A8-B74BE502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D9E8E0-164B-44A0-BCC6-A261D2B1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144703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882C4-4818-4824-BEB5-D2C03E1D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04E41E-B2A8-4B94-BC8B-EDFE6F7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3DB64C-2683-4856-AA86-4540BF7C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拓扑和算法筛选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38EF03-8368-4EDD-94F1-99CEFE82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54A486-8178-419B-A57F-2A119F2C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9459278" y="20007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6AFD4A-88C6-4917-B92A-B56A5363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38325"/>
            <a:ext cx="2181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6E6815-E216-4115-A0B0-8B4527F4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47850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5B6B6F-5675-4B97-88B9-F0DEEDEE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002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 Executor、分配资源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21FBAF-0888-4424-87A5-AFF1A34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09800"/>
            <a:ext cx="11544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4B62C8-20A0-45D4-8AB3-73B252F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28850"/>
            <a:ext cx="534962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Executor：CalcAlgHierarchyInfoV2 / CalcRes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6E70C9-5FCB-4205-8432-F61907D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671" y="2228850"/>
            <a:ext cx="6070854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计算分层 Rank、Thread、Channel、Mem、Notify 需求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7FD2A8-A2F9-4546-89CE-967983D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05075"/>
            <a:ext cx="11544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FA7E6C-C95E-4F74-900A-D9CF6461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24125"/>
            <a:ext cx="5349621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Template：Orchestrate / AlgDataTransWrapper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09110D-C03F-465D-BC7A-52924277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671" y="2524125"/>
            <a:ext cx="6070854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按分片、Peer、偏移、并发线程编排搬运、归约和同步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A8B5F9-363E-4094-955D-203C76A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09875"/>
            <a:ext cx="11544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跨仓 ABI：libhcomm.so + dlsym；HcclChannelAcquire、HcclRankGraphGet* 等 Hccl 前缀接口也由 HCOMM 提供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8C6F94-E15E-46C5-9281-887B159F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A019A6-C349-4294-9A8A-5F7DFDF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096477" y="298227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529902-9389-4AF5-B348-9032792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67050"/>
            <a:ext cx="116586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62B7AE-BAB6-45C6-88F1-C0506C9A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765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E6BF1F-00D5-495B-A17B-48030E3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956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L2（HCCM）：通信域管理与公共资源 API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70CC41-F1BA-4C3F-8972-F7F438A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BEFC00-0D3A-4471-9D61-0DBF9ADC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02F0D2-BCC8-49EE-82CC-933EA78E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读取通信域配置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C2EB04-DF66-419C-8381-51F2E4F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3D2953-2CDD-4BF5-9C2A-2CD1C032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AA2A62-0833-41F4-9D8D-5FB0670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 READY 状态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B649BC-B10D-4757-BFF5-C520B66E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A64B13-545B-466D-9445-A0F829C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062467-8F21-49C4-9CDF-67851E1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7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层级、Rank 与端点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99C9E5-DB36-49BD-A69F-FDE15BD8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3A67D7-ED5B-4CA5-96FF-12CF989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/ Create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FF2AA7-C89D-42EF-8135-3E6ED7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缓存引擎资源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84F3FA-6024-46DE-94E2-4F498F28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7F7312-C1A0-4B3A-BD41-E0AE9D5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 / ExportToCommEngine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E21A661-2F0D-470C-9F1F-8ECD57D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线程与跨引擎顺序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D02980-807D-4BFC-B726-E32AE3C9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F1F347-DFFA-4C28-A1E5-8C32D914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/ Query / Destroy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AA2977-FEF9-4780-9E2F-EBD9EE72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8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申请、复用、销毁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E6A102-5725-4D70-B5DA-909CB021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77EE4E-9273-4272-9216-8E3443C9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6232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D2F819-B156-4D0D-9841-3BDD2FD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36232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注册通信内存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74CD50F-EBD9-44B5-BFE6-C3C7D265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23E82D-5567-4DF1-A180-01950C1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38550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/ ChannelGetHcclBuffer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B92352-7C4E-4291-BA26-CD90CF92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638550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 / 远端缓冲区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871D60-F52C-4600-8659-CE10476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95725"/>
            <a:ext cx="3790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C36B4D-37B9-4DAE-9D02-9DD08051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14775"/>
            <a:ext cx="2463737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HcclCommAddExchangeInfo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A5C53C6-3451-470B-AE6C-C797A0D9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9987" y="3914775"/>
            <a:ext cx="1203388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登记一致性检查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9694D87-B00F-4C12-98F2-DA316A84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152C6E-D176-462D-8288-BF2704AE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6096477" y="4296728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B8E1B53-EDB5-4039-87C3-50A7A457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1500"/>
            <a:ext cx="11658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4CE53E-C985-4D02-9FB8-B24053BF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910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8CB443-F2AE-4DCB-8F78-73F8183B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100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 L3：Endpoint / Channel / Thread / CommMem 与执行原语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30DD018-0629-4C63-B445-BD3665C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4874F6-D046-459B-AC2D-A5B9F05F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 → Channel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C50288B-E28C-4D43-95F6-FECED67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保存端点对、协议及连接资源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D97D39-F3AE-401B-8B38-983B0422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AAEE08-356B-4E37-A1EC-740F054A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Read / Write / LocalCopy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03E9893-C799-4392-83D1-E1A829C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远端传输与本地搬运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3A09C7-190A-4C3B-9F1F-BFFD8917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EE690DA-5FDE-4BC6-AB30-34C42FD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ReadReduce / WriteReduce / LocalReduce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A0BC21-C549-40D6-A132-8BCAAC13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传输融合归约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E7CCB39-216F-4B4C-B4F7-772CFFD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657725"/>
            <a:ext cx="2828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C6184E1-EE2F-4588-B989-272D2BAD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733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Notify、Fence、Drain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60CA3D8-AD2E-4755-BA0A-71F5AB99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19650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同步通知、顺序约束、任务排空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12CCAF4-E03F-4D0D-90BD-1352ABB5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29200"/>
            <a:ext cx="11544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ED09B24-DFA1-404C-AEF7-4057E050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48250"/>
            <a:ext cx="37334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底层通道按 engine + protocol 创建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E5A388-2E1C-46C5-AF1D-23FCAE2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469" y="5048250"/>
            <a:ext cx="768705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AicpuTs*Channel / Aiv*Channel / CcuUrmaChannel / HostCpu*Channel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DDD38E2-9177-4DD5-A320-1242C96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67350"/>
            <a:ext cx="116586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465CD58-67E2-4DA3-B7D4-9973C6B9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768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84BD339-3980-4AA3-AC59-C39A4E2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959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执行引擎对比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3ACEF5-B826-4C87-8442-86C3861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42F140B-A748-4161-A65D-FFB29740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B785253-7DC3-4B63-9177-293A89DC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Kernel 展开 Template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Hcomm*OnThread：逐步发出通信任务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F75F852-82B1-4F65-83E0-56293AEB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D06D97-3B06-4EEF-B0DD-01A852E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4AB2F1A-EC6B-421D-8257-697F7148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发射 Vector Kernel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设备核使用 HCOMM 准备的通道与映射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31AF6F-5B4B-4153-84DB-F4E0808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43575"/>
            <a:ext cx="37909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142DA40-9A5A-43A2-B526-2192368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53100"/>
            <a:ext cx="3695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C7D577-A994-4565-9EB6-0C8CBAA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72175"/>
            <a:ext cx="3695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Kernel、分配 CcuIns</a:t>
            </a:r>
          </a:p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HcommCcuKernelLaunch：提交 Mission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A9C996-AAEA-4301-AFD7-73519BDC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FE8FAAC-1250-4DC3-8168-BC5D87A7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基线：hccl 170ddeec539b；hcomm 87ce550f8f7c。分层依据 hccl/docs/zh/architecture/architecture-brief.md 与 hcomm_dlsym/</a:t>
            </a:r>
          </a:p>
        </p:txBody>
      </p:sp>
    </p:spTree>
    <p:extLst>
      <p:ext uri="{BB962C8B-B14F-4D97-AF65-F5344CB8AC3E}">
        <p14:creationId xmlns:p14="http://schemas.microsoft.com/office/powerpoint/2010/main" val="1394321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6272358-3896-49C7-9E3E-C6DAEBDA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AllReduce：入口、Selector 与 HcclExecOp 的调用关系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6E7F6-F14F-4747-B595-8AD7CA2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主流程自左向右，框内由上向下；缩进表示子调用；有条件退出的路径在下方列出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A5286-1199-409D-9EEB-0B1EA075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61C15-4DEF-4959-80A5-E2331DF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DFAE-4584-4B6A-8AFD-B5A19E2E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29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87D89-3168-4899-90A5-178D78F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D5ABD-E99C-4C01-B94F-AEB5B12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入口与参数准备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708D0-8188-4EF7-B1E9-353F89EA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83460-9C9A-47FB-BD6D-B81E361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718C5-A105-43C9-8783-33CE44C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公开入口；GetHcommVersion / IsOutPlaceDevice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28CB4-0434-446B-A7F6-91FF8B2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C1733-017C-4B41-839A-1C7690D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AllReduceInitAndCheck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67149-44D7-4E4F-8527-7B962FE0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校验参数并生成通信域 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E4306-5F6B-4233-A4C9-5FF43F3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B2096-8662-468B-97E8-D5BAF79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InitEnvConfig / CheckAllReduceInputPara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0AEC7-C44E-4D39-B80C-B40FAAE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初始化配置、检查指针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362C1-4F74-427D-81F8-5CA53CCE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6E9D6-C332-48C5-830A-F22E2907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HcclGetRankSize / GetRankId / GetCommName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30F1A-5D27-4DA3-9E02-DAFCC248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读取规模、Rank 与通信域名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B6F8C-5A08-4DA9-95C8-F5E473CE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91048-7541-4981-AB61-3087458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CheckCount / CheckDataType / CheckReduceOp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D9770-F9F5-43CD-BB9C-35A8614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 count、数据类型与归约操作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F1068-0AA8-4CE7-A3CD-0F1B19C9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6DE39-A768-47AA-A6F6-212EBEB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AllReduceOutPlaceCommon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5132C-93DD-4E20-812D-9A03572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单算子与图模式共用的主体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FDE44-6A75-4F55-870C-FB8835A0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2DFB4-B2AA-4AAB-A8CC-E762E97C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FillAllReduceOpParam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9924B-C540-44DE-BA80-7D912B5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填写 buffer、count、opType、opMode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31AD0-14FC-49C0-A6AE-ABD1455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3CA24F-22DE-44A2-A6B6-17DD448E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HcclGetOpExpansionMode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F686B-BD3F-403B-B52F-E1411E06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DecideHcclOpExpansionMode / ApplyOpExpansionMode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A506F-AE6B-4466-9AD0-E9944699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50CFEF-5102-41B6-BF67-949EDD4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Selector → HcclExecOp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F322F3-65BC-4F0D-AFDB-8E17023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正常多 Rank 路径继续选择与执行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271E96-CE0D-49D7-8844-E14689A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800100"/>
            <a:ext cx="37147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9EBF19-E1C6-4BE1-AB84-C4397A36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9625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976D6B-82CD-46CB-A61F-B3A5FBAC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286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Selector：拓扑与算法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4A10A-FC7E-4773-B37D-12ED337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763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3E510B-CAE9-41CF-A6CA-B0E2C0FB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858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3189A5-5362-4D77-BCF7-7307A0B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接口可用时，要求通信域 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0695AB-7941-4DF5-BEEC-C03538E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192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37050A-8081-4F2A-908D-2C7321FC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1F18E-82B2-473D-A36D-C50D15EC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获取或初始化缓存的 TopoInfo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F1A43F-7C5B-4E03-8DBD-B25CB574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DE7D2-CC17-4668-BD8B-32B0A91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HcclEngineCtxGet / Create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430FF1-D5B6-463F-B3D3-A691C1E6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复用通信域拓扑上下文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5546D-6140-4315-AEF6-463ADB8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050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4281D5-3DF2-45B6-8D31-28FFF25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InitRankInfo → HcclRankGraphGet*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B26D9E-4EF2-40F4-B408-2AB7CAF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查询层级、实例、Rank、Link 和 Endpoint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4A8E14-63B2-4431-AB5F-7A44C27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1C94CC-E230-478D-B757-0369852D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SelectorEngine::Global()-&gt;Run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A2E447-5360-4021-AF8A-D843D730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 Selector 启用且支持该算子时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4E166-A0F9-42E3-9A1D-599727DB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D244E0-BE19-4268-84B5-CA83CEA2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或 ExecuteSelector::Run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813081-5EC9-4E41-8D23-E944F6F2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未启用 / 未支持时走此分支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4B50FD-525E-435A-9A91-34C640B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337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830317-F6DF-4D46-9139-14EEB1B2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checkValidAlgName / SetCommEngine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EA943C-DADC-4A9C-8310-E0C28D61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校验算法名，确定最终 CommEngine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6D0135-20B1-4937-B143-AC46EA3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55BA9C-03E9-4304-BE2C-EFE2C1E4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LoadAICPUKernel / RegisterKernel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485E44-BA2B-40A7-B3E1-ED84534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按选择后的 Engine 加载对应 Kernel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B171BC-4200-49B5-8FE2-67DD9E9F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9525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E7176D-48D4-4284-B0F4-5A9C3BA7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SetOpParamAlgTag / CheckCcuParamAndFallback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2420D9-86FC-4102-83F6-89656C7B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生成复用键；按版本执行 CCU 协商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DD1A62-3FE5-4634-9318-B0430794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800100"/>
            <a:ext cx="39433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87EB4E-0006-4D00-B906-70163DA7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8096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F4D600-8B4A-44A9-8B93-C98053CC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8286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HcclExecOp：资源与发射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7F77EE-688A-422C-914C-6C2A806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763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417D33-F48D-4C34-88E1-B870CBBF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085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HcclEngineCtxGet(fallbackTag)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42EC24-4BC4-43C7-91D3-CEB03EA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238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命中回退缓存时递归调用已回退算法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FF3B94-F2AD-4ECA-B02B-7363129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192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3E1B18-AFD4-440E-915C-970B7837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28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CollAlgExecRegistryV2::GetAlgExec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89ECED-3703-4A4E-8055-C0EDF9D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81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opType + algName 查找 Executor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31735E-BFCA-416C-A9B3-58B058D7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03F35A-3817-4750-805B-C687CF96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71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43B5F5-A70E-40F6-B022-3F1BF214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924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CPU 分支关联用户 stream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097668-019E-43BC-965C-C45F2E0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879A92-E3B1-4926-89F4-2B92C26D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81E322-5EB4-416D-9944-330EC0F7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669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导出 CPU_TS / AICPU_TS 线程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1F3377-BCDA-4F72-8E7A-7067EB11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479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14A583-DE5A-46D3-BC28-65B63AE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57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514F4F-5EB1-4BAB-BE1E-7A1AB77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09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TryReuseResource，再计算 / 申请资源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C0C0CB-B5FE-436D-A847-351B9C48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908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7D1CA1-6239-4EB1-B52C-EA216248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003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CalcAlgHierarchyInfoV2 / CalcRes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D12039-6F37-4BC8-81F0-DC01FE52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52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计算分层拓扑与 AlgResourceRequest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78F74D-40FB-4FAE-B8E8-E09F1E0B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337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D84B1DE-6F8A-4DF4-A956-A4BCFD9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43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GetAlgResWithEngine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982E78-5E8A-40FE-B44D-D966545F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95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AICPU / AIV / CCU 等分派申请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9F58E7A-E17F-4B0F-873C-D3737396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5475FF-CAD5-4B2B-ADBD-04AD17BC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86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HcclDfxRegOpInfoByCommId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284569-6933-41BA-A1D0-7B4CD47D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38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登记运行信息，准备跨线程同步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F6BEBE-6A28-48D8-AF8A-F2370438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95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FE8BD8-ACA8-4B98-B771-2BEE3531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29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发射，ReportOpProfilingInfo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BEF3347-5566-4A4C-9667-73376F1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81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入口或 Executor::Orchestrate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EA20AA-41B4-4B1C-90F5-054C671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5C9E3E-A74D-4263-A79D-CD488776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40967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1F78F2-302C-43A0-B1EA-3D005CF1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80C3EDF-E61E-4779-BB06-A3074C8E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7897178" y="972027"/>
            <a:ext cx="7524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6D1A24-F470-44F9-AA22-E6FF5FD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6581775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0B725D-4705-47DC-9C09-9E4F3BB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52925"/>
            <a:ext cx="6562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E6C64AE-87F5-4647-83F5-6F0411E8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71975"/>
            <a:ext cx="6448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入口与执行中的条件退出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1C5057-6CB9-453F-A89A-B1F47525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196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D418C6-1230-411F-BFF3-409E49D6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386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旧版本 / 非 out-place 设备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D9C677-FC01-415D-A8C4-747236CE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46386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HcclAllReduceInner，退出新流程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535B449-3ADF-4953-BF4C-3666679D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053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DC6E00-6BB9-416D-A262-1E019D42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9244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count == 0 / rankSize == 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9E1A2D-AEE5-4983-85E2-FB437220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49244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直接成功 / SingleRankProc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8ABCBE-CB3D-4F2E-B9F3-7EF3218D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1911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C8A35F3-61E5-4C80-AAE1-FD81984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101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9.0.0 + OPBASE + CCU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7DE99F-F2E8-45CB-92AE-5FC24F4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2101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进入兼容的 HcclAllReduceInner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8980F5-74F7-4CD8-A84C-E0C33260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768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C86A1F-E5E3-4BA7-BB54-E2ECCC15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959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FastLaunch / AIV 缓存命中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3D7928C-8D6B-40F8-A946-C9D119B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4959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HcclExecOpCcuFastLaunch / CacheCheckAndReplay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611637-227F-4400-ADBB-3E82C93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6262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17510F-4167-4D37-B7AB-05F6E5E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8167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HCCL_E_UNAVAIL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A5F6955-2219-4B62-95C6-9C76D41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578167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FallbackOp，协商后重选 / 重试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D766B1-6917-41BF-B5C7-5527AF0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48375"/>
            <a:ext cx="6467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4B2BA65-6813-47E7-B232-3593C47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7425"/>
            <a:ext cx="25107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算法插件被选中且编译开启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59E1E6-2C19-4731-9D7E-0A099E9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6067425"/>
            <a:ext cx="38328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ExecutePluginAlgorithm，走插件执行入口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166654-15A8-4E0A-A81E-44BA582F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49911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15E87A6-27C2-4226-A22C-C73441AC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52925"/>
            <a:ext cx="497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8958DFE-56BA-4BB5-B218-B6206EB4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71975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一次调用需要跟踪的四组字段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548DCFF-2322-4593-BB99-47AFCD9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66FD84F-C6B1-4F72-B187-7BCA1F2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291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143164-F1B9-4385-9B12-181DDAFB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inputPtr / outputPtr、count / datatype、reduceType、stream、opMode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D5053FE-544E-443A-9560-22503BA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2BF5580-CC6B-4ED1-B1D9-B1F294EC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482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算法选择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F048C35-ACB8-417C-966B-03BDBFCD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algName、opExecuteConfig、CommEngine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419909-A927-49E2-9F6C-F52359DE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578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B3610C4-AA10-48F2-98EB-4D460DB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4673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复用与回退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67F5A8C-19B6-428E-9E20-46CB1B6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algTag、fallbackTag、cacheValid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0925233-AB79-461E-8D6C-8F468CEC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76925"/>
            <a:ext cx="9429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3298E2D-88C4-4D94-8C29-760589EF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886450"/>
            <a:ext cx="847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资源回填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038F66B-42D4-40FA-A09B-E8EE61B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76925"/>
            <a:ext cx="3857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threads、channels[level]、remoteCclMem、Notify 数量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AE869D2-F281-4C00-BEAA-80E67A0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D6C9ACF-E1D1-4B4C-80D0-08C0130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源码：all_reduce.cc:23-55,113-137,159-260；op_common.cc:158-223,780-941,1331-1396。本页包含条件分支，非单次执行全覆盖。</a:t>
            </a:r>
          </a:p>
        </p:txBody>
      </p:sp>
    </p:spTree>
    <p:extLst>
      <p:ext uri="{BB962C8B-B14F-4D97-AF65-F5344CB8AC3E}">
        <p14:creationId xmlns:p14="http://schemas.microsoft.com/office/powerpoint/2010/main" val="1595227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D3E6E3-68D4-4A58-BADB-45C244A5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展开配置、算法选择和资源复用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30D3-9752-4D75-88EC-B5671E58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 决定执行位置；Selector 选择具体算法；HcclGetAlgRes 优先查询已有资源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36315-1645-4F30-B59D-5A70C122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5A9AD-663F-4347-94B5-75D555D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68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2047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04950"/>
                <a:gridCol w="1143000"/>
                <a:gridCol w="2009775"/>
                <a:gridCol w="3714750"/>
                <a:gridCol w="3286125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展开配置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执行引擎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初始化动作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 / 回退约束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AI_CPU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LoadAICPUKernel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默认兜底路径之一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 展开 Hcomm*OnThread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RegisterKernel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 dtype、规模、拓扑等限制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Vector Kernel 使用设备侧资源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AIV_ONLY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AIV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RegisterKernel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选不到 AIV 则 HCCL_E_NOT_SUPPORT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禁止回退到非 AIV 引擎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CCU_MS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 CcuIns /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受指令、Buffer 等资源预算限制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 CCU Kernel，提交 Mission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CCU_SCHED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 CcuIns /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可匹配算法与资源规格不同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采用对应调度模型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 / 不支持配置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LoadAICPUKernel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ApplyOpExpansionMode 默认映射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 Selector 仍校验算法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4F65-9B5A-45B2-ABAB-35885579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43225"/>
            <a:ext cx="58674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EA476-3046-4C12-8FF7-31545F1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952750"/>
            <a:ext cx="584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6C84A-7117-4212-9A38-BE58B00F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71800"/>
            <a:ext cx="5734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 的输入与输出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049DA-39C0-431D-B514-FE621B07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1945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D95C4-3B36-414C-A864-29A6D2E6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3850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60C31-935C-44F6-ABFD-4F9787D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23850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层数、MESH_1D / CLOS、2-Die、PCIe 混合组网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526F2-A0E6-4E45-BCEC-EC14036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533775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D7E3D-6F9F-4F34-8D78-304ED7C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52825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EA74B-9344-4474-9F2D-508C419E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552825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数、数据量、count、OneShot / TwoShot 阈值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DA03C-AEFD-4022-B330-1644BC8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4810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77F9A-BD7B-4CDA-A379-C6D9BDD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6715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C00DA-CDD1-4181-B8F3-356C2F9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386715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datatype、reduceType、Root / Peer、inplace / overlap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EA9C3-892B-458C-800E-9C323FB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62425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2F2CE-B56B-4A33-9D35-EBD98E5E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81475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C187E-FAD6-4F57-98A1-74C5D1A9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4181475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确定性、保序、Engine 支持、CCU / AIV 资源限制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FAC1D-0905-45AC-8845-02593BD7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0"/>
            <a:ext cx="5753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78A2D-5F89-49AD-91DF-5032FE2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95800"/>
            <a:ext cx="614172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D1A3D-81AA-4830-A6CF-F379152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" y="4495800"/>
            <a:ext cx="501510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+ CommEngine + algTag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6E351-CE4C-4F54-B99A-9728723B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38700"/>
            <a:ext cx="575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真实入口：SelectorEngine::Global()-&gt;Run 或 ExecuteSelector::Run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42727-45A6-445E-A84B-FCB9FE6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43225"/>
            <a:ext cx="5705475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B6DBB-2CA5-4B76-8899-B6AAF989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5686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62A85-C8FC-4B94-A69A-ECB5D58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557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TryReuseResource：复用的实际条件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4F918-5961-4550-8C5F-1C624185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1945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2E235-AAD9-42E7-AE12-C431755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BatchSendRecv + OPBASE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7903A-84EF-4E6D-AF6E-FDE4CA90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23850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增量建链，跳过整包资源复用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73FF2-8EE3-43E8-A256-39CED3E0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33775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9F462-50EE-41C6-8F4A-3EA1E7F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OPBASE 且非 CCU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B71F05-DF76-4477-ABCF-023CBB82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552825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不复用这一路算法资源上下文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AFE64A-D89F-4BF0-ABEC-6E8D1EE6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4810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403B67-AA4F-4789-944C-544D301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 上下文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5F75AE-AA34-4C64-AD48-D7223D9B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386715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COMM_ENGINE_CPU_TS 查 EngineCtx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B05D05-2BF7-426E-BC39-477BBBC3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62425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58EAFD-AD81-4F24-ADBC-8ACC526C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81475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CPU / DPU 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4E37B-7405-4420-BD5B-9F489A13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4181475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COMM_ENGINE_AICPU_TS 查 EngineCtx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3DD499-E360-4FE0-A1C8-5E05314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591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9CE77-C7B0-4282-9FC1-27DD3F9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216027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其余路径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B18A52-B3F2-4DCD-BF5A-2D1D88A1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445" y="4495800"/>
            <a:ext cx="33070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algTag + engine 查 HcclEngineCtxGet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A32CD1-9DBF-428E-BD65-4B2C97CC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38700"/>
            <a:ext cx="55911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命中：cacheValid = true，返回已保存的资源上下文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ACCAF7-080C-4937-B898-63C3CC65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48275"/>
            <a:ext cx="11658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558E6C-0EC8-48B5-90F4-2E2FB24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578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C64A36-AE56-4397-9240-CDF76FA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768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算法名如何对应执行路径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075A36-5DCB-422A-8AEF-AB2DA0D6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24500"/>
            <a:ext cx="3981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89FAD0-7690-47E0-86B3-10BD32F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53402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AicpuAllReducePipeLineMeshNHR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D48C31-4CF6-46E7-B479-9BBFA84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24500"/>
            <a:ext cx="7362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Aicpu：引擎    AllReduce：算子    PipeLine：流水组织    Mesh / NHR：各层算法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3235CB-0936-4A99-BBCE-F102296C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758199-B81B-40C9-B62D-692BC64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2EC766-8779-448E-8624-72A53071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/ Aiv / CcuMS / CcuSched / Dpu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6904FD-D3FA-4FE6-9BC3-26375B9D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68B132-F70A-46B9-B4F6-83176F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Schedule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C36951-BD81-40C3-8E27-CFF2F68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Sole / Sequence / Parallel / PipeLine / Concur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D84347-DAFD-4927-89FA-9E32B375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11E390-6B54-4AF7-B115-850D4080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Topology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BA8D0D-EE3E-4B8D-83EB-066284CD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Mesh / NHR / MultiLink / MultiJetty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28ED9E-2635-4CDE-BFD0-1D4DAF5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848350"/>
            <a:ext cx="2828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8C45B0-3FF0-4070-9763-6D11195F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57875"/>
            <a:ext cx="273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Variant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79AD57-82AD-469C-BA9B-C4FB5BA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OneShot / TwoShot / AicpuReduce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5C5561-CA11-4E7C-ACC8-2EA9F8C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6AD87E-06BD-43FB-953D-CD22AE16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源码：op_common.cc:158-223,1331-1396,3418-3565；all_reduce_auto_selector.cc。枚举列省略公共 COMM_ENGINE_ 前缀，备注保留全称。</a:t>
            </a:r>
          </a:p>
        </p:txBody>
      </p:sp>
    </p:spTree>
    <p:extLst>
      <p:ext uri="{BB962C8B-B14F-4D97-AF65-F5344CB8AC3E}">
        <p14:creationId xmlns:p14="http://schemas.microsoft.com/office/powerpoint/2010/main" val="1846987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C359806-F167-45D3-B601-5EB4E134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建链调用树：请求准备、对象创建、连接校验与回填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7AE69-BAA7-4E00-9389-A8AED08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V2 / 新建通道路径为主；编号用于定位，缩进表示归属；缓存命中与条件调用不要求每次全部执行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4B716-63EE-48BB-8699-3B18A82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9DE4D-CBA7-4130-8ED3-40B43A71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90DDE-6C59-4FD8-A35E-1BCD500D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9FCBA-798D-4006-B867-5ABE20B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2FCD9-F61C-43B8-AFCB-B108937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D83CF-FB61-4A90-BDC2-F409AE09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D6EBE-7ED2-4718-955B-1A12F5D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HcclGetChannelImpl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3BC48-477B-494D-9D9A-F0D06AD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发起资源请求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2BE7A-49BA-477C-B20D-9B2F54AE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8639E-EAEF-4E1B-A5B6-4FA9DDEB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 AddExchangeInfo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32BBC-82EC-47DC-BB67-3C210E5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登记本次算子交换信息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09B06-DC24-4C49-9653-CFD150E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D774E-9426-4B1E-BFA3-57BE8DD7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 HcclChannelAcquire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A4B91-70CC-4E02-A3DD-4D0FD381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DF5A7-E252-49D6-A765-2C8B9031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F6FD3-1B39-4BBF-B336-B7543A5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   CheckChannelResParams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A1853-7060-4061-B8F6-B2D84641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检查资源参数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32815-8430-4A84-A694-5A41BEF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AE12A-7FEA-40F2-BECD-140B6E0A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   ProcessHcclResPackReq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74773-FB3A-413F-9D84-2BC5FA0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 Channel 合并资源描述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C832D-49AD-4452-AEBE-F3AECFA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F0ECC-9EF6-40F4-A697-10EDA64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     PrepareV2ChannelAcquire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4BF73-D152-48AF-AB7C-96A4899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V2 / A5 初始化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4C469-C34F-4B15-BFF6-76C74C7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92709-E233-42F7-83CB-4DB7CDE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   PrepareChannelSymMemHandles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EE12C-5EA5-450F-A506-5F3DAB55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 AICPU / AIV 准备对称内存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3C3A8-E7ED-467F-8F98-85F0C877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1D3FC-FF5D-439D-96D9-8FBA82FB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   MyRank::CreateChannels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DFBD0-9797-4930-BEC4-818A3CB9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进入本 Rank 建链主体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D5EB0-2959-4C72-93DD-913AA74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77AC1-482F-4AC8-AE36-A227435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1251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9603E-DCC6-4A03-A063-1C288F14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E0EC24-FBCE-4275-BF0B-740BB9A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C6970-73AD-4156-8C88-E88BD1C3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描述符与 Socket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761C7-63A2-4F2D-8327-8308F65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28F1C7-F2BB-46D1-A2E3-AFF9970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CheckChannelParam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29D408-75C1-4811-8D22-EA0C36F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 Engine 与通道参数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F98D25-1751-41BE-A07F-D29998A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4B6CBA-94F1-431F-9C19-3EA5421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ChannelDescHccl2Hcomm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7BCD6E-388B-4387-A5AA-5CE95F4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描述转 HCOMM 描述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F0D35D-45D5-4042-813B-5570D4D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E1AFA5-2EFE-449C-8538-A1667E17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ConfigSqDepthByExpansionMode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3958E8-E279-4F7C-8236-D8550A3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配置发送队列深度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245F54-D6B5-48EC-91E9-8AB0482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D088CA-74D8-499A-A6C2-F9C9975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 BatchCreateSockets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29881A-937F-400F-8E7F-E0F2B944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先监听，再连接 / 获取 Socket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D735FC-25D0-4C68-97D7-94BF0B9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698382-6100-40CA-A927-903826A5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13   BatchServerInitForChannels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417F34-4A06-4D1A-A464-D5AF49B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服务端初始化与监听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04D116-4726-458A-9FB7-32A9C3F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87450D-A5AC-4C28-B0F8-5FECABC5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14   BatchGetSocketsForChannels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A65C0-8833-470F-B0B9-10108FE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白名单、连接和 Socket 复用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C49E1A-FB77-4928-B4E9-5D20A21A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F8CD1F-BCAC-4A22-89A1-0B8FB46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15 BatchCreateChannels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F0199F-2009-489C-AC99-FD8E4C8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逐通道查找 / 创建资源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A54946-60DC-4239-A808-8BD43C86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B9977C-BF81-41E3-9243-CA0ECFEC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16   EndpointMgr::Get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907B75-8E5F-4392-872E-A874776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查找本地 Endpoint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B08C4F-02E8-4639-9743-2B14D34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1B1DFA-662A-4832-B965-B36CF90D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60588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31C25"/>
            </a:solidFill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DAC2E5-9999-45A9-A6A1-F92BAD2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44731D-FC7E-483A-85C4-D631393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0EA829-83BF-4F13-B434-33239151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Endpoint 与 Channel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13B6D9-3387-406F-87B7-26A7371D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53413B-7829-4D57-8030-1E0A422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17 HcommEndpointStartListen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6EA60D-FF53-438C-84E0-8D83F85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启动端点监听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DDF603-06CC-475C-993B-2678EF3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2BDD3B-C43D-44E7-9E7C-E00971C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18 PrepareMemHandles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25573C-0973-488C-AA89-3F1B7169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转换注册内存句柄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D0D441-62CD-42F2-9884-4583671F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96ABB9-375A-4992-865B-F214DAE1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19 RankPairMgr::Get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7B8D77-C188-4684-8CD3-16047EC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RankPair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7EAC50-7C42-4EEB-8D96-1C6DA703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F6275B-0D5A-4E02-9782-E17347F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 RankPair::GetEndpointPair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77F091-3192-49F1-B9B0-3EA5BB0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 / 复用端点对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C96059-1F0F-44BC-9C49-C79DB6DF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AEBD98-30BC-4FCC-9C60-21E716C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21 EndpointPair::CreateChannel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F154DB-D3EC-4953-A756-A3FD04A5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命中缓存则复用，否则下钻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039616-7709-4C7C-A51B-4CFF29A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CC9C02-C26C-4D7D-9EA7-7BA9B31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22   HcommCollectiveChannelCreate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4DA32BC-4863-4961-8A5E-08D9343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 L3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9965627-ACB4-4C30-8B64-1272C682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767519-7B4A-4D89-865D-03F20AD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23     NormalizeHcommChannelDescs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67808CF-71BB-4D0C-92FC-8445F34C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归一化通道描述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F5473E-F169-4F39-92ED-3CCC745A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B589C3-3FAD-492A-82CE-82CF29B1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24     ChannelProcess::CreateChannelsLoop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4F8CD4-667F-4618-BB91-4E085C8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逐个创建 Channel 对象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13B8A37-B4EF-4E10-A529-3C944C3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74D1A6D-CC70-4C75-9C13-D8EF95C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8992553" y="9720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E21B475-E7A9-47FC-833C-08FC118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2857500" cy="3533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160351-B6FC-4B1E-AA7F-AF17581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096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F61FB0-538F-416F-98E8-905DC81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8286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④ 连接与资源回填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9850C6-47D7-4D75-AC7E-3F827D45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763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76B639C-EC3B-46FC-99E7-2BC84F0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858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25 Channel::CreateChannel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078F533-CF1C-4DB0-A840-8AF52A71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2382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/ 协议创建实现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3482A8-ADE1-456B-9C44-EC20B9FF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F89D86-2E59-4216-A34F-AB405D32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4763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26 BatchConnectChannels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606D534-D46D-4D43-8316-558811D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6287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仅有新通道时执行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9757C2-0277-402C-8690-4ABB669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573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CF5505-A377-453C-B158-3D6DF866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669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27   ChannelProcess::ChannelGetStatus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68503D-E4C7-435F-9BAF-C001D94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193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查询连接完成状态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C867DC2-A846-4AE6-A759-E3B635F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A40F329-9196-4D4B-B677-13C8115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574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28 BatchExchangeAndCheckConsistency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9AE366-81EE-4F74-AD8B-EB2ED93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098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DEV_TYPE_950 执行一致性校验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F9FCABF-9230-485D-BB44-0FF4AEF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3842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88389C-F7B9-4412-A5DB-E48C510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4795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29 FinalizeChannelsByEngine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E46DDB-1C8D-4178-81F3-A0C12473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035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整理设备 / Host 句柄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2A703C0-2AF2-4AF7-AF17-FAE5A5F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BC6ED0-8C33-41D3-9132-B4FB40C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384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30 ConvertAivChannelHandlesToDevicePtrs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2F0D02-0675-4342-9168-50E4CA07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AIV：句柄转换为设备指针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D922B42-6BD5-4BCE-A684-7329391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19475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507842B-0FC3-4677-979A-0C1D3C3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29000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31 BuildChannelInfo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57D6BAC-2CC8-43B4-9B88-37116473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81400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回到 HCCL，逐通道填写属性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4B57CF-CB27-4AF2-A3A5-39DD6FF5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743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AA0E0B6-25BD-4744-BF47-44804E0D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1952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32   HcclChannelGetHcclBuffer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58C0B74-724F-45D0-B98D-F56D11A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71925"/>
            <a:ext cx="2647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取得远端 CCL Buffer 地址 / 大小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C2FBB12-7F14-4DA2-B92D-9F0F1B99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419600"/>
            <a:ext cx="59055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B0082A8-10D9-4DCF-B4DE-A2A6541F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429125"/>
            <a:ext cx="588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A7C2DA-9D8A-41DA-9F97-BB56206D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48175"/>
            <a:ext cx="5772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复用与异常发生在哪一层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6999666-D14C-4709-B7D6-F1724E7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9582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F57D9A-2616-49B7-8902-98DDBA6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1487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算法资源缓存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A623485-1268-4ACC-9B43-F900C82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471487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 命中时，不再进入完整申请流程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0AE7320-5A4F-4E37-BC1F-9CA4882C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010150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6271703-412B-4E70-8DA9-DFD82564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 缓存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CAD112B-7C93-4F3A-A738-ADDF9D0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029200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channelHandles_[engine][reuseIdx]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84F2E0F-D47E-44AE-B48E-B01EE8C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2447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1FA5B9C-21E3-4056-931E-4EDB476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附加注册内存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767A10C-36DF-43B9-8132-7D3FBAE7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34352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复用通道时可 HcommChannelUpdateMemInfo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5710B84-E36D-466B-9716-2C375C4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38800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E613F2F-CAA9-4E4B-9953-BF7DF09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57850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连接失败 / CCU 资源不足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E28B26D-2159-4080-8E57-832F8D8F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657850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HCCL_E_UNAVAIL 返回；必要时回滚新通道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C052FD2-BAA4-4FA3-9170-71B6708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53125"/>
            <a:ext cx="579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EEC1E2C-62C5-43C9-9E1F-35C0B1C1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72175"/>
            <a:ext cx="1776984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一致性校验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EA58FD4-6837-47AC-BBA5-292F9415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034" y="5972175"/>
            <a:ext cx="38903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用 Socket 交换参数，确保跨 Rank 一致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E8E5BEF-2A46-4EDF-B771-0F99E97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9600"/>
            <a:ext cx="5667375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F509562-A87B-4D70-8B6A-0A14884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29125"/>
            <a:ext cx="5648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5A97FD4-ECDE-4934-9B50-8EB4E66D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5534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返回到 HCCL 的 ChannelInfo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BD99B27-839A-4BB5-B5F3-4B93EA17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9582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8B0DABF-BC45-497E-BF14-2125B5E7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handle / remoteRank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0044202-5D30-4165-86EA-1CABE2C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471487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本端通道句柄与对端 Rank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9332A3D-FCBF-4CD2-9280-DB227931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10150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4C343DD-98EE-4ABD-B0D4-59319574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protocol / locationType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8889DD3-4E29-4FCC-867D-A370BF33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029200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传输协议与远端 Endpoint 位置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85B9177-C110-465A-873A-EAD7B30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2447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F83DDE-7594-41E7-82E0-15DFCAE3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notifyNum / portGroupSize / dieId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09EAA9F-D428-4A7D-BE72-0EEDF8F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34352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同步资源、端口组和 Die 属性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84B8CBD-19CF-4A06-B9BD-6E9548EB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38800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7BE17C5-A529-42C7-BDB4-79375976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57850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remoteCclMem.addr / size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BE752A9-D623-4D86-818F-5B42B68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657850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远端 CCL Buffer 地址与大小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51E7933-DB5A-4D25-A8C3-80218E2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953125"/>
            <a:ext cx="55530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E86DD5F-C16A-4962-B229-D6BA4D08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72175"/>
            <a:ext cx="2977991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OFFLOAD 用户 Buffer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A1ED92A-6CEE-4919-9570-10BE974C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5972175"/>
            <a:ext cx="245125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GetGraphModeBuffers 回填注册内存映射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F32BD46-58FF-4DC5-89D3-052BF28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6BA295C-B515-417E-9FF9-ED8C232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源码：op_common.cc:2020-2091；coll_comm_res_c_adpt.cc:755-858；my_rank.cc:567-613,675-773,1228-1300；endpoint_pair.cc:199-226</a:t>
            </a:r>
          </a:p>
        </p:txBody>
      </p:sp>
    </p:spTree>
    <p:extLst>
      <p:ext uri="{BB962C8B-B14F-4D97-AF65-F5344CB8AC3E}">
        <p14:creationId xmlns:p14="http://schemas.microsoft.com/office/powerpoint/2010/main" val="1047037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AF284-7CAF-413D-8C3A-7484208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跨算子复用：公共资源层、原语族与算法差异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EE0EF-046C-4464-8AE9-1457D583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表中表示可能使用的能力集合；具体调用取决于选中的算法、执行引擎和拓扑，不代表每次运行全覆盖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DB261-542C-4A8C-B1EF-B5CB7667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B868-1B1C-4BA1-9B86-49A3C46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4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2762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81200"/>
                <a:gridCol w="1219200"/>
                <a:gridCol w="666750"/>
                <a:gridCol w="1133475"/>
                <a:gridCol w="1104900"/>
                <a:gridCol w="5553075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入口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搬运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归约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同步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同步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算法编排上的差异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与 AllGather 的组合或融合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/ 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保留一个分片；V 版本支持变长布局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Root 决定数据收敛方向及相关资源 Tag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定长 / 变长收集；不需要数值归约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 / Scatter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Root 扩散，或按 Rank 切片分发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V / VC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Peer 有独立 count / displacement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 / Recv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Group 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Peer，发送 / 接收方向明确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BatchSendRecv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合并多个 P2P Item，可能增量建链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零字节或无数据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通过同步判断各 Rank 到达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D72A8-DFEA-4A18-BF52-CD4EAC0D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48075"/>
            <a:ext cx="116586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28488-D6E8-4512-8E2E-954B0423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6576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A7820-C294-4BEF-B0A6-04B27BC4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766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公共层的具体 API 与作用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0D7FA-AAB3-453B-9F12-36458C00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24300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9DBA7-ABF6-4749-944B-FD3B130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3382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配置与拓扑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30EE8-AA41-4070-821F-DF4598E2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2430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HcclConfigGetInfo；HcclRankGraphGet*；HcclGetRankId / Size / CommName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17B01-70B4-4871-B9FF-A506850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2430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读取配置、Rank、链路和端点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CF854-9798-4E13-BD26-2B909CB1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E22D8-1FAA-4EBD-B894-2AFA854E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4815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资源与复用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89C54-0418-4265-8836-0ED488E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38625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HcclEngineCtx*；HcclThreadAcquire*；HcclChannelAcquire / 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E7A7F-C3BF-4F9D-AB28-196CF9B4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缓存上下文，准备线程与通道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E9F1E-5999-440C-A94B-BFA7F966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52950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76AC5-A719-4C14-A759-4F3BB9A4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62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内存与缓冲区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F23FD-40AB-45F6-85A0-5467D617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52950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HcclCommMemReg；HcclChannelGetRemoteMems；HcclChannelGetHcclBuffer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B8AFE-7CE0-49B6-A16B-CEB5040A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529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登记内存，取得远端映射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64D9C-5D98-472D-9260-73C74A18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67275"/>
            <a:ext cx="1333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4D09F-01D5-4871-B612-9F9FF2F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7680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同步与观测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DEF1B-C74F-4093-9A9D-6F23DC71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67275"/>
            <a:ext cx="766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 / Thread Notify；Fence / Drain；Profiling；DFX Op 注册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5A96F-C5DF-4353-A6C5-02DD075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672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同步顺序、排空与异常定位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18AF8-4BBE-4C2D-92A8-2ADBFAB4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3525"/>
            <a:ext cx="11658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6DE78-0A3C-4FF7-8D1D-87CDD07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35305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0B410-4FAD-44A7-9E5D-40EABCF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37210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AICPU_TS 原语族：相同 API，算法改变其顺序与参数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9899E-313E-4DA4-80B1-CC45BC8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F26E15-82F0-4803-A1E8-F954F74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搬运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C7AB0-0FDE-4C91-B755-83F01C8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HcommReadOnThread / HcommWriteOnThread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389FE-4A79-46A3-8EB7-489F9BA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E2AE5-9255-4534-A7F9-B59C87E1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归约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EF82DB-EAC5-431B-A4BE-4969C90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HcommReadReduceOnThread / WriteReduceOnThread</a:t>
            </a:r>
          </a:p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HcommLocalReduceOnThread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C61616-9D13-4D1C-B41E-97E573B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6C0E6-EF37-4C11-AD4F-8FF6ABA4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292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40131-53B0-4B88-BEF7-3CEF22B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388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</a:t>
            </a:r>
          </a:p>
          <a:p xmlns:a="http://schemas.openxmlformats.org/drawingml/2006/main">
            <a:pPr algn="l"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/ WaitOnThread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4D8D1C-5CA5-43B2-B7DB-7705A740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19825"/>
            <a:ext cx="1146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算法可改变：Peer 选择、Channel 选择、src / dst 偏移、数据切片、并发 Thread、Notify 索引与调用先后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455FD-7496-408D-8C8D-90F1BA3C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642291-29D3-4F82-BEAE-B48FF65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依据：各算子 src/ops/&lt;op&gt;/algorithm/template/；公共原语组合：op_common/algorithm/template/wrapper/alg_data_trans_wrapper.cc</a:t>
            </a:r>
          </a:p>
        </p:txBody>
      </p:sp>
    </p:spTree>
    <p:extLst>
      <p:ext uri="{BB962C8B-B14F-4D97-AF65-F5344CB8AC3E}">
        <p14:creationId xmlns:p14="http://schemas.microsoft.com/office/powerpoint/2010/main" val="50868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8F24A6A-5715-48F6-9494-E7D2B08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执行引擎：AICPU_TS、AIV、CCU 的资源申请与发射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11D9A-F939-4187-9176-FC3F8006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按最终 CommEngine 进入对应分支；资源申请发生在发射之前，部分资源允许缓存复用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955DF-3D76-4394-8CF6-7601A5F2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51954-6141-4154-B774-EDA9C504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295ED-1787-4B21-BAFE-8F1E810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19525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EAF98-B529-4330-8D1C-B9C8824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00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B6A97-FB01-499E-A2CC-311E9E7E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86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8D72B-0108-4743-B664-FE70225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A8FF3-6B4B-4EC7-866D-77F94FA3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AD148-4ABA-4F17-854D-B79C3D64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954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C4997-D730-4E76-901F-3DDFBB50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049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BDA9F-7129-4506-AA16-1874FC25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573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 stream 对应 CPU_TS Thread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3B204-C1AE-43A6-82A3-C6F03D8F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478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5FE9B-194D-45E2-9C04-06E7682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573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30884-C0C9-4932-9B54-BDE7CBD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097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导出到 AICPU_TS，建立跨引擎顺序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8349C-27B4-431C-B19E-3F3E0D32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036FF-A682-4638-B9E7-4ED4234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097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6A375-E257-492A-B70D-03CA21AA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621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准备算法资源与序列化上下文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E87EF-5045-4F20-A455-67D8363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526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03B2B-D094-4A84-BA74-7DEED10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622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 / WithConfig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F1FAD-43C3-4CDC-BBE5-B6B6B96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146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分配主 / 从 Thread 与 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0A640-24AA-4300-81E4-E8C04FF3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051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59AA7-2CD3-456C-B4E7-D659AAE8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146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1C376-5E16-4FF6-8518-6CBC6E5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670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建链、复用并回填 ChannelInfo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CC5BC-6B4F-4183-B2AB-F1B9E6A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86100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81315-C074-4697-8EDC-0D3811F6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95625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4EDC2-0D29-4860-B946-3185A485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051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26C44-7DA8-4270-A593-62ACB56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147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1E1C5-E1BB-438D-90F7-70710BF5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671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取得主流与展开流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F4A3A-500B-4CCA-8399-DE53040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576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FB44E-AB0F-4BC7-9F83-7E645AE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671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24743-09F3-491A-AEFC-03CD6634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195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发射 AICPU 算法入口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329798-86A0-41E6-96FE-B559EC24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00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50DB22-61B6-4F27-AFE9-72B1681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195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8FD0C-F976-4D4A-8CAF-582FFE2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719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通过 Runtime 启动 Kernel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CAFFF-AFB8-499B-9792-5B257BA4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624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08329-0A10-4EF2-9E38-3EF16D62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3719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Template::Orchestrate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EE2CD5-8077-45C9-A6DF-976F7E3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243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内编排通信步骤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A0CFAC-22E6-405F-926C-CA505D6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43450"/>
            <a:ext cx="3629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数据面：HcommRead / Write / Reduce*OnThread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同步：Channel / Thread Notify、Fence、Drain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DF760C-14D7-4900-B19A-D74BA3D0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0100"/>
            <a:ext cx="3819525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073113-327C-4BC3-9EEC-38597884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809625"/>
            <a:ext cx="38004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BCBB87-CF2E-479B-8C65-ACA1A57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828675"/>
            <a:ext cx="3686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C6C4A6-0E4C-4526-ADE6-37B1BE4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076325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9A19EA-A0B0-418A-ABEB-7F824F11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085850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3EBB91-B47D-4D81-9214-80DD372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2954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081E3-2D7B-44F8-8F08-38B0E973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049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GetAlgResAiv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1BDF43-09DF-40CD-BD46-76C8F7CF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573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汇总 AIV 资源需求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7360C4-C473-4098-AE14-4D59E64E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478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73CC60-A8AA-4590-B0DE-F85B82C5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138144-312F-4E98-87B1-7FCA2A9C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分配算法资源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FC42B9-D1CC-4B17-A72D-2F8FBC31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36FC85-1856-4166-905D-BE238140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097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9845CA-F1D1-4B38-8BEF-FEE51AEC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621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注册设备可访问通信内存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11B2FD-AA66-4025-BDD9-477CD748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BB1AC3-8B30-4EDC-B2E2-5EC8133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622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HcclChannelAcquire(AIV)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26ECEA-5FE5-4D35-9422-852769E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146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AIV 通道与远端映射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9E0D30-58C9-4DB8-A534-CAA2C51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051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8674EB-B0D4-4CF8-BDF7-03F606D2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ConvertAivChannelHandlesToDevicePtrs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9C1DD2-396F-4A2A-BBBB-308B6E5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670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把通道句柄转换为设备指针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CE0291-C332-4443-861C-5761CE1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3705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069B7E-DC1E-4331-BE72-711492A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95625"/>
            <a:ext cx="3609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9781E2-FC55-4F33-9EDA-D0A0C254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0517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1EF842-EC3B-4BAE-82ED-C72DE7DC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1470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HcclAivKernelEntranceLaunch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B2EB4A-C5CB-4447-A2A4-E14E116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6710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AIV 执行入口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1B4F38-B760-48E3-AB64-1FD63FD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5760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B7834B-7FCC-4C0B-A55B-B432D0AD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6712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Template 构造 AivOpArgs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75E8E9-932E-4331-9492-9B0D852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填写 buffer、规模、通道等核参数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E36ACA-3C60-42B5-8A36-89C31E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0025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6C36A4-6A19-4E9C-A8BC-9AF85B7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19550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ExecuteKernelLaunch / LaunchInner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1BF467-B613-422D-9EDC-64FF8F4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71950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组织并发射 Vector Kernel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049CFF-D9D4-4301-BD93-14D663C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705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7344BC-13C4-4E2D-84B6-5B0DBEA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71975"/>
            <a:ext cx="3609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C8DFE9-D516-43DC-A209-21CAEAC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24375"/>
            <a:ext cx="3609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向 Runtime 传入 Host 参数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3EE7D8-7520-4B30-ACA1-8F08D82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43450"/>
            <a:ext cx="3629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设备核消费 Channel / RemoteMem 通信信息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AIV_ONLY：未选中 AIV 直接返回不支持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4D7342-2232-46DE-85FC-1646F0D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800100"/>
            <a:ext cx="3810000" cy="460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9AB993-31B9-42A1-928E-009071A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09625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50019E-DA92-47B2-B9F0-C84F4A7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828675"/>
            <a:ext cx="3676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7FF8B3-772F-4FAF-B1ED-2DFEEED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76325"/>
            <a:ext cx="36957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FFEC13-3827-4F22-95C9-C57B43D8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85850"/>
            <a:ext cx="3600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5A5F4C-611C-447F-8424-D63FF24F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25BC68-7875-4CE2-919C-4B3AB49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3049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HcclAllocAlgResourceCcu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7328A1-AAB0-42D9-B482-ABE46975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4573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申请 CCU 算法资源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CF3346-7C70-4730-88C4-77068ED3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20E4B0-4221-4DD2-9CFA-A96FFFEA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HcommCcuKernelQueryResReq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57E671-3483-4600-B5AF-9CD1A15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0975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Kernel 资源需求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11D4A3B-BA21-4BB1-B34E-752E2BB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8F8454-20BE-406F-9CBC-ED9ECBF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0977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HcommCcuQueryRemainResDesc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EF7ED0-C2F8-42A2-933F-AF34F14F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6217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查询剩余资源预算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8F27CD-CA20-4F5C-8DEA-171EC27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526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584D5D-8431-4D85-B6B1-F14AA704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6220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HcommCcuInsCreate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C9C4AAB-C8DD-4E18-BE78-C5314F0F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1460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CCU 指令实例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7FDFDE4-2308-4113-A8E6-00EFDBE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2BC4CC-1FF7-478D-A6E3-2B9F8C6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HcclCommAssignCcuIns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9EA4C0-EE7D-42A4-9FE4-D76BD63E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670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将 CcuIns 绑定到通信域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A268DB-1453-4F50-A97C-5BDCABB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36957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AF7086F-1975-47AE-9EBD-739ADD7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95625"/>
            <a:ext cx="3600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算法展开与发射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C007752-5E79-4407-92FA-46AA297C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051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86D154-261B-48A0-B2E0-9715A45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1470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HcommCcuKernelRegisterStart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839FE6-CBDD-48B5-9234-7B80137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6710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开启 Kernel 注册过程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5E0D1B7-0B6E-453E-B456-A614EAE3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060502-0059-42BA-BC4A-DF3657D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671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8A88241-271E-466C-8333-D01B0218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1952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注册 Kernel 及资源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D5E13A-2742-4125-89FE-BBA51D13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002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976FBC1-9CCF-41D3-94CB-5325A51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19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HcommCcuKernelRegisterEnd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4D8AAB-F44C-4FE9-97AD-9E46A8B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结束注册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C8D636C-C3A6-496C-BDA3-E841CA16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741EC9-D102-41C6-B9E1-0AF065EB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7197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3B3BD3E-E2E1-4D9A-B4C4-8427F26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24375"/>
            <a:ext cx="3600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 提交 Mission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E212874-E1F3-4915-9E77-FBE84FF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资源：Loop、Buffer、Variable、Address、Event 等</a:t>
            </a:r>
          </a:p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资源不足：跨 Rank 协商后选择回退算法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190C425-1403-41DC-BE45-F7A8869C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86400"/>
            <a:ext cx="11658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0DE283B-CA2B-4C3C-9CAF-045750A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959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8283E2-9A53-41CB-82C7-39713D41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5149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三条路径共有的资源，不同的资源生命周期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B4BFE5A-0B90-420C-909D-B9CF263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2CF8D18-5480-4E88-8F2C-5AC97CA5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D857E92-ECA0-4633-8D23-761C0CD9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 / 算法资源 / 回退状态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tag + engine 查询缓存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A0451EA-1E93-4478-978D-6DD463D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CF17AD-02DA-4448-87B5-65C666ED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D7EDD42-987D-4D9A-AA59-730B477E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线程、通道、同步资源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实际请求由 CalcRes 与模板决定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84CAE0A-A3A3-4CA5-9C72-F7AD7DA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DC8F38E-149A-489A-AD83-AC9224A5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CommMem / CCL Buffer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746563-15DC-4736-8095-36506D9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本端与远端通信内存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图模式另注册用户 Buffer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A530D42-8084-44C8-B310-48C72CA5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62625"/>
            <a:ext cx="28289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A13711-3470-4263-A5DD-1A61C5D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72150"/>
            <a:ext cx="2733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运行时日志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F11899-0D4D-403B-B9D2-3E3F9B5B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981700"/>
            <a:ext cx="2752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algName / engine / algTag</a:t>
            </a:r>
          </a:p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resourceReuse 表示本次是否复用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46696D8-60BD-4246-B38E-F0F3AD77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68B913-C586-4DE6-94B0-63357712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源码：op_common.cc:780-941,1521+,1790+,2440-2972；hccl_aiv_utils.cc:1068-1143；ccu_launch.cc:291-335</a:t>
            </a:r>
          </a:p>
        </p:txBody>
      </p:sp>
    </p:spTree>
    <p:extLst>
      <p:ext uri="{BB962C8B-B14F-4D97-AF65-F5344CB8AC3E}">
        <p14:creationId xmlns:p14="http://schemas.microsoft.com/office/powerpoint/2010/main" val="1368594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160512-1E2A-429E-AC12-78FBB508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一次 Write 传输：Template 如何调用 HCOMM 并落到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20F9-8E97-4F9A-80D0-4FC6FA4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以 AICPU_TS 的普通 Write 路径说明；算法控制 Peer、切片和顺序，HCOMM 适配层负责通道与传输实现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7C63-7254-4DE9-98F2-A937122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6CBB0-6037-44EB-A15C-9A14856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46F6A-0804-4D4E-99BF-47F9BEA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5734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D5AE1-8243-480B-8891-DCAB9B8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79072-C83F-4FA4-BC70-FDE86D8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5600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HCCL：算法步骤与参数形成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70C50-9732-49B1-8F4C-DB1EA95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F9A9E-3E19-44BB-A7E4-6CFAB585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具体 Template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20006-FBCB-4523-834D-A0E1150E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决定目的 Rank、Channel、分片偏移与执行顺序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21A4A-0030-4324-8100-433481F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954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CE67A-6282-4CC6-82E1-7D43BE2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49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AlgDataTransWrapper::Tx / TxAsync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9B635-EBB5-46BE-A497-97A96E4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573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把模板通信动作封装为公共传输逻辑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0343-7D40-48D9-AA8F-CAE4CA7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145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D6BF3-3680-451F-A017-BC5D9EA3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GetSliceAddr / DataSlice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F63C0-3E66-4687-8D9C-09A993D5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764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addr + offset 形成 src / dst，有效长度为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22481-A24D-4696-A1CA-B4555E2E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33625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9FD3D-23FA-4947-9F3C-12C1E42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43150"/>
            <a:ext cx="552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3A945-BEF7-4D76-AC71-CAB4A8E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955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传入 thread、channel.handle、dst、src、len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D61FE-E32A-40A2-AA68-82E5D581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能力与算法允许时，可改用 BatchTransfer 或融合 Notify 的原语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87BEA-D488-486B-9506-6B4514FE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0100"/>
            <a:ext cx="58293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B19AD-5336-4780-8FDB-505C0CF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809625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F034F-4C3B-4067-9D63-1297B1CA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828675"/>
            <a:ext cx="5695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HCOMM：原语适配与底层实现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F8512-18FC-4CE4-A319-6361050F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763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10B0E-6234-41ED-AA2D-EB38100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0858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aicpu_ts_primitives_c_adpt.cc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66275-B7AF-4F17-917D-968BC70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382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同名 HcommWriteOnThread 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EC0934-825F-4EAD-AEAA-332C9929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954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793468-FF20-4FA3-BFAB-F395DE5A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049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A5：BuildLocRmaBufferLite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3A38F-FECE-42BE-821C-B8782AEC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57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构造本地与远端传输 Buffer 描述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2C744-9964-4800-B0E7-CC12C47D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145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48AC3-2A7D-4C44-AF9E-E9B4A68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240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50C70-C229-497C-BB28-B800FF44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764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把请求交给具体 Transport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E93C7B-E3F4-4A6D-ABA4-C29A0FB6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02448-0C00-4DD3-910F-8B0CE79B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561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兼容路径：HcclRemoteWrite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16FBD-63A8-477F-8607-E2FCFB1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955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 Stream、Transport 与缓冲区描述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DF635D-8716-4190-8458-0F1FADD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563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最终协议由 Channel / Endpoint / 设备能力决定：UB、RoCE、HCCS 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D459EC-8E1C-4E77-8991-CA288734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24BA87-92CA-4395-8968-BB9DFD4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001703" y="972027"/>
            <a:ext cx="7524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D438A"/>
            </a:solidFill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735BB3-555E-44D9-B521-73E50F8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19450"/>
            <a:ext cx="1165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82FA3B-85FD-4340-8DD9-8AE17E0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28975"/>
            <a:ext cx="1156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调用参数逐项对应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mlns:a="http://schemas.openxmlformats.org/drawingml/2006/main" x="266700" y="3467100"/>
          <a:ext xmlns:a="http://schemas.openxmlformats.org/drawingml/2006/main" cx="11658600" cy="1514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66825"/>
                <a:gridCol w="2819400"/>
                <a:gridCol w="3362325"/>
                <a:gridCol w="4210050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中的含义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算法改变什么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算法分配的 ThreadHandle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任务下发与排序的执行线程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是否多流并发、不同阶段使用哪条线程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ChannelInfo.handle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到指定 Peer 的通道与协议资源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 / Link / Channel 选择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src / dst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DataSlice.addr + offset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本端 / 远端的数据地址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分片偏移、inplace 布局、读写方向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len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DataSlice.size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本次传输字节数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切片大小、流水批次与有效尾片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A25AD7-4A71-4AC7-A660-32EE50FF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67300"/>
            <a:ext cx="11658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86511D-828E-4515-948C-53455939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0768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F9BCBD-F720-4C75-9D2C-42BE884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958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同一调用结构中的归约、通知和批处理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7AABD-954B-4087-8267-81F8ED95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4352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D40FF4-0BF6-49B7-BFFE-B4CC3C0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530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融合归约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58D930-0201-4EE1-99C3-40B1ED2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 / HcommReadReduceOnThread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01D512-EE71-4859-8B43-93A34ADA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435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增加 datatype、reduceOp、count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88E83D-EBA9-4D53-9A33-31FD258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6737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A4AE79-7C28-45E8-ABFE-41A652B2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769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通知同步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5CBED8-5AF8-4B4A-A893-A15A0BE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6737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E88504-D3BD-42A0-BCD6-69240D02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6737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落到 Transport Post / Wait 或兼容实现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A16597-E831-4744-BB7E-FB5268C2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991225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77C025-C695-4536-9515-637254C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00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批量传输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FBFEC4-152B-4222-97E4-2CA0336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91225"/>
            <a:ext cx="5991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HcommBatchTransferOnThread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0A06E-937F-4498-A090-26B1418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912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批量提交多个描述，能力可用时使用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CA238D-C9DF-4120-9336-21202BA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132048-2480-42EE-ADAB-F8A83A1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源码：alg_data_trans_wrapper.cc:358-455,629-679,897；aicpu_ts_primitives_c_adpt.cc:495-545,832-907,1006-1080</a:t>
            </a:r>
          </a:p>
        </p:txBody>
      </p:sp>
    </p:spTree>
    <p:extLst>
      <p:ext uri="{BB962C8B-B14F-4D97-AF65-F5344CB8AC3E}">
        <p14:creationId xmlns:p14="http://schemas.microsoft.com/office/powerpoint/2010/main" val="1065717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2026-09-19T09:21:01.8070000Z</dcterms:created>
  <dcterms:modified xsi:type="dcterms:W3CDTF">2026-09-19T09:21:01.8070000Z</dcterms:modified>
</coreProperties>
</file>