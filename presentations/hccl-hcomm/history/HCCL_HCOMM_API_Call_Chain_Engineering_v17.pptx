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2f0e561a864338" /><Relationship Type="http://schemas.openxmlformats.org/officeDocument/2006/relationships/extended-properties" Target="/docProps/app.xml" Id="R3dfb40b3a4824158" /><Relationship Type="http://schemas.openxmlformats.org/officeDocument/2006/relationships/officeDocument" Target="/ppt/presentation.xml" Id="Rb8273696559243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e8e9ca90bb40e0"/>
  </p:sldMasterIdLst>
  <p:notesMasterIdLst>
    <p:notesMasterId xmlns:r="http://schemas.openxmlformats.org/officeDocument/2006/relationships" r:id="R1e1bf10592cd45ee"/>
  </p:notesMasterIdLst>
  <p:sldIdLst>
    <p:sldId xmlns:r="http://schemas.openxmlformats.org/officeDocument/2006/relationships" id="256" r:id="R9ff12d67b6de45df"/>
    <p:sldId xmlns:r="http://schemas.openxmlformats.org/officeDocument/2006/relationships" id="257" r:id="Rcbb7b5bbec1b4132"/>
    <p:sldId xmlns:r="http://schemas.openxmlformats.org/officeDocument/2006/relationships" id="258" r:id="R6f5b8d1a2977435b"/>
    <p:sldId xmlns:r="http://schemas.openxmlformats.org/officeDocument/2006/relationships" id="259" r:id="R053c1eeea1744c22"/>
    <p:sldId xmlns:r="http://schemas.openxmlformats.org/officeDocument/2006/relationships" id="260" r:id="Rb763d9ca70414aaf"/>
    <p:sldId xmlns:r="http://schemas.openxmlformats.org/officeDocument/2006/relationships" id="261" r:id="Rbb24afda93874648"/>
    <p:sldId xmlns:r="http://schemas.openxmlformats.org/officeDocument/2006/relationships" id="262" r:id="Ra7c9a8632aec481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689e2548921477d" /><Relationship Type="http://schemas.openxmlformats.org/officeDocument/2006/relationships/slideMaster" Target="/ppt/slideMasters/slideMaster1.xml" Id="Ra6e8e9ca90bb40e0" /><Relationship Type="http://schemas.openxmlformats.org/officeDocument/2006/relationships/notesMaster" Target="/ppt/notesMasters/notesMaster1.xml" Id="R1e1bf10592cd45ee" /><Relationship Type="http://schemas.openxmlformats.org/officeDocument/2006/relationships/presProps" Target="/ppt/presProps.xml" Id="Ra58dafe9fd3b4860" /><Relationship Type="http://schemas.openxmlformats.org/officeDocument/2006/relationships/tableStyles" Target="/ppt/tableStyles.xml" Id="Rfb99c4cdcd094ed2" /><Relationship Type="http://schemas.openxmlformats.org/officeDocument/2006/relationships/slide" Target="/ppt/slides/slide1.xml" Id="R9ff12d67b6de45df" /><Relationship Type="http://schemas.openxmlformats.org/officeDocument/2006/relationships/slide" Target="/ppt/slides/slide2.xml" Id="Rcbb7b5bbec1b4132" /><Relationship Type="http://schemas.openxmlformats.org/officeDocument/2006/relationships/slide" Target="/ppt/slides/slide3.xml" Id="R6f5b8d1a2977435b" /><Relationship Type="http://schemas.openxmlformats.org/officeDocument/2006/relationships/slide" Target="/ppt/slides/slide4.xml" Id="R053c1eeea1744c22" /><Relationship Type="http://schemas.openxmlformats.org/officeDocument/2006/relationships/slide" Target="/ppt/slides/slide5.xml" Id="Rb763d9ca70414aaf" /><Relationship Type="http://schemas.openxmlformats.org/officeDocument/2006/relationships/slide" Target="/ppt/slides/slide6.xml" Id="Rbb24afda93874648" /><Relationship Type="http://schemas.openxmlformats.org/officeDocument/2006/relationships/slide" Target="/ppt/slides/slide7.xml" Id="Ra7c9a8632aec48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1fc8e64c2448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2ca2afa5bc4986" /><Relationship Type="http://schemas.openxmlformats.org/officeDocument/2006/relationships/notesMaster" Target="/ppt/notesMasters/notesMaster1.xml" Id="R1c8b18e65eaa440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1a2e39914d4e56" /><Relationship Type="http://schemas.openxmlformats.org/officeDocument/2006/relationships/notesMaster" Target="/ppt/notesMasters/notesMaster1.xml" Id="Ra9e25e359c394b4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0dea21fd114076" /><Relationship Type="http://schemas.openxmlformats.org/officeDocument/2006/relationships/notesMaster" Target="/ppt/notesMasters/notesMaster1.xml" Id="R83e0cdb1ee8a4f2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0e8513b747d4926" /><Relationship Type="http://schemas.openxmlformats.org/officeDocument/2006/relationships/notesMaster" Target="/ppt/notesMasters/notesMaster1.xml" Id="R7821e507584245d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dfbfe166396480f" /><Relationship Type="http://schemas.openxmlformats.org/officeDocument/2006/relationships/notesMaster" Target="/ppt/notesMasters/notesMaster1.xml" Id="R0a1ce94010ab47f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6f7ba3653864442" /><Relationship Type="http://schemas.openxmlformats.org/officeDocument/2006/relationships/notesMaster" Target="/ppt/notesMasters/notesMaster1.xml" Id="R35871fd6f5ef4fd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d3371bc718f46a5" /><Relationship Type="http://schemas.openxmlformats.org/officeDocument/2006/relationships/notesMaster" Target="/ppt/notesMasters/notesMaster1.xml" Id="R35ff232bf4504f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本页用于建立阅读坐标。HCCL 与 HCOMM 不是“一个算子对应一个底层 API”。HCCL 先把不同算子的公开参数归一化为 OpParam，再选择算法和 CommEngine。HCOMM L2 提供通信域、拓扑和资源 ABI，HCOMM L3 提供通道与数据面原语。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动态边界位于 hccl/src/common/hcomm_dlsym/。HCOMM L2 的部分函数也以 Hccl 开头，例如 HcclChannelAcquire，它们不是公开集合算子，而是 HCCL 消费的通信资源 ABI。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步骤 1 至 5 先做兼容分流。步骤 6 把公开参数归一化为 OpParam。步骤 7 至 9 决定展开模式。步骤 10 至 14 查询拓扑并选择算法。步骤 15 至 18 计算资源、进入 HCOMM 建链。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关键调试字段是 param.algName、param.algTag、param.opExecuteConfig 和 CommEngine。HcclExecOp 在 op_common.cc:866-868 附近打印资源复用、算法名、引擎与 algTag，可用于把运行日志映射回静态调用链。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Selector 并非只看算子类型。AllReduce AutoSelector 会检查展开引擎、拓扑层数、2-Die、Rank 数、数据量、inplace、datatype、reduceType、确定性和 CCU / AIV 资源限制。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算法名可以作为运行时调用链的索引。先从日志取得 algName，再搜索 REGISTER_ALG_ATTRS 和 Executor 注册，继续追踪 CalcRes、Orchestrate、Template 与 Hcomm 原语。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建链严格按四个阶段推进。03 是 HCCL 建链入口，10 完成 HCCL 到 HCOMM 的描述符转换，17 启动 Endpoint 监听，22 进入 HCOMM L3 创建集合通信 Channel，28 校验跨 Rank 一致性，30 为 AIV 生成设备可见指针，32 返回 ChannelHandle 与 Remote CCL Buffer。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Channel::CreateChannel 会根据 CommEngine 和协议创建 AicpuTs*Channel、Aiv*Channel、CcuUrmaChannel 或 HostCpu*Channel，不是固定实现。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本页回答“不同算子是否共用 HCOMM”。共用程度很高。归约类算子在搬运基础上增加 ReadReduce、WriteReduce 或 LocalReduce。搬运类算子主要使用 Read、Write 和 LocalCopy。Barrier 以 Notify / Wait 为主。AlltoAll、Send / Recv 和 BatchSendRecv 更强调逐 Peer Channel 编排。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表格表示能力集合，不代表一次运行必然调用所有原语。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AICPU_TS 由 AICPU Kernel 展开算法模板，执行 Hcomm*OnThread 原语。AIV 仍使用 HCOMM 的 Channel、RemoteMem 和通信信息，但 Host 不再逐步调用同一套 OnThread 原语，Vector Kernel 在设备侧执行。CCU 先查询资源、创建 CcuIns、注册 Kernel，再用 HcommCcuKernelLaunch 提交 Mission。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AIV_ONLY 的语义很重要：找不到 AIV 算法时不能回退到 AICPU。CCU 资源不足时必须跨 Rank 协商相同回退结果，否则可能出现死锁。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本页给出一条可在源码中逐层跳转的具体链路。算法差异主要发生在第一层：Template 决定分片、Peer、Channel、偏移、并发 Thread 和 Notify 索引。AlgDataTransWrapper 把这些差异收敛到有限的 HCOMM 原语。HCOMM 适配层再根据设备和协议进入具体 Transport。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因此，很多算法代码看起来不同，但最后调用的 HCOMM API 很接近。它们的差别更多体现在原语顺序和参数，而不是传输 API 名称。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506ce82cb4499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b996ea60b94bd8" /><Relationship Type="http://schemas.openxmlformats.org/officeDocument/2006/relationships/slideLayout" Target="/ppt/slideLayouts/slideLayout1.xml" Id="R51bd6845f6e245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bd6845f6e245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7c89d57b564810" /><Relationship Type="http://schemas.openxmlformats.org/officeDocument/2006/relationships/notesSlide" Target="/ppt/notesSlides/notesSlide1.xml" Id="R2bdfc2c5c2e740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c6b0aedf0146ff" /><Relationship Type="http://schemas.openxmlformats.org/officeDocument/2006/relationships/notesSlide" Target="/ppt/notesSlides/notesSlide2.xml" Id="R26f445d29ae74e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47052559374c57" /><Relationship Type="http://schemas.openxmlformats.org/officeDocument/2006/relationships/notesSlide" Target="/ppt/notesSlides/notesSlide3.xml" Id="Rd6f0f473bdcc4a5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bb0e3fbad042e2" /><Relationship Type="http://schemas.openxmlformats.org/officeDocument/2006/relationships/notesSlide" Target="/ppt/notesSlides/notesSlide4.xml" Id="Rb28443dd45dd47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ba4b02cae54c51" /><Relationship Type="http://schemas.openxmlformats.org/officeDocument/2006/relationships/notesSlide" Target="/ppt/notesSlides/notesSlide5.xml" Id="R311bcc8a827f45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d39345d83e4887" /><Relationship Type="http://schemas.openxmlformats.org/officeDocument/2006/relationships/notesSlide" Target="/ppt/notesSlides/notesSlide6.xml" Id="R63b542752b01431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30c6327b804fac" /><Relationship Type="http://schemas.openxmlformats.org/officeDocument/2006/relationships/notesSlide" Target="/ppt/notesSlides/notesSlide7.xml" Id="R1d1783445cae49c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BAB0411-216E-43EA-A855-B88522D0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1925"/>
            <a:ext cx="10668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139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97131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97131C"/>
                </a:solidFill>
                <a:latin typeface="PingFang SC"/>
                <a:ea typeface="PingFang SC"/>
                <a:cs typeface="PingFang SC"/>
              </a:rPr>
              <a:t>HCCL 算子到 HCOMM 的公共主干与分叉点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F482F4-DFBA-4DFC-9A58-CC559A29B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从公开 C API 到 Transport；算子语义、展开引擎和物理拓扑分别影响不同层次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FAD66E-F1D2-45EF-A62B-90F7930D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476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366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F6366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567F0A-11F7-43EB-A416-F7078791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8675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7131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6458F3-E60D-4366-BEDB-81F7FAD9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000125"/>
            <a:ext cx="1238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39"/>
          </a:solidFill>
          <a:ln xmlns:a="http://schemas.openxmlformats.org/drawingml/2006/main" w="7620">
            <a:solidFill>
              <a:srgbClr val="343839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上层调用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8D215D-390C-4E9F-A0E8-080C6E8C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066800"/>
            <a:ext cx="4953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7620">
            <a:solidFill>
              <a:srgbClr val="343839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0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 框架 / 自定义算子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CE7E5D-D67A-4F57-BE09-CBF0BFD1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066800"/>
            <a:ext cx="4953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7620">
            <a:solidFill>
              <a:srgbClr val="343839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0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HcclAllReduce / AllGather / ReduceScatter / Broadcast / AlltoAll / Send / Recv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7C92E9-923B-48B2-9BB9-B3008BE3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240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383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8A3A4B-0613-44F5-B4F9-2E14E5C6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33525"/>
            <a:ext cx="19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343839"/>
                </a:solidFill>
                <a:latin typeface="PingFang SC"/>
                <a:ea typeface="PingFang SC"/>
                <a:cs typeface="PingFang SC"/>
              </a:defRPr>
            </a:pPr>
            <a:r>
              <a:rPr sz="600" b="1">
                <a:solidFill>
                  <a:srgbClr val="343839"/>
                </a:solidFill>
                <a:latin typeface="PingFang SC"/>
                <a:ea typeface="PingFang SC"/>
                <a:cs typeface="PingFang SC"/>
              </a:rPr>
              <a:t>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DFDB51-B5EC-4A61-89F0-A66C3C47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666875"/>
            <a:ext cx="1238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762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HCCL 算子层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B37E96-1327-41EE-AA78-E0EBE5DD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733550"/>
            <a:ext cx="193548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762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0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InitAndCheck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F05AD4-09E9-4856-A419-99891E6E5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4280" y="1733550"/>
            <a:ext cx="193548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762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0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Fill*OpParam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F13CA7-162A-41B1-92D9-9348A2E0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5960" y="1733550"/>
            <a:ext cx="193548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762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0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HcclGetOpExpansionMode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26C94E-A46D-486B-896E-B99863DF8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1733550"/>
            <a:ext cx="193548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762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0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Selector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A3DA02-B921-4009-B798-14BBEABCB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320" y="1733550"/>
            <a:ext cx="193548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762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0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HcclExecOp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75FC7E-49F3-4A5C-833F-09A7E3F8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7131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77F4E3-CD62-49E5-ACBA-81AAA2E9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90775"/>
            <a:ext cx="19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97131C"/>
                </a:solidFill>
                <a:latin typeface="PingFang SC"/>
                <a:ea typeface="PingFang SC"/>
                <a:cs typeface="PingFang SC"/>
              </a:defRPr>
            </a:pPr>
            <a:r>
              <a:rPr sz="600" b="1">
                <a:solidFill>
                  <a:srgbClr val="97131C"/>
                </a:solidFill>
                <a:latin typeface="PingFang SC"/>
                <a:ea typeface="PingFang SC"/>
                <a:cs typeface="PingFang SC"/>
              </a:rPr>
              <a:t>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39529E-48B3-4E9A-AE95-D653E349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524125"/>
            <a:ext cx="1238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1621"/>
          </a:solidFill>
          <a:ln xmlns:a="http://schemas.openxmlformats.org/drawingml/2006/main" w="7620">
            <a:solidFill>
              <a:srgbClr val="B1162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HCOMM L2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9991BC-73FC-4C8C-AC79-EFD16A8A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90800"/>
            <a:ext cx="16002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9EA"/>
          </a:solidFill>
          <a:ln xmlns:a="http://schemas.openxmlformats.org/drawingml/2006/main" w="7620">
            <a:solidFill>
              <a:srgbClr val="B1162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HcclConfigGetInfo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683CD8-D006-4EEC-AE55-4EBC1343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90800"/>
            <a:ext cx="16002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7620">
            <a:solidFill>
              <a:srgbClr val="B1162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1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HcclRankGraphGet*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E07EBF-7809-4A83-B0AF-311D0CCB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590800"/>
            <a:ext cx="16002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9EA"/>
          </a:solidFill>
          <a:ln xmlns:a="http://schemas.openxmlformats.org/drawingml/2006/main" w="7620">
            <a:solidFill>
              <a:srgbClr val="B1162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HcclEngineCtx*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1CB6FD-1915-4A01-B9C3-6FC7284C3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90800"/>
            <a:ext cx="16002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9EA"/>
          </a:solidFill>
          <a:ln xmlns:a="http://schemas.openxmlformats.org/drawingml/2006/main" w="7620">
            <a:solidFill>
              <a:srgbClr val="B1162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HcclThreadAcquire*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FF7E5D-A0B4-4A34-86DC-A1DD12BD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90800"/>
            <a:ext cx="16002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7620">
            <a:solidFill>
              <a:srgbClr val="B1162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1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HcclChannelAcquire / Query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55B26F-F7BD-4BED-8C1A-E7A7F22D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590800"/>
            <a:ext cx="16002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9EA"/>
          </a:solidFill>
          <a:ln xmlns:a="http://schemas.openxmlformats.org/drawingml/2006/main" w="7620">
            <a:solidFill>
              <a:srgbClr val="B1162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HcclCommMemReg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B1A774-D32F-4D28-81A9-D6485CF0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1162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619103-A08C-4BD4-9380-F62A12333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48025"/>
            <a:ext cx="19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B11621"/>
                </a:solidFill>
                <a:latin typeface="PingFang SC"/>
                <a:ea typeface="PingFang SC"/>
                <a:cs typeface="PingFang SC"/>
              </a:defRPr>
            </a:pPr>
            <a:r>
              <a:rPr sz="600" b="1">
                <a:solidFill>
                  <a:srgbClr val="B11621"/>
                </a:solidFill>
                <a:latin typeface="PingFang SC"/>
                <a:ea typeface="PingFang SC"/>
                <a:cs typeface="PingFang SC"/>
              </a:rPr>
              <a:t>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26175F-E8A1-4E45-A018-5DC251E74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381375"/>
            <a:ext cx="1238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E8F"/>
          </a:solidFill>
          <a:ln xmlns:a="http://schemas.openxmlformats.org/drawingml/2006/main" w="7620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HCOMM L3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BCE662-29AA-42A4-B95E-680C1ABE6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48050"/>
            <a:ext cx="24384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7"/>
          </a:solidFill>
          <a:ln xmlns:a="http://schemas.openxmlformats.org/drawingml/2006/main" w="7620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0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Endpoint / EndpointPair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7E103F-413D-499F-B8C9-6EA5EC26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448050"/>
            <a:ext cx="24384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7"/>
          </a:solidFill>
          <a:ln xmlns:a="http://schemas.openxmlformats.org/drawingml/2006/main" w="7620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0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Channel / CommMem / Thread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76A3CC-EB01-4ECF-AFE0-79BE8EE1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448050"/>
            <a:ext cx="24384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7"/>
          </a:solidFill>
          <a:ln xmlns:a="http://schemas.openxmlformats.org/drawingml/2006/main" w="7620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0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HcommRead / Write / Reduce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BBEB64-A11A-4346-9458-1A97711EE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448050"/>
            <a:ext cx="24384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7"/>
          </a:solidFill>
          <a:ln xmlns:a="http://schemas.openxmlformats.org/drawingml/2006/main" w="7620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0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Notify / Fence / Drain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500C0D-65F4-4536-9E9F-0106B736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3E8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659B34-4F43-4AD5-8C25-2A46E31B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05275"/>
            <a:ext cx="19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243E8F"/>
                </a:solidFill>
                <a:latin typeface="PingFang SC"/>
                <a:ea typeface="PingFang SC"/>
                <a:cs typeface="PingFang SC"/>
              </a:defRPr>
            </a:pPr>
            <a:r>
              <a:rPr sz="600" b="1">
                <a:solidFill>
                  <a:srgbClr val="243E8F"/>
                </a:solidFill>
                <a:latin typeface="PingFang SC"/>
                <a:ea typeface="PingFang SC"/>
                <a:cs typeface="PingFang SC"/>
              </a:rPr>
              <a:t>▼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319CED-EB60-4052-ACF1-18730BA94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238625"/>
            <a:ext cx="1238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39"/>
          </a:solidFill>
          <a:ln xmlns:a="http://schemas.openxmlformats.org/drawingml/2006/main" w="7620">
            <a:solidFill>
              <a:srgbClr val="343839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传输与硬件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594C107-E0A6-4473-AD16-92F15AC3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05300"/>
            <a:ext cx="193548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7620">
            <a:solidFill>
              <a:srgbClr val="343839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0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UB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560B7F-345D-4D07-92C4-19ACA8FEB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4280" y="4305300"/>
            <a:ext cx="193548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7620">
            <a:solidFill>
              <a:srgbClr val="343839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0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RoCE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BA2596B-24A4-471D-91FF-90BE2CD65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5960" y="4305300"/>
            <a:ext cx="193548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7620">
            <a:solidFill>
              <a:srgbClr val="343839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0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190184B-2C32-451D-B96B-1E73C050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4305300"/>
            <a:ext cx="193548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7620">
            <a:solidFill>
              <a:srgbClr val="343839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0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SDMA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82B9CBA-CFAC-4B2D-B1AD-B3C526FC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320" y="4305300"/>
            <a:ext cx="193548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7620">
            <a:solidFill>
              <a:srgbClr val="343839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0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CCU / URMA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0FCDEB3-E31A-4EFF-AB60-0660CDC8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762500"/>
            <a:ext cx="12382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95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三个决策维度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33B1D2F-1E42-4C14-B8A5-460C5147B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762500"/>
            <a:ext cx="17621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9EA"/>
          </a:solidFill>
          <a:ln xmlns:a="http://schemas.openxmlformats.org/drawingml/2006/main" w="6668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算子语义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707C5BE-363B-4F13-A20E-FFB58FCC7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762500"/>
            <a:ext cx="82200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决定 Copy / Reduce、Root / Peer、分片布局和输出语义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5834A8A-823A-4510-BEC1-110387C0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57775"/>
            <a:ext cx="17621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7"/>
          </a:solidFill>
          <a:ln xmlns:a="http://schemas.openxmlformats.org/drawingml/2006/main" w="6668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展开引擎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57E3514-0F39-4A3C-B249-71FEF46A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5057775"/>
            <a:ext cx="82200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决定算法在 AICPU、AIV 还是 CCU 展开；执行 API 家族随之变化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310FA62-FB75-4492-9CA1-6FB6C5E1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353050"/>
            <a:ext cx="17621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拓扑与数据规模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A7E9F33-500A-4C8B-A9D6-07A6C881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5353050"/>
            <a:ext cx="82200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决定 Mesh / NHR、多层组合、Channel 数量、OneShot / TwoShot 和并发方式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5961073-872C-48B5-AC05-67299059A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810250"/>
            <a:ext cx="113061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10478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跨算子共用：配置、RankGraph、EngineCtx、Thread、Channel、通信内存、Notify、Profiling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F457062-051F-4248-B0F1-3B5B84D5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72250"/>
            <a:ext cx="11410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3839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A1BA5A1-F777-4DEC-A8B1-443EDF2E8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0350"/>
            <a:ext cx="9810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8571"/>
          </a:bodyPr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5F6366"/>
                </a:solidFill>
                <a:latin typeface="PingFang SC"/>
                <a:ea typeface="PingFang SC"/>
                <a:cs typeface="PingFang SC"/>
              </a:defRPr>
            </a:pPr>
            <a:r>
              <a:rPr sz="525" b="0">
                <a:solidFill>
                  <a:srgbClr val="5F6366"/>
                </a:solidFill>
                <a:latin typeface="PingFang SC"/>
                <a:ea typeface="PingFang SC"/>
                <a:cs typeface="PingFang SC"/>
              </a:rPr>
              <a:t>基线：hccl 170ddeec539b；hcomm 87ce550f8f7c；动态边界：hccl/src/common/hcomm_dlsym/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E4E95DB-75BD-4191-996B-C1D4C4A8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610350"/>
            <a:ext cx="14859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8571"/>
          </a:bodyPr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5F6366"/>
                </a:solidFill>
                <a:latin typeface="PingFang SC"/>
                <a:ea typeface="PingFang SC"/>
                <a:cs typeface="PingFang SC"/>
              </a:defRPr>
            </a:pPr>
            <a:r>
              <a:rPr sz="525" b="0">
                <a:solidFill>
                  <a:srgbClr val="5F6366"/>
                </a:solidFill>
                <a:latin typeface="PingFang SC"/>
                <a:ea typeface="PingFang SC"/>
                <a:cs typeface="PingFang SC"/>
              </a:rPr>
              <a:t>HCCL / HCOMM 源码追踪</a:t>
            </a:r>
          </a:p>
        </p:txBody>
      </p:sp>
    </p:spTree>
    <p:extLst>
      <p:ext uri="{BB962C8B-B14F-4D97-AF65-F5344CB8AC3E}">
        <p14:creationId xmlns:p14="http://schemas.microsoft.com/office/powerpoint/2010/main" val="17409471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9623320-EB74-4651-9189-6548F04CE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1925"/>
            <a:ext cx="10668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139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97131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97131C"/>
                </a:solidFill>
                <a:latin typeface="PingFang SC"/>
                <a:ea typeface="PingFang SC"/>
                <a:cs typeface="PingFang SC"/>
              </a:rPr>
              <a:t>AllReduce 新流程的 API 调用链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163BE5-23E2-4EE9-A90E-8B0012A0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入口兼容分流、参数归一化、算法选择、资源计算和 HCOMM 建链均保留真实函数名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7BC2CA-1601-4570-A04C-C2F88A7C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476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366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F6366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3EA799-0F11-49F6-A47B-720D6F4F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8675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7131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F77039-D02F-4674-AA49-7B5C7454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90600"/>
            <a:ext cx="11239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95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入口与分流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D0FB5D-5C66-4148-8648-7219AA71D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57300"/>
            <a:ext cx="2952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762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9A1800-13D4-4522-93DC-033B03C6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57300"/>
            <a:ext cx="1847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HcclAllReduce()</a:t>
            </a:r>
          </a:p>
          <a:p xmlns:a="http://schemas.openxmlformats.org/drawingml/2006/main">
            <a:pPr algn="l">
              <a:defRPr sz="6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公开集合规约入口</a:t>
            </a:r>
          </a:p>
          <a:p xmlns:a="http://schemas.openxmlformats.org/drawingml/2006/main">
            <a:pPr algn="l">
              <a:defRPr sz="6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all_reduce.cc:23-55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E2B36E-9219-4E0F-9F71-1D14F22A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1257300"/>
            <a:ext cx="2952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762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8C79F4-17EA-4025-869F-0A1B943EA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257300"/>
            <a:ext cx="1847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版本 / 条件判断</a:t>
            </a:r>
          </a:p>
          <a:p xmlns:a="http://schemas.openxmlformats.org/drawingml/2006/main">
            <a:pPr algn="l">
              <a:defRPr sz="6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 版本、out-place、新流程条件</a:t>
            </a:r>
          </a:p>
          <a:p xmlns:a="http://schemas.openxmlformats.org/drawingml/2006/main">
            <a:pPr algn="l">
              <a:defRPr sz="6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all_reduce.cc:27-42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25A738-24B4-4007-9300-8C7BA41D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257300"/>
            <a:ext cx="2952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762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054B72-5E62-49D4-B730-DCE651E0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1257300"/>
            <a:ext cx="1847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9EA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HcclAllReduceInner()</a:t>
            </a:r>
          </a:p>
          <a:p xmlns:a="http://schemas.openxmlformats.org/drawingml/2006/main">
            <a:pPr algn="l">
              <a:defRPr sz="6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兼容分支进入旧流程</a:t>
            </a:r>
          </a:p>
          <a:p xmlns:a="http://schemas.openxmlformats.org/drawingml/2006/main">
            <a:pPr algn="l">
              <a:defRPr sz="6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条件分支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A7F2A5-AF36-43D2-B08F-9752D470C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257300"/>
            <a:ext cx="2952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762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84F279-BBF4-4350-957B-A5EA5D77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257300"/>
            <a:ext cx="1847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AllReduceInitAndCheck()</a:t>
            </a:r>
          </a:p>
          <a:p xmlns:a="http://schemas.openxmlformats.org/drawingml/2006/main">
            <a:pPr algn="l">
              <a:defRPr sz="6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校验 comm、指针、count、datatype</a:t>
            </a:r>
          </a:p>
          <a:p xmlns:a="http://schemas.openxmlformats.org/drawingml/2006/main">
            <a:pPr algn="l">
              <a:defRPr sz="6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all_reduce.cc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CDECF2-6436-4B00-9316-AA4BBBC2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257300"/>
            <a:ext cx="2952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762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79DFA8-5240-4627-9784-680D9D88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1257300"/>
            <a:ext cx="1847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AllReduceOutPlace()</a:t>
            </a:r>
          </a:p>
          <a:p xmlns:a="http://schemas.openxmlformats.org/drawingml/2006/main">
            <a:pPr algn="l">
              <a:defRPr sz="6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进入 A5 / V2 新流程</a:t>
            </a:r>
          </a:p>
          <a:p xmlns:a="http://schemas.openxmlformats.org/drawingml/2006/main">
            <a:pPr algn="l">
              <a:defRPr sz="6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all_reduce.cc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4C8973-0084-472A-99F0-BAF44AEA4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15144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34383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C421EF-CDB5-4B55-A484-69B9D5F5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144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34383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E82DFB-7BAA-4F8F-B297-A80F7ECC0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5144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34383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AC9170-F74B-47A1-A987-94DEF6BD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5144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34383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35F276-01EC-432D-82CB-A874477B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43100"/>
            <a:ext cx="11239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95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参数与模式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41CD81-C2A3-4123-B9E8-A66F8799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09800"/>
            <a:ext cx="29527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762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AE15FB-DEF7-409E-BFA3-1E8F61F0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09800"/>
            <a:ext cx="24193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1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FillAllReduceOpParam()</a:t>
            </a:r>
          </a:p>
          <a:p xmlns:a="http://schemas.openxmlformats.org/drawingml/2006/main">
            <a:pPr algn="l">
              <a:defRPr sz="61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1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生成 OpParam；写入 opType、buffer、count、reduceType</a:t>
            </a:r>
          </a:p>
          <a:p xmlns:a="http://schemas.openxmlformats.org/drawingml/2006/main">
            <a:pPr algn="l">
              <a:defRPr sz="61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1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all_reduce.cc:159-187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DE6081-014F-4835-8E3E-B922FD63E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209800"/>
            <a:ext cx="29527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762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5B3A16-F443-4347-9E79-B78B9982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09800"/>
            <a:ext cx="24193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HcclGetOpExpansionMode()</a:t>
            </a:r>
          </a:p>
          <a:p xmlns:a="http://schemas.openxmlformats.org/drawingml/2006/main">
            <a:pPr algn="l">
              <a:defRPr sz="61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读取通信域级展开配置</a:t>
            </a:r>
          </a:p>
          <a:p xmlns:a="http://schemas.openxmlformats.org/drawingml/2006/main">
            <a:pPr algn="l">
              <a:defRPr sz="61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op_common.cc:3418-3435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A6D59A-5A0A-4CCB-ADF6-9EF58BEF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09800"/>
            <a:ext cx="29527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762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2E3178-C818-47BC-ACA8-3005D1D5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209800"/>
            <a:ext cx="24193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DecideHcclOpExpansionMode()</a:t>
            </a:r>
          </a:p>
          <a:p xmlns:a="http://schemas.openxmlformats.org/drawingml/2006/main">
            <a:pPr algn="l">
              <a:defRPr sz="61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HcclConfigGetInfo 优先；兼容环境变量</a:t>
            </a:r>
          </a:p>
          <a:p xmlns:a="http://schemas.openxmlformats.org/drawingml/2006/main">
            <a:pPr algn="l">
              <a:defRPr sz="61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op_common.cc:3463-3503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F7E633-6EE2-4C0D-B56F-FA477259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209800"/>
            <a:ext cx="29527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762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BD82C2-3B37-4FA1-87C9-0CC3AE70B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09800"/>
            <a:ext cx="24193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1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ApplyOpExpansionMode()</a:t>
            </a:r>
          </a:p>
          <a:p xmlns:a="http://schemas.openxmlformats.org/drawingml/2006/main">
            <a:pPr algn="l">
              <a:defRPr sz="61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1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写入 OpExecuteConfig 与 CommEngine</a:t>
            </a:r>
          </a:p>
          <a:p xmlns:a="http://schemas.openxmlformats.org/drawingml/2006/main">
            <a:pPr algn="l">
              <a:defRPr sz="61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1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op_common.cc:3526-3565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75E3AB-19C8-499F-893C-95152EA8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5050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34383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D98744-3607-49F7-AFAC-6530BF01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5050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34383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8D102D-5C17-4338-84E8-93B5E8198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5050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34383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08832A-C35B-4017-8C2E-B0404D8A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90850"/>
            <a:ext cx="11239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95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选择与执行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468768-A1D1-4DE7-ABB0-145B13C1D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57550"/>
            <a:ext cx="29527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762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6B3471-0BE1-43F6-9BC8-31E050F5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57550"/>
            <a:ext cx="18478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Selector()</a:t>
            </a:r>
          </a:p>
          <a:p xmlns:a="http://schemas.openxmlformats.org/drawingml/2006/main">
            <a:pPr algn="l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统一算法选择入口</a:t>
            </a:r>
          </a:p>
          <a:p xmlns:a="http://schemas.openxmlformats.org/drawingml/2006/main">
            <a:pPr algn="l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op_common.cc:158-223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A1BD348-C5C4-4DC4-92E6-24FDBFE2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257550"/>
            <a:ext cx="29527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762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64B43FC-D7DD-483E-8A6F-2BCCBB61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57550"/>
            <a:ext cx="18478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HcclCalcTopoInfo()</a:t>
            </a:r>
          </a:p>
          <a:p xmlns:a="http://schemas.openxmlformats.org/drawingml/2006/main">
            <a:pPr algn="l">
              <a:def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初始化并缓存 TopoInfo</a:t>
            </a:r>
          </a:p>
          <a:p xmlns:a="http://schemas.openxmlformats.org/drawingml/2006/main">
            <a:pPr algn="l">
              <a:def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Selector 子调用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22E9318-4915-4DC9-B96C-27D2C461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257550"/>
            <a:ext cx="29527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E8F"/>
          </a:solidFill>
          <a:ln xmlns:a="http://schemas.openxmlformats.org/drawingml/2006/main" w="7620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58576C1-AFC3-4A95-AE7D-3807CD3D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257550"/>
            <a:ext cx="18478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7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HcclRankGraphGet*</a:t>
            </a:r>
          </a:p>
          <a:p xmlns:a="http://schemas.openxmlformats.org/drawingml/2006/main">
            <a:pPr algn="l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读取 Layers、TopoInst、Ranks、Links、Endpoint</a:t>
            </a:r>
          </a:p>
          <a:p xmlns:a="http://schemas.openxmlformats.org/drawingml/2006/main">
            <a:pPr algn="l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 rank_graph adapter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B1D9285-30A9-4672-99F1-46342A70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257550"/>
            <a:ext cx="29527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762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967CC72-1914-4918-9862-63B6B5BD9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257550"/>
            <a:ext cx="18478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SelectorEngine() / ExecuteSelector()</a:t>
            </a:r>
          </a:p>
          <a:p xmlns:a="http://schemas.openxmlformats.org/drawingml/2006/main">
            <a:pPr algn="l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二选一；输出 algName、CommEngine、algTag</a:t>
            </a:r>
          </a:p>
          <a:p xmlns:a="http://schemas.openxmlformats.org/drawingml/2006/main">
            <a:pPr algn="l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op_common.cc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E90EADD-FE5C-4CBF-93AD-31E169B9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57550"/>
            <a:ext cx="29527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762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7C3F9BF-0757-41BF-A626-0E30AB43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3257550"/>
            <a:ext cx="18478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HcclExecOp()</a:t>
            </a:r>
          </a:p>
          <a:p xmlns:a="http://schemas.openxmlformats.org/drawingml/2006/main">
            <a:pPr algn="l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取得 Executor，进入统一执行框架</a:t>
            </a:r>
          </a:p>
          <a:p xmlns:a="http://schemas.openxmlformats.org/drawingml/2006/main">
            <a:pPr algn="l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op_common.cc:780-941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8395D11-DE2B-4BAA-8D5B-A86DD017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55282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34383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86FA73B-1EA0-40C5-8218-5E75822B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55282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34383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BC9FA80-8EF2-480F-B9A1-3E558AFBE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55282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343839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CF9419B-959A-4C76-87BF-9B2C1F2A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55282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343839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16F5282-5EBE-4E67-B8A4-191DBA03F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48125"/>
            <a:ext cx="11239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E8F"/>
          </a:solidFill>
          <a:ln xmlns:a="http://schemas.openxmlformats.org/drawingml/2006/main" w="0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95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资源与建链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8839B1E-FAF4-4555-829B-C169C2D5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14825"/>
            <a:ext cx="29527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E8F"/>
          </a:solidFill>
          <a:ln xmlns:a="http://schemas.openxmlformats.org/drawingml/2006/main" w="7620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7F6A31C-0592-4EE3-A8F4-C03C37ADD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14825"/>
            <a:ext cx="24193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7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executor-&gt;CalcRes()</a:t>
            </a:r>
          </a:p>
          <a:p xmlns:a="http://schemas.openxmlformats.org/drawingml/2006/main">
            <a:pPr algn="l">
              <a:def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只计算需要哪些 Thread、Channel、Mem、Notify</a:t>
            </a:r>
          </a:p>
          <a:p xmlns:a="http://schemas.openxmlformats.org/drawingml/2006/main">
            <a:pPr algn="l">
              <a:def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Executor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0E2659E-CACB-4EF9-88BB-CA4C55711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314825"/>
            <a:ext cx="29527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E8F"/>
          </a:solidFill>
          <a:ln xmlns:a="http://schemas.openxmlformats.org/drawingml/2006/main" w="7620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B3F2F41-4DC6-43F1-963C-87C7A1E0D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314825"/>
            <a:ext cx="24193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7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GetAlgResWithEngine()</a:t>
            </a:r>
          </a:p>
          <a:p xmlns:a="http://schemas.openxmlformats.org/drawingml/2006/main">
            <a:pPr algn="l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按 CommEngine 分派资源申请</a:t>
            </a:r>
          </a:p>
          <a:p xmlns:a="http://schemas.openxmlformats.org/drawingml/2006/main">
            <a:pPr algn="l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op_common.cc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2FFBAD6-A049-4A52-A0BF-EFAB064F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314825"/>
            <a:ext cx="29527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E8F"/>
          </a:solidFill>
          <a:ln xmlns:a="http://schemas.openxmlformats.org/drawingml/2006/main" w="7620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9576CB7-E144-4938-806B-93BE2679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314825"/>
            <a:ext cx="24193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HcclChannelAcquire()</a:t>
            </a:r>
          </a:p>
          <a:p xmlns:a="http://schemas.openxmlformats.org/drawingml/2006/main">
            <a:pPr algn="l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描述符转换、Socket、EndpointPair、Channel</a:t>
            </a:r>
          </a:p>
          <a:p xmlns:a="http://schemas.openxmlformats.org/drawingml/2006/main">
            <a:pPr algn="l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op_common.cc:2061-2091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30EF9F4-04AC-4CC0-BD07-26A8EE52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314825"/>
            <a:ext cx="29527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E8F"/>
          </a:solidFill>
          <a:ln xmlns:a="http://schemas.openxmlformats.org/drawingml/2006/main" w="7620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11576F4-7F28-4435-B3E1-CBC8C3DD2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314825"/>
            <a:ext cx="24193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HcommCollectiveChannelCreate()</a:t>
            </a:r>
          </a:p>
          <a:p xmlns:a="http://schemas.openxmlformats.org/drawingml/2006/main">
            <a:pPr algn="l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进入 HCOMM L3 创建具体 Channel</a:t>
            </a:r>
          </a:p>
          <a:p xmlns:a="http://schemas.openxmlformats.org/drawingml/2006/main">
            <a:pPr algn="l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hcomm_channel_c_adpt.cc:437-458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13961B4-7D8A-4480-8840-777DCE52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610100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3E8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AAF4D5B-B2E8-4E9D-ADC4-56277C0F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610100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3E8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975D55F-B4F7-4B49-930C-1D365A5C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610100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3E8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A6BA49A-B1C2-45F5-9A9A-DE6011D4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62550"/>
            <a:ext cx="1428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39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观测点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F14302A-B51D-4A3C-A68B-B997949E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162550"/>
            <a:ext cx="2381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39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输入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BDE7C16-A48F-422E-AFC7-008C8DE6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162550"/>
            <a:ext cx="2381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39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Selector 输出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7EE1B82-5844-4699-9198-0DA8221D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162550"/>
            <a:ext cx="2381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39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资源输出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8BA0C68-2B40-412B-88E5-9B24176D4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162550"/>
            <a:ext cx="27336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39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返回 HCCL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E4F3CB6-516D-4470-8053-2CDAA3DF1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00675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6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4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运行时字段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7A55D7F-E050-4CE4-9786-FC58F781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400675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sendBuf / recvBuf / count / datatype / reduceType / stream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98C67B0-C60E-4633-B839-DF3F5069D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00675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algName / CommEngine / algTag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47A0AB3-4B11-4FF1-B60C-4CAC0A39B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400675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7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Thread / Channel / CommMem / Notify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71DC51B-37DF-43E2-8668-213442A3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400675"/>
            <a:ext cx="2733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ChannelHandle / Remote CCL Buffer / 设备侧资源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DE84125-6DD7-40DB-AE4E-F7819E77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067425"/>
            <a:ext cx="113061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9EA"/>
          </a:solidFill>
          <a:ln xmlns:a="http://schemas.openxmlformats.org/drawingml/2006/main" w="9525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兼容分支提示：不满足新流程条件时进入 HcclAllReduceInner；不能把本页新流程视为所有设备和版本的唯一链路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7C3A4C7-5F68-49D3-8D9E-67B6E13D8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72250"/>
            <a:ext cx="11410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3839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D9615A4-9CFD-40C2-8479-90B5BBF3B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0350"/>
            <a:ext cx="9810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8571"/>
          </a:bodyPr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5F6366"/>
                </a:solidFill>
                <a:latin typeface="PingFang SC"/>
                <a:ea typeface="PingFang SC"/>
                <a:cs typeface="PingFang SC"/>
              </a:defRPr>
            </a:pPr>
            <a:r>
              <a:rPr sz="525" b="0">
                <a:solidFill>
                  <a:srgbClr val="5F6366"/>
                </a:solidFill>
                <a:latin typeface="PingFang SC"/>
                <a:ea typeface="PingFang SC"/>
                <a:cs typeface="PingFang SC"/>
              </a:rPr>
              <a:t>主要源码：hccl/src/ops/all_reduce/all_reduce.cc；hccl/src/ops/op_common/op_common.cc；hcomm/.../api_c_adpt/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DA4E5EB-0FA8-4C01-B091-9AA0E442C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610350"/>
            <a:ext cx="14859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8571"/>
          </a:bodyPr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5F6366"/>
                </a:solidFill>
                <a:latin typeface="PingFang SC"/>
                <a:ea typeface="PingFang SC"/>
                <a:cs typeface="PingFang SC"/>
              </a:defRPr>
            </a:pPr>
            <a:r>
              <a:rPr sz="525" b="0">
                <a:solidFill>
                  <a:srgbClr val="5F6366"/>
                </a:solidFill>
                <a:latin typeface="PingFang SC"/>
                <a:ea typeface="PingFang SC"/>
                <a:cs typeface="PingFang SC"/>
              </a:rPr>
              <a:t>HCCL / HCOMM 源码追踪</a:t>
            </a:r>
          </a:p>
        </p:txBody>
      </p:sp>
    </p:spTree>
    <p:extLst>
      <p:ext uri="{BB962C8B-B14F-4D97-AF65-F5344CB8AC3E}">
        <p14:creationId xmlns:p14="http://schemas.microsoft.com/office/powerpoint/2010/main" val="4632720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930AE91-3A6D-4069-8BD2-C0C333B8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1925"/>
            <a:ext cx="10668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139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97131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97131C"/>
                </a:solidFill>
                <a:latin typeface="PingFang SC"/>
                <a:ea typeface="PingFang SC"/>
                <a:cs typeface="PingFang SC"/>
              </a:rPr>
              <a:t>展开模式与 Selector 决策表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4C26FF-2809-4520-80C9-26E0BFDA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展开模式决定执行位置；Selector 再结合拓扑、数据规模和资源约束选出具体算法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98CA6F-2049-46A9-91C2-4B4E2242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476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366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F6366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315AD8-ECFF-417E-AA7D-07AED4AF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8675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7131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F1B2D5-34FE-48CC-973A-24A3870F1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81075"/>
            <a:ext cx="12573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95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展开模式映射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59FECD-8380-4C8A-8057-476F9ACF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19200"/>
            <a:ext cx="1428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39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配置值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FE9271-5261-4F1B-9EB1-E3E0135B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219200"/>
            <a:ext cx="1714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39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OpExecuteConfig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30CFA6-738F-4747-B77C-B730BD19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219200"/>
            <a:ext cx="209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39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CommEngine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D03ECF-488C-48A3-AA0D-EC59ABED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219200"/>
            <a:ext cx="26479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39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初始化 / 约束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A07F22-2324-4769-9893-D1B657F1D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219200"/>
            <a:ext cx="34194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39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执行含义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4F09A7-ADA7-4844-92D9-EF4F1746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57325"/>
            <a:ext cx="1428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AI_CPU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08D320-6616-445E-BAA2-5597A4DD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457325"/>
            <a:ext cx="1714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AICPU_TS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6DFD10-A86A-47BA-8FCA-DF9CC01F2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457325"/>
            <a:ext cx="2095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COMM_ENGINE_AICPU_TS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088BF3-4B14-4D55-A837-EEA18110F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457325"/>
            <a:ext cx="26479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LoadAICPUKernel()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305168-B76D-4FB7-BB84-DF704352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457325"/>
            <a:ext cx="34194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AICPU Kernel 展开模板；调用 Hcomm*OnThread 原语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5DDDF5-3879-4503-9447-925BA66C0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52600"/>
            <a:ext cx="1428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AIV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852563-FE19-472E-85FF-C7AA6E7A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752600"/>
            <a:ext cx="1714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AIV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A3B7DB-348F-446D-87F7-6B5518C6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95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COMM_ENGINE_AIV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580C11-8E7A-48D4-B175-B3D82E53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752600"/>
            <a:ext cx="26479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RegisterKernel()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0AE1F5-ED5A-403F-9BDC-5A5E46E3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52600"/>
            <a:ext cx="34194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Host 发射 Vector Kernel；设备核消费 Channel / RemoteMem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26AD7C-AAFC-4A13-882C-0E60E12E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47875"/>
            <a:ext cx="1428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AIV_ONLY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62E9F2-715A-4F1A-B1EA-AE4FB1F0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047875"/>
            <a:ext cx="1714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AIV_ONLY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2A70DD-CB6E-4757-B9CA-63DFF555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47875"/>
            <a:ext cx="2095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COMM_ENGINE_AIV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EA158E-9A6D-4806-8981-5C703A98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047875"/>
            <a:ext cx="26479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禁止回退到非 AIV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64F64A-9D44-49C5-9D27-B19622A5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47875"/>
            <a:ext cx="34194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找不到 AIV 算法时直接返回不支持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387CA6-CD5B-4DE1-9E44-0079A13B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43150"/>
            <a:ext cx="1428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CCU_MS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C84ADA-1F62-45C7-9F49-80B921C4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343150"/>
            <a:ext cx="1714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CCU_MS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DE7287-F0C6-42E8-A4F2-10F469875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43150"/>
            <a:ext cx="2095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7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COMM_ENGINE_CCU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E66934-0F7E-4250-949C-D8753668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343150"/>
            <a:ext cx="26479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申请 CcuIns / Kernel 资源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E5A2EF-3239-4D51-979C-A8EDE21A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43150"/>
            <a:ext cx="34194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注册 CCU Kernel 后提交 Mission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186849-8C5D-4148-A819-72916AF0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38425"/>
            <a:ext cx="1428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CCU_SCHED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D43273-2897-40E4-BE9B-59C12207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638425"/>
            <a:ext cx="1714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CCU_SCHED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56B09B-5144-456D-9021-04B8A462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38425"/>
            <a:ext cx="2095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7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COMM_ENGINE_CCU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0A0D9A-EDE8-41DD-AE9C-C140A7C81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638425"/>
            <a:ext cx="26479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调度模型与资源规格不同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A67B7F-7062-4012-8E46-C422CC6D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38425"/>
            <a:ext cx="34194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可在资源协商后由 CCU_MS 回退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C04EB69-8D5F-4626-B0A4-0F17229F6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3700"/>
            <a:ext cx="1428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无效 / 不支持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EA62ED-6EBD-44BE-86EE-C23795260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933700"/>
            <a:ext cx="1714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AICPU_TS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FAD5DEE-89A1-45BE-8195-2177407AA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933700"/>
            <a:ext cx="2095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7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COMM_ENGINE_AICPU_TS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FDB35F7-6FAA-43CF-96BC-A71EC0AB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933700"/>
            <a:ext cx="26479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默认回退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8A25A52-A696-4053-B967-FBF586E5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33700"/>
            <a:ext cx="34194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保持各 Rank 一致，避免独立选择导致死锁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9D12CBC-C97B-4639-93E6-48EA00581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12573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95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Selector 输入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A92D094-CD22-44A4-A4CE-E4633DBD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590925"/>
            <a:ext cx="1762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9EA"/>
          </a:solidFill>
          <a:ln xmlns:a="http://schemas.openxmlformats.org/drawingml/2006/main" w="6668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执行与回退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4C20696-400E-4AB2-A19B-4D1986EF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590925"/>
            <a:ext cx="9544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CommEngine、设备代际、HCOMM 版本、AIV_ONLY 限制、CCU 跨 Rank 能力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DB3C377-7435-44F7-A853-F659849A6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14775"/>
            <a:ext cx="1762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9EA"/>
          </a:solidFill>
          <a:ln xmlns:a="http://schemas.openxmlformats.org/drawingml/2006/main" w="6668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拓扑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D4684B8-649A-409B-8D1B-C2681070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914775"/>
            <a:ext cx="9544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层数、MESH_1D / MESH_1D_CLOS / CLOS、2-Die、PCIe 混合组网、Rank 数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E0CA464-2F66-4EBE-89E6-086B3C20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38625"/>
            <a:ext cx="1762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7"/>
          </a:solidFill>
          <a:ln xmlns:a="http://schemas.openxmlformats.org/drawingml/2006/main" w="6668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数据与语义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370F0BC-FEE6-48E1-BE1A-4B070F55B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4238625"/>
            <a:ext cx="9544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count、datatype、reduceType、数据量阈值、inplace / overlap、Root / Peer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E751DAB-B7F3-49EE-8441-DBC5D4E40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562475"/>
            <a:ext cx="1762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7"/>
          </a:solidFill>
          <a:ln xmlns:a="http://schemas.openxmlformats.org/drawingml/2006/main" w="6668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资源与确定性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E61E769-CFC2-4649-A2FD-9FCCA36D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4562475"/>
            <a:ext cx="9544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Channel / Thread / CCU 余量、内存布局、保序和确定性要求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DEDEDB1-ED6B-4CB4-9CCA-73B97AD3F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48250"/>
            <a:ext cx="12573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95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算法名解码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1BDF9D5-BC20-41C4-B0EC-74526ED6B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48250"/>
            <a:ext cx="9972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10478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&lt;Engine&gt;&lt;Collective&gt;&lt;Schedule&gt;&lt;Level0Algo&gt;&lt;Level1Algo&gt;[Variant]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A869217-C6E8-47B9-98D2-128C1926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38775"/>
            <a:ext cx="857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39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5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5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Engine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94BB64D-D639-4CA2-A244-1E60C070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438775"/>
            <a:ext cx="1857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9EA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Aicpu / Aiv / CcuMS / CcuSched / Dpu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E03A9C5-A18A-4173-AD19-4C0CC887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5438775"/>
            <a:ext cx="857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39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5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5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Schedule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134D18D-8A89-4823-80B9-98170F6FD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5438775"/>
            <a:ext cx="1857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Sole / Sequence / Parallel / PipeLine / Concur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06BC902-8F2A-4F9E-87F0-C846B1E7C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38775"/>
            <a:ext cx="857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39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5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5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Topo Algo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A8BDE75-6B3A-4852-A075-5457A72E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438775"/>
            <a:ext cx="1857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7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Mesh / NHR / MultiLink / MultiJetty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7DBED5E-BCDE-4310-A6D7-75531D97E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438775"/>
            <a:ext cx="857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39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5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5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Variant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901260F-1D4D-4C4D-B8B5-A6A1AE74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438775"/>
            <a:ext cx="1857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OneShot / TwoShot / AicpuReduce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76831AF-CE95-4A9B-A767-FC8690106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34100"/>
            <a:ext cx="113061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示例：AicpuAllReducePipeLineMeshNHR = AICPU 引擎 + AllReduce 语义 + 流水组织 + Mesh / NHR 分层算法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F3795AF-96C4-4FCC-A719-A6FDBEEAC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72250"/>
            <a:ext cx="11410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3839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2DC7478-BB90-49A5-BFFE-C30A67751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0350"/>
            <a:ext cx="9810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8571"/>
          </a:bodyPr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5F6366"/>
                </a:solidFill>
                <a:latin typeface="PingFang SC"/>
                <a:ea typeface="PingFang SC"/>
                <a:cs typeface="PingFang SC"/>
              </a:defRPr>
            </a:pPr>
            <a:r>
              <a:rPr sz="525" b="0">
                <a:solidFill>
                  <a:srgbClr val="5F6366"/>
                </a:solidFill>
                <a:latin typeface="PingFang SC"/>
                <a:ea typeface="PingFang SC"/>
                <a:cs typeface="PingFang SC"/>
              </a:rPr>
              <a:t>Selector：op_common.cc:158-223；展开模式：op_common.cc:3418-3565；AllReduce AutoSelector：all_reduce_auto_selector.cc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CFFF750-D69E-462A-B98B-4ABAC661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610350"/>
            <a:ext cx="14859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8571"/>
          </a:bodyPr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5F6366"/>
                </a:solidFill>
                <a:latin typeface="PingFang SC"/>
                <a:ea typeface="PingFang SC"/>
                <a:cs typeface="PingFang SC"/>
              </a:defRPr>
            </a:pPr>
            <a:r>
              <a:rPr sz="525" b="0">
                <a:solidFill>
                  <a:srgbClr val="5F6366"/>
                </a:solidFill>
                <a:latin typeface="PingFang SC"/>
                <a:ea typeface="PingFang SC"/>
                <a:cs typeface="PingFang SC"/>
              </a:rPr>
              <a:t>HCCL / HCOMM 源码追踪</a:t>
            </a:r>
          </a:p>
        </p:txBody>
      </p:sp>
    </p:spTree>
    <p:extLst>
      <p:ext uri="{BB962C8B-B14F-4D97-AF65-F5344CB8AC3E}">
        <p14:creationId xmlns:p14="http://schemas.microsoft.com/office/powerpoint/2010/main" val="9959538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3548CD66-2876-4E9C-B6C1-3C205ACA9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1925"/>
            <a:ext cx="10668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139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97131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97131C"/>
                </a:solidFill>
                <a:latin typeface="PingFang SC"/>
                <a:ea typeface="PingFang SC"/>
                <a:cs typeface="PingFang SC"/>
              </a:rPr>
              <a:t>HcclChannelAcquire 建链的 32 个有序步骤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50B1FB-4ED4-453E-B4A6-6137E147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每列自上而下；列间按 08、16、24 的阶段输出继续；黄色表示跨层或关键资源点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87A9C3-4086-42C9-916F-FDE839DB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476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366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F6366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ACB49E-EC44-4669-8B74-E96D18FC6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8675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7131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FA8CA0-FDEA-4474-B9D5-A0424FE7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9650"/>
            <a:ext cx="27146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762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1. HCCL 请求准备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EE96BC-D694-4142-9A67-7B258875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23975"/>
            <a:ext cx="2714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555" b="0">
                <a:solidFill>
                  <a:srgbClr val="97131C"/>
                </a:solidFill>
                <a:latin typeface="PingFang SC"/>
                <a:ea typeface="PingFang SC"/>
                <a:cs typeface="PingFang SC"/>
              </a:defRPr>
            </a:pPr>
            <a:r>
              <a:rPr sz="555" b="0">
                <a:solidFill>
                  <a:srgbClr val="97131C"/>
                </a:solidFill>
                <a:latin typeface="PingFang SC"/>
                <a:ea typeface="PingFang SC"/>
                <a:cs typeface="PingFang SC"/>
              </a:rPr>
              <a:t>op_common.cc / coll_comm_res_c_adpt.cc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276614-E6CF-45FD-9371-9D03CB5D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24000"/>
            <a:ext cx="2952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762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2777FC-D324-44D3-9281-D2057E0F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24000"/>
            <a:ext cx="2419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5715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HcclGetChannelImpl</a:t>
            </a:r>
          </a:p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选择通道实现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98AA68-4D7F-451A-A2D3-BF9EB5F3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9431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7131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2EE717-C9C6-41BD-8B73-2015390A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38350"/>
            <a:ext cx="2952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762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2FE5E1-EA3A-4C70-980C-A2D048132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38350"/>
            <a:ext cx="2419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6"/>
          </a:solidFill>
          <a:ln xmlns:a="http://schemas.openxmlformats.org/drawingml/2006/main" w="5715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AddExchangeInfo</a:t>
            </a:r>
          </a:p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加入跨 Rank 交换信息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1A91BC-5C9E-4083-8541-3A5EA5EC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45745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7131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977602-7365-4A50-ABCD-A34D78DC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52700"/>
            <a:ext cx="2952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762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C552B5-9475-4D00-A8BE-AE5C89A5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52700"/>
            <a:ext cx="2419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1143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HcclChannelAcquire</a:t>
            </a:r>
          </a:p>
          <a:p xmlns:a="http://schemas.openxmlformats.org/drawingml/2006/main">
            <a:pPr algn="l">
              <a:defRPr sz="59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申请或复用 Channel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557FCB-F72A-4900-BA96-A18B80EFD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9718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7131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C373EA-C3AB-4AC5-B721-F00250B6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67050"/>
            <a:ext cx="2952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762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951C9E-99B1-473D-9E70-C9A59480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67050"/>
            <a:ext cx="2419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6"/>
          </a:solidFill>
          <a:ln xmlns:a="http://schemas.openxmlformats.org/drawingml/2006/main" w="5715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CheckChannelResParams</a:t>
            </a:r>
          </a:p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校验资源参数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BD9059-03E6-4A31-9305-42AD06F0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48615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7131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8E8060-D470-4776-9FA4-C132DA3E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581400"/>
            <a:ext cx="2952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762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56A418-EC3C-4368-9427-6E99C87D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81400"/>
            <a:ext cx="2419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5715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ProcessHcclResPackReq</a:t>
            </a:r>
          </a:p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处理资源打包请求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B0ADFD-1332-4125-B915-18B14FB4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7131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F9C63-6A76-4807-B51E-17DD1C0DB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95750"/>
            <a:ext cx="2952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762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97A7FB-752E-4CBA-986E-C82DCC4B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0"/>
            <a:ext cx="2419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6"/>
          </a:solidFill>
          <a:ln xmlns:a="http://schemas.openxmlformats.org/drawingml/2006/main" w="5715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PrepareV2ChannelAcquire</a:t>
            </a:r>
          </a:p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准备 V2 申请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BE6C17-8605-4684-90EB-2399B029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51485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7131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A2ED1D-22B8-4214-9558-792AE2B33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610100"/>
            <a:ext cx="2952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762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407DF2-F118-42ED-B306-5635D43D8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10100"/>
            <a:ext cx="2419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5715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PrepareChannelSymMemHandles</a:t>
            </a:r>
          </a:p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准备对称内存句柄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DF2955-4A54-425A-A643-20F9DAF3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0292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7131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54B2F5-90A7-4511-A38E-CACEFE98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24450"/>
            <a:ext cx="2952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762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7BD1F8-0766-450A-B50B-967282A44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24450"/>
            <a:ext cx="2419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6"/>
          </a:solidFill>
          <a:ln xmlns:a="http://schemas.openxmlformats.org/drawingml/2006/main" w="5715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MyRank::CreateChannels</a:t>
            </a:r>
          </a:p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创建本 Rank 通道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7A1EAD-DF72-4EC6-98FD-5BA5A09E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638800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5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97131C"/>
                </a:solidFill>
                <a:latin typeface="PingFang SC"/>
                <a:ea typeface="PingFang SC"/>
                <a:cs typeface="PingFang SC"/>
              </a:defRPr>
            </a:pPr>
            <a:r>
              <a:rPr sz="600" b="1">
                <a:solidFill>
                  <a:srgbClr val="97131C"/>
                </a:solidFill>
                <a:latin typeface="PingFang SC"/>
                <a:ea typeface="PingFang SC"/>
                <a:cs typeface="PingFang SC"/>
              </a:rPr>
              <a:t>8 完成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0329BC-5E13-4CB0-B940-2C32ECEFC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5724525"/>
            <a:ext cx="152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34383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E28A07-9795-40C5-B961-3797579C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009650"/>
            <a:ext cx="27146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762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2. Socket 与描述符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982C1F-1954-473F-B650-4E50366F8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323975"/>
            <a:ext cx="2714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555" b="0">
                <a:solidFill>
                  <a:srgbClr val="97131C"/>
                </a:solidFill>
                <a:latin typeface="PingFang SC"/>
                <a:ea typeface="PingFang SC"/>
                <a:cs typeface="PingFang SC"/>
              </a:defRPr>
            </a:pPr>
            <a:r>
              <a:rPr sz="555" b="0">
                <a:solidFill>
                  <a:srgbClr val="97131C"/>
                </a:solidFill>
                <a:latin typeface="PingFang SC"/>
                <a:ea typeface="PingFang SC"/>
                <a:cs typeface="PingFang SC"/>
              </a:rPr>
              <a:t>my_rank.cc:1228-1300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5092D2-4CFA-4C77-9F93-1632C25B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524000"/>
            <a:ext cx="2952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762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56FD036-AA44-4F33-AD05-22A37975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524000"/>
            <a:ext cx="2419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5715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CheckChannelParam</a:t>
            </a:r>
          </a:p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校验 HCOMM 参数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6F1EAFA-6496-418B-904D-5522514F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431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7131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A03CDC1-4F9C-4A16-A6EB-C13D8DFC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038350"/>
            <a:ext cx="2952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762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6DF4B34-46BE-49AF-9E7F-B5DF55743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038350"/>
            <a:ext cx="2419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1143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ChannelDescHccl2Hcomm</a:t>
            </a:r>
          </a:p>
          <a:p xmlns:a="http://schemas.openxmlformats.org/drawingml/2006/main">
            <a:pPr algn="l">
              <a:defRPr sz="59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跨层转换描述符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0A0BF66-F884-4EBF-915E-AF436498C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5745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7131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DB64C64-E606-4F51-B791-E7CBF9A2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552700"/>
            <a:ext cx="2952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762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25EB5B0-4D8D-4460-9EB7-C7C85B18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52700"/>
            <a:ext cx="2419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5715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ConfigSqDepthByExpansionMode</a:t>
            </a:r>
          </a:p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按展开模式配置 SQ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A8F09F4-2875-433C-B4AA-A7EBD2E74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718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7131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14EA8A5-0B8B-4559-B867-A1C965C3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067050"/>
            <a:ext cx="2952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762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C696F07-3071-4D19-8DA0-4B032101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067050"/>
            <a:ext cx="2419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6"/>
          </a:solidFill>
          <a:ln xmlns:a="http://schemas.openxmlformats.org/drawingml/2006/main" w="5715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BatchCreateSockets</a:t>
            </a:r>
          </a:p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批量创建 Socket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E2A8A48-9D44-4D20-9009-E04C2F1D5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8615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7131C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52C7144-EA68-47C9-839B-0694FDCE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581400"/>
            <a:ext cx="2952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762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A855FC1-52DC-40AC-8F74-5E199B1B3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581400"/>
            <a:ext cx="2419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5715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BatchServerInitForChannels</a:t>
            </a:r>
          </a:p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初始化服务端 Socket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66EEB19-567D-4A46-9D12-7A9FAE426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005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7131C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44BB63E-132D-48A6-B488-29082490A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095750"/>
            <a:ext cx="2952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762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DD3C688-A0C6-441A-9F24-7122DA7C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095750"/>
            <a:ext cx="2419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6"/>
          </a:solidFill>
          <a:ln xmlns:a="http://schemas.openxmlformats.org/drawingml/2006/main" w="5715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BatchGetSocketsForChannels</a:t>
            </a:r>
          </a:p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获取通道 Socket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695F202-200D-4B7F-9FCB-6DD1C8A4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1485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7131C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9EAB160-5064-451D-BBF8-2E9963B5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610100"/>
            <a:ext cx="2952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762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96E2888-5C03-4CEE-A328-6F82003D0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610100"/>
            <a:ext cx="2419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5715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BatchCreateChannels</a:t>
            </a:r>
          </a:p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创建 Channel 对象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A3954E-AF1E-4AE8-B741-A53B4AC7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292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7131C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AEC6EF1-6BC2-4277-96D6-DF6FEC8F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124450"/>
            <a:ext cx="2952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762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611FDB8-2AA9-4097-8096-1A8283E4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124450"/>
            <a:ext cx="2419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6"/>
          </a:solidFill>
          <a:ln xmlns:a="http://schemas.openxmlformats.org/drawingml/2006/main" w="5715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EndpointMgr::Get</a:t>
            </a:r>
          </a:p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取得 Endpoint 管理器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88FB17A-9418-405A-8FEA-C2ACADA7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638800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5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97131C"/>
                </a:solidFill>
                <a:latin typeface="PingFang SC"/>
                <a:ea typeface="PingFang SC"/>
                <a:cs typeface="PingFang SC"/>
              </a:defRPr>
            </a:pPr>
            <a:r>
              <a:rPr sz="600" b="1">
                <a:solidFill>
                  <a:srgbClr val="97131C"/>
                </a:solidFill>
                <a:latin typeface="PingFang SC"/>
                <a:ea typeface="PingFang SC"/>
                <a:cs typeface="PingFang SC"/>
              </a:rPr>
              <a:t>16 完成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1EC807C-FEAC-4A88-BB71-CD241B1F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724525"/>
            <a:ext cx="152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343839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D1A9166-6F98-4656-A9A4-2343E097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009650"/>
            <a:ext cx="27146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E8F"/>
          </a:solidFill>
          <a:ln xmlns:a="http://schemas.openxmlformats.org/drawingml/2006/main" w="7620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3. Endpoint 与 Channel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7189732-3093-4387-AEC2-F526CF96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323975"/>
            <a:ext cx="2714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555" b="0">
                <a:solidFill>
                  <a:srgbClr val="243E8F"/>
                </a:solidFill>
                <a:latin typeface="PingFang SC"/>
                <a:ea typeface="PingFang SC"/>
                <a:cs typeface="PingFang SC"/>
              </a:defRPr>
            </a:pPr>
            <a:r>
              <a:rPr sz="555" b="0">
                <a:solidFill>
                  <a:srgbClr val="243E8F"/>
                </a:solidFill>
                <a:latin typeface="PingFang SC"/>
                <a:ea typeface="PingFang SC"/>
                <a:cs typeface="PingFang SC"/>
              </a:rPr>
              <a:t>endpoint_pair.cc:199-226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617EF2D-A5A1-4B2B-B64E-25C3C286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524000"/>
            <a:ext cx="2952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E8F"/>
          </a:solidFill>
          <a:ln xmlns:a="http://schemas.openxmlformats.org/drawingml/2006/main" w="7620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4A32D3E-4EBF-4AFF-B868-D0A10B72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524000"/>
            <a:ext cx="2419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11430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HcommEndpointStartListen</a:t>
            </a:r>
          </a:p>
          <a:p xmlns:a="http://schemas.openxmlformats.org/drawingml/2006/main">
            <a:pPr algn="l">
              <a:defRPr sz="59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启动 Endpoint 监听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C52F906-61C9-409D-AB04-27F2CABB5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9431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43E8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DF170E9-4469-4BA4-9015-F7BC361E3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38350"/>
            <a:ext cx="2952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E8F"/>
          </a:solidFill>
          <a:ln xmlns:a="http://schemas.openxmlformats.org/drawingml/2006/main" w="7620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A9ABF94-3466-44D8-A927-991B581F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038350"/>
            <a:ext cx="2419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6"/>
          </a:solidFill>
          <a:ln xmlns:a="http://schemas.openxmlformats.org/drawingml/2006/main" w="5715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PrepareMemHandles</a:t>
            </a:r>
          </a:p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准备内存句柄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C68476A-DBD1-4780-8A65-366449B0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5745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43E8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0FB8E85-EBF3-4243-9E06-7D85E1F4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52700"/>
            <a:ext cx="2952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E8F"/>
          </a:solidFill>
          <a:ln xmlns:a="http://schemas.openxmlformats.org/drawingml/2006/main" w="7620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19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83F4E28-875C-4C7B-B9E1-0B6ECF38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552700"/>
            <a:ext cx="2419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5715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RankPairMgr::Get</a:t>
            </a:r>
          </a:p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取得 RankPair 管理器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AACE238-74BC-4C83-B6FB-6C73FF6B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9718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43E8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0D8669B-F9FB-4696-A6B8-73E45BAF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67050"/>
            <a:ext cx="2952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E8F"/>
          </a:solidFill>
          <a:ln xmlns:a="http://schemas.openxmlformats.org/drawingml/2006/main" w="7620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20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8B0D574-116C-45E0-932C-CE8374D2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067050"/>
            <a:ext cx="2419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6"/>
          </a:solidFill>
          <a:ln xmlns:a="http://schemas.openxmlformats.org/drawingml/2006/main" w="5715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RankPair::GetEndpointPair</a:t>
            </a:r>
          </a:p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获取或复用 EndpointPair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6ABC99A-5657-46D9-B48D-A440B3256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48615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43E8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9CE6E43-BCDF-4BEB-A122-2ED9F977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81400"/>
            <a:ext cx="2952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E8F"/>
          </a:solidFill>
          <a:ln xmlns:a="http://schemas.openxmlformats.org/drawingml/2006/main" w="7620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21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37972C7-72B8-43AF-BB64-6D112F563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581400"/>
            <a:ext cx="2419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5715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EndpointPair::CreateChannel</a:t>
            </a:r>
          </a:p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创建具体 Channel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42EFE89-E9B2-4B73-AE4A-B7FDD58B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0005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43E8F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0AC492D-8DEB-4A76-BB61-92AB2A8C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95750"/>
            <a:ext cx="2952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E8F"/>
          </a:solidFill>
          <a:ln xmlns:a="http://schemas.openxmlformats.org/drawingml/2006/main" w="7620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22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A396D55-97EB-40CB-AA3B-AB33688D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095750"/>
            <a:ext cx="2419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11430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HcommCollectiveChannelCreate</a:t>
            </a:r>
          </a:p>
          <a:p xmlns:a="http://schemas.openxmlformats.org/drawingml/2006/main">
            <a:pPr algn="l">
              <a:defRPr sz="59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创建集合通信 Channel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0AE9E75-BB8C-4B1A-947A-CFE2BA0C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51485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43E8F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2581C68-9B4A-4DCF-AEF7-C764F958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610100"/>
            <a:ext cx="2952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E8F"/>
          </a:solidFill>
          <a:ln xmlns:a="http://schemas.openxmlformats.org/drawingml/2006/main" w="7620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23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20533CC-8BFD-47B7-86F6-BEA1E701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610100"/>
            <a:ext cx="2419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5715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NormalizeHcommChannelDescs</a:t>
            </a:r>
          </a:p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归一化描述符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9FCE2FE-CAFF-4735-A75D-943EC852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50292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43E8F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396AB39-9267-4899-ACE1-DEB196AA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124450"/>
            <a:ext cx="2952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E8F"/>
          </a:solidFill>
          <a:ln xmlns:a="http://schemas.openxmlformats.org/drawingml/2006/main" w="7620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24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94579F2-8125-416F-838A-D7B20006B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5124450"/>
            <a:ext cx="2419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6"/>
          </a:solidFill>
          <a:ln xmlns:a="http://schemas.openxmlformats.org/drawingml/2006/main" w="5715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ChannelProcess::CreateChannelsLoop</a:t>
            </a:r>
          </a:p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循环创建 Channel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C1F736E-0B34-4F49-BF51-26A39489D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5638800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5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243E8F"/>
                </a:solidFill>
                <a:latin typeface="PingFang SC"/>
                <a:ea typeface="PingFang SC"/>
                <a:cs typeface="PingFang SC"/>
              </a:defRPr>
            </a:pPr>
            <a:r>
              <a:rPr sz="600" b="1">
                <a:solidFill>
                  <a:srgbClr val="243E8F"/>
                </a:solidFill>
                <a:latin typeface="PingFang SC"/>
                <a:ea typeface="PingFang SC"/>
                <a:cs typeface="PingFang SC"/>
              </a:rPr>
              <a:t>24 完成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43F9482-125D-4421-BB5B-34DF2AC8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5724525"/>
            <a:ext cx="152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343839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CF1AD31-ABF6-48B1-B3F9-0C797D97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009650"/>
            <a:ext cx="27146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E8F"/>
          </a:solidFill>
          <a:ln xmlns:a="http://schemas.openxmlformats.org/drawingml/2006/main" w="7620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4. 连接、校验与回填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502D0FA-6F1C-43E5-AE09-9A822DEC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323975"/>
            <a:ext cx="2714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555" b="0">
                <a:solidFill>
                  <a:srgbClr val="243E8F"/>
                </a:solidFill>
                <a:latin typeface="PingFang SC"/>
                <a:ea typeface="PingFang SC"/>
                <a:cs typeface="PingFang SC"/>
              </a:defRPr>
            </a:pPr>
            <a:r>
              <a:rPr sz="555" b="0">
                <a:solidFill>
                  <a:srgbClr val="243E8F"/>
                </a:solidFill>
                <a:latin typeface="PingFang SC"/>
                <a:ea typeface="PingFang SC"/>
                <a:cs typeface="PingFang SC"/>
              </a:rPr>
              <a:t>channel_process.cc:89-133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F3AC2D7-CEE7-4E07-B481-E81FFFCE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524000"/>
            <a:ext cx="2952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E8F"/>
          </a:solidFill>
          <a:ln xmlns:a="http://schemas.openxmlformats.org/drawingml/2006/main" w="7620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25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E5C2F13-405E-44B5-9558-AAC5E31D6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524000"/>
            <a:ext cx="2419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5715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Channel::CreateChannel</a:t>
            </a:r>
          </a:p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创建底层 Channel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42F2CD5-86FA-4929-991C-AB7DBAB1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9431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43E8F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5459024-9454-4609-A806-9CDB9EE62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038350"/>
            <a:ext cx="2952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E8F"/>
          </a:solidFill>
          <a:ln xmlns:a="http://schemas.openxmlformats.org/drawingml/2006/main" w="7620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26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2FFFE8B-F7D3-4093-B976-23153F42A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038350"/>
            <a:ext cx="2419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6"/>
          </a:solidFill>
          <a:ln xmlns:a="http://schemas.openxmlformats.org/drawingml/2006/main" w="5715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BatchConnectChannels</a:t>
            </a:r>
          </a:p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批量发起连接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44F260B-9AC4-430E-81CE-7D48A7E5D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5745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43E8F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167201C-A6AA-4148-A669-25497AA9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552700"/>
            <a:ext cx="2952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E8F"/>
          </a:solidFill>
          <a:ln xmlns:a="http://schemas.openxmlformats.org/drawingml/2006/main" w="7620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27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31CA03B-16C7-49F7-8EC8-5619891C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52700"/>
            <a:ext cx="2419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5715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ChannelGetStatus</a:t>
            </a:r>
          </a:p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查询连接状态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827D729-30BA-4C3F-BE63-588D8205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718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43E8F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870FDA4-D99D-40F5-B9BE-792681DC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067050"/>
            <a:ext cx="2952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E8F"/>
          </a:solidFill>
          <a:ln xmlns:a="http://schemas.openxmlformats.org/drawingml/2006/main" w="7620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28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CC52FBA-EE09-4EFB-A091-27CEBE415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67050"/>
            <a:ext cx="2419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11430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BatchExchangeAndCheckConsistency</a:t>
            </a:r>
          </a:p>
          <a:p xmlns:a="http://schemas.openxmlformats.org/drawingml/2006/main">
            <a:pPr algn="l">
              <a:defRPr sz="59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交换并校验一致性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568AB67-65C0-4003-9DDC-3A09CA4ED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48615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43E8F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D7073BF-04F0-40C1-970D-7073F9663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581400"/>
            <a:ext cx="2952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E8F"/>
          </a:solidFill>
          <a:ln xmlns:a="http://schemas.openxmlformats.org/drawingml/2006/main" w="7620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29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31946E2-3F7E-4D4B-A011-3B1D6F2A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581400"/>
            <a:ext cx="2419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5715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FinalizeChannelsByEngine</a:t>
            </a:r>
          </a:p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按 Engine 封装资源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EE2AF7B-5496-434C-A3D0-4355DF26A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005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43E8F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54BE89F-D476-42C8-B12B-A00D2CBF7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095750"/>
            <a:ext cx="2952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E8F"/>
          </a:solidFill>
          <a:ln xmlns:a="http://schemas.openxmlformats.org/drawingml/2006/main" w="7620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30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A3787EB-1790-48F8-91FD-5AAB4A198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095750"/>
            <a:ext cx="2419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11430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3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3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ConvertAivChannelHandlesToDevicePtrs</a:t>
            </a:r>
          </a:p>
          <a:p xmlns:a="http://schemas.openxmlformats.org/drawingml/2006/main">
            <a:pPr algn="l">
              <a:defRPr sz="53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3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AIV 句柄转设备指针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6132BBD-0F65-46CA-A22A-4F21D9EF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51485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43E8F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5A56B8B-3618-4C97-A25D-1EEE7058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610100"/>
            <a:ext cx="2952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E8F"/>
          </a:solidFill>
          <a:ln xmlns:a="http://schemas.openxmlformats.org/drawingml/2006/main" w="7620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31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3548C641-78A4-4D29-92B5-021A38DB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610100"/>
            <a:ext cx="2419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5715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HcclChannelGetHcclBuffer</a:t>
            </a:r>
          </a:p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取得通信缓冲区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27F81CB-80C6-44CE-8656-362038FA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0292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43E8F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3438AB6-C614-42D7-8A0D-AB84A3E1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124450"/>
            <a:ext cx="2952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E8F"/>
          </a:solidFill>
          <a:ln xmlns:a="http://schemas.openxmlformats.org/drawingml/2006/main" w="7620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32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EAA2DBA0-A09B-4732-9FB3-F17E4552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124450"/>
            <a:ext cx="2419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11430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3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3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return ChannelHandle + Remote CCL Buffer</a:t>
            </a:r>
          </a:p>
          <a:p xmlns:a="http://schemas.openxmlformats.org/drawingml/2006/main">
            <a:pPr algn="l">
              <a:defRPr sz="53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3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返回句柄与远端缓冲区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6B4024E-B0DF-4FD0-A01F-A57B71D7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867400"/>
            <a:ext cx="1285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9525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条件 / 异常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884681A-A9C2-41C6-8E10-895C62D3C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5867400"/>
            <a:ext cx="10020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9525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AICPU 与 AIV 场景交换对称内存；AIV 转设备指针；950 路径做一致性校验；CCU 资源不足时返回 HCCL_E_UNAVAIL 并跨 Rank 协商回退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8FCC174-971B-4C09-BFA7-1C8AA4E5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72250"/>
            <a:ext cx="11410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3839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65695C1-D430-48C4-BC97-53CEEC0C8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0350"/>
            <a:ext cx="9810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8571"/>
          </a:bodyPr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5F6366"/>
                </a:solidFill>
                <a:latin typeface="PingFang SC"/>
                <a:ea typeface="PingFang SC"/>
                <a:cs typeface="PingFang SC"/>
              </a:defRPr>
            </a:pPr>
            <a:r>
              <a:rPr sz="525" b="0">
                <a:solidFill>
                  <a:srgbClr val="5F6366"/>
                </a:solidFill>
                <a:latin typeface="PingFang SC"/>
                <a:ea typeface="PingFang SC"/>
                <a:cs typeface="PingFang SC"/>
              </a:rPr>
              <a:t>核心源码：coll_comm_res_c_adpt.cc:755-858；my_rank.cc:567-1300；endpoint_pair.cc:199-226；channel_process.cc:89-133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1C177A69-276B-480F-82FA-6B85BB64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610350"/>
            <a:ext cx="14859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8571"/>
          </a:bodyPr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5F6366"/>
                </a:solidFill>
                <a:latin typeface="PingFang SC"/>
                <a:ea typeface="PingFang SC"/>
                <a:cs typeface="PingFang SC"/>
              </a:defRPr>
            </a:pPr>
            <a:r>
              <a:rPr sz="525" b="0">
                <a:solidFill>
                  <a:srgbClr val="5F6366"/>
                </a:solidFill>
                <a:latin typeface="PingFang SC"/>
                <a:ea typeface="PingFang SC"/>
                <a:cs typeface="PingFang SC"/>
              </a:rPr>
              <a:t>HCCL / HCOMM 源码追踪</a:t>
            </a:r>
          </a:p>
        </p:txBody>
      </p:sp>
    </p:spTree>
    <p:extLst>
      <p:ext uri="{BB962C8B-B14F-4D97-AF65-F5344CB8AC3E}">
        <p14:creationId xmlns:p14="http://schemas.microsoft.com/office/powerpoint/2010/main" val="18060304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CB272CC-3061-43C0-84A9-D97AC8E42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1925"/>
            <a:ext cx="10668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139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97131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97131C"/>
                </a:solidFill>
                <a:latin typeface="PingFang SC"/>
                <a:ea typeface="PingFang SC"/>
                <a:cs typeface="PingFang SC"/>
              </a:rPr>
              <a:t>不同算子复用的 HCOMM API 与差异点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8A2612-798A-42C4-B43D-6939A8DB1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控制面和资源面高度共用；算子语义主要改变原语组合、Peer 关系、分片布局和同步顺序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CE0738-90FA-4973-AB63-530BE96B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476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366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F6366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5A113D-FD9F-43BE-946B-091D5D2B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8675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7131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794F2F-DBAB-41A3-8FA0-2718FC1A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00125"/>
            <a:ext cx="16573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39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4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算子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275194-AEAC-4CF2-8921-48A5A75A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000125"/>
            <a:ext cx="9144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39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4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搬运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18EA0F-E98F-482D-A0BF-F35E0420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1000125"/>
            <a:ext cx="9144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39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4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归约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F3E1ED-D170-44E5-B490-DD33A55A8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1000125"/>
            <a:ext cx="10668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39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4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Channel Notify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0800CB-E933-4AD2-AC66-51A96932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000125"/>
            <a:ext cx="10668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39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4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Thread Notify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FD9988-11CD-46A8-B312-DE260295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000125"/>
            <a:ext cx="10668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39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4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逐 Peer 编排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34DF24-9E55-49DF-8D5B-29286D0F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000125"/>
            <a:ext cx="46196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39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4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主要差异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C0696A-B7F5-4BDE-BFE1-218A92FE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276350"/>
            <a:ext cx="16573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AllReduce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FE2F60-258B-4AB3-AEB3-D3F8BDD8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276350"/>
            <a:ext cx="9144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E114DB-A4BD-4922-8513-B6E5A3E1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1276350"/>
            <a:ext cx="9144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45A18A-F9CA-4390-A86B-3A338680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1276350"/>
            <a:ext cx="1066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7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E09889-893C-4122-BBDF-DD6D7A92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276350"/>
            <a:ext cx="1066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并发算法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098DE5-0DC9-43FF-9BCF-DABE849F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276350"/>
            <a:ext cx="1066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按算法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79F96A-6918-4509-9758-A8329BE1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276350"/>
            <a:ext cx="46196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ReduceScatter 与 AllGather 的组合或融合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F99BAC-4959-470B-99CE-9ED9D0B0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609725"/>
            <a:ext cx="16573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6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ReduceScatter / V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9975CB-D7AB-49DC-A0E2-274A94148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609725"/>
            <a:ext cx="9144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F823A3-C64A-40BF-B9A6-10A65DCB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1609725"/>
            <a:ext cx="9144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9EAFB8-B16A-4413-BDFF-A6C0FD6B6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1609725"/>
            <a:ext cx="1066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7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CB57EC-E9DB-4A97-8F9B-300A50AD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609725"/>
            <a:ext cx="1066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并发算法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B0BE97-E704-49C9-AF61-C5B066D08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609725"/>
            <a:ext cx="1066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按算法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9454DB-C4CB-4AC3-BCE5-69B389F08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609725"/>
            <a:ext cx="46196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最终每 Rank 只保留一个分片；V 版本布局可变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87221B-D043-472A-9F56-5FDAFD81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943100"/>
            <a:ext cx="16573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Reduce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BFE950-62D1-4841-9196-12CFA9E0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943100"/>
            <a:ext cx="9144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F42E8E-2A1C-464C-8883-6D88C5959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1943100"/>
            <a:ext cx="9144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ACA8EB-17FD-4283-B2A1-65D2B2AC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1943100"/>
            <a:ext cx="1066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7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0C23CE-5CE2-4E3A-AEC1-DB045709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943100"/>
            <a:ext cx="1066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并发算法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89DA8A-B9B3-476D-A0D8-FC99FEF4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943100"/>
            <a:ext cx="1066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按算法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C745A9-6A94-4BC2-9340-0A22A4AC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943100"/>
            <a:ext cx="46196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Root 改变收敛方向和资源 Tag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DC8050-AD54-42D3-9CDD-0A9A49A4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276475"/>
            <a:ext cx="16573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6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AllGather / V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EA3D3CA-EB14-4860-B866-1D9CC81E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276475"/>
            <a:ext cx="9144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5B1D3D7-E554-4ED0-ABDD-F5BC5889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276475"/>
            <a:ext cx="9144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93E8F1D-F9EB-4CFD-8F78-251839AE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276475"/>
            <a:ext cx="1066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7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3A144FC-58F0-4128-8631-2ECF1722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276475"/>
            <a:ext cx="1066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并发算法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134A70F-36AA-44B3-95A9-47AEDEE94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276475"/>
            <a:ext cx="1066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按算法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A5734A5-EBD1-49AC-98E9-6CC3855DA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276475"/>
            <a:ext cx="46196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无归约；定长与变长分片布局不同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14DEEB9-F602-431C-A447-2A7F1F6D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609850"/>
            <a:ext cx="16573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Broadcast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6508500-7287-4282-B9CC-8E2C324B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609850"/>
            <a:ext cx="9144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93ECEC9-B851-431A-900F-FB97B33C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609850"/>
            <a:ext cx="9144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EFBF5AC-316F-48F8-8AAB-D3C66FDED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609850"/>
            <a:ext cx="1066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7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EA3FA71-3F03-4194-982A-3FE27D17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609850"/>
            <a:ext cx="1066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并发算法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85E88F4-0E1E-4717-B1C0-528D56C6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609850"/>
            <a:ext cx="1066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按算法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3AC931B-CD97-4A98-B99C-B39A2A22D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609850"/>
            <a:ext cx="46196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Root 向外扩散；常见 Scatter 加 AllGather 分阶段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FB4C217-3AB3-4DD8-A121-C7C8318C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943225"/>
            <a:ext cx="16573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6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Scatter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79F5EC8-23EE-432C-BF03-CCCE9FC7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943225"/>
            <a:ext cx="9144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811C72D-36D9-45D1-94C9-187051629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943225"/>
            <a:ext cx="9144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036544B-4982-4661-A53D-564EEEB4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943225"/>
            <a:ext cx="1066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7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CE16DEC-1393-43C4-91C1-1F4594588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943225"/>
            <a:ext cx="1066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并发算法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73850F2-48A6-4A73-8C11-942EB21E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943225"/>
            <a:ext cx="1066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按算法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8956BC8-862A-4439-A191-1654EA17F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943225"/>
            <a:ext cx="46196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Root 按 Rank 切片发送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0095BFD-5D7C-4392-BC54-5333DA97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276600"/>
            <a:ext cx="16573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AlltoAll / V / VC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1042126-424B-4FFB-A99C-5253A3FE5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276600"/>
            <a:ext cx="9144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D146187-59C3-4623-9EB6-F1879352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276600"/>
            <a:ext cx="9144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B860193-C7E2-4A69-893A-199237F7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3276600"/>
            <a:ext cx="1066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7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7989D5-151E-4008-B736-F051BE8CB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276600"/>
            <a:ext cx="1066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并发算法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BB63186-BF2D-4E93-A663-CE347EED7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276600"/>
            <a:ext cx="1066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突出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A0ACA52-C252-4942-965D-614833BD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276600"/>
            <a:ext cx="46196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多 Peer 个性化 count / displacement；Channel 批处理突出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C85EA1D-B2FD-4A93-8C5F-AFDDE2C9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609975"/>
            <a:ext cx="16573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6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Send / Recv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C4FFB4F-91D5-4AA2-A00E-0C1928E4F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609975"/>
            <a:ext cx="9144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DED1222-5AB1-4348-B9FD-7E7FF46F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609975"/>
            <a:ext cx="9144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D2D02A6-A2D5-4AD6-AFF4-A53C4F202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3609975"/>
            <a:ext cx="1066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7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E974A34-38C3-4757-A174-AD73F4D8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609975"/>
            <a:ext cx="1066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Group 场景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3899EEA-C62C-439A-A042-35DB5E51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609975"/>
            <a:ext cx="1066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单 Peer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311234D-6FC6-4DDF-B0BF-9755DC108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609975"/>
            <a:ext cx="46196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方向明确；Host-NIC / DPU 路径还使用 Fence / Drain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34B4B6F-E40D-4973-BF45-134DC0FC9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943350"/>
            <a:ext cx="16573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BatchSendRecv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2FBC30A-1FED-4F63-951C-1073CAADF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943350"/>
            <a:ext cx="9144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499008C-6357-404E-82BD-B15F0FE5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943350"/>
            <a:ext cx="9144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5F45771-D611-46F7-A6AC-E4ABFF00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3943350"/>
            <a:ext cx="1066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7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171A8F1-2D58-4E77-B0EB-BA6CD005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943350"/>
            <a:ext cx="1066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可使用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3E3A5EF-CA77-4864-9B19-95954C33F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943350"/>
            <a:ext cx="1066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突出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49C9870-9B8A-486F-8ECC-431B72962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943350"/>
            <a:ext cx="46196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合并多个 P2P Item 调度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EE06A57-8F7A-47F0-A0CD-0D3449B3A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276725"/>
            <a:ext cx="16573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6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Barrier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0FA617C-029B-42D6-847B-7E465B9DA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276725"/>
            <a:ext cx="9144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零字节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9CDE4F8-EFD1-4504-96F5-35FD600B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276725"/>
            <a:ext cx="9144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F137FFB-B6B1-46EA-8898-6E8C8F14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4276725"/>
            <a:ext cx="1066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7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DEF51F3-E085-463A-B8AF-6D7B9990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4276725"/>
            <a:ext cx="1066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可使用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E0F4F07-85E7-4A20-8F30-648EE5F48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4276725"/>
            <a:ext cx="1066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1DC0DBE-1BD8-459B-94AD-9914DB15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276725"/>
            <a:ext cx="46196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目标是到达同步，不产生数据结果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E00E48E-AAEE-4F21-AA47-499080D7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791075"/>
            <a:ext cx="12668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95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公共 API 家族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FC3097B-FC4D-4481-BA61-C0BEAD32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06730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9EA"/>
          </a:solidFill>
          <a:ln xmlns:a="http://schemas.openxmlformats.org/drawingml/2006/main" w="6668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控制面查询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A388165-9E60-4C7B-A922-D1BBD798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5067300"/>
            <a:ext cx="96107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HcclConfigGetInfo；HcclRankGraphGet*；HcclGetRankId / Size / CommName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A1BB70F-7FFA-4127-9949-41EE82B8C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39115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6668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资源面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9F751C5-27B6-49CC-A54E-82EB82E2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5391150"/>
            <a:ext cx="96107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HcclEngineCtx*；HcclThreadAcquire*；HcclChannelAcquire / Query；HcclCommMemReg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491376D-5B29-4863-9D04-6BCB1116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71500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7"/>
          </a:solidFill>
          <a:ln xmlns:a="http://schemas.openxmlformats.org/drawingml/2006/main" w="6668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数据面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3F6AECD-C6BA-4F7D-9927-199F1A29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5715000"/>
            <a:ext cx="96107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HcommRead / Write*；HcommLocalCopy / Reduce*；HcommBatchTransferOnThread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D68CAA0-3B24-4CB2-8E68-AAE9B218F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03885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6"/>
          </a:solidFill>
          <a:ln xmlns:a="http://schemas.openxmlformats.org/drawingml/2006/main" w="6668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同步与 DFX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904C086-8905-495D-9179-63472E39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6038850"/>
            <a:ext cx="96107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Channel / Thread Notify；Fence / Drain；Profiling；Op 注册与异常上报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4B37A9D-DF56-425C-8CE4-F6779A1CF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362700"/>
            <a:ext cx="113061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9525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结论：不同算法的主要差别通常是调用顺序、分片偏移、Peer / Channel 选择、并发 Thread 和 Notify 索引，而不是重新定义传输 API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81560E0-D453-49D9-BC13-9E794975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72250"/>
            <a:ext cx="11410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3839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E72002D-B1A5-4DE0-99A7-8BFA7478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0350"/>
            <a:ext cx="9810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8571"/>
          </a:bodyPr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5F6366"/>
                </a:solidFill>
                <a:latin typeface="PingFang SC"/>
                <a:ea typeface="PingFang SC"/>
                <a:cs typeface="PingFang SC"/>
              </a:defRPr>
            </a:pPr>
            <a:r>
              <a:rPr sz="525" b="0">
                <a:solidFill>
                  <a:srgbClr val="5F6366"/>
                </a:solidFill>
                <a:latin typeface="PingFang SC"/>
                <a:ea typeface="PingFang SC"/>
                <a:cs typeface="PingFang SC"/>
              </a:rPr>
              <a:t>能力矩阵表示可能使用的 API 家族，不表示一次运行会覆盖全部函数；具体路径仍由 AlgAttrs、Selector 和资源状态过滤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ED83515-7B1A-492D-A277-93011187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610350"/>
            <a:ext cx="14859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8571"/>
          </a:bodyPr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5F6366"/>
                </a:solidFill>
                <a:latin typeface="PingFang SC"/>
                <a:ea typeface="PingFang SC"/>
                <a:cs typeface="PingFang SC"/>
              </a:defRPr>
            </a:pPr>
            <a:r>
              <a:rPr sz="525" b="0">
                <a:solidFill>
                  <a:srgbClr val="5F6366"/>
                </a:solidFill>
                <a:latin typeface="PingFang SC"/>
                <a:ea typeface="PingFang SC"/>
                <a:cs typeface="PingFang SC"/>
              </a:rPr>
              <a:t>HCCL / HCOMM 源码追踪</a:t>
            </a:r>
          </a:p>
        </p:txBody>
      </p:sp>
    </p:spTree>
    <p:extLst>
      <p:ext uri="{BB962C8B-B14F-4D97-AF65-F5344CB8AC3E}">
        <p14:creationId xmlns:p14="http://schemas.microsoft.com/office/powerpoint/2010/main" val="15401167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C67C13A-45D7-4FCB-A074-7827FCF1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1925"/>
            <a:ext cx="10668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139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97131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97131C"/>
                </a:solidFill>
                <a:latin typeface="PingFang SC"/>
                <a:ea typeface="PingFang SC"/>
                <a:cs typeface="PingFang SC"/>
              </a:rPr>
              <a:t>AICPU、AIV 与 CCU 的资源链和执行链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7E6D30-A24D-4CDC-B95C-7AD98850E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三条路径共享 RankGraph、EngineCtx、Thread、Channel 和通信内存；执行 API 与失败语义不同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203A88-6FC2-408C-B200-24773409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476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366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F6366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FE4B12-9623-4F30-AA86-C1C83591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8675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7131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E5943D-FCC3-484A-AC01-E913CC1A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90600"/>
            <a:ext cx="12382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39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共享资源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B4A6B5-12DD-46D0-BF70-D2962DC2D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990600"/>
            <a:ext cx="2286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RankGraph / TopoInfo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DCB4BB-2923-4FE1-B73B-60B13851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990600"/>
            <a:ext cx="2286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EngineCtx / algTag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914560-07EE-4873-99E6-F1BABC466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90600"/>
            <a:ext cx="2286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Thread / Channel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7F54E4-58C5-4ABC-975A-53749347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990600"/>
            <a:ext cx="32099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CommMem / CCL Buffer / Notify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9E099B-7158-4887-A2FB-8F5514AA7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19225"/>
            <a:ext cx="3562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9EA"/>
          </a:solidFill>
          <a:ln xmlns:a="http://schemas.openxmlformats.org/drawingml/2006/main" w="12383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AICPU_TS</a:t>
            </a:r>
          </a:p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CommEngine = COMM_ENGINE_AICPU_TS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A94BC1-770F-44A0-87C8-F134B134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8825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6668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阶段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8F35A3-E234-486C-BA93-CF7E46DE3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28825"/>
            <a:ext cx="186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6668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5D17B5-64DE-4E2B-B426-CF44DF86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28825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6668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含义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6774A9-7760-4F86-997F-63DEEAB0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57425"/>
            <a:ext cx="647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资源 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A102A2-6A9B-45E7-940E-5BDE237C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57425"/>
            <a:ext cx="1866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HcclThreadAcquire*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3B3060-736B-4601-9002-E438D802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257425"/>
            <a:ext cx="1047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申请主 / 从执行线程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7EE48A-1B89-445C-ADFD-AFA205D43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0"/>
            <a:ext cx="647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6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资源 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B2C42D-39E0-4190-979F-1085BF0F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1866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HcclAllocAlgResourceAICPU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86111A-CC0D-4851-9B2D-8391D563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67000"/>
            <a:ext cx="1047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分配 AICPU 算法资源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81A0EF-90D5-40BA-ADB2-A4760FBA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76575"/>
            <a:ext cx="647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发射 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4CF876-1D58-4601-8C53-F467C87F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76575"/>
            <a:ext cx="1866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HcclAicpuKernelEntranceLaunch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9C4BD1-6FFA-4650-B774-31528B72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76575"/>
            <a:ext cx="1047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进入 AICPU Kernel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653A2D-C32C-40D4-BC5D-F3061E0B9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86150"/>
            <a:ext cx="647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6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发射 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4B4150-BC76-4313-8BF3-249B1308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866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aclrtLaunchKernelWithConfig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065622-3C47-479B-A7DD-8DB26A2A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486150"/>
            <a:ext cx="1047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启动 Kernel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F61567-14F6-4052-A20F-4184391EF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95725"/>
            <a:ext cx="647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执行 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A73772-392F-4EDB-8001-A9432D8B5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95725"/>
            <a:ext cx="1866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HcommLocalCopy / LocalReduceOnThread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22C214-3DD3-4939-B3A8-1C1342CE4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895725"/>
            <a:ext cx="1047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本地搬运或归约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204AE1-37B3-4E9A-A0D0-06B357D1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05300"/>
            <a:ext cx="647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6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执行 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908BA2-69AC-404C-9A64-0A586A52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05300"/>
            <a:ext cx="1866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HcommRead / WriteOnThread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A69206-4421-41D8-84DD-1F8419F5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305300"/>
            <a:ext cx="1047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Channel 数据传输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E8F6F7-4537-4A9F-818E-4E137858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14875"/>
            <a:ext cx="647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执行 07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2BF286-ED95-49EF-9832-61F23BC33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14875"/>
            <a:ext cx="1866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HcommReadReduce / WriteReduceOnThread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029ED8-6AF8-4FE4-A218-2E9CFA6D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714875"/>
            <a:ext cx="1047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传输融合归约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73D104-1FE2-4327-835D-BA2766AD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24450"/>
            <a:ext cx="647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6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同步 08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6774337-8041-4096-A294-35289AE75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24450"/>
            <a:ext cx="1866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Channel / Thread Notify；Fence；Drain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478E021-B1DE-4F4F-877C-99CDA1BB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24450"/>
            <a:ext cx="1047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建立顺序并排空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AD0DD67-5855-4699-B75B-D3971BD6F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19750"/>
            <a:ext cx="35623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1143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4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算法模板在 AICPU Kernel 中逐原语展开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D8096BA-567C-4F18-A17E-AED7C5935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419225"/>
            <a:ext cx="3562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7"/>
          </a:solidFill>
          <a:ln xmlns:a="http://schemas.openxmlformats.org/drawingml/2006/main" w="12383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AIV / AIV_ONLY</a:t>
            </a:r>
          </a:p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CommEngine = COMM_ENGINE_AIV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92AFE17-8D08-43BF-A585-3DA57C12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028825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E8F"/>
          </a:solidFill>
          <a:ln xmlns:a="http://schemas.openxmlformats.org/drawingml/2006/main" w="6668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阶段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6C08FD0-41B4-44E5-ACC2-1C031829D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028825"/>
            <a:ext cx="186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E8F"/>
          </a:solidFill>
          <a:ln xmlns:a="http://schemas.openxmlformats.org/drawingml/2006/main" w="6668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API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15C2A0B-AF67-44A9-9F7C-D1469694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028825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E8F"/>
          </a:solidFill>
          <a:ln xmlns:a="http://schemas.openxmlformats.org/drawingml/2006/main" w="6668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含义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BE49ABB-1CB1-459E-9B51-F210F3C7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257425"/>
            <a:ext cx="647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资源 01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C6A368E-56F5-4545-867A-55C7219B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257425"/>
            <a:ext cx="1866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GetAlgResAiv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0BB03DB-1341-404A-B112-90965EBF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257425"/>
            <a:ext cx="1047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汇总 AIV 资源请求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80E345D-955B-46EA-BABF-01102CBA6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667000"/>
            <a:ext cx="647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6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资源 02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B5F8E04-B171-4C92-AC95-AB5C99755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667000"/>
            <a:ext cx="1866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HcclAllocAlgResourceAiv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2124EB1-7F25-430E-84CB-AA8357F6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667000"/>
            <a:ext cx="1047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分配资源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A1F4BE8-4AFA-4E70-ADD3-75088D60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076575"/>
            <a:ext cx="647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资源 03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9946A98-6C8B-40E8-A9D2-C4521DA2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3076575"/>
            <a:ext cx="1866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HcclCommMemReg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2F67627-C131-48AF-BFF3-25B1F63D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076575"/>
            <a:ext cx="1047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注册设备可见通信内存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1336851-4D0E-4FDE-973B-3C3AEC82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486150"/>
            <a:ext cx="647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6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资源 04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9CD33D5-4B07-4E39-AE39-E943009B5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3486150"/>
            <a:ext cx="1866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HcclChannelAcquire(AIV)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E1A0204-4F7D-489C-9639-DDB4AA25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486150"/>
            <a:ext cx="1047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申请 AIV Channel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916A970-A7EF-4503-B748-735BC5A69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95725"/>
            <a:ext cx="647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转换 05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EA522B2-72F8-4CB4-A96F-5DE2FB870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3895725"/>
            <a:ext cx="1866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ConvertAivChannelHandlesToDevicePtrs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C70ACBF-58E8-4CF6-A7C3-085DCC72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895725"/>
            <a:ext cx="1047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句柄转设备指针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74A7E13-B972-48FD-933C-BDB24ECA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647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6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发射 06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5792536-83D7-4DB1-BBAB-B1859621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4305300"/>
            <a:ext cx="1866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HcclAivKernelEntranceLaunch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D8B06D8-ADC8-4A85-9F99-5D56AA397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305300"/>
            <a:ext cx="1047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进入 AIV 发射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8826F95-AF26-4485-98E4-2F31C891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714875"/>
            <a:ext cx="647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发射 07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E36820B-FF47-47D5-BE54-C605A670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4714875"/>
            <a:ext cx="1866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ExecuteKernelLaunch / LaunchInner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A68A2B7-F0A4-4C5D-9FD0-C6B821BD7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714875"/>
            <a:ext cx="1047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组装参数并调用 Runtime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60D5C80-4ECE-4ED4-B50E-60D315E7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5124450"/>
            <a:ext cx="647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6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发射 08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5FEE427-D8B5-42C7-8085-257FE440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5124450"/>
            <a:ext cx="1866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aclrtLaunchKernelWithHostArgs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53A175C-34E0-42D5-8CA9-7EDB8C54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124450"/>
            <a:ext cx="1047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携带 Host 参数发射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02B69BB-5C04-4376-811B-70852AFC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5619750"/>
            <a:ext cx="35623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11430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4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设备核直接消费 HCOMM 准备的 Channel / RemoteMem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5E8C3F8-0F73-42B5-9257-972153D5E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419225"/>
            <a:ext cx="3562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7"/>
          </a:solidFill>
          <a:ln xmlns:a="http://schemas.openxmlformats.org/drawingml/2006/main" w="12383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CCU_MS / CCU_SCHED</a:t>
            </a:r>
          </a:p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CommEngine = COMM_ENGINE_CCU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4C2A83C-BC24-45E7-A2BB-C6ECD13A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28825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E8F"/>
          </a:solidFill>
          <a:ln xmlns:a="http://schemas.openxmlformats.org/drawingml/2006/main" w="6668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阶段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84B6963-E621-4DE7-B7C9-CBA9153D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028825"/>
            <a:ext cx="186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E8F"/>
          </a:solidFill>
          <a:ln xmlns:a="http://schemas.openxmlformats.org/drawingml/2006/main" w="6668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API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00428CC-2190-4769-AAAC-B03F64FE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028825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E8F"/>
          </a:solidFill>
          <a:ln xmlns:a="http://schemas.openxmlformats.org/drawingml/2006/main" w="6668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含义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6E4DDE6-F9AF-4D5D-BB2D-C1DF50EDE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57425"/>
            <a:ext cx="647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资源 01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F98F702-4455-4317-A70D-15DF13AB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57425"/>
            <a:ext cx="1866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GetAlgResCcu / HcclAllocAlgResourceCcu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4A6C918-727D-42A3-B1C0-8CF80F05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257425"/>
            <a:ext cx="1047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计算并分配 CCU 资源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91831A1-5476-495F-A827-C902C113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67000"/>
            <a:ext cx="647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6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资源 02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347B4F3-8C35-43E4-9F7F-EE28D5AB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67000"/>
            <a:ext cx="1866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HcommCcuKernelQueryResReq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AB43DEF-8298-47FE-A89C-C0EF555E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667000"/>
            <a:ext cx="1047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查询 Kernel 资源需求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0DA19A8-DD84-49C9-8B81-DEA55B24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76575"/>
            <a:ext cx="647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资源 03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E9769FE-FA3B-4800-98F3-C4F35CD05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076575"/>
            <a:ext cx="1866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HcommCcuQueryRemainResDesc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A4C667A-C710-413F-849E-64C7C1428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076575"/>
            <a:ext cx="1047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查询剩余资源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30DCBF7-5A93-4602-9D8F-8DFE6AC5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86150"/>
            <a:ext cx="647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6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实例 04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EB1A76E-10EF-46EC-8226-E2D7B2A45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86150"/>
            <a:ext cx="1866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HcommCcuInsCreate / Assign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FF14CBD-40DC-4A18-A4AD-044CCAB29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486150"/>
            <a:ext cx="1047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创建并绑定 CcuIns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1917B90-4B60-4813-93E6-5CBF7574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95725"/>
            <a:ext cx="647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注册 05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E8BD949-0CFF-4E57-9535-CAC179DFE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895725"/>
            <a:ext cx="1866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HcommCcuKernelRegisterStart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FE5E3DE-E9EC-48A4-BAD2-233EA4C0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895725"/>
            <a:ext cx="1047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开始注册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E5CF299-8B3D-4DCA-9E05-7F6E7EB7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05300"/>
            <a:ext cx="647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6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注册 06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BBDFE91-09C6-4F7E-B7D1-3678A356C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305300"/>
            <a:ext cx="1866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HcommCcuKernelRegister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607ABF9-37E9-4341-A3CD-9B775DA5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305300"/>
            <a:ext cx="1047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注册 Kernel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0AF2EED-80B7-4EF0-B80B-B2485048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14875"/>
            <a:ext cx="647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注册 07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080364F-56D8-4E94-91BD-F312E22CF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714875"/>
            <a:ext cx="1866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HcommCcuKernelRegisterEnd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D6029A6-F227-4811-8D6C-B914961A8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714875"/>
            <a:ext cx="1047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完成注册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5FDE851-D6CB-461C-B749-5FB340DBD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124450"/>
            <a:ext cx="647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6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发射 08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11D1531-E14D-4029-8386-A0BF8C41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124450"/>
            <a:ext cx="1866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HcommCcuKernelLaunch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E2B91F3-7F43-4353-94A8-4D850984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24450"/>
            <a:ext cx="1047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提交 CCU Mission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401D780-FA4C-472E-8CD8-25A054B3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619750"/>
            <a:ext cx="35623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11430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4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资源不足时跨 Rank 协商回退，不能各 Rank 独立选择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19C2F1B-B7F9-4BAC-BD09-305383D92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91250"/>
            <a:ext cx="1524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6668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失败 / 回退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8FF17B0-0B88-4496-988D-56204AC3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91250"/>
            <a:ext cx="97821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AIV_ONLY 无算法时返回不支持；CCU 资源不足需跨 Rank 协商；通用兜底通常回到 AICPU_TS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24F40E9-66EC-42FF-9828-9B4EBD7F4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72250"/>
            <a:ext cx="11410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3839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1A01696-3EA3-43E0-BE5E-BDE011F89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0350"/>
            <a:ext cx="9810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8571"/>
          </a:bodyPr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5F6366"/>
                </a:solidFill>
                <a:latin typeface="PingFang SC"/>
                <a:ea typeface="PingFang SC"/>
                <a:cs typeface="PingFang SC"/>
              </a:defRPr>
            </a:pPr>
            <a:r>
              <a:rPr sz="525" b="0">
                <a:solidFill>
                  <a:srgbClr val="5F6366"/>
                </a:solidFill>
                <a:latin typeface="PingFang SC"/>
                <a:ea typeface="PingFang SC"/>
                <a:cs typeface="PingFang SC"/>
              </a:rPr>
              <a:t>主要源码：op_common.cc:887-904,2440-2972；hccl_aiv_utils.cc:1068-1143；aicpu_ts_primitives_c_adpt.cc；ccu_launch.cc:291-335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AC140F6-A4DD-458E-A6D7-F59102011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610350"/>
            <a:ext cx="14859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8571"/>
          </a:bodyPr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5F6366"/>
                </a:solidFill>
                <a:latin typeface="PingFang SC"/>
                <a:ea typeface="PingFang SC"/>
                <a:cs typeface="PingFang SC"/>
              </a:defRPr>
            </a:pPr>
            <a:r>
              <a:rPr sz="525" b="0">
                <a:solidFill>
                  <a:srgbClr val="5F6366"/>
                </a:solidFill>
                <a:latin typeface="PingFang SC"/>
                <a:ea typeface="PingFang SC"/>
                <a:cs typeface="PingFang SC"/>
              </a:rPr>
              <a:t>HCCL / HCOMM 源码追踪</a:t>
            </a:r>
          </a:p>
        </p:txBody>
      </p:sp>
    </p:spTree>
    <p:extLst>
      <p:ext uri="{BB962C8B-B14F-4D97-AF65-F5344CB8AC3E}">
        <p14:creationId xmlns:p14="http://schemas.microsoft.com/office/powerpoint/2010/main" val="16535420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892C428-00A2-4B2C-8F0C-F71434779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1925"/>
            <a:ext cx="10668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139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97131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97131C"/>
                </a:solidFill>
                <a:latin typeface="PingFang SC"/>
                <a:ea typeface="PingFang SC"/>
                <a:cs typeface="PingFang SC"/>
              </a:rPr>
              <a:t>HcommWriteOnThread 落到 Transport 的具体路径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21ABC8-2F65-4424-ABCE-85434769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以一次写传输为例，展示 HCCL Template、公共封装、HCOMM 适配层、Channel 和硬件传输的真实衔接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9E957F-5B7B-4F54-8187-9A22886C5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476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366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F6366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F0F53E-4028-4C7E-854F-639B7516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8675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7131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2357B1-B2DE-4AC0-A271-50058E72D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0125"/>
            <a:ext cx="438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762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061DBE-7C6C-40F0-9BD0-2A9ACC28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00125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9EA"/>
          </a:solidFill>
          <a:ln xmlns:a="http://schemas.openxmlformats.org/drawingml/2006/main" w="762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3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 Template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D5CFF0-901D-4778-B09F-29EB320C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000125"/>
            <a:ext cx="4286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具体算法决定分片、Peer、Channel、offset 和执行顺序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033670-B35B-4EBE-98CD-43559911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000125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7620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5F6366"/>
                </a:solidFill>
                <a:latin typeface="PingFang SC"/>
                <a:ea typeface="PingFang SC"/>
                <a:cs typeface="PingFang SC"/>
              </a:defRPr>
            </a:pPr>
            <a:r>
              <a:rPr sz="585" b="0">
                <a:solidFill>
                  <a:srgbClr val="5F6366"/>
                </a:solidFill>
                <a:latin typeface="PingFang SC"/>
                <a:ea typeface="PingFang SC"/>
                <a:cs typeface="PingFang SC"/>
              </a:rPr>
              <a:t>src/ops/&lt;op&gt;/algorithm/template/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00DB7E-7E24-4B4C-A3D9-71C56DDDB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52575"/>
            <a:ext cx="0" cy="200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7131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9A33AB-E3B4-488E-B203-9A539B553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28775"/>
            <a:ext cx="1714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97131C"/>
                </a:solidFill>
                <a:latin typeface="PingFang SC"/>
                <a:ea typeface="PingFang SC"/>
                <a:cs typeface="PingFang SC"/>
              </a:defRPr>
            </a:pPr>
            <a:r>
              <a:rPr sz="600" b="1">
                <a:solidFill>
                  <a:srgbClr val="97131C"/>
                </a:solidFill>
                <a:latin typeface="PingFang SC"/>
                <a:ea typeface="PingFang SC"/>
                <a:cs typeface="PingFang SC"/>
              </a:rPr>
              <a:t>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E1AB7C-FA6B-4D08-95F3-60462ECA7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52600"/>
            <a:ext cx="438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762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1C3DEF-3D9D-480A-81A0-69A0BC766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5260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9EA"/>
          </a:solidFill>
          <a:ln xmlns:a="http://schemas.openxmlformats.org/drawingml/2006/main" w="762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3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AlgDataTransWrapper::Tx / TxAsync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E1226B-FF57-4405-BE4B-3D2D20C5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52600"/>
            <a:ext cx="4286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统一封装传输描述与 Notify 组合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B8DF57-5DC4-461A-B0D2-EA67547F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526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7620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5F6366"/>
                </a:solidFill>
                <a:latin typeface="PingFang SC"/>
                <a:ea typeface="PingFang SC"/>
                <a:cs typeface="PingFang SC"/>
              </a:defRPr>
            </a:pPr>
            <a:r>
              <a:rPr sz="585" b="0">
                <a:solidFill>
                  <a:srgbClr val="5F6366"/>
                </a:solidFill>
                <a:latin typeface="PingFang SC"/>
                <a:ea typeface="PingFang SC"/>
                <a:cs typeface="PingFang SC"/>
              </a:rPr>
              <a:t>alg_data_trans_wrapper.cc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EB9136-7BE2-4AD9-90B1-4E31532B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305050"/>
            <a:ext cx="0" cy="200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3E8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438B94-B54C-47EC-BB71-7C99724D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1714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243E8F"/>
                </a:solidFill>
                <a:latin typeface="PingFang SC"/>
                <a:ea typeface="PingFang SC"/>
                <a:cs typeface="PingFang SC"/>
              </a:defRPr>
            </a:pPr>
            <a:r>
              <a:rPr sz="600" b="1">
                <a:solidFill>
                  <a:srgbClr val="243E8F"/>
                </a:solidFill>
                <a:latin typeface="PingFang SC"/>
                <a:ea typeface="PingFang SC"/>
                <a:cs typeface="PingFang SC"/>
              </a:rPr>
              <a:t>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EF6DA8-D143-487F-9E32-A5C341350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05075"/>
            <a:ext cx="438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E8F"/>
          </a:solidFill>
          <a:ln xmlns:a="http://schemas.openxmlformats.org/drawingml/2006/main" w="7620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FAF6CC-F02F-4BE7-8D6A-3E5B0DAC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05075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12383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3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HcommWriteOnThread(thread, channel, dst, src, len)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013BA1-E836-43C3-AC8F-382B1BDB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05075"/>
            <a:ext cx="4286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 AICPU_TS 数据面 ABI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4F33D7-8466-411E-9D7C-07AC64A2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05075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7620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5F6366"/>
                </a:solidFill>
                <a:latin typeface="PingFang SC"/>
                <a:ea typeface="PingFang SC"/>
                <a:cs typeface="PingFang SC"/>
              </a:defRPr>
            </a:pPr>
            <a:r>
              <a:rPr sz="585" b="0">
                <a:solidFill>
                  <a:srgbClr val="5F6366"/>
                </a:solidFill>
                <a:latin typeface="PingFang SC"/>
                <a:ea typeface="PingFang SC"/>
                <a:cs typeface="PingFang SC"/>
              </a:rPr>
              <a:t>aicpu_ts_primitives_c_adpt.cc:495-545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36CFA0-B1F8-495B-9BBA-A44522C1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057525"/>
            <a:ext cx="0" cy="200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3E8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21698B-0C8C-4E87-9207-0B15B1D9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33725"/>
            <a:ext cx="1714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243E8F"/>
                </a:solidFill>
                <a:latin typeface="PingFang SC"/>
                <a:ea typeface="PingFang SC"/>
                <a:cs typeface="PingFang SC"/>
              </a:defRPr>
            </a:pPr>
            <a:r>
              <a:rPr sz="600" b="1">
                <a:solidFill>
                  <a:srgbClr val="243E8F"/>
                </a:solidFill>
                <a:latin typeface="PingFang SC"/>
                <a:ea typeface="PingFang SC"/>
                <a:cs typeface="PingFang SC"/>
              </a:rPr>
              <a:t>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5936CD-B147-4BF8-8534-1342BB9A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57550"/>
            <a:ext cx="438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E8F"/>
          </a:solidFill>
          <a:ln xmlns:a="http://schemas.openxmlformats.org/drawingml/2006/main" w="7620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AA936E-3AAE-4824-922A-584C0D7A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7"/>
          </a:solidFill>
          <a:ln xmlns:a="http://schemas.openxmlformats.org/drawingml/2006/main" w="7620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3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BaseTransportLiteImpl::BuildLocRmaBufferLite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D9C33A-5A34-4B20-A2E2-D6EBD2E5D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57550"/>
            <a:ext cx="4286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A5 路径构造本地 RMA Buffer 描述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5FF516-B3DC-4DD9-BF3A-20B06D13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575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7620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5F6366"/>
                </a:solidFill>
                <a:latin typeface="PingFang SC"/>
                <a:ea typeface="PingFang SC"/>
                <a:cs typeface="PingFang SC"/>
              </a:defRPr>
            </a:pPr>
            <a:r>
              <a:rPr sz="585" b="0">
                <a:solidFill>
                  <a:srgbClr val="5F6366"/>
                </a:solidFill>
                <a:latin typeface="PingFang SC"/>
                <a:ea typeface="PingFang SC"/>
                <a:cs typeface="PingFang SC"/>
              </a:rPr>
              <a:t>BaseTransportLiteImpl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8AC1F6-D3F9-4E04-AD35-305435B9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810000"/>
            <a:ext cx="0" cy="200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3E8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218ED4-5443-44B7-BE7C-E14F30E85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86200"/>
            <a:ext cx="1714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243E8F"/>
                </a:solidFill>
                <a:latin typeface="PingFang SC"/>
                <a:ea typeface="PingFang SC"/>
                <a:cs typeface="PingFang SC"/>
              </a:defRPr>
            </a:pPr>
            <a:r>
              <a:rPr sz="600" b="1">
                <a:solidFill>
                  <a:srgbClr val="243E8F"/>
                </a:solidFill>
                <a:latin typeface="PingFang SC"/>
                <a:ea typeface="PingFang SC"/>
                <a:cs typeface="PingFang SC"/>
              </a:rPr>
              <a:t>▼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08D4BA-C339-4B5F-9807-247F7F13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10025"/>
            <a:ext cx="438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E8F"/>
          </a:solidFill>
          <a:ln xmlns:a="http://schemas.openxmlformats.org/drawingml/2006/main" w="7620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666D34-D10D-472F-AEB7-98EB0A2E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10025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12383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3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BaseTransportLiteImpl::Write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2AF3C4-2648-4EB0-9141-EC00ABEF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10025"/>
            <a:ext cx="4286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把写请求交给具体 Channel / Transport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2F72A1-1A71-478F-8FB6-EE70C6B2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10025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7620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5F6366"/>
                </a:solidFill>
                <a:latin typeface="PingFang SC"/>
                <a:ea typeface="PingFang SC"/>
                <a:cs typeface="PingFang SC"/>
              </a:defRPr>
            </a:pPr>
            <a:r>
              <a:rPr sz="585" b="0">
                <a:solidFill>
                  <a:srgbClr val="5F6366"/>
                </a:solidFill>
                <a:latin typeface="PingFang SC"/>
                <a:ea typeface="PingFang SC"/>
                <a:cs typeface="PingFang SC"/>
              </a:rPr>
              <a:t>A5 新路径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010BF6-1202-4A22-930F-F602F5728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562475"/>
            <a:ext cx="0" cy="200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3E8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5A14DF5-2C90-404D-BA36-8A26F914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38675"/>
            <a:ext cx="1714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243E8F"/>
                </a:solidFill>
                <a:latin typeface="PingFang SC"/>
                <a:ea typeface="PingFang SC"/>
                <a:cs typeface="PingFang SC"/>
              </a:defRPr>
            </a:pPr>
            <a:r>
              <a:rPr sz="600" b="1">
                <a:solidFill>
                  <a:srgbClr val="243E8F"/>
                </a:solidFill>
                <a:latin typeface="PingFang SC"/>
                <a:ea typeface="PingFang SC"/>
                <a:cs typeface="PingFang SC"/>
              </a:rPr>
              <a:t>▼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FC8D603-FA48-4AE0-8CA5-3B2E15DEB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62500"/>
            <a:ext cx="438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39"/>
          </a:solidFill>
          <a:ln xmlns:a="http://schemas.openxmlformats.org/drawingml/2006/main" w="7620">
            <a:solidFill>
              <a:srgbClr val="343839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4CF201A-668A-4B57-A5CF-347932269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6"/>
          </a:solidFill>
          <a:ln xmlns:a="http://schemas.openxmlformats.org/drawingml/2006/main" w="7620">
            <a:solidFill>
              <a:srgbClr val="343839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3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UB / RoCE / HCCS / SDMA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59AE6D8-748C-4CB5-8FB4-A951A26C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62500"/>
            <a:ext cx="4286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由通道类型、协议和硬件拓扑决定实际传输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2061F17-2E55-4C98-8EB7-12E1F4AA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7625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7620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5F6366"/>
                </a:solidFill>
                <a:latin typeface="PingFang SC"/>
                <a:ea typeface="PingFang SC"/>
                <a:cs typeface="PingFang SC"/>
              </a:defRPr>
            </a:pPr>
            <a:r>
              <a:rPr sz="585" b="0">
                <a:solidFill>
                  <a:srgbClr val="5F6366"/>
                </a:solidFill>
                <a:latin typeface="PingFang SC"/>
                <a:ea typeface="PingFang SC"/>
                <a:cs typeface="PingFang SC"/>
              </a:rPr>
              <a:t>Transport / Driver / Hardware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68E6020-C49E-45CF-A2BD-D3690080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91175"/>
            <a:ext cx="13525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95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同一结构的变体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9D02B47-3BAB-4769-924B-50F0885B9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591175"/>
            <a:ext cx="1857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6668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归约传输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14FBDE5-591B-4D2B-9388-F86E45CA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591175"/>
            <a:ext cx="8010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HcommWriteReduceOnThread / HcommReadReduceOnThread：额外校验 datatype、reduceType，并构造 Reduce 描述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5B8C5B7-68E0-4995-9E78-9CE54CBF2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857875"/>
            <a:ext cx="1857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7"/>
          </a:solidFill>
          <a:ln xmlns:a="http://schemas.openxmlformats.org/drawingml/2006/main" w="6668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同步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4F9D53D-4145-4F93-8708-91A3FF38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857875"/>
            <a:ext cx="8010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HcommChannelNotifyRecord / WaitOnThread：落到 Transport Post / Wait 或兼容 RemoteNotify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F4A43A0-0EF2-44BD-A54E-9DF9E7328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6124575"/>
            <a:ext cx="1857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6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兼容路径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0BF29C7-39D5-4077-A7F1-C3200CB51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6124575"/>
            <a:ext cx="8010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非 A5 或历史设备可进入 HcclRemoteWrite(Stream, Transport, buffers)，而不是 BaseTransportLiteImpl::Write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99538AC-FB1F-4735-B74A-D445871A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72250"/>
            <a:ext cx="11410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3839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9875662-40B0-426F-BA85-700DB226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0350"/>
            <a:ext cx="9810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8571"/>
          </a:bodyPr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5F6366"/>
                </a:solidFill>
                <a:latin typeface="PingFang SC"/>
                <a:ea typeface="PingFang SC"/>
                <a:cs typeface="PingFang SC"/>
              </a:defRPr>
            </a:pPr>
            <a:r>
              <a:rPr sz="525" b="0">
                <a:solidFill>
                  <a:srgbClr val="5F6366"/>
                </a:solidFill>
                <a:latin typeface="PingFang SC"/>
                <a:ea typeface="PingFang SC"/>
                <a:cs typeface="PingFang SC"/>
              </a:rPr>
              <a:t>HcommWriteOnThread：aicpu_ts_primitives_c_adpt.cc:495-545；ReadReduce：832-907；Notify Record / Wait：1006-1080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00FD7D6-E2DB-4151-A429-134838A9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610350"/>
            <a:ext cx="14859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8571"/>
          </a:bodyPr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5F6366"/>
                </a:solidFill>
                <a:latin typeface="PingFang SC"/>
                <a:ea typeface="PingFang SC"/>
                <a:cs typeface="PingFang SC"/>
              </a:defRPr>
            </a:pPr>
            <a:r>
              <a:rPr sz="525" b="0">
                <a:solidFill>
                  <a:srgbClr val="5F6366"/>
                </a:solidFill>
                <a:latin typeface="PingFang SC"/>
                <a:ea typeface="PingFang SC"/>
                <a:cs typeface="PingFang SC"/>
              </a:rPr>
              <a:t>HCCL / HCOMM 源码追踪</a:t>
            </a:r>
          </a:p>
        </p:txBody>
      </p:sp>
    </p:spTree>
    <p:extLst>
      <p:ext uri="{BB962C8B-B14F-4D97-AF65-F5344CB8AC3E}">
        <p14:creationId xmlns:p14="http://schemas.microsoft.com/office/powerpoint/2010/main" val="3542513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2026-09-19T06:40:01.0650000Z</dcterms:created>
  <dcterms:modified xsi:type="dcterms:W3CDTF">2026-09-19T06:40:01.0650000Z</dcterms:modified>
</coreProperties>
</file>