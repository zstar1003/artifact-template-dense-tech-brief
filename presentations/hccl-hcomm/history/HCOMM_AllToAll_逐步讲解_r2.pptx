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9492d3baf94a90" /><Relationship Type="http://schemas.openxmlformats.org/officeDocument/2006/relationships/extended-properties" Target="/docProps/app.xml" Id="R542cb3bcf52e4f93" /><Relationship Type="http://schemas.openxmlformats.org/officeDocument/2006/relationships/officeDocument" Target="/ppt/presentation.xml" Id="R9b348a38a1da40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f0061ae4e042f5"/>
  </p:sldMasterIdLst>
  <p:notesMasterIdLst>
    <p:notesMasterId xmlns:r="http://schemas.openxmlformats.org/officeDocument/2006/relationships" r:id="R2f088e2a3e6345ee"/>
  </p:notesMasterIdLst>
  <p:sldIdLst>
    <p:sldId xmlns:r="http://schemas.openxmlformats.org/officeDocument/2006/relationships" id="256" r:id="R0e373ebcffb54ff3"/>
    <p:sldId xmlns:r="http://schemas.openxmlformats.org/officeDocument/2006/relationships" id="257" r:id="R07c685b08aa449de"/>
    <p:sldId xmlns:r="http://schemas.openxmlformats.org/officeDocument/2006/relationships" id="258" r:id="R00cfdc75a3ef4f74"/>
    <p:sldId xmlns:r="http://schemas.openxmlformats.org/officeDocument/2006/relationships" id="259" r:id="R8b6a6c36184e4e8e"/>
    <p:sldId xmlns:r="http://schemas.openxmlformats.org/officeDocument/2006/relationships" id="260" r:id="R678a1d7c93e24109"/>
    <p:sldId xmlns:r="http://schemas.openxmlformats.org/officeDocument/2006/relationships" id="261" r:id="R1fb5f0538fd94ee3"/>
    <p:sldId xmlns:r="http://schemas.openxmlformats.org/officeDocument/2006/relationships" id="262" r:id="Rae1d05202d484295"/>
    <p:sldId xmlns:r="http://schemas.openxmlformats.org/officeDocument/2006/relationships" id="263" r:id="R0f719347a59848f3"/>
    <p:sldId xmlns:r="http://schemas.openxmlformats.org/officeDocument/2006/relationships" id="264" r:id="R81588951a3054df2"/>
    <p:sldId xmlns:r="http://schemas.openxmlformats.org/officeDocument/2006/relationships" id="265" r:id="R87153bfe4c8a45da"/>
    <p:sldId xmlns:r="http://schemas.openxmlformats.org/officeDocument/2006/relationships" id="266" r:id="R02a72f50636f4cd9"/>
    <p:sldId xmlns:r="http://schemas.openxmlformats.org/officeDocument/2006/relationships" id="267" r:id="R64c1b68d02174ec0"/>
    <p:sldId xmlns:r="http://schemas.openxmlformats.org/officeDocument/2006/relationships" id="268" r:id="R59561f26a4d24f88"/>
    <p:sldId xmlns:r="http://schemas.openxmlformats.org/officeDocument/2006/relationships" id="269" r:id="Rc7b631e7f3394552"/>
    <p:sldId xmlns:r="http://schemas.openxmlformats.org/officeDocument/2006/relationships" id="270" r:id="R7b4d6e6ec3a54869"/>
    <p:sldId xmlns:r="http://schemas.openxmlformats.org/officeDocument/2006/relationships" id="271" r:id="R4a16c296313240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34df99ab6b4aa0" /><Relationship Type="http://schemas.openxmlformats.org/officeDocument/2006/relationships/slideMaster" Target="/ppt/slideMasters/slideMaster1.xml" Id="R7af0061ae4e042f5" /><Relationship Type="http://schemas.openxmlformats.org/officeDocument/2006/relationships/notesMaster" Target="/ppt/notesMasters/notesMaster1.xml" Id="R2f088e2a3e6345ee" /><Relationship Type="http://schemas.openxmlformats.org/officeDocument/2006/relationships/presProps" Target="/ppt/presProps.xml" Id="Rdd107964c05b47ee" /><Relationship Type="http://schemas.openxmlformats.org/officeDocument/2006/relationships/tableStyles" Target="/ppt/tableStyles.xml" Id="R56731879e18c437e" /><Relationship Type="http://schemas.openxmlformats.org/officeDocument/2006/relationships/slide" Target="/ppt/slides/slide1.xml" Id="R0e373ebcffb54ff3" /><Relationship Type="http://schemas.openxmlformats.org/officeDocument/2006/relationships/slide" Target="/ppt/slides/slide2.xml" Id="R07c685b08aa449de" /><Relationship Type="http://schemas.openxmlformats.org/officeDocument/2006/relationships/slide" Target="/ppt/slides/slide3.xml" Id="R00cfdc75a3ef4f74" /><Relationship Type="http://schemas.openxmlformats.org/officeDocument/2006/relationships/slide" Target="/ppt/slides/slide4.xml" Id="R8b6a6c36184e4e8e" /><Relationship Type="http://schemas.openxmlformats.org/officeDocument/2006/relationships/slide" Target="/ppt/slides/slide5.xml" Id="R678a1d7c93e24109" /><Relationship Type="http://schemas.openxmlformats.org/officeDocument/2006/relationships/slide" Target="/ppt/slides/slide6.xml" Id="R1fb5f0538fd94ee3" /><Relationship Type="http://schemas.openxmlformats.org/officeDocument/2006/relationships/slide" Target="/ppt/slides/slide7.xml" Id="Rae1d05202d484295" /><Relationship Type="http://schemas.openxmlformats.org/officeDocument/2006/relationships/slide" Target="/ppt/slides/slide8.xml" Id="R0f719347a59848f3" /><Relationship Type="http://schemas.openxmlformats.org/officeDocument/2006/relationships/slide" Target="/ppt/slides/slide9.xml" Id="R81588951a3054df2" /><Relationship Type="http://schemas.openxmlformats.org/officeDocument/2006/relationships/slide" Target="/ppt/slides/slide10.xml" Id="R87153bfe4c8a45da" /><Relationship Type="http://schemas.openxmlformats.org/officeDocument/2006/relationships/slide" Target="/ppt/slides/slide11.xml" Id="R02a72f50636f4cd9" /><Relationship Type="http://schemas.openxmlformats.org/officeDocument/2006/relationships/slide" Target="/ppt/slides/slide12.xml" Id="R64c1b68d02174ec0" /><Relationship Type="http://schemas.openxmlformats.org/officeDocument/2006/relationships/slide" Target="/ppt/slides/slide13.xml" Id="R59561f26a4d24f88" /><Relationship Type="http://schemas.openxmlformats.org/officeDocument/2006/relationships/slide" Target="/ppt/slides/slide14.xml" Id="Rc7b631e7f3394552" /><Relationship Type="http://schemas.openxmlformats.org/officeDocument/2006/relationships/slide" Target="/ppt/slides/slide15.xml" Id="R7b4d6e6ec3a54869" /><Relationship Type="http://schemas.openxmlformats.org/officeDocument/2006/relationships/slide" Target="/ppt/slides/slide16.xml" Id="R4a16c296313240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e529fc117c4c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fa8b05052545e4" /><Relationship Type="http://schemas.openxmlformats.org/officeDocument/2006/relationships/notesMaster" Target="/ppt/notesMasters/notesMaster1.xml" Id="R46462fb0f2d441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841b3fd2c4cb4" /><Relationship Type="http://schemas.openxmlformats.org/officeDocument/2006/relationships/notesMaster" Target="/ppt/notesMasters/notesMaster1.xml" Id="R780912d0ad114e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d00572bc54db2" /><Relationship Type="http://schemas.openxmlformats.org/officeDocument/2006/relationships/notesMaster" Target="/ppt/notesMasters/notesMaster1.xml" Id="R694e8d52374444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bd068e1f62456f" /><Relationship Type="http://schemas.openxmlformats.org/officeDocument/2006/relationships/notesMaster" Target="/ppt/notesMasters/notesMaster1.xml" Id="Rfe44d44b055649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ed354431744a97" /><Relationship Type="http://schemas.openxmlformats.org/officeDocument/2006/relationships/notesMaster" Target="/ppt/notesMasters/notesMaster1.xml" Id="R842318b6e52746a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ca0650df9940db" /><Relationship Type="http://schemas.openxmlformats.org/officeDocument/2006/relationships/notesMaster" Target="/ppt/notesMasters/notesMaster1.xml" Id="R70742935392444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0828bcc6924102" /><Relationship Type="http://schemas.openxmlformats.org/officeDocument/2006/relationships/notesMaster" Target="/ppt/notesMasters/notesMaster1.xml" Id="R2d6cd18d706b43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bc704916e645fc" /><Relationship Type="http://schemas.openxmlformats.org/officeDocument/2006/relationships/notesMaster" Target="/ppt/notesMasters/notesMaster1.xml" Id="R9cb9ded5acf04c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f57e172b1b42e2" /><Relationship Type="http://schemas.openxmlformats.org/officeDocument/2006/relationships/notesMaster" Target="/ppt/notesMasters/notesMaster1.xml" Id="R5b152bb587d747e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f97e169c634471" /><Relationship Type="http://schemas.openxmlformats.org/officeDocument/2006/relationships/notesMaster" Target="/ppt/notesMasters/notesMaster1.xml" Id="Rb5056f6aac4642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a0ca6a14124583" /><Relationship Type="http://schemas.openxmlformats.org/officeDocument/2006/relationships/notesMaster" Target="/ppt/notesMasters/notesMaster1.xml" Id="R6b98a8747bfe40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e11168b75f4b97" /><Relationship Type="http://schemas.openxmlformats.org/officeDocument/2006/relationships/notesMaster" Target="/ppt/notesMasters/notesMaster1.xml" Id="R2d5b5bb4d5b44d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e88c4e9808647c1" /><Relationship Type="http://schemas.openxmlformats.org/officeDocument/2006/relationships/notesMaster" Target="/ppt/notesMasters/notesMaster1.xml" Id="Rd3af10d22e6146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865b69570e463c" /><Relationship Type="http://schemas.openxmlformats.org/officeDocument/2006/relationships/notesMaster" Target="/ppt/notesMasters/notesMaster1.xml" Id="R697b39e23dc94d3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e29c081e714893" /><Relationship Type="http://schemas.openxmlformats.org/officeDocument/2006/relationships/notesMaster" Target="/ppt/notesMasters/notesMaster1.xml" Id="R611d0a36043c44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ad1ea633c1547b8" /><Relationship Type="http://schemas.openxmlformats.org/officeDocument/2006/relationships/notesMaster" Target="/ppt/notesMasters/notesMaster1.xml" Id="R38a4c678692b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 AllToAll 的输入输出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上层调用进来后，HCCL 先把请求整理完整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[上层调用 HCCL</a:t>
            </a:r>
          </a:p>
          <a:p xmlns:a="http://schemas.openxmlformats.org/drawingml/2006/main">
            <a:r>
              <a:t>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>2. [HCCL Host</a:t>
            </a:r>
          </a:p>
          <a:p xmlns:a="http://schemas.openxmlformats.org/drawingml/2006/main">
            <a:r>
              <a:t>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>7. [HCCL Host</a:t>
            </a:r>
          </a:p>
          <a:p xmlns:a="http://schemas.openxmlformats.org/drawingml/2006/main">
            <a:r>
              <a:t>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>9. [HCCL Host</a:t>
            </a:r>
          </a:p>
          <a:p xmlns:a="http://schemas.openxmlformats.org/drawingml/2006/main">
            <a:r>
              <a:t>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HCCL 查询配置和拓扑，决定由哪个算法来做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>3. [HCCL Host</a:t>
            </a:r>
          </a:p>
          <a:p xmlns:a="http://schemas.openxmlformats.org/drawingml/2006/main">
            <a:r>
              <a:t>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HcclEngineCtxGet：先查已有的拓扑上下文。命中则直接恢复已有说明。未命中才查询拓扑并保存，具体查询逐项解释在第 15 页。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>9. [HCCL Host</a:t>
            </a:r>
          </a:p>
          <a:p xmlns:a="http://schemas.openxmlformats.org/drawingml/2006/main">
            <a:r>
              <a:t>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HCCL 先绑定用户流，再计算缺少哪些资源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>5. [HCCL Host</a:t>
            </a:r>
          </a:p>
          <a:p xmlns:a="http://schemas.openxmlformats.org/drawingml/2006/main">
            <a:r>
              <a:t>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>9. [HCCL Host</a:t>
            </a:r>
          </a:p>
          <a:p xmlns:a="http://schemas.openxmlformats.org/drawingml/2006/main">
            <a:r>
              <a:t>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HCCL 向 HCOMM 取得缓冲区、线程和通道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>2. [HCCL Host</a:t>
            </a:r>
          </a:p>
          <a:p xmlns:a="http://schemas.openxmlformats.org/drawingml/2006/main">
            <a:r>
              <a:t>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>5. [HCCL Host</a:t>
            </a:r>
          </a:p>
          <a:p xmlns:a="http://schemas.openxmlformats.org/drawingml/2006/main">
            <a:r>
              <a:t>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>8. [HCCL Host</a:t>
            </a:r>
          </a:p>
          <a:p xmlns:a="http://schemas.openxmlformats.org/drawingml/2006/main">
            <a:r>
              <a:t>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HcclChannelAcquire 内部具体怎样建链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[HCOMM 内部</a:t>
            </a:r>
          </a:p>
          <a:p xmlns:a="http://schemas.openxmlformats.org/drawingml/2006/main">
            <a:r>
              <a:t>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>2. [HCOMM 内部</a:t>
            </a:r>
          </a:p>
          <a:p xmlns:a="http://schemas.openxmlformats.org/drawingml/2006/main">
            <a:r>
              <a:t>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>3. [HCOMM 内部</a:t>
            </a:r>
          </a:p>
          <a:p xmlns:a="http://schemas.openxmlformats.org/drawingml/2006/main">
            <a:r>
              <a:t>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>4. [HCOMM 内部调用</a:t>
            </a:r>
          </a:p>
          <a:p xmlns:a="http://schemas.openxmlformats.org/drawingml/2006/main">
            <a:r>
              <a:t>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>5. [HCOMM 内部调用</a:t>
            </a:r>
          </a:p>
          <a:p xmlns:a="http://schemas.openxmlformats.org/drawingml/2006/main">
            <a:r>
              <a:t>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>6. [HCOMM 内部调用</a:t>
            </a:r>
          </a:p>
          <a:p xmlns:a="http://schemas.openxmlformats.org/drawingml/2006/main">
            <a:r>
              <a:t>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>7. [HCOMM 内部调用</a:t>
            </a:r>
          </a:p>
          <a:p xmlns:a="http://schemas.openxmlformats.org/drawingml/2006/main">
            <a:r>
              <a:t>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>8. [HCOMM 内部</a:t>
            </a:r>
          </a:p>
          <a:p xmlns:a="http://schemas.openxmlformats.org/drawingml/2006/main">
            <a:r>
              <a:t>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>9. [HCOMM 内部</a:t>
            </a:r>
          </a:p>
          <a:p xmlns:a="http://schemas.openxmlformats.org/drawingml/2006/main">
            <a:r>
              <a:t>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>10. [HCOMM 内部</a:t>
            </a:r>
          </a:p>
          <a:p xmlns:a="http://schemas.openxmlformats.org/drawingml/2006/main">
            <a:r>
              <a:t>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 Host 整理资源，把设备执行所需信息交过去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>4. [HCOMM 内部调用</a:t>
            </a:r>
          </a:p>
          <a:p xmlns:a="http://schemas.openxmlformats.org/drawingml/2006/main">
            <a:r>
              <a:t>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>5. [HCCL Host</a:t>
            </a:r>
          </a:p>
          <a:p xmlns:a="http://schemas.openxmlformats.org/drawingml/2006/main">
            <a:r>
              <a:t>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>6. [HCCL Host</a:t>
            </a:r>
          </a:p>
          <a:p xmlns:a="http://schemas.openxmlformats.org/drawingml/2006/main">
            <a:r>
              <a:t>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7. Host 发输入就绪通知，再通过 ACL 启动 AICPU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Host</a:t>
            </a:r>
          </a:p>
          <a:p xmlns:a="http://schemas.openxmlformats.org/drawingml/2006/main">
            <a:r>
              <a:t>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>3. [HCCL Host</a:t>
            </a:r>
          </a:p>
          <a:p xmlns:a="http://schemas.openxmlformats.org/drawingml/2006/main">
            <a:r>
              <a:t>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>4. [HCCL Host</a:t>
            </a:r>
          </a:p>
          <a:p xmlns:a="http://schemas.openxmlformats.org/drawingml/2006/main">
            <a:r>
              <a:t>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>5. [HCCL 调 ACL</a:t>
            </a:r>
          </a:p>
          <a:p xmlns:a="http://schemas.openxmlformats.org/drawingml/2006/main">
            <a:r>
              <a:t>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>6. [HCCL 调 ACL</a:t>
            </a:r>
          </a:p>
          <a:p xmlns:a="http://schemas.openxmlformats.org/drawingml/2006/main">
            <a:r>
              <a:t>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>7. [HCCL 调 ACL</a:t>
            </a:r>
          </a:p>
          <a:p xmlns:a="http://schemas.openxmlformats.org/drawingml/2006/main">
            <a:r>
              <a:t>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>8. [HCCL 调 ACL</a:t>
            </a:r>
          </a:p>
          <a:p xmlns:a="http://schemas.openxmlformats.org/drawingml/2006/main">
            <a:r>
              <a:t>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>9. [HCCL 调 ACL</a:t>
            </a:r>
          </a:p>
          <a:p xmlns:a="http://schemas.openxmlformats.org/drawingml/2006/main">
            <a:r>
              <a:t>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>10. [HCCL Host</a:t>
            </a:r>
          </a:p>
          <a:p xmlns:a="http://schemas.openxmlformats.org/drawingml/2006/main">
            <a:r>
              <a:t>内部函数] HcclOrderLaunchToKernelStream：完成发射后的按序同步安排。随后还要把“等待本次通信完成”的任务排入用户流，具体完成关系见第 13 页。</a:t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hccl/src/ops/op_common/order_launch.cc; hccl/src/ops/op_common/algorithm/template/aicpu/kernel_launch.cc:327–343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8. AICPU 收到任务后，恢复参数并进入算法编排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[ACL 启动 HCCL</a:t>
            </a:r>
          </a:p>
          <a:p xmlns:a="http://schemas.openxmlformats.org/drawingml/2006/main">
            <a:r>
              <a:t>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>3. [HCCL AICPU</a:t>
            </a:r>
          </a:p>
          <a:p xmlns:a="http://schemas.openxmlformats.org/drawingml/2006/main">
            <a:r>
              <a:t>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>4. [HCCL AICPU</a:t>
            </a:r>
          </a:p>
          <a:p xmlns:a="http://schemas.openxmlformats.org/drawingml/2006/main">
            <a:r>
              <a:t>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>5. [HCCL AICPU</a:t>
            </a:r>
          </a:p>
          <a:p xmlns:a="http://schemas.openxmlformats.org/drawingml/2006/main">
            <a:r>
              <a:t>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>7. [HCCL AICPU</a:t>
            </a:r>
          </a:p>
          <a:p xmlns:a="http://schemas.openxmlformats.org/drawingml/2006/main">
            <a:r>
              <a:t>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>10. [HCCL AICPU</a:t>
            </a:r>
          </a:p>
          <a:p xmlns:a="http://schemas.openxmlformats.org/drawingml/2006/main">
            <a:r>
              <a:t>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开启时还有查找/录制/重放路径，见第16页。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9. AICPU 先确定块大小，再让主从 Thread 按顺序开始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AICPU</a:t>
            </a:r>
          </a:p>
          <a:p xmlns:a="http://schemas.openxmlformats.org/drawingml/2006/main">
            <a:r>
              <a:t>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>2. [HCCL AICPU</a:t>
            </a:r>
          </a:p>
          <a:p xmlns:a="http://schemas.openxmlformats.org/drawingml/2006/main">
            <a:r>
              <a:t>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>3. [HCCL AICPU</a:t>
            </a:r>
          </a:p>
          <a:p xmlns:a="http://schemas.openxmlformats.org/drawingml/2006/main">
            <a:r>
              <a:t>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>4. [HCCL AICPU</a:t>
            </a:r>
          </a:p>
          <a:p xmlns:a="http://schemas.openxmlformats.org/drawingml/2006/main">
            <a:r>
              <a:t>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>5. [HCCL AICPU</a:t>
            </a:r>
          </a:p>
          <a:p xmlns:a="http://schemas.openxmlformats.org/drawingml/2006/main">
            <a:r>
              <a:t>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>6. [HCCL AICPU</a:t>
            </a:r>
          </a:p>
          <a:p xmlns:a="http://schemas.openxmlformats.org/drawingml/2006/main">
            <a:r>
              <a:t>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>7. [HCCL AICPU</a:t>
            </a:r>
          </a:p>
          <a:p xmlns:a="http://schemas.openxmlformats.org/drawingml/2006/main">
            <a:r>
              <a:t>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10. 逐个 Peer 计算：发哪一片、走哪个通道、放到哪里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AICPU</a:t>
            </a:r>
          </a:p>
          <a:p xmlns:a="http://schemas.openxmlformats.org/drawingml/2006/main">
            <a:r>
              <a:t>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>2. [HCCL AICPU</a:t>
            </a:r>
          </a:p>
          <a:p xmlns:a="http://schemas.openxmlformats.org/drawingml/2006/main">
            <a:r>
              <a:t>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>4. [HCCL AICPU</a:t>
            </a:r>
          </a:p>
          <a:p xmlns:a="http://schemas.openxmlformats.org/drawingml/2006/main">
            <a:r>
              <a:t>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>5. [HCCL AICPU</a:t>
            </a:r>
          </a:p>
          <a:p xmlns:a="http://schemas.openxmlformats.org/drawingml/2006/main">
            <a:r>
              <a:t>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>6. [HCCL AICPU</a:t>
            </a:r>
          </a:p>
          <a:p xmlns:a="http://schemas.openxmlformats.org/drawingml/2006/main">
            <a:r>
              <a:t>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>7. [HCCL AICPU</a:t>
            </a:r>
          </a:p>
          <a:p xmlns:a="http://schemas.openxmlformats.org/drawingml/2006/main">
            <a:r>
              <a:t>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>8. [HCCL AICPU</a:t>
            </a:r>
          </a:p>
          <a:p xmlns:a="http://schemas.openxmlformats.org/drawingml/2006/main">
            <a:r>
              <a:t>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>9. [HCCL AICPU</a:t>
            </a:r>
          </a:p>
          <a:p xmlns:a="http://schemas.openxmlformats.org/drawingml/2006/main">
            <a:r>
              <a:t>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>10. [HCCL AICPU</a:t>
            </a:r>
          </a:p>
          <a:p xmlns:a="http://schemas.openxmlformats.org/drawingml/2006/main">
            <a:r>
              <a:t>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Rank 0 与 Rank 1 的双向通信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12. 所有 Peer 的任务排好后，怎样通知上层可以继续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AICPU</a:t>
            </a:r>
          </a:p>
          <a:p xmlns:a="http://schemas.openxmlformats.org/drawingml/2006/main">
            <a:r>
              <a:t>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>4. [HCCL AICPU</a:t>
            </a:r>
          </a:p>
          <a:p xmlns:a="http://schemas.openxmlformats.org/drawingml/2006/main">
            <a:r>
              <a:t>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>8. [Host 已排入</a:t>
            </a:r>
          </a:p>
          <a:p xmlns:a="http://schemas.openxmlformats.org/drawingml/2006/main">
            <a:r>
              <a:t>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 1. HcommWriteOnThread 里面还做了什么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>2. [HCOMM 数据面</a:t>
            </a:r>
          </a:p>
          <a:p xmlns:a="http://schemas.openxmlformats.org/drawingml/2006/main">
            <a:r>
              <a:t>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>3. [HCOMM 数据面</a:t>
            </a:r>
          </a:p>
          <a:p xmlns:a="http://schemas.openxmlformats.org/drawingml/2006/main">
            <a:r>
              <a:t>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>4. [HCOMM 数据面</a:t>
            </a:r>
          </a:p>
          <a:p xmlns:a="http://schemas.openxmlformats.org/drawingml/2006/main">
            <a:r>
              <a:t>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>5. [HCOMM 传输层</a:t>
            </a:r>
          </a:p>
          <a:p xmlns:a="http://schemas.openxmlformats.org/drawingml/2006/main">
            <a:r>
              <a:t>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>6. [HCOMM 传输层</a:t>
            </a:r>
          </a:p>
          <a:p xmlns:a="http://schemas.openxmlformats.org/drawingml/2006/main">
            <a:r>
              <a:t>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>7. [HCOMM 数据面</a:t>
            </a:r>
          </a:p>
          <a:p xmlns:a="http://schemas.openxmlformats.org/drawingml/2006/main">
            <a:r>
              <a:t>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>8. [HCOMM 数据面</a:t>
            </a:r>
          </a:p>
          <a:p xmlns:a="http://schemas.openxmlformats.org/drawingml/2006/main">
            <a:r>
              <a:t>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 2. 拓扑查询里的每个接口分别回答什么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>10. [HCCL 调 HCOMM</a:t>
            </a:r>
          </a:p>
          <a:p xmlns:a="http://schemas.openxmlformats.org/drawingml/2006/main">
            <a:r>
              <a:t>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hccl/src/ops/op_common/topo_info/; hcomm/include/hccl/hccl_rank_graph.h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 3. 再运行一次时，哪些步骤可能省掉或改变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本例前提：Ascend 950，AICPU_TS，OPBASE，4 Rank，每对 Rank 发送 2 个 FP32，普通 Mesh Write，普通用户内存。通信域和用户 stream 已建立。按资源缓存未命中、Task Cache 关闭的正常主线解释。4 Rank 数值只是教学例子，不是实测记录。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逐项讲解：</a:t>
            </a:r>
          </a:p>
          <a:p xmlns:a="http://schemas.openxmlformats.org/drawingml/2006/main">
            <a:r>
              <a:t>1. [HCCL 调 HCOMM</a:t>
            </a:r>
          </a:p>
          <a:p xmlns:a="http://schemas.openxmlformats.org/drawingml/2006/main">
            <a:r>
              <a:t>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>2. [HCCL 调 HCOMM</a:t>
            </a:r>
          </a:p>
          <a:p xmlns:a="http://schemas.openxmlformats.org/drawingml/2006/main">
            <a:r>
              <a:t>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>3. [HCCL 调 HCOMM</a:t>
            </a:r>
          </a:p>
          <a:p xmlns:a="http://schemas.openxmlformats.org/drawingml/2006/main">
            <a:r>
              <a:t>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>4. [HCCL 调 HCOMM</a:t>
            </a:r>
          </a:p>
          <a:p xmlns:a="http://schemas.openxmlformats.org/drawingml/2006/main">
            <a:r>
              <a:t>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>5. [HCCL 调 HCOMM</a:t>
            </a:r>
          </a:p>
          <a:p xmlns:a="http://schemas.openxmlformats.org/drawingml/2006/main">
            <a:r>
              <a:t>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>6. [HCCL 调 HCOMM</a:t>
            </a:r>
          </a:p>
          <a:p xmlns:a="http://schemas.openxmlformats.org/drawingml/2006/main">
            <a:r>
              <a:t>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>7. [HCCL 调 HCOMM</a:t>
            </a:r>
          </a:p>
          <a:p xmlns:a="http://schemas.openxmlformats.org/drawingml/2006/main">
            <a:r>
              <a:t>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>8. [HCCL 调 HCOMM</a:t>
            </a:r>
          </a:p>
          <a:p xmlns:a="http://schemas.openxmlformats.org/drawingml/2006/main">
            <a:r>
              <a:t>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>9. [HCCL 调 HCOMM</a:t>
            </a:r>
          </a:p>
          <a:p xmlns:a="http://schemas.openxmlformats.org/drawingml/2006/main">
            <a:r>
              <a:t>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>hccl/src/ops/op_common/algorithm/template/wrapper/alg_data_trans_wrapper.cc:428–472,880; hccl/src/common/hcomm_dlsym/hcomm_primitives_dl.cc:176</a:t>
            </a:r>
          </a:p>
          <a:p xmlns:a="http://schemas.openxmlformats.org/drawingml/2006/main">
            <a:r>
              <a:t>源码基线：hccl 170ddeec，hcomm 87ce550f。静态调用分析，数值示例未上板运行。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本次不穷举日志、profiling、报错退出和所有替代算法。内部函数与导出 API 分别标注。HCCL 经动态符号包装层调用 HCOMM。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353462df445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5121b5cab7458c" /><Relationship Type="http://schemas.openxmlformats.org/officeDocument/2006/relationships/slideLayout" Target="/ppt/slideLayouts/slideLayout1.xml" Id="Rc69f78ef86cb4a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9f78ef86cb4a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d37e4ed7c4cc9" /><Relationship Type="http://schemas.openxmlformats.org/officeDocument/2006/relationships/notesSlide" Target="/ppt/notesSlides/notesSlide1.xml" Id="Rfce3fd18e70543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13f2040d94879" /><Relationship Type="http://schemas.openxmlformats.org/officeDocument/2006/relationships/notesSlide" Target="/ppt/notesSlides/notesSlide2.xml" Id="R956da715d1d648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c25c9fbbb47b1" /><Relationship Type="http://schemas.openxmlformats.org/officeDocument/2006/relationships/notesSlide" Target="/ppt/notesSlides/notesSlide3.xml" Id="R21e9f5960cb54e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7638a6a3e4fa2" /><Relationship Type="http://schemas.openxmlformats.org/officeDocument/2006/relationships/notesSlide" Target="/ppt/notesSlides/notesSlide4.xml" Id="Rc9255513e7064a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d276b4c354a48" /><Relationship Type="http://schemas.openxmlformats.org/officeDocument/2006/relationships/notesSlide" Target="/ppt/notesSlides/notesSlide5.xml" Id="Raeb7ea213b7144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6fa7eb24a4200" /><Relationship Type="http://schemas.openxmlformats.org/officeDocument/2006/relationships/notesSlide" Target="/ppt/notesSlides/notesSlide6.xml" Id="R38a305c85f2c40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e18b316c54c76" /><Relationship Type="http://schemas.openxmlformats.org/officeDocument/2006/relationships/notesSlide" Target="/ppt/notesSlides/notesSlide7.xml" Id="R70ed7c1bdbaf41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f0b16e26a45c8" /><Relationship Type="http://schemas.openxmlformats.org/officeDocument/2006/relationships/notesSlide" Target="/ppt/notesSlides/notesSlide8.xml" Id="Racfbae05a21d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09880d2864a05" /><Relationship Type="http://schemas.openxmlformats.org/officeDocument/2006/relationships/notesSlide" Target="/ppt/notesSlides/notesSlide9.xml" Id="Rbf1850f656754f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7e0d65aa484d90" /><Relationship Type="http://schemas.openxmlformats.org/officeDocument/2006/relationships/notesSlide" Target="/ppt/notesSlides/notesSlide10.xml" Id="R3eddf191b53a4c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4bb3711774baa" /><Relationship Type="http://schemas.openxmlformats.org/officeDocument/2006/relationships/notesSlide" Target="/ppt/notesSlides/notesSlide11.xml" Id="Ra4dfd27f2ad940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9331c6aa54291" /><Relationship Type="http://schemas.openxmlformats.org/officeDocument/2006/relationships/notesSlide" Target="/ppt/notesSlides/notesSlide12.xml" Id="R1ad44a65ce224a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6f62d4d39c4e89" /><Relationship Type="http://schemas.openxmlformats.org/officeDocument/2006/relationships/notesSlide" Target="/ppt/notesSlides/notesSlide13.xml" Id="R7a9764a69a4d4a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d0480110b4f62" /><Relationship Type="http://schemas.openxmlformats.org/officeDocument/2006/relationships/notesSlide" Target="/ppt/notesSlides/notesSlide14.xml" Id="Rfae9cabdfb854b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9ae6875f1e405d" /><Relationship Type="http://schemas.openxmlformats.org/officeDocument/2006/relationships/notesSlide" Target="/ppt/notesSlides/notesSlide15.xml" Id="R534f4684d5f742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9db66eb42450b" /><Relationship Type="http://schemas.openxmlformats.org/officeDocument/2006/relationships/notesSlide" Target="/ppt/notesSlides/notesSlide16.xml" Id="R68b4b0e4c24541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一次 AllToAll：每个 Rank 把指定的数据交给其他 Rank">
            <a:extLst xmlns:a="http://schemas.openxmlformats.org/drawingml/2006/main">
              <a:ext uri="{FF2B5EF4-FFF2-40B4-BE49-F238E27FC236}">
                <a16:creationId xmlns:a16="http://schemas.microsoft.com/office/drawing/2014/main" id="{D90D6795-034E-4CA9-A1C9-5305ECA6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一次 AllToAll：每个 Rank 把指定的数据交给其他 Rank</a:t>
            </a:r>
          </a:p>
        </p:txBody>
      </p:sp>
      <p:sp>
        <p:nvSpPr>
          <p:cNvPr id="2" name="Ascend 950 / AICPU_TS / OPBASE，普通 Mesh Write。例子：4 Rank，每对 Rank 交换 2 个 FP32。">
            <a:extLst xmlns:a="http://schemas.openxmlformats.org/drawingml/2006/main">
              <a:ext uri="{FF2B5EF4-FFF2-40B4-BE49-F238E27FC236}">
                <a16:creationId xmlns:a16="http://schemas.microsoft.com/office/drawing/2014/main" id="{306B77B5-2A2A-43DC-91BD-F3DE3932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Ascend 950 / AICPU_TS / OPBASE，普通 Mesh Write。例子：4 Rank，每对 Rank 交换 2 个 FP32。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5899CF49-7933-4023-B15E-08B3EA7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1D8A3-695F-40A4-9BF5-64063867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2B60A-E8A2-4B02-AF79-A2CC5494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F499E395-98CA-474F-A8C9-1ED91317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前提：comm 与 stream 已创建，普通用户内存，资源缓存未命中，任务缓存关闭。">
            <a:extLst xmlns:a="http://schemas.openxmlformats.org/drawingml/2006/main">
              <a:ext uri="{FF2B5EF4-FFF2-40B4-BE49-F238E27FC236}">
                <a16:creationId xmlns:a16="http://schemas.microsoft.com/office/drawing/2014/main" id="{C99B3760-0C7A-4463-9DC6-C749A477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828675"/>
            <a:ext cx="11430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前提：comm 与 stream 已创建，普通用户内存，资源缓存未命中，任务缓存关闭。</a:t>
            </a:r>
          </a:p>
        </p:txBody>
      </p:sp>
      <p:sp>
        <p:nvSpPr>
          <p:cNvPr id="9" name="上层调用方在各个 Rank 上发起同一项通信">
            <a:extLst xmlns:a="http://schemas.openxmlformats.org/drawingml/2006/main">
              <a:ext uri="{FF2B5EF4-FFF2-40B4-BE49-F238E27FC236}">
                <a16:creationId xmlns:a16="http://schemas.microsoft.com/office/drawing/2014/main" id="{04EC0EB3-0150-40B6-A0AD-8F551EA4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990600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上层调用方在各个 Rank 上发起同一项通信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3D968-3EDA-4A94-905D-37BF4C2B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295400"/>
            <a:ext cx="11620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1" name="HcclAlltoAll(sendBuf, 2, FP32, recvBuf, 2, FP32, comm, stream)">
            <a:extLst xmlns:a="http://schemas.openxmlformats.org/drawingml/2006/main">
              <a:ext uri="{FF2B5EF4-FFF2-40B4-BE49-F238E27FC236}">
                <a16:creationId xmlns:a16="http://schemas.microsoft.com/office/drawing/2014/main" id="{0E2F8463-665F-4781-A697-BB47C23B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352550"/>
            <a:ext cx="1133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HcclAlltoAll(sendBuf, 2, FP32, recvBuf, 2, FP32, comm, stream)</a:t>
            </a:r>
          </a:p>
        </p:txBody>
      </p:sp>
      <p:sp>
        <p:nvSpPr>
          <p:cNvPr id="12" name="作用：每个 Rank 按目标 Rank 切出 4 份输入，再把从 4 个来源收到的数据按来源 Rank 放入输出。">
            <a:extLst xmlns:a="http://schemas.openxmlformats.org/drawingml/2006/main">
              <a:ext uri="{FF2B5EF4-FFF2-40B4-BE49-F238E27FC236}">
                <a16:creationId xmlns:a16="http://schemas.microsoft.com/office/drawing/2014/main" id="{78177D20-B2EA-4FE5-AAB3-79C0631A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600200"/>
            <a:ext cx="1133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作用：每个 Rank 按目标 Rank 切出 4 份输入，再把从 4 个来源收到的数据按来源 Rank 放入输出。</a:t>
            </a:r>
          </a:p>
        </p:txBody>
      </p:sp>
      <p:sp>
        <p:nvSpPr>
          <p:cNvPr id="13" name="输入：每两项属于一个目标 Rank">
            <a:extLst xmlns:a="http://schemas.openxmlformats.org/drawingml/2006/main">
              <a:ext uri="{FF2B5EF4-FFF2-40B4-BE49-F238E27FC236}">
                <a16:creationId xmlns:a16="http://schemas.microsoft.com/office/drawing/2014/main" id="{BF77F470-3F78-4276-9E94-2F6B1E91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1981200"/>
            <a:ext cx="5495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输入：每两项属于一个目标 Rank</a:t>
            </a:r>
          </a:p>
        </p:txBody>
      </p:sp>
      <p:sp>
        <p:nvSpPr>
          <p:cNvPr id="14" name="结果：Rank 0 收齐来自所有 Rank 的第 0 份">
            <a:extLst xmlns:a="http://schemas.openxmlformats.org/drawingml/2006/main">
              <a:ext uri="{FF2B5EF4-FFF2-40B4-BE49-F238E27FC236}">
                <a16:creationId xmlns:a16="http://schemas.microsoft.com/office/drawing/2014/main" id="{936137F7-80B0-4162-BC18-4DEC4427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81200"/>
            <a:ext cx="5448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结果：Rank 0 收齐来自所有 Rank 的第 0 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8FA05-961C-43F3-9DF5-8CFEF3E5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29552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16" name="Rank 0    [0,1]   [2,3]   [4,5]   [6,7]">
            <a:extLst xmlns:a="http://schemas.openxmlformats.org/drawingml/2006/main">
              <a:ext uri="{FF2B5EF4-FFF2-40B4-BE49-F238E27FC236}">
                <a16:creationId xmlns:a16="http://schemas.microsoft.com/office/drawing/2014/main" id="{6C9E2D73-4F38-49D6-A79A-20E59BF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33362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   [0,1]   [2,3]   [4,5]   [6,7]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18891-06D1-4DA1-B66E-E7600E49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61937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18" name="Rank 1    [10,11] [12,13] [14,15] [16,17]">
            <a:extLst xmlns:a="http://schemas.openxmlformats.org/drawingml/2006/main">
              <a:ext uri="{FF2B5EF4-FFF2-40B4-BE49-F238E27FC236}">
                <a16:creationId xmlns:a16="http://schemas.microsoft.com/office/drawing/2014/main" id="{52959C2A-5A23-4539-AE1F-07A333FE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65747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   [10,11] [12,13] [14,15] [16,17]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1809C3-0BB1-4409-833D-FE62DF39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94322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20" name="Rank 2    [20,21] [22,23] [24,25] [26,27]">
            <a:extLst xmlns:a="http://schemas.openxmlformats.org/drawingml/2006/main">
              <a:ext uri="{FF2B5EF4-FFF2-40B4-BE49-F238E27FC236}">
                <a16:creationId xmlns:a16="http://schemas.microsoft.com/office/drawing/2014/main" id="{4409408B-A032-4024-A5C8-1FE8A377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98132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2    [20,21] [22,23] [24,25] [26,27]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3B70A-A37A-4965-BFD5-9B037543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267075"/>
            <a:ext cx="55340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DCDFD9"/>
            </a:solidFill>
          </a:ln>
        </p:spPr>
      </p:sp>
      <p:sp>
        <p:nvSpPr>
          <p:cNvPr id="22" name="Rank 3    [30,31] [32,33] [34,35] [36,37]">
            <a:extLst xmlns:a="http://schemas.openxmlformats.org/drawingml/2006/main">
              <a:ext uri="{FF2B5EF4-FFF2-40B4-BE49-F238E27FC236}">
                <a16:creationId xmlns:a16="http://schemas.microsoft.com/office/drawing/2014/main" id="{8C369A38-A0EA-4CC0-BEF4-B1BDCE16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305175"/>
            <a:ext cx="53149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3    [30,31] [32,33] [34,35] [36,37]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40515D-1550-4541-9E0B-432F526C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63E7A9-C0C7-4BCF-BB47-829AE544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5944553" y="2905602"/>
            <a:ext cx="35147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4485A-6EF2-4257-BE91-EBB03038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95525"/>
            <a:ext cx="54387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27" name="Rank 0 输出">
            <a:extLst xmlns:a="http://schemas.openxmlformats.org/drawingml/2006/main">
              <a:ext uri="{FF2B5EF4-FFF2-40B4-BE49-F238E27FC236}">
                <a16:creationId xmlns:a16="http://schemas.microsoft.com/office/drawing/2014/main" id="{F4F7B762-F99B-4042-9FB4-16AEACA7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520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输出</a:t>
            </a:r>
          </a:p>
        </p:txBody>
      </p:sp>
      <p:sp>
        <p:nvSpPr>
          <p:cNvPr id="28" name="[0,1]   [10,11]   [20,21]   [30,31]">
            <a:extLst xmlns:a="http://schemas.openxmlformats.org/drawingml/2006/main">
              <a:ext uri="{FF2B5EF4-FFF2-40B4-BE49-F238E27FC236}">
                <a16:creationId xmlns:a16="http://schemas.microsoft.com/office/drawing/2014/main" id="{7AFF3423-FE09-4B85-87CC-CD0A07C1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5200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[0,1]   [10,11]   [20,21]   [30,31]</a:t>
            </a:r>
          </a:p>
        </p:txBody>
      </p:sp>
      <p:sp>
        <p:nvSpPr>
          <p:cNvPr id="29" name="自己的 [0,1] 本地拷贝，其他三份通过通信获得。&#10;Rank 1 同理得到 [2,3] [12,13] [22,23] [32,33]。">
            <a:extLst xmlns:a="http://schemas.openxmlformats.org/drawingml/2006/main">
              <a:ext uri="{FF2B5EF4-FFF2-40B4-BE49-F238E27FC236}">
                <a16:creationId xmlns:a16="http://schemas.microsoft.com/office/drawing/2014/main" id="{06092563-E384-44C1-8978-F7BC7E02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133725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自己的 [0,1] 本地拷贝，其他三份通过通信获得。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同理得到 [2,3] [12,13] [22,23] [32,33]。</a:t>
            </a:r>
          </a:p>
        </p:txBody>
      </p:sp>
      <p:sp>
        <p:nvSpPr>
          <p:cNvPr id="30" name="这次调用后面具体发生什么">
            <a:extLst xmlns:a="http://schemas.openxmlformats.org/drawingml/2006/main">
              <a:ext uri="{FF2B5EF4-FFF2-40B4-BE49-F238E27FC236}">
                <a16:creationId xmlns:a16="http://schemas.microsoft.com/office/drawing/2014/main" id="{364AE264-8498-4AA5-84C5-88CE2F12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375285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这次调用后面具体发生什么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8CDC7-5817-473D-9F43-6D026D23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32" name="HCCL Host">
            <a:extLst xmlns:a="http://schemas.openxmlformats.org/drawingml/2006/main">
              <a:ext uri="{FF2B5EF4-FFF2-40B4-BE49-F238E27FC236}">
                <a16:creationId xmlns:a16="http://schemas.microsoft.com/office/drawing/2014/main" id="{14D9B418-25F0-4099-8DD9-9ACB39D4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</p:txBody>
      </p:sp>
      <p:sp>
        <p:nvSpPr>
          <p:cNvPr id="33" name="读参数、识别成员&#10;决定用哪个算法">
            <a:extLst xmlns:a="http://schemas.openxmlformats.org/drawingml/2006/main">
              <a:ext uri="{FF2B5EF4-FFF2-40B4-BE49-F238E27FC236}">
                <a16:creationId xmlns:a16="http://schemas.microsoft.com/office/drawing/2014/main" id="{B10A7B83-A814-43CF-8BCF-2212FD5A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读参数、识别成员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决定用哪个算法</a:t>
            </a:r>
          </a:p>
        </p:txBody>
      </p:sp>
      <p:sp>
        <p:nvSpPr>
          <p:cNvPr id="34" name="第 2–4 页">
            <a:extLst xmlns:a="http://schemas.openxmlformats.org/drawingml/2006/main">
              <a:ext uri="{FF2B5EF4-FFF2-40B4-BE49-F238E27FC236}">
                <a16:creationId xmlns:a16="http://schemas.microsoft.com/office/drawing/2014/main" id="{225365B2-FA3C-4762-9241-7E6F0B63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2–4 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92A825-69C2-406B-BB7C-FC857C34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A0644-7053-43DF-B059-72F506F1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4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2506028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856B36-156C-4018-9BBB-6C445C22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39" name="HCOMM 控制面">
            <a:extLst xmlns:a="http://schemas.openxmlformats.org/drawingml/2006/main">
              <a:ext uri="{FF2B5EF4-FFF2-40B4-BE49-F238E27FC236}">
                <a16:creationId xmlns:a16="http://schemas.microsoft.com/office/drawing/2014/main" id="{354DF19E-B227-4F4B-B34D-C3DE10C3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控制面</a:t>
            </a:r>
          </a:p>
        </p:txBody>
      </p:sp>
      <p:sp>
        <p:nvSpPr>
          <p:cNvPr id="40" name="取得线程和缓冲区&#10;建立到其他 Rank 的通道">
            <a:extLst xmlns:a="http://schemas.openxmlformats.org/drawingml/2006/main">
              <a:ext uri="{FF2B5EF4-FFF2-40B4-BE49-F238E27FC236}">
                <a16:creationId xmlns:a16="http://schemas.microsoft.com/office/drawing/2014/main" id="{E3067C43-39A7-48C5-BDF8-19BFD051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取得线程和缓冲区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建立到其他 Rank 的通道</a:t>
            </a:r>
          </a:p>
        </p:txBody>
      </p:sp>
      <p:sp>
        <p:nvSpPr>
          <p:cNvPr id="41" name="第 5–7 页">
            <a:extLst xmlns:a="http://schemas.openxmlformats.org/drawingml/2006/main">
              <a:ext uri="{FF2B5EF4-FFF2-40B4-BE49-F238E27FC236}">
                <a16:creationId xmlns:a16="http://schemas.microsoft.com/office/drawing/2014/main" id="{B08769E6-6E8D-42C3-98EA-8BFC7243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5–7 页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5ADA9D-181C-4B74-AD2A-A3719E7B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123AE5-571F-40A9-B643-FFB53785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4858703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FD774C-79C0-4063-B0DE-74D41C94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46" name="ACL Runtime">
            <a:extLst xmlns:a="http://schemas.openxmlformats.org/drawingml/2006/main">
              <a:ext uri="{FF2B5EF4-FFF2-40B4-BE49-F238E27FC236}">
                <a16:creationId xmlns:a16="http://schemas.microsoft.com/office/drawing/2014/main" id="{B8E36963-FE00-4A0B-A770-15B78A4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47" name="把参数交给设备&#10;启动 AICPU 入口">
            <a:extLst xmlns:a="http://schemas.openxmlformats.org/drawingml/2006/main">
              <a:ext uri="{FF2B5EF4-FFF2-40B4-BE49-F238E27FC236}">
                <a16:creationId xmlns:a16="http://schemas.microsoft.com/office/drawing/2014/main" id="{0EC0EE92-F0B1-44EC-A337-D13D4B56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把参数交给设备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启动 AICPU 入口</a:t>
            </a:r>
          </a:p>
        </p:txBody>
      </p:sp>
      <p:sp>
        <p:nvSpPr>
          <p:cNvPr id="48" name="第 8 页">
            <a:extLst xmlns:a="http://schemas.openxmlformats.org/drawingml/2006/main">
              <a:ext uri="{FF2B5EF4-FFF2-40B4-BE49-F238E27FC236}">
                <a16:creationId xmlns:a16="http://schemas.microsoft.com/office/drawing/2014/main" id="{7B445908-B905-40C6-9571-A32D1D0B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8 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762AE0-6D94-48D8-982B-24672CB5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6E2BE5-71C1-4E7E-871F-E354FDB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7211378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AFA5F4-A19D-49B0-AE1A-CAA754F9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53" name="HCCL AICPU">
            <a:extLst xmlns:a="http://schemas.openxmlformats.org/drawingml/2006/main">
              <a:ext uri="{FF2B5EF4-FFF2-40B4-BE49-F238E27FC236}">
                <a16:creationId xmlns:a16="http://schemas.microsoft.com/office/drawing/2014/main" id="{CD131FA4-D07A-47BA-99AD-690CD3FA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</p:txBody>
      </p:sp>
      <p:sp>
        <p:nvSpPr>
          <p:cNvPr id="54" name="计算分片与地址&#10;逐个 Peer 组织通信">
            <a:extLst xmlns:a="http://schemas.openxmlformats.org/drawingml/2006/main">
              <a:ext uri="{FF2B5EF4-FFF2-40B4-BE49-F238E27FC236}">
                <a16:creationId xmlns:a16="http://schemas.microsoft.com/office/drawing/2014/main" id="{7713186A-EE4F-44B5-AB26-1429BA72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计算分片与地址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逐个 Peer 组织通信</a:t>
            </a:r>
          </a:p>
        </p:txBody>
      </p:sp>
      <p:sp>
        <p:nvSpPr>
          <p:cNvPr id="55" name="第 9–11 页">
            <a:extLst xmlns:a="http://schemas.openxmlformats.org/drawingml/2006/main">
              <a:ext uri="{FF2B5EF4-FFF2-40B4-BE49-F238E27FC236}">
                <a16:creationId xmlns:a16="http://schemas.microsoft.com/office/drawing/2014/main" id="{2FA0950A-A4ED-4CDD-BEBC-70B0625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9–11 页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EFB901-183A-4288-B253-27104572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217894-D340-4A85-BFBC-FF4C731A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9564053" y="4648677"/>
            <a:ext cx="1419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26EBEE-79B3-476B-8937-844B5367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133850"/>
            <a:ext cx="22098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60" name="HCOMM 数据面">
            <a:extLst xmlns:a="http://schemas.openxmlformats.org/drawingml/2006/main">
              <a:ext uri="{FF2B5EF4-FFF2-40B4-BE49-F238E27FC236}">
                <a16:creationId xmlns:a16="http://schemas.microsoft.com/office/drawing/2014/main" id="{7A5E877A-0F85-4192-B1AA-7FEA51D1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210050"/>
            <a:ext cx="2057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</p:txBody>
      </p:sp>
      <p:sp>
        <p:nvSpPr>
          <p:cNvPr id="61" name="排入握手、搬运任务&#10;用通知约束执行顺序">
            <a:extLst xmlns:a="http://schemas.openxmlformats.org/drawingml/2006/main">
              <a:ext uri="{FF2B5EF4-FFF2-40B4-BE49-F238E27FC236}">
                <a16:creationId xmlns:a16="http://schemas.microsoft.com/office/drawing/2014/main" id="{C35D6A5A-2A0D-4BEF-9C8F-4EE59B0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5148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排入握手、搬运任务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用通知约束执行顺序</a:t>
            </a:r>
          </a:p>
        </p:txBody>
      </p:sp>
      <p:sp>
        <p:nvSpPr>
          <p:cNvPr id="62" name="第 12–14 页">
            <a:extLst xmlns:a="http://schemas.openxmlformats.org/drawingml/2006/main">
              <a:ext uri="{FF2B5EF4-FFF2-40B4-BE49-F238E27FC236}">
                <a16:creationId xmlns:a16="http://schemas.microsoft.com/office/drawing/2014/main" id="{C479ACF9-CF91-46D1-B0A3-FC6FAC40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000625"/>
            <a:ext cx="2057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 12–14 页</a:t>
            </a:r>
          </a:p>
        </p:txBody>
      </p:sp>
      <p:sp>
        <p:nvSpPr>
          <p:cNvPr id="63" name="Rank = 通信成员编号　　Peer = 与本 Rank 交换数据的对方　　CCL Buffer = 通信中转缓冲区">
            <a:extLst xmlns:a="http://schemas.openxmlformats.org/drawingml/2006/main">
              <a:ext uri="{FF2B5EF4-FFF2-40B4-BE49-F238E27FC236}">
                <a16:creationId xmlns:a16="http://schemas.microsoft.com/office/drawing/2014/main" id="{62F62821-4935-46C0-BCC8-D72D3F9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324475"/>
            <a:ext cx="11601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= 通信成员编号　　Peer = 与本 Rank 交换数据的对方　　CCL Buffer = 通信中转缓冲区</a:t>
            </a:r>
          </a:p>
        </p:txBody>
      </p:sp>
      <p:sp>
        <p:nvSpPr>
          <p:cNvPr id="64" name="Thread = 通信任务队列的句柄　　Channel = 与对端通信的通道　　Kernel = 设备执行入口　　数组下标从 0 开始">
            <a:extLst xmlns:a="http://schemas.openxmlformats.org/drawingml/2006/main">
              <a:ext uri="{FF2B5EF4-FFF2-40B4-BE49-F238E27FC236}">
                <a16:creationId xmlns:a16="http://schemas.microsoft.com/office/drawing/2014/main" id="{D6DF5F95-C063-4467-AEB6-9C98AAFA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562600"/>
            <a:ext cx="1160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Thread = 通信任务队列的句柄　　Channel = 与对端通信的通道　　Kernel = 设备执行入口　　数组下标从 0 开始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F68109-B473-414D-8149-F613B8FA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810250"/>
            <a:ext cx="116205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6" name="判断完成：用户 stream 上的“等待完成”满足后，排在后面的任务才可以使用 recvBuf。">
            <a:extLst xmlns:a="http://schemas.openxmlformats.org/drawingml/2006/main">
              <a:ext uri="{FF2B5EF4-FFF2-40B4-BE49-F238E27FC236}">
                <a16:creationId xmlns:a16="http://schemas.microsoft.com/office/drawing/2014/main" id="{54187125-59C9-49B8-9AB5-C7D49CCB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判断完成：用户 stream 上的“等待完成”满足后，排在后面的任务才可以使用 recvBuf。</a:t>
            </a:r>
          </a:p>
        </p:txBody>
      </p:sp>
      <p:sp>
        <p:nvSpPr>
          <p:cNvPr id="67" name="HcclAlltoAll 的 CPU 调用返回，仅说明调用和任务提交阶段结束，不能据此判断数据已经全部到达。">
            <a:extLst xmlns:a="http://schemas.openxmlformats.org/drawingml/2006/main">
              <a:ext uri="{FF2B5EF4-FFF2-40B4-BE49-F238E27FC236}">
                <a16:creationId xmlns:a16="http://schemas.microsoft.com/office/drawing/2014/main" id="{5A294158-432B-4CA9-924F-A9D4296A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62675"/>
            <a:ext cx="1139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 的 CPU 调用返回，仅说明调用和任务提交阶段结束，不能据此判断数据已经全部到达。</a:t>
            </a:r>
          </a:p>
        </p:txBody>
      </p:sp>
    </p:spTree>
    <p:extLst>
      <p:ext uri="{BB962C8B-B14F-4D97-AF65-F5344CB8AC3E}">
        <p14:creationId xmlns:p14="http://schemas.microsoft.com/office/powerpoint/2010/main" val="1321882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1. 上层调用进来后，HCCL 先把请求整理完整">
            <a:extLst xmlns:a="http://schemas.openxmlformats.org/drawingml/2006/main">
              <a:ext uri="{FF2B5EF4-FFF2-40B4-BE49-F238E27FC236}">
                <a16:creationId xmlns:a16="http://schemas.microsoft.com/office/drawing/2014/main" id="{AACC6834-9630-4425-A92B-36D0707B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1. 上层调用进来后，HCCL 先把请求整理完整</a:t>
            </a:r>
          </a:p>
        </p:txBody>
      </p:sp>
      <p:sp>
        <p:nvSpPr>
          <p:cNvPr id="2" name="发生在 Host CPU。输入是指针、数量、数据类型、通信域和用户 stream，此时还没有发送用户数据。">
            <a:extLst xmlns:a="http://schemas.openxmlformats.org/drawingml/2006/main">
              <a:ext uri="{FF2B5EF4-FFF2-40B4-BE49-F238E27FC236}">
                <a16:creationId xmlns:a16="http://schemas.microsoft.com/office/drawing/2014/main" id="{37CFEAD2-C9CB-46DF-A52C-22F46E8D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发生在 Host CPU。输入是指针、数量、数据类型、通信域和用户 stream，此时还没有发送用户数据。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426EA6B9-430C-4D31-A0DD-86F0D67A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0A850-0299-41BE-A463-22CB5AE4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6754E-A596-4553-873C-AD771B51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2F453599-6A27-4D77-9AE8-431D239A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FD7248A3-5F83-4ADF-B38C-CE6ACD48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C41E5BE8-F556-436D-80AD-5F862B27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0E895-008F-42DA-85E3-DC387189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574E8-8819-4CE2-9A7C-51CE0C4F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F54E5-590C-49C9-85A6-3848FA30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C91F949F-4A38-4BEF-B89D-EEC584A8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上层调用 HCCL&#10;算子 API">
            <a:extLst xmlns:a="http://schemas.openxmlformats.org/drawingml/2006/main">
              <a:ext uri="{FF2B5EF4-FFF2-40B4-BE49-F238E27FC236}">
                <a16:creationId xmlns:a16="http://schemas.microsoft.com/office/drawing/2014/main" id="{BABF8E7C-3F8E-4A5C-90F3-D5C2357E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上层调用 HCCL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算子 API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FD4EA76-B2FA-4D0D-9054-85C7DA32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HcclAlltoAll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接收等长全互换请求</a:t>
            </a:r>
          </a:p>
        </p:txBody>
      </p:sp>
      <p:sp>
        <p:nvSpPr>
          <p:cNvPr id="17" name="本例 sendCount=recvCount=2，表示“给每个 Rank 发送 2 个数”，不是总共只发 2 个数。">
            <a:extLst xmlns:a="http://schemas.openxmlformats.org/drawingml/2006/main">
              <a:ext uri="{FF2B5EF4-FFF2-40B4-BE49-F238E27FC236}">
                <a16:creationId xmlns:a16="http://schemas.microsoft.com/office/drawing/2014/main" id="{AE15640D-AF05-4213-88B6-976E1990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 sendCount=recvCount=2，表示“给每个 Rank 发送 2 个数”，不是总共只发 2 个数。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D694E-6011-4BEB-996D-F73357FA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88A94-801F-4170-9D8D-64521B6B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F4D26-AD4D-458B-AF3F-7B471FC2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FCED312F-5452-41E9-B419-651645A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65664AC1-94B5-4F07-B39C-8D480336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524D89A-A02E-4726-A988-2755FCA7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CheckAlltoAllInputPara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检查请求是否合法</a:t>
            </a:r>
          </a:p>
        </p:txBody>
      </p:sp>
      <p:sp>
        <p:nvSpPr>
          <p:cNvPr id="25" name="检查通信域、指针、stream、数据类型与数量等。本例输入输出分开，参数有效才继续。">
            <a:extLst xmlns:a="http://schemas.openxmlformats.org/drawingml/2006/main">
              <a:ext uri="{FF2B5EF4-FFF2-40B4-BE49-F238E27FC236}">
                <a16:creationId xmlns:a16="http://schemas.microsoft.com/office/drawing/2014/main" id="{412B619D-89B9-4702-AFA8-0F93E747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检查通信域、指针、stream、数据类型与数量等。本例输入输出分开，参数有效才继续。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FC10E-5E61-432A-896B-B0C38CA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740C1B-2FB0-4506-9C44-EABD868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FFB3C-5F28-4669-8DB9-12BB908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C1325E80-9F69-411C-9B26-602BD824A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55CA6AB8-469A-4D5F-919F-916F37FB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68BEC95-31F8-4A86-B988-56376A5D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HcclGetRankSize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读取通信域的成员数</a:t>
            </a:r>
          </a:p>
        </p:txBody>
      </p:sp>
      <p:sp>
        <p:nvSpPr>
          <p:cNvPr id="33" name="本例得到 4。HCCL 据此准备 4 个发送数量和 4 个接收数量。">
            <a:extLst xmlns:a="http://schemas.openxmlformats.org/drawingml/2006/main">
              <a:ext uri="{FF2B5EF4-FFF2-40B4-BE49-F238E27FC236}">
                <a16:creationId xmlns:a16="http://schemas.microsoft.com/office/drawing/2014/main" id="{53A1EF71-16E8-4C67-AB39-3D7A2080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本例得到 4。HCCL 据此准备 4 个发送数量和 4 个接收数量。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93FED8-DF0B-45ED-AE4C-63C12497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E4FAA2-B747-4BFE-95FB-D576689B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09FC38-51C3-4CEC-A259-FA056B8A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FE317BBB-B7AB-41D0-921E-A13DD1A4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9BE9ADA0-B7A7-4A38-991F-23405B17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6CE5FA9-788D-409F-9AF0-1945E4D8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HcclGetCommName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读取通信域名称</a:t>
            </a:r>
          </a:p>
        </p:txBody>
      </p:sp>
      <p:sp>
        <p:nvSpPr>
          <p:cNvPr id="41" name="用于组成算子标识和后续上下文查找键，避免不同通信域的资源混用。">
            <a:extLst xmlns:a="http://schemas.openxmlformats.org/drawingml/2006/main">
              <a:ext uri="{FF2B5EF4-FFF2-40B4-BE49-F238E27FC236}">
                <a16:creationId xmlns:a16="http://schemas.microsoft.com/office/drawing/2014/main" id="{7C32350A-3533-44E7-BAA6-34E35A6E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用于组成算子标识和后续上下文查找键，避免不同通信域的资源混用。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4163CE-5D63-420D-B492-78123B33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A744E4-CDC9-4E77-83BA-F8C5857D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5F24404-7FC1-416C-AB41-A7A69F51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A11CDBF1-057D-49B2-AC47-84D80210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E78BFFB4-4B18-499C-B3F2-B0C2B5F6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A4305BE-6062-4D12-8BF6-59214A2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HcclGetRankId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读取本 Rank 的编号</a:t>
            </a:r>
          </a:p>
        </p:txBody>
      </p:sp>
      <p:sp>
        <p:nvSpPr>
          <p:cNvPr id="49" name="以 Rank 0 为讲解视角，这里得到 0，后续据此区分本地分片和远端分片。">
            <a:extLst xmlns:a="http://schemas.openxmlformats.org/drawingml/2006/main">
              <a:ext uri="{FF2B5EF4-FFF2-40B4-BE49-F238E27FC236}">
                <a16:creationId xmlns:a16="http://schemas.microsoft.com/office/drawing/2014/main" id="{2E32E12C-7B08-4487-AB8B-33CEA2B7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以 Rank 0 为讲解视角，这里得到 0，后续据此区分本地分片和远端分片。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F5F177-1E6E-4A9B-A9FB-4974D95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519E4F-0103-49FF-89B8-2BB355B0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9F2879-2290-406D-981E-46DCA3D3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8AAADE9E-7CA1-494D-A18D-BA46FE03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DC45A840-4077-4B1E-8C23-B3AF277F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9F9EC5D-74DB-4CC4-8D41-8132C87F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ConvertAlltoAllParam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计算每份数据在数组中的起点</a:t>
            </a:r>
          </a:p>
        </p:txBody>
      </p:sp>
      <p:sp>
        <p:nvSpPr>
          <p:cNvPr id="57" name="本例数量数组为 [2,2,2,2]，发送和接收位移数组为 [0,2,4,6]，位移单位是元素。">
            <a:extLst xmlns:a="http://schemas.openxmlformats.org/drawingml/2006/main">
              <a:ext uri="{FF2B5EF4-FFF2-40B4-BE49-F238E27FC236}">
                <a16:creationId xmlns:a16="http://schemas.microsoft.com/office/drawing/2014/main" id="{E328D8A2-BCDD-4796-AE43-181EC014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本例数量数组为 [2,2,2,2]，发送和接收位移数组为 [0,2,4,6]，位移单位是元素。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638D2D-7545-42E1-BBDD-B5261003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3BB84BD-8BC8-4226-84CF-4AE46E00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12D4182-5D77-46CC-B067-6F86F118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745F9730-DDB2-43E2-BB7F-C1B21048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19DB84A5-803E-4604-A901-18FA1B8A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E2F3076-0012-4AC0-9E8D-92BDEB02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进入共用的非原地执行入口</a:t>
            </a:r>
          </a:p>
        </p:txBody>
      </p:sp>
      <p:sp>
        <p:nvSpPr>
          <p:cNvPr id="65" name="等长 AllToAll 使用可变长框架的实现，算子类型仍然保持 ALLTOALL。">
            <a:extLst xmlns:a="http://schemas.openxmlformats.org/drawingml/2006/main">
              <a:ext uri="{FF2B5EF4-FFF2-40B4-BE49-F238E27FC236}">
                <a16:creationId xmlns:a16="http://schemas.microsoft.com/office/drawing/2014/main" id="{33483169-B714-45E2-99E0-77958EB5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等长 AllToAll 使用可变长框架的实现，算子类型仍然保持 ALLTOALL。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DD80DB-E16E-4778-A97F-5BDE4671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3951A5C-209E-4BE3-BD38-DA3301EF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4C9136-F773-4E23-BAED-A0E1168E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5A2422DB-3588-42A7-90D7-1C1B6588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8770501A-4C7A-4C47-8AD9-454CA20C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C71967F-7F05-4134-8D93-5D6156053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进入共用的参数处理与调度流程</a:t>
            </a:r>
          </a:p>
        </p:txBody>
      </p:sp>
      <p:sp>
        <p:nvSpPr>
          <p:cNvPr id="73" name="它继续构造算子参数、读取展开模式，再进入下一页的选择与执行分发。">
            <a:extLst xmlns:a="http://schemas.openxmlformats.org/drawingml/2006/main">
              <a:ext uri="{FF2B5EF4-FFF2-40B4-BE49-F238E27FC236}">
                <a16:creationId xmlns:a16="http://schemas.microsoft.com/office/drawing/2014/main" id="{4F71AD2B-C92E-406A-B1AE-5226510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它继续构造算子参数、读取展开模式，再进入下一页的选择与执行分发。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EBDCB5-8FD3-4E6B-90FE-90A59FF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69654F7-691B-434E-AB73-0A81C787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58C198-4D30-496F-88E7-10F4FE6C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B2FC9A9C-0987-49BC-95B5-5A334F81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3E3A2F48-4ED0-4EB5-BC8F-8A0975DF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33BB633-99E4-4B44-9490-1EE83C1A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把零散参数封成一个执行请求</a:t>
            </a:r>
          </a:p>
        </p:txBody>
      </p:sp>
      <p:sp>
        <p:nvSpPr>
          <p:cNvPr id="81" name="保存输入输出地址、数量和位移、数据类型及 stream，形成后面要传给 AICPU 的参数。">
            <a:extLst xmlns:a="http://schemas.openxmlformats.org/drawingml/2006/main">
              <a:ext uri="{FF2B5EF4-FFF2-40B4-BE49-F238E27FC236}">
                <a16:creationId xmlns:a16="http://schemas.microsoft.com/office/drawing/2014/main" id="{844AA874-2F4A-48AF-8B7B-039FA3A1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保存输入输出地址、数量和位移、数据类型及 stream，形成后面要传给 AICPU 的参数。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D742B32-0E67-43D9-80D6-6EF0D45C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HCCL 已知道“我是谁、给谁发多少、从哪里取、收到后放哪里”。">
            <a:extLst xmlns:a="http://schemas.openxmlformats.org/drawingml/2006/main">
              <a:ext uri="{FF2B5EF4-FFF2-40B4-BE49-F238E27FC236}">
                <a16:creationId xmlns:a16="http://schemas.microsoft.com/office/drawing/2014/main" id="{6CDDDD84-1437-4F4E-A729-960565C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此页结束：HCCL 已知道“我是谁、给谁发多少、从哪里取、收到后放哪里”。</a:t>
            </a:r>
          </a:p>
        </p:txBody>
      </p:sp>
    </p:spTree>
    <p:extLst>
      <p:ext uri="{BB962C8B-B14F-4D97-AF65-F5344CB8AC3E}">
        <p14:creationId xmlns:p14="http://schemas.microsoft.com/office/powerpoint/2010/main" val="705689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2. HCCL 查询配置和拓扑，决定由哪个算法来做">
            <a:extLst xmlns:a="http://schemas.openxmlformats.org/drawingml/2006/main">
              <a:ext uri="{FF2B5EF4-FFF2-40B4-BE49-F238E27FC236}">
                <a16:creationId xmlns:a16="http://schemas.microsoft.com/office/drawing/2014/main" id="{3883D69A-381D-404A-B5BF-2FB9FED0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2. HCCL 查询配置和拓扑，决定由哪个算法来做</a:t>
            </a:r>
          </a:p>
        </p:txBody>
      </p:sp>
      <p:sp>
        <p:nvSpPr>
          <p:cNvPr id="2" name="接上一页的执行请求。以下按自动选择命中普通 MESH_1D / CLOS 拓扑说明，具体配置可改变分支。">
            <a:extLst xmlns:a="http://schemas.openxmlformats.org/drawingml/2006/main">
              <a:ext uri="{FF2B5EF4-FFF2-40B4-BE49-F238E27FC236}">
                <a16:creationId xmlns:a16="http://schemas.microsoft.com/office/drawing/2014/main" id="{5A96F4D0-244D-4B4B-8460-D42E9889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接上一页的执行请求。以下按自动选择命中普通 MESH_1D / CLOS 拓扑说明，具体配置可改变分支。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660710DF-C5D8-4461-9BBF-53A55A4E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AD011-972D-41CA-AC55-2CEECC61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B40C1-A323-4111-A72B-30B0BDA8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10B7103F-A433-4334-A64E-C982DCC0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F757E9B0-39CD-4617-87C8-A18E62BE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FE7BCEE9-5B2E-4559-9970-1EEB8C0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3F4E04-52DF-493F-919A-7D11318D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9C2AC-CE07-474F-97A3-5696D144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C833A-D1D9-4340-9C47-A724DA48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FC517E76-B903-4457-9084-87F809A0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8EE98B6B-ED12-46EF-A46D-23C820D6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3F20486-512B-42AF-8DC8-0E7705E4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HcclGetOpExpansionMode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决定本次采用哪种展开方式</a:t>
            </a:r>
          </a:p>
        </p:txBody>
      </p:sp>
      <p:sp>
        <p:nvSpPr>
          <p:cNvPr id="17" name="本例使用 AICPU_TS，表示把集合算法的任务编排放到 AICPU 侧执行。">
            <a:extLst xmlns:a="http://schemas.openxmlformats.org/drawingml/2006/main">
              <a:ext uri="{FF2B5EF4-FFF2-40B4-BE49-F238E27FC236}">
                <a16:creationId xmlns:a16="http://schemas.microsoft.com/office/drawing/2014/main" id="{B93F8D18-01AA-45AA-93EF-D0B5C7C4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本例使用 AICPU_TS，表示把集合算法的任务编排放到 AICPU 侧执行。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D919E-5E3C-49B8-8EA4-BFE6CAF1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7E8CDA-73D6-47AE-8007-D3BD26C0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BFF4DD-47C7-4B75-BC3D-D869E5BA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051022DF-E288-4072-B372-472CFDF1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189D3E13-85E3-4A24-B19D-0A311DA0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6118636-BF68-41E1-922A-E784AE03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HcclConfigGetInfo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从通信域读取展开模式配置</a:t>
            </a:r>
          </a:p>
        </p:txBody>
      </p:sp>
      <p:sp>
        <p:nvSpPr>
          <p:cNvPr id="25" name="这是上一项内部实际使用的 HCOMM 配置接口，返回配置给 HCCL 判断。">
            <a:extLst xmlns:a="http://schemas.openxmlformats.org/drawingml/2006/main">
              <a:ext uri="{FF2B5EF4-FFF2-40B4-BE49-F238E27FC236}">
                <a16:creationId xmlns:a16="http://schemas.microsoft.com/office/drawing/2014/main" id="{44161DCD-264C-4A63-89AB-1749C85E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这是上一项内部实际使用的 HCOMM 配置接口，返回配置给 HCCL 判断。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D158F-B7D8-4A7B-91A2-28974743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332848-9FFD-4F04-91DA-D066C306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7FF7D-6805-457A-8ADD-9E1E224B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FE372F43-F011-4525-93AC-60C77EDB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36C25A38-A6CE-4457-9305-BDB59256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F64CF66-4E7F-43C9-9D7C-F6BB7BAF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AlltoAllVExecDispatch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把请求交给选择器和执行器</a:t>
            </a:r>
          </a:p>
        </p:txBody>
      </p:sp>
      <p:sp>
        <p:nvSpPr>
          <p:cNvPr id="33" name="它先得到算法名称与拓扑信息，再发起后续资源准备和执行。">
            <a:extLst xmlns:a="http://schemas.openxmlformats.org/drawingml/2006/main">
              <a:ext uri="{FF2B5EF4-FFF2-40B4-BE49-F238E27FC236}">
                <a16:creationId xmlns:a16="http://schemas.microsoft.com/office/drawing/2014/main" id="{BDE9A2FD-C266-4445-AC09-DF5084BC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它先得到算法名称与拓扑信息，再发起后续资源准备和执行。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31A69B-9DA7-4BC5-ACD5-5E57A817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B1DD0C-E7CB-4A99-8439-4D43383A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7327B8-A172-4DD6-9114-F687AF0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2813757A-5812-47BD-88C7-A5FB56FB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FA680AB9-0548-4330-BA3F-8A7DF9C0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78AB694-B64C-4FF3-8640-449A4255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Selector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统筹选择本次要使用的算法</a:t>
            </a:r>
          </a:p>
        </p:txBody>
      </p:sp>
      <p:sp>
        <p:nvSpPr>
          <p:cNvPr id="41" name="综合设备、执行方式、拓扑、数据量和配置，不能只凭 AICPU_TS 就确定所有调用。">
            <a:extLst xmlns:a="http://schemas.openxmlformats.org/drawingml/2006/main">
              <a:ext uri="{FF2B5EF4-FFF2-40B4-BE49-F238E27FC236}">
                <a16:creationId xmlns:a16="http://schemas.microsoft.com/office/drawing/2014/main" id="{9F386263-47CA-4FD8-9D80-F9449A4A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综合设备、执行方式、拓扑、数据量和配置，不能只凭 AICPU_TS 就确定所有调用。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6492AD-155A-47BD-90B6-997C495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134DBD-9CB4-45AA-B054-A4B2793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C04252-5B77-45BD-AC2F-BF1D3020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A9F522EC-279B-4EF9-A61A-FFB99BFB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1992323A-4ED9-406F-8C56-793095F0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3AB08C7-E2C2-4B87-BEDF-D4C105FF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HcclCommGetStatus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检查通信域是否可用</a:t>
            </a:r>
          </a:p>
        </p:txBody>
      </p:sp>
      <p:sp>
        <p:nvSpPr>
          <p:cNvPr id="49" name="接口能力支持时检查 READY 状态，域正在挂起等情况不能按正常主线继续。">
            <a:extLst xmlns:a="http://schemas.openxmlformats.org/drawingml/2006/main">
              <a:ext uri="{FF2B5EF4-FFF2-40B4-BE49-F238E27FC236}">
                <a16:creationId xmlns:a16="http://schemas.microsoft.com/office/drawing/2014/main" id="{18039C7F-D409-4E2E-9B16-A5C1D5AC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接口能力支持时检查 READY 状态，域正在挂起等情况不能按正常主线继续。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82D92D-B147-4134-9F36-4BAD7449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AC1FE82-46E6-41D8-BB4D-C8873B50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155042-FFD5-4302-9A52-7AE47BF4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E06E974F-677E-408A-B371-55D0681E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BA809E58-5CC0-4559-9294-7A51FC63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DB76265-1904-4619-AE51-5F9FEBC9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HcclCalcTopoInfo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恢复或构造拓扑说明</a:t>
            </a:r>
          </a:p>
        </p:txBody>
      </p:sp>
      <p:sp>
        <p:nvSpPr>
          <p:cNvPr id="57" name="得到成员关系、网络层、端点与链路信息，供算法和建链请求使用。">
            <a:extLst xmlns:a="http://schemas.openxmlformats.org/drawingml/2006/main">
              <a:ext uri="{FF2B5EF4-FFF2-40B4-BE49-F238E27FC236}">
                <a16:creationId xmlns:a16="http://schemas.microsoft.com/office/drawing/2014/main" id="{E8D303D3-6639-4304-8CF9-A88B9FDB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得到成员关系、网络层、端点与链路信息，供算法和建链请求使用。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4D0046-F26A-4C4A-9447-95F79593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ED8CA6-9EF0-49EA-ADF3-EA37768F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F04679-8548-4BB8-8110-87F6993A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253A01A4-B644-4AC5-B562-0B415BEA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D8914B3D-143F-4004-ABA8-1D377352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607350D-13D7-4876-905F-D65436FA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先查已有的拓扑上下文</a:t>
            </a:r>
          </a:p>
        </p:txBody>
      </p:sp>
      <p:sp>
        <p:nvSpPr>
          <p:cNvPr id="65" name="命中则直接恢复已有说明。未命中才查询拓扑并保存，具体查询逐项解释在第 15 页。">
            <a:extLst xmlns:a="http://schemas.openxmlformats.org/drawingml/2006/main">
              <a:ext uri="{FF2B5EF4-FFF2-40B4-BE49-F238E27FC236}">
                <a16:creationId xmlns:a16="http://schemas.microsoft.com/office/drawing/2014/main" id="{ED250A6B-F46B-48AD-BB86-25CB7CF0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命中则直接恢复已有说明。未命中才查询拓扑并保存，具体查询逐项解释在第 15 页。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45BCE5C-B293-4E05-8108-CD0BF9F4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3CC2E1-DF63-48D5-A953-6CB1D334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F5B9E8-EFCA-4CBB-AB72-05FE41D0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9D6B927C-316A-478C-BD18-2BD0BC6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AE3B3ED8-DD2F-46C8-B21C-0EDF03D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A5CB9F7-14FB-48D6-95B1-1C1040E5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AlltoAllAutoSelector::SelectAicpuAlgo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按拓扑与数据量选 AICPU 算法</a:t>
            </a:r>
          </a:p>
        </p:txBody>
      </p:sp>
      <p:sp>
        <p:nvSpPr>
          <p:cNvPr id="73" name="本例每 Rank 共发送 32 字节，在该选择器分支选中单 Channel 的普通 Mesh 算法。">
            <a:extLst xmlns:a="http://schemas.openxmlformats.org/drawingml/2006/main">
              <a:ext uri="{FF2B5EF4-FFF2-40B4-BE49-F238E27FC236}">
                <a16:creationId xmlns:a16="http://schemas.microsoft.com/office/drawing/2014/main" id="{4288C176-E777-41ED-8CFC-BCBF9768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本例每 Rank 共发送 32 字节，在该选择器分支选中单 Channel 的普通 Mesh 算法。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6E96A1-8E8D-4593-BBA9-20FE594B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6989811-E257-4AC5-9EDE-671A24AD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9E9B7B-21CF-4E69-9BB5-26DD3F17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20ED2613-0B4E-41CA-B634-12B917BF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9293081A-E123-4170-9237-0EDD981E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67FB5A4-D193-4DD7-AD39-4E7A9E37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HcclExecOp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进入已选算法的执行准备</a:t>
            </a:r>
          </a:p>
        </p:txBody>
      </p:sp>
      <p:sp>
        <p:nvSpPr>
          <p:cNvPr id="81" name="读取注册的算法实现，绑定用户 stream，准备或复用这次执行所需资源。">
            <a:extLst xmlns:a="http://schemas.openxmlformats.org/drawingml/2006/main">
              <a:ext uri="{FF2B5EF4-FFF2-40B4-BE49-F238E27FC236}">
                <a16:creationId xmlns:a16="http://schemas.microsoft.com/office/drawing/2014/main" id="{7D0DDAC9-2F04-4405-A7A5-1C56D1EF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读取注册的算法实现，绑定用户 stream，准备或复用这次执行所需资源。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6788306-A4AA-4AC4-8561-E680186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确定“采用普通 Mesh、在 AICPU_TS 上编排”，下一步才是拿到可用资源。">
            <a:extLst xmlns:a="http://schemas.openxmlformats.org/drawingml/2006/main">
              <a:ext uri="{FF2B5EF4-FFF2-40B4-BE49-F238E27FC236}">
                <a16:creationId xmlns:a16="http://schemas.microsoft.com/office/drawing/2014/main" id="{2A94F2D9-DDE1-4C00-9851-9E44E4C5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此页结束：确定“采用普通 Mesh、在 AICPU_TS 上编排”，下一步才是拿到可用资源。</a:t>
            </a:r>
          </a:p>
        </p:txBody>
      </p:sp>
    </p:spTree>
    <p:extLst>
      <p:ext uri="{BB962C8B-B14F-4D97-AF65-F5344CB8AC3E}">
        <p14:creationId xmlns:p14="http://schemas.microsoft.com/office/powerpoint/2010/main" val="13850602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3. HCCL 先绑定用户流，再计算缺少哪些资源">
            <a:extLst xmlns:a="http://schemas.openxmlformats.org/drawingml/2006/main">
              <a:ext uri="{FF2B5EF4-FFF2-40B4-BE49-F238E27FC236}">
                <a16:creationId xmlns:a16="http://schemas.microsoft.com/office/drawing/2014/main" id="{1A25A421-48A9-4603-A1BD-3A840CE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3. HCCL 先绑定用户流，再计算缺少哪些资源</a:t>
            </a:r>
          </a:p>
        </p:txBody>
      </p:sp>
      <p:sp>
        <p:nvSpPr>
          <p:cNvPr id="2" name="这页仍在 Host。Thread 是通信任务队列的句柄，不能简单理解成每次都新建一个操作系统线程。">
            <a:extLst xmlns:a="http://schemas.openxmlformats.org/drawingml/2006/main">
              <a:ext uri="{FF2B5EF4-FFF2-40B4-BE49-F238E27FC236}">
                <a16:creationId xmlns:a16="http://schemas.microsoft.com/office/drawing/2014/main" id="{B78583A7-E28B-45E7-809A-00508982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这页仍在 Host。Thread 是通信任务队列的句柄，不能简单理解成每次都新建一个操作系统线程。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DC7CACA5-3139-4125-8A9C-466F27C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3836A-B023-4122-B906-ED0A1D4E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6D126-2742-4929-9B7A-45423513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00964FFC-8265-48E6-B4BE-80EA0C3B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A479164C-6754-41E0-8812-2F984B50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0BDB2D3A-A6FE-4934-857C-29384FD6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CA706-14AE-4559-B7F5-D0BC6A1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EA63E-D96F-45BC-964A-08A0D0A1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3B2E8-E12B-4C21-8623-1A75185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C5DDCF2A-21BE-4B2F-830F-028B8340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7E9E00A7-820C-43D5-887C-6F2A4C5D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4C49B0C-DF62-4D6B-A1A1-A26D10C5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按算法名称取出执行器对象</a:t>
            </a:r>
          </a:p>
        </p:txBody>
      </p:sp>
      <p:sp>
        <p:nvSpPr>
          <p:cNvPr id="17" name="执行器负责计算资源需求，并在设备侧组织该算法的执行。此处只取得 Host 侧对象。">
            <a:extLst xmlns:a="http://schemas.openxmlformats.org/drawingml/2006/main">
              <a:ext uri="{FF2B5EF4-FFF2-40B4-BE49-F238E27FC236}">
                <a16:creationId xmlns:a16="http://schemas.microsoft.com/office/drawing/2014/main" id="{41E5C1D7-2F45-464F-B5FB-9575F77D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执行器负责计算资源需求，并在设备侧组织该算法的执行。此处只取得 Host 侧对象。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D9CDD-4C51-4B04-B7AE-1430C371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BAD4F-88C5-4E10-B093-8C1C001F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2B05A-092B-49CE-9CA7-A1772A25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F252FCA6-C157-4647-8AD0-292F1A57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7BB1BE17-A718-4F11-AAC9-3008D1AD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2799A77-A4FE-4EFA-AEB4-F6747F26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把用户 stream 包装成通信 Thread</a:t>
            </a:r>
          </a:p>
        </p:txBody>
      </p:sp>
      <p:sp>
        <p:nvSpPr>
          <p:cNvPr id="25" name="得到 CPU_TS Thread，后面用它提交“输入就绪”和“等待完成”通知。">
            <a:extLst xmlns:a="http://schemas.openxmlformats.org/drawingml/2006/main">
              <a:ext uri="{FF2B5EF4-FFF2-40B4-BE49-F238E27FC236}">
                <a16:creationId xmlns:a16="http://schemas.microsoft.com/office/drawing/2014/main" id="{2B6909B4-554A-47F5-A09A-72A700CC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 CPU_TS Thread，后面用它提交“输入就绪”和“等待完成”通知。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6FAB5-4DC2-46CF-A176-93F5DB9D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1FDCF-51C2-470B-AA0A-23E2E12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A2BA5-761F-4EBA-96D5-C8C317CB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C19FF96E-C4F3-4F77-B2B4-AFDFB068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8B505081-CDB7-4C06-B5D9-BDD5A33A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713E2E7-0730-435E-82E9-2922C306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把用户 Thread 转成 AICPU 可使用的句柄</a:t>
            </a:r>
          </a:p>
        </p:txBody>
      </p:sp>
      <p:sp>
        <p:nvSpPr>
          <p:cNvPr id="33" name="这是第一个导出方向：CPU_TS 到 AICPU_TS。设备完成后要通过它通知用户流。">
            <a:extLst xmlns:a="http://schemas.openxmlformats.org/drawingml/2006/main">
              <a:ext uri="{FF2B5EF4-FFF2-40B4-BE49-F238E27FC236}">
                <a16:creationId xmlns:a16="http://schemas.microsoft.com/office/drawing/2014/main" id="{8C4BFCFF-3113-4A4B-B0F6-A599288F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这是第一个导出方向：CPU_TS 到 AICPU_TS。设备完成后要通过它通知用户流。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1D2CB9-E5F5-43FC-9F65-446B65BD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8F9AF4-576F-4F9D-BC21-C0ECD1E9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EAB7CD-48DC-4DB8-A884-3864D5A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AACCA0FC-6BE4-45F4-B0BA-50800D7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01EE77B9-A5A8-4C25-95CF-2141007E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9CCB643-D5C3-4A53-89E4-37F5924A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HcclGetAlgRes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统一取得本次算法的资源</a:t>
            </a:r>
          </a:p>
        </p:txBody>
      </p:sp>
      <p:sp>
        <p:nvSpPr>
          <p:cNvPr id="41" name="先尝试复用，资源没有准备过才继续计算与申请。">
            <a:extLst xmlns:a="http://schemas.openxmlformats.org/drawingml/2006/main">
              <a:ext uri="{FF2B5EF4-FFF2-40B4-BE49-F238E27FC236}">
                <a16:creationId xmlns:a16="http://schemas.microsoft.com/office/drawing/2014/main" id="{D4029494-0012-4803-B8A9-C93309AD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先尝试复用，资源没有准备过才继续计算与申请。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C4888B-8C02-4C57-B1B8-0968900E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825E23-6FB7-4A59-83C2-D94DC89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1CD789-5B5B-40CA-8F07-1FEA4D31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9FD2B5CF-D5B2-462C-97D5-E2BCCD73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E4B1F6EF-2146-4A8F-88D9-9F471150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0981AB4-19F1-497C-8AAB-8B8B8B70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GetAlgoMeta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读取算法登记的属性</a:t>
            </a:r>
          </a:p>
        </p:txBody>
      </p:sp>
      <p:sp>
        <p:nvSpPr>
          <p:cNvPr id="49" name="取出算法引擎、算子类型和算法层次等描述，供资源规划使用。">
            <a:extLst xmlns:a="http://schemas.openxmlformats.org/drawingml/2006/main">
              <a:ext uri="{FF2B5EF4-FFF2-40B4-BE49-F238E27FC236}">
                <a16:creationId xmlns:a16="http://schemas.microsoft.com/office/drawing/2014/main" id="{AFC7FCE1-243A-46E1-BB21-8543B605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取出算法引擎、算子类型和算法层次等描述，供资源规划使用。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6135FF-A595-4097-A872-4E22BD26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0CA810-FD05-4CA2-90A7-E80C778E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A13B5B-9394-488E-A228-793F9DC3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A9B176F0-558D-4895-A144-EB2A03F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E8A99749-03EE-4BD6-9C47-78D265FB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B81229B-2B34-48B8-A3AD-3C46DBA2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TryReuseResource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判断算法资源是否已经存在</a:t>
            </a:r>
          </a:p>
        </p:txBody>
      </p:sp>
      <p:sp>
        <p:nvSpPr>
          <p:cNvPr id="57" name="使用算法标识查询资源上下文。命中时跳过下面的重新计算和创建。">
            <a:extLst xmlns:a="http://schemas.openxmlformats.org/drawingml/2006/main">
              <a:ext uri="{FF2B5EF4-FFF2-40B4-BE49-F238E27FC236}">
                <a16:creationId xmlns:a16="http://schemas.microsoft.com/office/drawing/2014/main" id="{3D2D0CBA-E932-4F78-9598-EE8F90A1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使用算法标识查询资源上下文。命中时跳过下面的重新计算和创建。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DCA955-FDEC-4B3E-B32C-0718E84A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66272C-5B18-4BAD-9C21-5EC47F66C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085808-DE9D-44A0-846F-EB5CE4C4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C2F9F70B-0C4F-4AB3-8787-77F2480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2E6B4E38-78AC-4042-8B3B-3B2BD90E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B047A1D-1712-4D43-B7BE-DC675E09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查找算法资源上下文</a:t>
            </a:r>
          </a:p>
        </p:txBody>
      </p:sp>
      <p:sp>
        <p:nvSpPr>
          <p:cNvPr id="65" name="这次查的是算法资源，不是上一页的拓扑缓存。本例按未命中继续。">
            <a:extLst xmlns:a="http://schemas.openxmlformats.org/drawingml/2006/main">
              <a:ext uri="{FF2B5EF4-FFF2-40B4-BE49-F238E27FC236}">
                <a16:creationId xmlns:a16="http://schemas.microsoft.com/office/drawing/2014/main" id="{E3473BD1-6855-4426-AEA0-BFBC02B1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这次查的是算法资源，不是上一页的拓扑缓存。本例按未命中继续。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C13761E-A8C4-4EAD-A1BF-2477B21D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5B3A78-9323-4392-98F4-AECA2736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69771AA-41CD-43EE-99B1-82CCEAB8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A343D4E6-95C1-461D-BED5-090BF060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F4517FBD-912F-4015-9D55-91318D94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D42A5D2-5251-40DB-AA68-CDCA4A3A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CalcAlgHierarchyInfoV2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把拓扑整理成算法使用的通信分组</a:t>
            </a:r>
          </a:p>
        </p:txBody>
      </p:sp>
      <p:sp>
        <p:nvSpPr>
          <p:cNvPr id="73" name="得到各层成员和本 Rank 在组中的位置，为资源数量计算提供依据。">
            <a:extLst xmlns:a="http://schemas.openxmlformats.org/drawingml/2006/main">
              <a:ext uri="{FF2B5EF4-FFF2-40B4-BE49-F238E27FC236}">
                <a16:creationId xmlns:a16="http://schemas.microsoft.com/office/drawing/2014/main" id="{4FECE2FF-B144-4BEA-B778-7F8255CE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得到各层成员和本 Rank 在组中的位置，为资源数量计算提供依据。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6D80B18-0590-4B19-8FD3-E1A142C9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9F8D53B-FE3A-43D3-97C7-8D1CBA89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481CB98-C7E5-46A0-98C8-BBDC5F18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601ED967-D303-447D-9B4D-F0F30C61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4D64F317-DFD8-4266-8ECE-EF0ED460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7F19F16-BAC9-494C-B244-F33B1F2E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CalcRes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列出算法需要的资源清单</a:t>
            </a:r>
          </a:p>
        </p:txBody>
      </p:sp>
      <p:sp>
        <p:nvSpPr>
          <p:cNvPr id="81" name="计算主从 Thread、通知槽位以及到哪些 Peer 的 Channel 请求，此时只是算需求。">
            <a:extLst xmlns:a="http://schemas.openxmlformats.org/drawingml/2006/main">
              <a:ext uri="{FF2B5EF4-FFF2-40B4-BE49-F238E27FC236}">
                <a16:creationId xmlns:a16="http://schemas.microsoft.com/office/drawing/2014/main" id="{E1987116-85E6-477B-B297-40732A2C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计算主从 Thread、通知槽位以及到哪些 Peer 的 Channel 请求，此时只是算需求。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213C29D-BA8B-468D-97A0-D0BE5D4F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已拿到用户流句柄，并列出“需要多少线程、通知槽位和对端通道”。">
            <a:extLst xmlns:a="http://schemas.openxmlformats.org/drawingml/2006/main">
              <a:ext uri="{FF2B5EF4-FFF2-40B4-BE49-F238E27FC236}">
                <a16:creationId xmlns:a16="http://schemas.microsoft.com/office/drawing/2014/main" id="{17A0385F-1851-43D4-9B83-FD433F6E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此页结束：已拿到用户流句柄，并列出“需要多少线程、通知槽位和对端通道”。</a:t>
            </a:r>
          </a:p>
        </p:txBody>
      </p:sp>
    </p:spTree>
    <p:extLst>
      <p:ext uri="{BB962C8B-B14F-4D97-AF65-F5344CB8AC3E}">
        <p14:creationId xmlns:p14="http://schemas.microsoft.com/office/powerpoint/2010/main" val="581914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4. HCCL 向 HCOMM 取得缓冲区、线程和通道">
            <a:extLst xmlns:a="http://schemas.openxmlformats.org/drawingml/2006/main">
              <a:ext uri="{FF2B5EF4-FFF2-40B4-BE49-F238E27FC236}">
                <a16:creationId xmlns:a16="http://schemas.microsoft.com/office/drawing/2014/main" id="{0767D132-05D1-4EB6-80E0-C594139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4. HCCL 向 HCOMM 取得缓冲区、线程和通道</a:t>
            </a:r>
          </a:p>
        </p:txBody>
      </p:sp>
      <p:sp>
        <p:nvSpPr>
          <p:cNvPr id="2" name="接上一页的资源清单。这里开始获得可实际使用的句柄和地址，尚未搬运本次 AllToAll 的数据。">
            <a:extLst xmlns:a="http://schemas.openxmlformats.org/drawingml/2006/main">
              <a:ext uri="{FF2B5EF4-FFF2-40B4-BE49-F238E27FC236}">
                <a16:creationId xmlns:a16="http://schemas.microsoft.com/office/drawing/2014/main" id="{F8F5688E-8F36-4121-8FD6-93FAA77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接上一页的资源清单。这里开始获得可实际使用的句柄和地址，尚未搬运本次 AllToAll 的数据。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2F49F7C4-A0CD-482D-8BD1-6F7A6BF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5E897-7A43-430E-A8C0-D419DC8A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D36D1-A716-42C3-B990-E99C6C13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212AC7DF-8CC0-494E-A5B2-90801ACD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DEF4688B-5B8F-474C-985F-CE673F24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FE12687F-EF32-4F72-949E-33B34F03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49214-1D04-40B3-9B95-39634472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0EEC3A-B92D-4343-B609-0CF6986A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5E5EF-FC4B-4ECC-976B-D4BF76CA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C635AFA6-582F-4E21-A487-87C66C75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01A44191-0BFB-47DD-92BF-FD7CD5C3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D337731-0402-4A7E-A1DA-18B4873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GetAlgResAICPU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进入 AICPU 专用的资源准备流程</a:t>
            </a:r>
          </a:p>
        </p:txBody>
      </p:sp>
      <p:sp>
        <p:nvSpPr>
          <p:cNvPr id="17" name="把拓扑、分组信息和通信域信息放入资源上下文，组织下面的分配。">
            <a:extLst xmlns:a="http://schemas.openxmlformats.org/drawingml/2006/main">
              <a:ext uri="{FF2B5EF4-FFF2-40B4-BE49-F238E27FC236}">
                <a16:creationId xmlns:a16="http://schemas.microsoft.com/office/drawing/2014/main" id="{C5A0DF8A-5CC2-4213-9FD6-34B51BFB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把拓扑、分组信息和通信域信息放入资源上下文，组织下面的分配。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142C8-CE27-468A-860F-C479F5FB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94875-60B3-4807-9543-5E3D6745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C84FDC-AB5B-4558-BCAC-9F321984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8588663C-C487-4D11-8CA0-D9A9D059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BE48732D-439F-48B1-9C8B-D57C9EC4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344DAF7-C006-4A5B-89B2-72E8568B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按清单准备 AICPU 所需资源</a:t>
            </a:r>
          </a:p>
        </p:txBody>
      </p:sp>
      <p:sp>
        <p:nvSpPr>
          <p:cNvPr id="25" name="先拿本地缓冲区，再取得 Thread，最后取得到各个 Peer 的 Channel。">
            <a:extLst xmlns:a="http://schemas.openxmlformats.org/drawingml/2006/main">
              <a:ext uri="{FF2B5EF4-FFF2-40B4-BE49-F238E27FC236}">
                <a16:creationId xmlns:a16="http://schemas.microsoft.com/office/drawing/2014/main" id="{6EE125A4-999E-4B0C-A1BE-7CDCD49A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先拿本地缓冲区，再取得 Thread，最后取得到各个 Peer 的 Channel。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31685-2FA4-4CB6-A465-A31BDEFE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122BE9-0FA8-42D5-8A3E-B5F8E7D2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4F039A-29BF-46C4-A0B3-EE511AE6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DDA7DA5C-28E4-4A80-85C9-60431CD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内存">
            <a:extLst xmlns:a="http://schemas.openxmlformats.org/drawingml/2006/main">
              <a:ext uri="{FF2B5EF4-FFF2-40B4-BE49-F238E27FC236}">
                <a16:creationId xmlns:a16="http://schemas.microsoft.com/office/drawing/2014/main" id="{CFCE3B3B-0993-481E-9464-C4BFFFDD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内存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B401B9D-5C25-4A35-A322-3B2C6BB9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HcclGetHcclBuffer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取得本 Rank 的通信中转缓冲区</a:t>
            </a:r>
          </a:p>
        </p:txBody>
      </p:sp>
      <p:sp>
        <p:nvSpPr>
          <p:cNvPr id="33" name="返回本地 CCL Buffer 的地址和大小。普通 Write 路径接收远端数据时使用它。">
            <a:extLst xmlns:a="http://schemas.openxmlformats.org/drawingml/2006/main">
              <a:ext uri="{FF2B5EF4-FFF2-40B4-BE49-F238E27FC236}">
                <a16:creationId xmlns:a16="http://schemas.microsoft.com/office/drawing/2014/main" id="{368A478A-58EB-4923-BF8D-D475FBC3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返回本地 CCL Buffer 的地址和大小。普通 Write 路径接收远端数据时使用它。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2DAAE4-FD0F-422D-A2E7-A60D0548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4B9935-AB6B-42DE-9C1E-F1ADAF51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025535-F6E9-4DF0-8226-2C40FF69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E0ADE9BD-C309-4946-BF29-66FEB7A9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2AFBF14C-895C-4AC0-A8CD-361EDDE5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F98DE2D-F9B2-464E-849F-DF61C711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组织本次算法的 Thread 获取</a:t>
            </a:r>
          </a:p>
        </p:txBody>
      </p:sp>
      <p:sp>
        <p:nvSpPr>
          <p:cNvPr id="41" name="AICPU_TS 分支继续取得一个主 Thread 和所需的从 Thread，并保存通知槽位数量。">
            <a:extLst xmlns:a="http://schemas.openxmlformats.org/drawingml/2006/main">
              <a:ext uri="{FF2B5EF4-FFF2-40B4-BE49-F238E27FC236}">
                <a16:creationId xmlns:a16="http://schemas.microsoft.com/office/drawing/2014/main" id="{BFA7B4B3-4813-4B92-9BEB-338052D7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AICPU_TS 分支继续取得一个主 Thread 和所需的从 Thread，并保存通知槽位数量。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93BE34-EEB3-4154-96D6-15D6758B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DDC46A-956F-4CD0-93BF-9C7971F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6C6E68-8275-4C83-AA94-14D09E3B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FDF21A90-7E10-4B66-B46C-78EACE8E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7E80C5B0-27ED-477E-AEFE-8FE736DC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23BA033-6393-4F1C-B894-B79DF1E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HcclGetAicpuThread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准备设备主从 Thread 和展开 Thread</a:t>
            </a:r>
          </a:p>
        </p:txBody>
      </p:sp>
      <p:sp>
        <p:nvSpPr>
          <p:cNvPr id="49" name="还会尝试复用已有展开 Thread，后者用于提交 AICPU Kernel。">
            <a:extLst xmlns:a="http://schemas.openxmlformats.org/drawingml/2006/main">
              <a:ext uri="{FF2B5EF4-FFF2-40B4-BE49-F238E27FC236}">
                <a16:creationId xmlns:a16="http://schemas.microsoft.com/office/drawing/2014/main" id="{A22E85C1-06BD-4903-9D3B-5D471D44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还会尝试复用已有展开 Thread，后者用于提交 AICPU Kernel。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A1B3BF-B33C-4614-96E6-50BC6176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886C33-AD36-469F-B995-1BF15623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AAD369-6206-48D0-BCBD-B70F3901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E8314FBF-BC5E-4509-AFDC-663F36A8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CCD58520-36BA-4DE0-A334-267A4BFE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1AF9C4B-B44A-440C-A65A-94213BCE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按每个 Thread 的配置获取资源</a:t>
            </a:r>
          </a:p>
        </p:txBody>
      </p:sp>
      <p:sp>
        <p:nvSpPr>
          <p:cNvPr id="57" name="能力支持时分别指定通知数量，取得任务队列和通知资源。">
            <a:extLst xmlns:a="http://schemas.openxmlformats.org/drawingml/2006/main">
              <a:ext uri="{FF2B5EF4-FFF2-40B4-BE49-F238E27FC236}">
                <a16:creationId xmlns:a16="http://schemas.microsoft.com/office/drawing/2014/main" id="{843FA3AB-766A-4B28-8DB6-F6ACD928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能力支持时分别指定通知数量，取得任务队列和通知资源。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D9BA4D-4DBF-45AD-91EA-8E195795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62C70A8-403B-4B87-9432-A21E222C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7FDB08-DCF8-4A25-92F0-65D28734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9AE85441-84CC-409A-A21A-F714004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CA4D1DF8-51B0-4B57-ADD2-C336DCB2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921FC40-A052-42B9-9E31-7F1FD11B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HcclThreadAcquire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兼容分支中按统一通知数量获取资源</a:t>
            </a:r>
          </a:p>
        </p:txBody>
      </p:sp>
      <p:sp>
        <p:nvSpPr>
          <p:cNvPr id="65" name="仅在上一接口能力不支持时使用。两者是替代关系，不是每次都顺序调用。">
            <a:extLst xmlns:a="http://schemas.openxmlformats.org/drawingml/2006/main">
              <a:ext uri="{FF2B5EF4-FFF2-40B4-BE49-F238E27FC236}">
                <a16:creationId xmlns:a16="http://schemas.microsoft.com/office/drawing/2014/main" id="{F2FD70D2-3C21-454E-878E-C3B2B73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仅在上一接口能力不支持时使用。两者是替代关系，不是每次都顺序调用。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E2BAED-4C63-4D0F-B051-A27D22C6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6EF93C-0AEF-457D-AE5E-33EEBFC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CE1AF4-8CFB-4655-890D-BA4523E2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285D16F7-3316-4709-9B8C-2D10358A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E78A2CF6-5A77-4FAB-8C4F-465D4653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60D784D-ED89-4B63-86CB-7F199D4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HcclGetChannel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为资源清单中的 Peer 组织通道请求</a:t>
            </a:r>
          </a:p>
        </p:txBody>
      </p:sp>
      <p:sp>
        <p:nvSpPr>
          <p:cNvPr id="73" name="请求描述包含远端 Rank、协议、端点和通知数，内部进入实际的通道获取函数。">
            <a:extLst xmlns:a="http://schemas.openxmlformats.org/drawingml/2006/main">
              <a:ext uri="{FF2B5EF4-FFF2-40B4-BE49-F238E27FC236}">
                <a16:creationId xmlns:a16="http://schemas.microsoft.com/office/drawing/2014/main" id="{E87A3B2F-6EFC-49D6-9CBF-A4A8F608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请求描述包含远端 Rank、协议、端点和通知数，内部进入实际的通道获取函数。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55EE72B-D50F-4A2A-A35B-ACC1929B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CA18061-C1D6-4CE8-9887-63D7467B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F10669-8712-4A5B-9C01-37776CDE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9F385B8B-937C-47C8-A079-6E30CE13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70017366-A115-4EF0-A396-B067CD3D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197DE3E-DF19-4B6A-859A-2A5E9E15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HcclChannelAcquire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取得本 Rank 到对端的通信通道</a:t>
            </a:r>
          </a:p>
        </p:txBody>
      </p:sp>
      <p:sp>
        <p:nvSpPr>
          <p:cNvPr id="81" name="返回 Channel 句柄。内部创建或复用、注册和连接的具体过程展开在下一页。">
            <a:extLst xmlns:a="http://schemas.openxmlformats.org/drawingml/2006/main">
              <a:ext uri="{FF2B5EF4-FFF2-40B4-BE49-F238E27FC236}">
                <a16:creationId xmlns:a16="http://schemas.microsoft.com/office/drawing/2014/main" id="{05760DFB-4A0B-4BC3-B5E4-F2578CFB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 Channel 句柄。内部创建或复用、注册和连接的具体过程展开在下一页。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CF5832E-D403-4A8A-B235-8EB268A9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本地中转区和任务队列已取得，接着在 HCOMM 内部完成通道准备。">
            <a:extLst xmlns:a="http://schemas.openxmlformats.org/drawingml/2006/main">
              <a:ext uri="{FF2B5EF4-FFF2-40B4-BE49-F238E27FC236}">
                <a16:creationId xmlns:a16="http://schemas.microsoft.com/office/drawing/2014/main" id="{842E2096-6F13-4077-BCE7-C4FA5A3A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此页结束：本地中转区和任务队列已取得，接着在 HCOMM 内部完成通道准备。</a:t>
            </a:r>
          </a:p>
        </p:txBody>
      </p:sp>
    </p:spTree>
    <p:extLst>
      <p:ext uri="{BB962C8B-B14F-4D97-AF65-F5344CB8AC3E}">
        <p14:creationId xmlns:p14="http://schemas.microsoft.com/office/powerpoint/2010/main" val="3284773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5. HcclChannelAcquire 内部具体怎样建链">
            <a:extLst xmlns:a="http://schemas.openxmlformats.org/drawingml/2006/main">
              <a:ext uri="{FF2B5EF4-FFF2-40B4-BE49-F238E27FC236}">
                <a16:creationId xmlns:a16="http://schemas.microsoft.com/office/drawing/2014/main" id="{1DC7A55E-E59D-4F46-B9E3-9F5E0CB3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5. HcclChannelAcquire 内部具体怎样建链</a:t>
            </a:r>
          </a:p>
        </p:txBody>
      </p:sp>
      <p:sp>
        <p:nvSpPr>
          <p:cNvPr id="2" name="上一页停在通道获取 API。以下进入 HCOMM 内部，按缺少对应资源时的顺序解释。">
            <a:extLst xmlns:a="http://schemas.openxmlformats.org/drawingml/2006/main">
              <a:ext uri="{FF2B5EF4-FFF2-40B4-BE49-F238E27FC236}">
                <a16:creationId xmlns:a16="http://schemas.microsoft.com/office/drawing/2014/main" id="{B396E217-46CA-4105-885F-19615B50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上一页停在通道获取 API。以下进入 HCOMM 内部，按缺少对应资源时的顺序解释。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3482F06E-D5F1-429D-A728-6FB95B9E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7F799-5B79-4CAB-881F-6B7FD0E0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21B9A-2995-4D36-8FF2-028F0A9F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53191378-821D-4417-96E1-1E00F08F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39149FFB-6A78-4678-9898-11E5CE47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D4B04739-D0B4-445A-9D0D-3B0FD14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D3F96-821E-4C9E-8365-B5982F39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65AD15-A37F-484A-A925-182C2BB0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C1181D-10DE-4D3C-92E1-F8D18CA4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60D2B43C-2E27-46F1-8BB5-1D34472C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4FA8C6E8-00C5-44E1-9E0A-0BD6C5C0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62A6545-4223-4C92-820A-81B0F698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MyRank::CreateChannels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统筹这一批通道的建立</a:t>
            </a:r>
          </a:p>
        </p:txBody>
      </p:sp>
      <p:sp>
        <p:nvSpPr>
          <p:cNvPr id="17" name="安排控制连接、端点、内存、基础通道、连接状态和一致性检查。">
            <a:extLst xmlns:a="http://schemas.openxmlformats.org/drawingml/2006/main">
              <a:ext uri="{FF2B5EF4-FFF2-40B4-BE49-F238E27FC236}">
                <a16:creationId xmlns:a16="http://schemas.microsoft.com/office/drawing/2014/main" id="{2D620B25-01B5-462F-97BF-7121B0F1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安排控制连接、端点、内存、基础通道、连接状态和一致性检查。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DAB04-5D9E-4A4A-80F8-E68C4875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1D641-9FCB-4D2D-BA54-F7FF36A2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A0C12-0B4D-4955-AAE9-D9B7D56C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01B4B4D1-E64A-4C45-B203-7ED002DC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9B15BE16-F6EF-4DA6-B952-B266B880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2FA1259-7607-41F3-9CF1-BD30F02F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BatchCreateSockets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准备与对端交换控制信息的连接</a:t>
            </a:r>
          </a:p>
        </p:txBody>
      </p:sp>
      <p:sp>
        <p:nvSpPr>
          <p:cNvPr id="25" name="控制信息包括建链所需地址和参数，不能把它当成本次用户数据已开始发送。">
            <a:extLst xmlns:a="http://schemas.openxmlformats.org/drawingml/2006/main">
              <a:ext uri="{FF2B5EF4-FFF2-40B4-BE49-F238E27FC236}">
                <a16:creationId xmlns:a16="http://schemas.microsoft.com/office/drawing/2014/main" id="{3E478BA4-C4B1-4B89-AAEF-5ECA332D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控制信息包括建链所需地址和参数，不能把它当成本次用户数据已开始发送。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330D42-11A6-490A-9E95-29B32FF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75253C-725C-46D6-ABF0-FE07567F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2B25E-2555-4550-A804-4027F3FB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045289A9-7933-405C-AEE8-FF4A6062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245215AC-7B6D-4350-AE56-9CB17A22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85809B7-AEA1-4F16-8799-CA7A5A1D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BatchCreateChannels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逐项准备底层通信通道</a:t>
            </a:r>
          </a:p>
        </p:txBody>
      </p:sp>
      <p:sp>
        <p:nvSpPr>
          <p:cNvPr id="33" name="调用端点管理器取得或创建端点，再准备可用内存并建立基础 Channel。">
            <a:extLst xmlns:a="http://schemas.openxmlformats.org/drawingml/2006/main">
              <a:ext uri="{FF2B5EF4-FFF2-40B4-BE49-F238E27FC236}">
                <a16:creationId xmlns:a16="http://schemas.microsoft.com/office/drawing/2014/main" id="{A8CB49C3-41E0-4B3C-9853-292B997A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调用端点管理器取得或创建端点，再准备可用内存并建立基础 Channel。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53E8C7-729D-4F34-B7B0-524F4A93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5FA90-8E8D-40FC-B992-8C9E04A7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FD73E6-1609-484C-A170-E1A552BC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DAFB147A-12C2-47B4-A7D0-BF64DDFF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C626C7DC-E590-4C67-A5F0-76C0B2A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E1C14B2-EB3C-4454-94AF-783B8FED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HcommEndpointCreate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创建底层通信端点</a:t>
            </a:r>
          </a:p>
        </p:txBody>
      </p:sp>
      <p:sp>
        <p:nvSpPr>
          <p:cNvPr id="41" name="端点缓存未命中才创建，已有匹配端点可以复用。类别：底层通信资源管理。">
            <a:extLst xmlns:a="http://schemas.openxmlformats.org/drawingml/2006/main">
              <a:ext uri="{FF2B5EF4-FFF2-40B4-BE49-F238E27FC236}">
                <a16:creationId xmlns:a16="http://schemas.microsoft.com/office/drawing/2014/main" id="{F332FF17-2AC2-4C7B-924E-91FA6C11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端点缓存未命中才创建，已有匹配端点可以复用。类别：底层通信资源管理。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C595D0-0844-4B72-8FB0-36A9C19F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925BA0-C79D-43FA-A4C2-337D977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F4667D-54A2-43DC-B317-E1B9AE98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53B3F6FB-8DF4-4FA7-9964-9F6DB202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41CF1A3A-D46D-4CA6-8721-29A85E80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5E048D1-6ED3-4CC0-8064-573B55A1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使本地端点具备接入能力</a:t>
            </a:r>
          </a:p>
        </p:txBody>
      </p:sp>
      <p:sp>
        <p:nvSpPr>
          <p:cNvPr id="49" name="为后续对端建链做好准备，属于端点资源准备。">
            <a:extLst xmlns:a="http://schemas.openxmlformats.org/drawingml/2006/main">
              <a:ext uri="{FF2B5EF4-FFF2-40B4-BE49-F238E27FC236}">
                <a16:creationId xmlns:a16="http://schemas.microsoft.com/office/drawing/2014/main" id="{705C830C-AA23-4741-9AC6-754AAB5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为后续对端建链做好准备，属于端点资源准备。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4316C0-46E1-4AD0-BB69-AB4F7A9B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27B6A3-BBEE-48D2-A37B-84F16B44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F1AF69-31E3-41AA-AEC7-F551747A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C9654EC2-BFFF-4EE4-BA18-7F549A70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9BB4F306-BB01-40DC-BD27-C1EEF4D5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76C20D2-621C-4790-9D0B-A4EAA56D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HcommMemReg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把通信内存登记为端点可访问的内存</a:t>
            </a:r>
          </a:p>
        </p:txBody>
      </p:sp>
      <p:sp>
        <p:nvSpPr>
          <p:cNvPr id="57" name="准备内存句柄时按缺失情况注册 CCL 等通信内存。类别：内存管理。">
            <a:extLst xmlns:a="http://schemas.openxmlformats.org/drawingml/2006/main">
              <a:ext uri="{FF2B5EF4-FFF2-40B4-BE49-F238E27FC236}">
                <a16:creationId xmlns:a16="http://schemas.microsoft.com/office/drawing/2014/main" id="{9116BDF1-A58D-45E8-945D-2848C264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准备内存句柄时按缺失情况注册 CCL 等通信内存。类别：内存管理。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FF80309-E3EF-4533-94B0-5208D057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A4DB5D-BA64-428A-B316-48AD66EA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C08D474-1106-437B-94B1-573AE087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00C7FAD8-E48C-4120-9C72-77809E82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OMM 内部调用&#10;底层资源 API">
            <a:extLst xmlns:a="http://schemas.openxmlformats.org/drawingml/2006/main">
              <a:ext uri="{FF2B5EF4-FFF2-40B4-BE49-F238E27FC236}">
                <a16:creationId xmlns:a16="http://schemas.microsoft.com/office/drawing/2014/main" id="{50D934BE-1FCA-4C53-82E8-A3C5FD8A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底层资源 API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D73295F-90DC-4598-9343-EABE51C9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建立集合通信使用的基础通道</a:t>
            </a:r>
          </a:p>
        </p:txBody>
      </p:sp>
      <p:sp>
        <p:nvSpPr>
          <p:cNvPr id="65" name="已有匹配 Channel 时复用，不能写成每次都重新创建。">
            <a:extLst xmlns:a="http://schemas.openxmlformats.org/drawingml/2006/main">
              <a:ext uri="{FF2B5EF4-FFF2-40B4-BE49-F238E27FC236}">
                <a16:creationId xmlns:a16="http://schemas.microsoft.com/office/drawing/2014/main" id="{44D42355-0007-4052-A966-70C71224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已有匹配 Channel 时复用，不能写成每次都重新创建。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A66ED40-727B-4209-A9B8-CB75C61D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AE945A4-D3CA-45EB-87B1-CB2EB61F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B81E0F-92B7-45F6-86E4-177B866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B879CE6A-8021-4592-93F6-C98060F7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3CCBE995-A7F7-4FF0-B889-ADB7BDC1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2E58C22-16F0-415E-9A27-0EAA1398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BatchConnectChannels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检查并等待这一批通道连接到位</a:t>
            </a:r>
          </a:p>
        </p:txBody>
      </p:sp>
      <p:sp>
        <p:nvSpPr>
          <p:cNvPr id="73" name="内部调用 ChannelProcess::ChannelGetStatus 轮询连接状态，不是另一个公开 GetStatus API。">
            <a:extLst xmlns:a="http://schemas.openxmlformats.org/drawingml/2006/main">
              <a:ext uri="{FF2B5EF4-FFF2-40B4-BE49-F238E27FC236}">
                <a16:creationId xmlns:a16="http://schemas.microsoft.com/office/drawing/2014/main" id="{8A410424-774B-460C-97DC-15B0901D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内部调用 ChannelProcess::ChannelGetStatus 轮询连接状态，不是另一个公开 GetStatus API。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ED76FB-B9F6-442F-8DA4-515E3FB7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775E5E-4D8E-416C-9A3F-2948839F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E3CFD61-5CCD-4F20-A01F-EF696226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EE48327C-EC03-4D3A-B9C5-666750B7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EE260B50-9A11-43B7-B72D-12CEC27A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23F1143-8A7E-4D8E-A625-CE0E5E1A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交换并检查双方建链参数</a:t>
            </a:r>
          </a:p>
        </p:txBody>
      </p:sp>
      <p:sp>
        <p:nvSpPr>
          <p:cNvPr id="81" name="950 路径检查两端信息一致，降低参数不匹配导致的通信错误。">
            <a:extLst xmlns:a="http://schemas.openxmlformats.org/drawingml/2006/main">
              <a:ext uri="{FF2B5EF4-FFF2-40B4-BE49-F238E27FC236}">
                <a16:creationId xmlns:a16="http://schemas.microsoft.com/office/drawing/2014/main" id="{404B5F97-85CB-4159-8B7B-457C7172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950 路径检查两端信息一致，降低参数不匹配导致的通信错误。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E13C4F4-1459-4F17-8922-68ECA315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4F7325-9691-4620-B4C0-C0457873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0C84CDE-AE0E-41E8-9B89-30CBE963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D9746097-811A-4D7F-8525-91B8BF20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OMM 内部&#10;资源管理">
            <a:extLst xmlns:a="http://schemas.openxmlformats.org/drawingml/2006/main">
              <a:ext uri="{FF2B5EF4-FFF2-40B4-BE49-F238E27FC236}">
                <a16:creationId xmlns:a16="http://schemas.microsoft.com/office/drawing/2014/main" id="{21534675-83AE-42F2-A287-556B1612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资源管理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BFC3330-0275-497D-A48A-41BE361D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整理执行引擎能使用的通道句柄</a:t>
            </a:r>
          </a:p>
        </p:txBody>
      </p:sp>
      <p:sp>
        <p:nvSpPr>
          <p:cNvPr id="89" name="为 AICPU 准备最终 Channel 表示，返回到 Host 的资源构造流程。">
            <a:extLst xmlns:a="http://schemas.openxmlformats.org/drawingml/2006/main">
              <a:ext uri="{FF2B5EF4-FFF2-40B4-BE49-F238E27FC236}">
                <a16:creationId xmlns:a16="http://schemas.microsoft.com/office/drawing/2014/main" id="{4CF0902E-59C9-40BF-A0D6-D2012544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为 AICPU 准备最终 Channel 表示，返回到 Host 的资源构造流程。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C2AF262-5330-4B6D-BB7F-170A0C37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建链解决的是“通信通道能不能用”。本次要传的 [2,3] 等用户数据还没有在这里发送。">
            <a:extLst xmlns:a="http://schemas.openxmlformats.org/drawingml/2006/main">
              <a:ext uri="{FF2B5EF4-FFF2-40B4-BE49-F238E27FC236}">
                <a16:creationId xmlns:a16="http://schemas.microsoft.com/office/drawing/2014/main" id="{DAF3F0F3-EBDD-4268-9D60-74A5BE31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建链解决的是“通信通道能不能用”。本次要传的 [2,3] 等用户数据还没有在这里发送。</a:t>
            </a:r>
          </a:p>
        </p:txBody>
      </p:sp>
    </p:spTree>
    <p:extLst>
      <p:ext uri="{BB962C8B-B14F-4D97-AF65-F5344CB8AC3E}">
        <p14:creationId xmlns:p14="http://schemas.microsoft.com/office/powerpoint/2010/main" val="1944071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6. Host 整理资源，把设备执行所需信息交过去">
            <a:extLst xmlns:a="http://schemas.openxmlformats.org/drawingml/2006/main">
              <a:ext uri="{FF2B5EF4-FFF2-40B4-BE49-F238E27FC236}">
                <a16:creationId xmlns:a16="http://schemas.microsoft.com/office/drawing/2014/main" id="{5B0AC6BD-05B4-44B6-8331-652D10CF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6. Host 整理资源，把设备执行所需信息交过去</a:t>
            </a:r>
          </a:p>
        </p:txBody>
      </p:sp>
      <p:sp>
        <p:nvSpPr>
          <p:cNvPr id="2" name="HCOMM 已返回通道句柄。这一页解释“资源已经创建好”怎样变成 AICPU 能读懂的执行上下文。">
            <a:extLst xmlns:a="http://schemas.openxmlformats.org/drawingml/2006/main">
              <a:ext uri="{FF2B5EF4-FFF2-40B4-BE49-F238E27FC236}">
                <a16:creationId xmlns:a16="http://schemas.microsoft.com/office/drawing/2014/main" id="{545C3DB6-9FD1-4F3A-BBC4-AB8FF869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已返回通道句柄。这一页解释“资源已经创建好”怎样变成 AICPU 能读懂的执行上下文。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83951825-73D2-4867-8B25-57DEC1BC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EA196-D51B-4696-BF42-EED5EFB0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735C2-3C9E-451E-BD15-D1D6778B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A323BD4B-AD6F-4A47-8E89-918654F3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8CB3CFDE-ED72-4B6D-A7DF-B2034FF9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5D319A31-F3F5-4334-B1A8-184295C0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B79FF-279C-4AA7-AD79-79DE996B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A01A9-4C8C-4BC5-8148-1D837183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38B5D-4033-48AA-A7C6-339A0A83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203F460F-DFDB-406C-B7D2-4F9510BB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F2162716-5DE4-41F6-850C-D3239A6D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49EDBEF-97AC-4602-9D5B-B8A5478B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BuildChannelInfo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 Channel 句柄补成算法需要的通道说明</a:t>
            </a:r>
          </a:p>
        </p:txBody>
      </p:sp>
      <p:sp>
        <p:nvSpPr>
          <p:cNvPr id="17" name="保存远端 Rank、协议、通知数量、端口分片属性，以及远端 CCL 地址。">
            <a:extLst xmlns:a="http://schemas.openxmlformats.org/drawingml/2006/main">
              <a:ext uri="{FF2B5EF4-FFF2-40B4-BE49-F238E27FC236}">
                <a16:creationId xmlns:a16="http://schemas.microsoft.com/office/drawing/2014/main" id="{DCF9973F-F35C-4EF9-880A-0E79743E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保存远端 Rank、协议、通知数量、端口分片属性，以及远端 CCL 地址。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2F1CD-76B3-49A4-AF76-5FBCF2EE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A2DF3-503A-4BF0-8F73-8F9D5F36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E36D0-B952-4B52-B6D3-E4DED1AF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55ED6DD8-FA0D-4223-AF70-FA6AFF5E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DD5D94D8-01C5-4BD0-81B8-DA75D163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E566B5C-7C28-4474-ABA5-06A3A214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查询所选端点的属性</a:t>
            </a:r>
          </a:p>
        </p:txBody>
      </p:sp>
      <p:sp>
        <p:nvSpPr>
          <p:cNvPr id="25" name="取得带宽系数等，用于按端口分片。能力允许时也读取 Die 信息。">
            <a:extLst xmlns:a="http://schemas.openxmlformats.org/drawingml/2006/main">
              <a:ext uri="{FF2B5EF4-FFF2-40B4-BE49-F238E27FC236}">
                <a16:creationId xmlns:a16="http://schemas.microsoft.com/office/drawing/2014/main" id="{95C91935-6F52-4513-AF08-D779AC0F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取得带宽系数等，用于按端口分片。能力允许时也读取 Die 信息。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329F3-F84B-430C-98C7-60F01C58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D6452-9F6E-4DDC-B7CF-30A460DC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63919-C9B1-40BC-A930-70E65CF9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9267ABFE-2D1E-4FEC-94AE-005FE2F9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内存">
            <a:extLst xmlns:a="http://schemas.openxmlformats.org/drawingml/2006/main">
              <a:ext uri="{FF2B5EF4-FFF2-40B4-BE49-F238E27FC236}">
                <a16:creationId xmlns:a16="http://schemas.microsoft.com/office/drawing/2014/main" id="{56144C05-0A66-40BE-8AC7-46FF305E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内存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7F73EA0-806F-4A16-96B3-116ADB44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查询该通道对应的远端 CCL 缓冲区</a:t>
            </a:r>
          </a:p>
        </p:txBody>
      </p:sp>
      <p:sp>
        <p:nvSpPr>
          <p:cNvPr id="33" name="得到对端缓冲区可访问地址和大小，后面才知道 Write 的目的地址。">
            <a:extLst xmlns:a="http://schemas.openxmlformats.org/drawingml/2006/main">
              <a:ext uri="{FF2B5EF4-FFF2-40B4-BE49-F238E27FC236}">
                <a16:creationId xmlns:a16="http://schemas.microsoft.com/office/drawing/2014/main" id="{AF89B759-C747-4E35-A0E9-A7AC61D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得到对端缓冲区可访问地址和大小，后面才知道 Write 的目的地址。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94C30E-73B3-4F44-A04A-27ECA0A7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4562D0-A6CC-464E-BE6E-D1C359FC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C4A48C-A6BA-45F1-AAE3-8059D409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6CD56103-CB43-475E-8589-D37D3798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OMM 内部调用&#10;内存管理 API">
            <a:extLst xmlns:a="http://schemas.openxmlformats.org/drawingml/2006/main">
              <a:ext uri="{FF2B5EF4-FFF2-40B4-BE49-F238E27FC236}">
                <a16:creationId xmlns:a16="http://schemas.microsoft.com/office/drawing/2014/main" id="{F9BFECD3-A6BF-47C6-8FCC-35A1CF4B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内部调用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内存管理 API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3F7947D-AAD4-402E-9FD6-B533C8D6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查询基础通道上的远端内存映射</a:t>
            </a:r>
          </a:p>
        </p:txBody>
      </p:sp>
      <p:sp>
        <p:nvSpPr>
          <p:cNvPr id="41" name="供上一项解析远端 CCL。查询返回地址信息，这一步不搬用户数据。">
            <a:extLst xmlns:a="http://schemas.openxmlformats.org/drawingml/2006/main">
              <a:ext uri="{FF2B5EF4-FFF2-40B4-BE49-F238E27FC236}">
                <a16:creationId xmlns:a16="http://schemas.microsoft.com/office/drawing/2014/main" id="{ACA9027A-9CA2-469C-9E7E-B54D2E56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供上一项解析远端 CCL。查询返回地址信息，这一步不搬用户数据。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2BA516-BF23-4001-8221-5A671053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DEB79F-D2EE-4AD4-9426-A5C57991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FFF1F6-7E23-425E-97D8-E5059BC2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89677CFD-C360-49AF-ABED-534172AB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FD73FFC1-1F19-4967-8B16-9B35C52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162A258-08C7-4EA8-ACDF-3270028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Serialize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把资源上下文打包成连续字节</a:t>
            </a:r>
          </a:p>
        </p:txBody>
      </p:sp>
      <p:sp>
        <p:nvSpPr>
          <p:cNvPr id="49" name="打包 Thread、Channel、缓冲区地址、拓扑和分组信息，便于交给设备。">
            <a:extLst xmlns:a="http://schemas.openxmlformats.org/drawingml/2006/main">
              <a:ext uri="{FF2B5EF4-FFF2-40B4-BE49-F238E27FC236}">
                <a16:creationId xmlns:a16="http://schemas.microsoft.com/office/drawing/2014/main" id="{28CEEF88-A3A1-49AD-913E-7EECB405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打包 Thread、Channel、缓冲区地址、拓扑和分组信息，便于交给设备。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A12030-0BF2-4E38-80A4-A84BF172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2556E1-DFEF-4DD2-8C67-0AF7E4E2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3F131F-45E6-440D-BC0D-78108868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B6A6BABE-6845-4373-A418-9AAE32E4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52D2265B-37A9-43AD-85EE-35CB4BCD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BB25DF4-2603-4317-A58C-EC4A3056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组织资源上下文向设备侧的交付</a:t>
            </a:r>
          </a:p>
        </p:txBody>
      </p:sp>
      <p:sp>
        <p:nvSpPr>
          <p:cNvPr id="57" name="它依次调用下面两个 HCOMM API，传的是资源描述，不是 AllToAll 输入张量。">
            <a:extLst xmlns:a="http://schemas.openxmlformats.org/drawingml/2006/main">
              <a:ext uri="{FF2B5EF4-FFF2-40B4-BE49-F238E27FC236}">
                <a16:creationId xmlns:a16="http://schemas.microsoft.com/office/drawing/2014/main" id="{D47235D1-1E3F-4433-B7AE-1C6E2727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它依次调用下面两个 HCOMM API，传的是资源描述，不是 AllToAll 输入张量。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59B8674-6344-4A1B-91FA-68E5DEAC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F0B3ACF-369C-4FA4-8BE7-19687C15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E38B58B-F1EC-41A0-B3B8-2317A93A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D10077EE-830F-420D-AF4B-B78B4DE8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9E6D047E-053C-414F-BCBB-7D9A284E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CDD9C3F-283F-480A-B0A5-672B1DBE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HcclEngineCtxCreate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为 AICPU 创建具名上下文空间</a:t>
            </a:r>
          </a:p>
        </p:txBody>
      </p:sp>
      <p:sp>
        <p:nvSpPr>
          <p:cNvPr id="65" name="按算法标识和所需大小取得空间，供后续查询或跨算子复用。">
            <a:extLst xmlns:a="http://schemas.openxmlformats.org/drawingml/2006/main">
              <a:ext uri="{FF2B5EF4-FFF2-40B4-BE49-F238E27FC236}">
                <a16:creationId xmlns:a16="http://schemas.microsoft.com/office/drawing/2014/main" id="{9E77B19D-50CA-4BDE-BE92-85F6E76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按算法标识和所需大小取得空间，供后续查询或跨算子复用。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3186A7-5369-4E3E-8B4B-A42DA4D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9C98BE-55AB-4CFF-A6E4-7112E8CD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2B61A1C-C474-495D-A182-B94333E1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92A37470-CFA6-4F2D-A8E3-6614CFD5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1044EE21-38BB-4F4D-A0BC-0CECDC47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32B7578-0ED1-4CCA-A9D0-5D1EF7E7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HcclEngineCtxCopy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把打包好的资源描述复制进上下文</a:t>
            </a:r>
          </a:p>
        </p:txBody>
      </p:sp>
      <p:sp>
        <p:nvSpPr>
          <p:cNvPr id="73" name="设备随后从这里恢复 Thread、Channel 和地址等信息。类别仍是通信域资源管理。">
            <a:extLst xmlns:a="http://schemas.openxmlformats.org/drawingml/2006/main">
              <a:ext uri="{FF2B5EF4-FFF2-40B4-BE49-F238E27FC236}">
                <a16:creationId xmlns:a16="http://schemas.microsoft.com/office/drawing/2014/main" id="{6587D0F2-20AE-4463-957F-BE9BABCD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设备随后从这里恢复 Thread、Channel 和地址等信息。类别仍是通信域资源管理。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2A1EF-7FF4-45C4-85C3-5960ACA6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91A9A1-D62D-400A-8867-2FEF8BBE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13AAB6A-34D5-473C-91D2-F847A528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E12F56C7-A928-44D4-98C5-B771519F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3150A8C3-7DED-42E9-A696-BA565CA3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6266EDC-F3BC-427D-BC47-EE75835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把设备主 Thread 转成 Host 可使用的句柄</a:t>
            </a:r>
          </a:p>
        </p:txBody>
      </p:sp>
      <p:sp>
        <p:nvSpPr>
          <p:cNvPr id="81" name="第二个导出方向是 AICPU_TS 到 CPU_TS。Host 用它向设备发“输入已经就绪”的通知。">
            <a:extLst xmlns:a="http://schemas.openxmlformats.org/drawingml/2006/main">
              <a:ext uri="{FF2B5EF4-FFF2-40B4-BE49-F238E27FC236}">
                <a16:creationId xmlns:a16="http://schemas.microsoft.com/office/drawing/2014/main" id="{51121DD7-5598-4B51-B6AF-2B1A2007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第二个导出方向是 AICPU_TS 到 CPU_TS。Host 用它向设备发“输入已经就绪”的通知。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06BC905-2B35-4528-836F-69DE57C3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设备资源上下文已备好，Host 和 AICPU 也都有了向对方发通知的句柄。">
            <a:extLst xmlns:a="http://schemas.openxmlformats.org/drawingml/2006/main">
              <a:ext uri="{FF2B5EF4-FFF2-40B4-BE49-F238E27FC236}">
                <a16:creationId xmlns:a16="http://schemas.microsoft.com/office/drawing/2014/main" id="{D511FC99-CA1C-4436-9295-A392B28A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此页结束：设备资源上下文已备好，Host 和 AICPU 也都有了向对方发通知的句柄。</a:t>
            </a:r>
          </a:p>
        </p:txBody>
      </p:sp>
    </p:spTree>
    <p:extLst>
      <p:ext uri="{BB962C8B-B14F-4D97-AF65-F5344CB8AC3E}">
        <p14:creationId xmlns:p14="http://schemas.microsoft.com/office/powerpoint/2010/main" val="1502736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7. Host 发输入就绪通知，再通过 ACL 启动 AICPU">
            <a:extLst xmlns:a="http://schemas.openxmlformats.org/drawingml/2006/main">
              <a:ext uri="{FF2B5EF4-FFF2-40B4-BE49-F238E27FC236}">
                <a16:creationId xmlns:a16="http://schemas.microsoft.com/office/drawing/2014/main" id="{505FC4A9-D9E9-4F26-BF8D-A6363733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7. Host 发输入就绪通知，再通过 ACL 启动 AICPU</a:t>
            </a:r>
          </a:p>
        </p:txBody>
      </p:sp>
      <p:sp>
        <p:nvSpPr>
          <p:cNvPr id="2" name="前面都是准备工作。这里提交设备执行入口，并在用户流上排好“什么时候才允许继续”的依赖。">
            <a:extLst xmlns:a="http://schemas.openxmlformats.org/drawingml/2006/main">
              <a:ext uri="{FF2B5EF4-FFF2-40B4-BE49-F238E27FC236}">
                <a16:creationId xmlns:a16="http://schemas.microsoft.com/office/drawing/2014/main" id="{D69D80F7-15AE-4091-BD86-DCC7FA10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前面都是准备工作。这里提交设备执行入口，并在用户流上排好“什么时候才允许继续”的依赖。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B22075AA-CF38-4397-8780-7687DA04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FDDEC-2D3B-421B-A721-384B7196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F0189-AF0E-472C-88A0-7CA6771A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EE5AEB45-5631-4A8B-AF9B-1E80EC65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38A73751-2C51-4BA8-99A7-EC03BCE5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46B6276E-E2AA-4ED0-971F-03371432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69770-E748-44A1-8A99-81ED7EC4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B6E9B-BA37-4F00-A561-D6DEA8D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F3A9C-E453-475D-99CB-9B48B35C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D2D83CBB-367F-41AF-9E22-08868AD1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753CF180-EA7A-402C-89DC-B16AC047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4877195-F21A-4156-92D3-36F1E08A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组织输入通知、Kernel 发射和完成等待</a:t>
            </a:r>
          </a:p>
        </p:txBody>
      </p:sp>
      <p:sp>
        <p:nvSpPr>
          <p:cNvPr id="17" name="把设备资源上下文指针放入算子参数，衔接 Host 与 AICPU。">
            <a:extLst xmlns:a="http://schemas.openxmlformats.org/drawingml/2006/main">
              <a:ext uri="{FF2B5EF4-FFF2-40B4-BE49-F238E27FC236}">
                <a16:creationId xmlns:a16="http://schemas.microsoft.com/office/drawing/2014/main" id="{32556B8B-4768-42B7-B99D-DF144A99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把设备资源上下文指针放入算子参数，衔接 Host 与 AICPU。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F797FD-59A9-4148-B879-6F4A47F9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22456-C266-42FB-AC66-4EA35E14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2F8E1-1732-4E26-9ED5-14B87A89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3787E472-859B-4313-ACAC-629C5996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71046F5C-AC21-4DBD-ABA9-F3D21EDF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39E3F22-AE34-4A87-A5CB-18251768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在用户流中记录“输入就绪”通知</a:t>
            </a:r>
          </a:p>
        </p:txBody>
      </p:sp>
      <p:sp>
        <p:nvSpPr>
          <p:cNvPr id="25" name="前置任务完成后通知设备主 Thread。设备即使提前开始编排，数据任务也受这项依赖约束。">
            <a:extLst xmlns:a="http://schemas.openxmlformats.org/drawingml/2006/main">
              <a:ext uri="{FF2B5EF4-FFF2-40B4-BE49-F238E27FC236}">
                <a16:creationId xmlns:a16="http://schemas.microsoft.com/office/drawing/2014/main" id="{0BBFEFD7-A856-427C-AA39-4B3CC8C5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前置任务完成后通知设备主 Thread。设备即使提前开始编排，数据任务也受这项依赖约束。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D6C90-23DA-41D3-818D-9C0F44A9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D55F27-6827-4987-80B2-A32287C2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00CCB-3295-4E25-87C9-92B9CFEA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9160645F-4AF7-4BB0-A965-AE847693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3277320F-1C57-4204-A967-470766B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531554D-4CD6-49C7-825A-2EF05BC7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准备按序启动的同步关系</a:t>
            </a:r>
          </a:p>
        </p:txBody>
      </p:sp>
      <p:sp>
        <p:nvSpPr>
          <p:cNvPr id="33" name="提前展开能力等条件满足时，约束不同 Kernel 的展开顺序，内部细节在备注。">
            <a:extLst xmlns:a="http://schemas.openxmlformats.org/drawingml/2006/main">
              <a:ext uri="{FF2B5EF4-FFF2-40B4-BE49-F238E27FC236}">
                <a16:creationId xmlns:a16="http://schemas.microsoft.com/office/drawing/2014/main" id="{DB8A488C-27D6-4944-B4B1-42015E3A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提前展开能力等条件满足时，约束不同 Kernel 的展开顺序，内部细节在备注。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ECF940-1642-4686-846E-0CB4907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FEDEDD-926E-4D7D-9B3E-223D43C4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5F98C2-4E8E-4D2A-8F53-36996D10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F0C48ADC-FA59-4A45-A113-1126A84F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4D4B2DD2-C08B-48D0-AD77-047372BF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B754D85-E0BA-4A96-BC0D-CC066A3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AicpuKernelLaunch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开始组装 ACL 发射参数</a:t>
            </a:r>
          </a:p>
        </p:txBody>
      </p:sp>
      <p:sp>
        <p:nvSpPr>
          <p:cNvPr id="41" name="下面 5 个 ACL API 位于此函数内部，AllToAll 从这里直接调用 ACL Runtime。">
            <a:extLst xmlns:a="http://schemas.openxmlformats.org/drawingml/2006/main">
              <a:ext uri="{FF2B5EF4-FFF2-40B4-BE49-F238E27FC236}">
                <a16:creationId xmlns:a16="http://schemas.microsoft.com/office/drawing/2014/main" id="{366A1527-891E-4F83-A045-6014866F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下面 5 个 ACL API 位于此函数内部，AllToAll 从这里直接调用 ACL Runtime。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54744B-6D41-49E3-81C9-BF205062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EA309E-0EB8-4F72-AA07-D3C78895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C4B127-6D77-411E-A5D4-E644EE61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3493DCD6-8C27-4FD8-8D1F-656AAF8E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144A22F1-7ED2-40DE-80BB-9B4DB68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E0B78A4-6CF4-4B44-B697-154BF3A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aclrtBinaryGetFunction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找到设备侧函数入口</a:t>
            </a:r>
          </a:p>
        </p:txBody>
      </p:sp>
      <p:sp>
        <p:nvSpPr>
          <p:cNvPr id="49" name="取得 HcclLaunchAicpuKernel 的函数句柄，明确“设备上要从哪里开始执行”。">
            <a:extLst xmlns:a="http://schemas.openxmlformats.org/drawingml/2006/main">
              <a:ext uri="{FF2B5EF4-FFF2-40B4-BE49-F238E27FC236}">
                <a16:creationId xmlns:a16="http://schemas.microsoft.com/office/drawing/2014/main" id="{1EAB8BB4-2A01-4900-BCD2-66CB3AE2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取得 HcclLaunchAicpuKernel 的函数句柄，明确“设备上要从哪里开始执行”。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DCD64A-954A-45CB-88D4-46BB3385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4B65D6-A28E-4361-816C-F524552F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C0CCDF-4D6E-4282-8A9B-DF374DE8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8D2408CE-B7AC-4921-9436-CBD3F411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2B123FCE-DF0A-44A8-82F8-DE72A363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A001F66-0016-47D9-93D2-39B64746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aclrtKernelArgsInit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创建本次 Kernel 的参数包</a:t>
            </a:r>
          </a:p>
        </p:txBody>
      </p:sp>
      <p:sp>
        <p:nvSpPr>
          <p:cNvPr id="57" name="得到空的参数句柄，随后把算子参数加入其中。">
            <a:extLst xmlns:a="http://schemas.openxmlformats.org/drawingml/2006/main">
              <a:ext uri="{FF2B5EF4-FFF2-40B4-BE49-F238E27FC236}">
                <a16:creationId xmlns:a16="http://schemas.microsoft.com/office/drawing/2014/main" id="{D41268DD-4FD2-4907-9F8F-2CB1D491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得到空的参数句柄，随后把算子参数加入其中。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365CFE-8D16-4AC5-973F-823048C5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FECB0AA-3D65-450E-8800-D5324FE6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B08764-1397-400C-9587-3FCE564D8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2EF9412B-9674-4880-9400-A279058F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F69CBF18-F458-45CA-9CDA-DC88C9C1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C1A4702-F8CC-4AE1-8FE0-CC74B9B2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aclrtKernelArgsAppend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加入算子参数和变长数据</a:t>
            </a:r>
          </a:p>
        </p:txBody>
      </p:sp>
      <p:sp>
        <p:nvSpPr>
          <p:cNvPr id="65" name="传入输入输出地址、算法名、资源上下文指针、counts 和位移等描述。">
            <a:extLst xmlns:a="http://schemas.openxmlformats.org/drawingml/2006/main">
              <a:ext uri="{FF2B5EF4-FFF2-40B4-BE49-F238E27FC236}">
                <a16:creationId xmlns:a16="http://schemas.microsoft.com/office/drawing/2014/main" id="{7D494F9E-0A31-4B3B-A26A-A2E674B9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传入输入输出地址、算法名、资源上下文指针、counts 和位移等描述。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EF4241D-C0BA-472A-895F-8AD6D459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A2496B0-2D8A-451C-A1D2-393B0D11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563C9F2-6AFB-4F8F-91EA-8BDA79A4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06AA3C46-1E90-4C6B-A217-A5EA860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071CC9E1-266F-4643-BF55-2FF50A6D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B885021-063C-490B-B231-DA2A3AC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结束参数构造</a:t>
            </a:r>
          </a:p>
        </p:txBody>
      </p:sp>
      <p:sp>
        <p:nvSpPr>
          <p:cNvPr id="73" name="把参数包整理成可以交给运行时启动的形式。">
            <a:extLst xmlns:a="http://schemas.openxmlformats.org/drawingml/2006/main">
              <a:ext uri="{FF2B5EF4-FFF2-40B4-BE49-F238E27FC236}">
                <a16:creationId xmlns:a16="http://schemas.microsoft.com/office/drawing/2014/main" id="{CA2C9D20-12AE-4539-868C-64DE5E0C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把参数包整理成可以交给运行时启动的形式。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EB0A368-1CE8-4339-9112-FA4D8534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A10266-108E-4EBA-8A46-856B17D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9ECB333-D625-4778-8C58-C55C85D3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954D0535-0268-4142-9075-1A6B8DCF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ACL&#10;运行时 API">
            <a:extLst xmlns:a="http://schemas.openxmlformats.org/drawingml/2006/main">
              <a:ext uri="{FF2B5EF4-FFF2-40B4-BE49-F238E27FC236}">
                <a16:creationId xmlns:a16="http://schemas.microsoft.com/office/drawing/2014/main" id="{17EDCC09-8A1A-4D97-989D-D65B3020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ACL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运行时 API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EF12826-890B-4C29-8246-4C94A813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向运行时提交 AICPU Kernel</a:t>
            </a:r>
          </a:p>
        </p:txBody>
      </p:sp>
      <p:sp>
        <p:nvSpPr>
          <p:cNvPr id="81" name="按能力使用展开 stream，或回退到用户 stream。设备随后进入下一页的 HCCL 入口。">
            <a:extLst xmlns:a="http://schemas.openxmlformats.org/drawingml/2006/main">
              <a:ext uri="{FF2B5EF4-FFF2-40B4-BE49-F238E27FC236}">
                <a16:creationId xmlns:a16="http://schemas.microsoft.com/office/drawing/2014/main" id="{D20FB390-D013-4D24-8EB3-A433ECE9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按能力使用展开 stream，或回退到用户 stream。设备随后进入下一页的 HCCL 入口。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1563D7-848F-43B2-B3CC-CA32A1BC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4A235C3-3355-403C-931E-322170D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3A6EB05-3061-43D2-88B2-86ED8A4D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D65F8AD3-2296-4F55-9D18-5A891156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Host&#10;内部函数">
            <a:extLst xmlns:a="http://schemas.openxmlformats.org/drawingml/2006/main">
              <a:ext uri="{FF2B5EF4-FFF2-40B4-BE49-F238E27FC236}">
                <a16:creationId xmlns:a16="http://schemas.microsoft.com/office/drawing/2014/main" id="{CC2E2D1D-5AEF-422F-84A1-B0B926B5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56D9DE6-BFEC-4535-8901-0422677E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完成发射后的按序同步安排</a:t>
            </a:r>
          </a:p>
        </p:txBody>
      </p:sp>
      <p:sp>
        <p:nvSpPr>
          <p:cNvPr id="89" name="随后还要把“等待本次通信完成”的任务排入用户流，具体完成关系见第 13 页。">
            <a:extLst xmlns:a="http://schemas.openxmlformats.org/drawingml/2006/main">
              <a:ext uri="{FF2B5EF4-FFF2-40B4-BE49-F238E27FC236}">
                <a16:creationId xmlns:a16="http://schemas.microsoft.com/office/drawing/2014/main" id="{4768A559-DBFB-4CD4-8E50-F5544DB5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随后还要把“等待本次通信完成”的任务排入用户流，具体完成关系见第 13 页。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D6F18FD-0B5A-451A-BA71-F100FF89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这里完成了“启动请求”。数据真正搬运发生在后面生成的通信任务执行时。">
            <a:extLst xmlns:a="http://schemas.openxmlformats.org/drawingml/2006/main">
              <a:ext uri="{FF2B5EF4-FFF2-40B4-BE49-F238E27FC236}">
                <a16:creationId xmlns:a16="http://schemas.microsoft.com/office/drawing/2014/main" id="{3A8C85CB-7EF1-4B8B-A286-701C9102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这里完成了“启动请求”。数据真正搬运发生在后面生成的通信任务执行时。</a:t>
            </a:r>
          </a:p>
        </p:txBody>
      </p:sp>
    </p:spTree>
    <p:extLst>
      <p:ext uri="{BB962C8B-B14F-4D97-AF65-F5344CB8AC3E}">
        <p14:creationId xmlns:p14="http://schemas.microsoft.com/office/powerpoint/2010/main" val="19285316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8. AICPU 收到任务后，恢复参数并进入算法编排">
            <a:extLst xmlns:a="http://schemas.openxmlformats.org/drawingml/2006/main">
              <a:ext uri="{FF2B5EF4-FFF2-40B4-BE49-F238E27FC236}">
                <a16:creationId xmlns:a16="http://schemas.microsoft.com/office/drawing/2014/main" id="{02FC50D7-51BE-4AF6-941D-B25F5A6C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8. AICPU 收到任务后，恢复参数并进入算法编排</a:t>
            </a:r>
          </a:p>
        </p:txBody>
      </p:sp>
      <p:sp>
        <p:nvSpPr>
          <p:cNvPr id="2" name="执行地点从 Host 转到设备上的 AICPU。先恢复这次任务需要的信息，再让后续通信任务等待输入就绪。">
            <a:extLst xmlns:a="http://schemas.openxmlformats.org/drawingml/2006/main">
              <a:ext uri="{FF2B5EF4-FFF2-40B4-BE49-F238E27FC236}">
                <a16:creationId xmlns:a16="http://schemas.microsoft.com/office/drawing/2014/main" id="{6F3E31D4-36AB-4DF9-83E6-7671204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执行地点从 Host 转到设备上的 AICPU。先恢复这次任务需要的信息，再让后续通信任务等待输入就绪。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8A102B98-9545-4C98-8B1B-149605E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78693-E546-44BB-BE87-386900C3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7B0AA-9AA8-4461-AC6E-D869BA5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A9189BDA-C3A7-41AD-B4A1-58D2AAE8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F5FA9D5E-3B07-473F-8F5E-3682E44E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06B4CCCC-CDC6-432F-BB29-DF48BC84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ED2DFC-C875-4D55-8FD1-151B6CE6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AFE0C-AD11-426D-B35D-6E9BF794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143EB-3F7F-49F1-9FEF-B6689CA6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5FAC9F1C-1E3C-40D1-BBBD-01B6F39C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ACL 启动 HCCL&#10;AICPU 入口">
            <a:extLst xmlns:a="http://schemas.openxmlformats.org/drawingml/2006/main">
              <a:ext uri="{FF2B5EF4-FFF2-40B4-BE49-F238E27FC236}">
                <a16:creationId xmlns:a16="http://schemas.microsoft.com/office/drawing/2014/main" id="{9A5AC8DE-7BCD-4DC9-B092-CD31E38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ACL 启动 HCCL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AICPU 入口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93F21E9-F912-4F66-B186-28AF2133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HcclLaunchAicpuKernel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接收运行时交来的算子参数</a:t>
            </a:r>
          </a:p>
        </p:txBody>
      </p:sp>
      <p:sp>
        <p:nvSpPr>
          <p:cNvPr id="17" name="这个入口读出算法名称和资源上下文，开始本次设备侧执行。">
            <a:extLst xmlns:a="http://schemas.openxmlformats.org/drawingml/2006/main">
              <a:ext uri="{FF2B5EF4-FFF2-40B4-BE49-F238E27FC236}">
                <a16:creationId xmlns:a16="http://schemas.microsoft.com/office/drawing/2014/main" id="{1D61125A-E721-42FF-8DA5-8A11C8E3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这个入口读出算法名称和资源上下文，开始本次设备侧执行。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EF649-3195-458E-87F6-E11380C5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C7FD8-0675-4C11-95A5-62E54192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7C326-C9F7-4C50-AD80-6E9C1C58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17B10E49-CDC0-4B4B-9A59-200FEA7F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42DC46A8-6C93-4BB6-9288-240A300A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E84497F-8287-41AE-8AA8-EE5E60C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HcommAcquireComm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取得正在使用通信域的保护</a:t>
            </a:r>
          </a:p>
        </p:txBody>
      </p:sp>
      <p:sp>
        <p:nvSpPr>
          <p:cNvPr id="25" name="保护本次运行期间的通信域使用关系。这里没有新建通信域。">
            <a:extLst xmlns:a="http://schemas.openxmlformats.org/drawingml/2006/main">
              <a:ext uri="{FF2B5EF4-FFF2-40B4-BE49-F238E27FC236}">
                <a16:creationId xmlns:a16="http://schemas.microsoft.com/office/drawing/2014/main" id="{FDA3836D-7A1D-469E-BAC1-7DC9D77A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保护本次运行期间的通信域使用关系。这里没有新建通信域。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E2CE0A-10F3-4EE1-9869-27B668D0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9D8457-5BDD-4420-B71D-A270AF3E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5A002E-8180-4C2B-8BB6-8982D83D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C6DEA131-F8C0-405F-AB32-14E2DCB0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2C9ABF94-6A01-41BA-AB19-3B46A1CC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20A039D-0012-4180-9203-86861BC0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在设备入口发送按序启动通知</a:t>
            </a:r>
          </a:p>
        </p:txBody>
      </p:sp>
      <p:sp>
        <p:nvSpPr>
          <p:cNvPr id="33" name="与上一页的保序安排配合，满足后续 Kernel 的启动依赖，按配置生效。">
            <a:extLst xmlns:a="http://schemas.openxmlformats.org/drawingml/2006/main">
              <a:ext uri="{FF2B5EF4-FFF2-40B4-BE49-F238E27FC236}">
                <a16:creationId xmlns:a16="http://schemas.microsoft.com/office/drawing/2014/main" id="{B607407D-4BDE-4645-8C91-68AE386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与上一页的保序安排配合，满足后续 Kernel 的启动依赖，按配置生效。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DBF28C-677B-45DA-B402-9EB39CF7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171D3B-D348-42DF-BD7C-C86CA590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A2750A-87A3-4DE3-A30C-01B2167A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BE29D4DB-29C3-4E2E-81FC-02B7FFF6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CF92667B-7549-4078-B4C4-8218A5CE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1E6943A-91E7-4129-A9C8-5AB7ACF7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DeserializeResCtx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 Host 打包的资源上下文</a:t>
            </a:r>
          </a:p>
        </p:txBody>
      </p:sp>
      <p:sp>
        <p:nvSpPr>
          <p:cNvPr id="41" name="拿到主从 Thread、Channel、CCL 地址和拓扑。设备缓存有效时可以复用已有反序列化对象。">
            <a:extLst xmlns:a="http://schemas.openxmlformats.org/drawingml/2006/main">
              <a:ext uri="{FF2B5EF4-FFF2-40B4-BE49-F238E27FC236}">
                <a16:creationId xmlns:a16="http://schemas.microsoft.com/office/drawing/2014/main" id="{B63FA122-0A31-4802-88AD-82DC8BA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拿到主从 Thread、Channel、CCL 地址和拓扑。设备缓存有效时可以复用已有反序列化对象。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E93AEB-FBB4-4F42-97FE-BE64A14E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7292D0-9DEA-4A85-91FB-85A1B776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CE8CC8-DFC1-4747-B874-2D3119FE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02A1BEB2-060B-4901-8F17-98D15E8B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775D72CD-57B3-43A4-B0D5-3E2EAAEE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EEA08B6-D4DC-4505-8E29-ED5B2014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恢复数量和位移数组的设备侧指针</a:t>
            </a:r>
          </a:p>
        </p:txBody>
      </p:sp>
      <p:sp>
        <p:nvSpPr>
          <p:cNvPr id="49" name="本例恢复 [2,2,2,2] 和 [0,2,4,6]，让后续算法能逐 Rank 计算地址。">
            <a:extLst xmlns:a="http://schemas.openxmlformats.org/drawingml/2006/main">
              <a:ext uri="{FF2B5EF4-FFF2-40B4-BE49-F238E27FC236}">
                <a16:creationId xmlns:a16="http://schemas.microsoft.com/office/drawing/2014/main" id="{12B34510-0E28-4FAB-95E1-B4A7C509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本例恢复 [2,2,2,2] 和 [0,2,4,6]，让后续算法能逐 Rank 计算地址。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93CAEE-C7E3-4AF2-ABBC-EA12BC4E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6F1957-B206-4F75-A49C-86896D6A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38E7BE-0449-4B16-B594-C56B9E1C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4DDE47D8-9C6D-48CA-BF4D-3669212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B455B68F-C830-43A7-AF3D-A5545A16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072A989-F963-45FC-A16E-90160D9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HcommBatchModeStart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开始批量提交通信任务</a:t>
            </a:r>
          </a:p>
        </p:txBody>
      </p:sp>
      <p:sp>
        <p:nvSpPr>
          <p:cNvPr id="57" name="接下来生成的任务按批模式管理，收尾时配对结束。它本身不执行数据交换。">
            <a:extLst xmlns:a="http://schemas.openxmlformats.org/drawingml/2006/main">
              <a:ext uri="{FF2B5EF4-FFF2-40B4-BE49-F238E27FC236}">
                <a16:creationId xmlns:a16="http://schemas.microsoft.com/office/drawing/2014/main" id="{DB8F31D3-D2FF-40F9-900F-2F621AA0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接下来生成的任务按批模式管理，收尾时配对结束。它本身不执行数据交换。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231D56-1CED-4D82-BFB2-597995FA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51D74C-8D3E-49B0-9254-24644934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512E41-9FF5-4373-A586-56F0BF80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F4E351E1-0F07-4465-B329-1140C394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9FD45BF8-03BD-49DA-960A-17416B17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77F5764-CFB7-434F-941D-0903A28F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OpOrchestrate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组织本次通信任务的生成</a:t>
            </a:r>
          </a:p>
        </p:txBody>
      </p:sp>
      <p:sp>
        <p:nvSpPr>
          <p:cNvPr id="65" name="设置受支持的等待超时、安排输入就绪依赖，再取出执行器。Task Cache 关闭时进入这里。">
            <a:extLst xmlns:a="http://schemas.openxmlformats.org/drawingml/2006/main">
              <a:ext uri="{FF2B5EF4-FFF2-40B4-BE49-F238E27FC236}">
                <a16:creationId xmlns:a16="http://schemas.microsoft.com/office/drawing/2014/main" id="{E15CC66E-9A16-4E43-BD8E-D9BC3954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设置受支持的等待超时、安排输入就绪依赖，再取出执行器。Task Cache 关闭时进入这里。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3C412CF-2452-4648-8F25-99343EF8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555173-483E-4C73-91D5-A18AB340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CBBDB3-3FF3-4ED7-9C53-F7D6C2586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04991C5A-580E-4211-B680-FB3A66BA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C4C9889B-D662-440A-ABA7-7FBE8AB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EB64E7E-7E55-499A-A806-156A3B61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HcommThreadNotifyWaitOnThreadWithDefaultTimeout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让设备主 Thread 等待输入就绪</a:t>
            </a:r>
          </a:p>
        </p:txBody>
      </p:sp>
      <p:sp>
        <p:nvSpPr>
          <p:cNvPr id="73" name="HCCL 包装层能力支持时调用此接口。它排入等待任务，不能理解成 AICPU CPU 在这里一直阻塞。">
            <a:extLst xmlns:a="http://schemas.openxmlformats.org/drawingml/2006/main">
              <a:ext uri="{FF2B5EF4-FFF2-40B4-BE49-F238E27FC236}">
                <a16:creationId xmlns:a16="http://schemas.microsoft.com/office/drawing/2014/main" id="{E47A671E-6AF8-4E3D-9E82-0C71159C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包装层能力支持时调用此接口。它排入等待任务，不能理解成 AICPU CPU 在这里一直阻塞。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3175BE4-9A23-49DC-9F00-58B5BB05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3348EFE-7AB5-4E42-895B-D1CDFC46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67CC760-3569-4FF9-AF4D-B553016A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B80268DC-0AFD-4F65-8F92-9768EBF0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497DBEB4-55C4-4041-95A1-91F9D41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A6D8730-C316-4F60-B43F-7C9B5DFD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旧能力下用显式超时排入同一种等待</a:t>
            </a:r>
          </a:p>
        </p:txBody>
      </p:sp>
      <p:sp>
        <p:nvSpPr>
          <p:cNvPr id="81" name="与上一项为兼容选择关系。通知满足之前，受它约束的数据任务不能使用尚未就绪的输入。">
            <a:extLst xmlns:a="http://schemas.openxmlformats.org/drawingml/2006/main">
              <a:ext uri="{FF2B5EF4-FFF2-40B4-BE49-F238E27FC236}">
                <a16:creationId xmlns:a16="http://schemas.microsoft.com/office/drawing/2014/main" id="{9E780035-5C9B-4A75-A3EF-3642DD5F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与上一项为兼容选择关系。通知满足之前，受它约束的数据任务不能使用尚未就绪的输入。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8BD3E23-7597-4CD8-B2DB-6C3764F0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69A34E5-4C3F-42A1-82F3-3CC9AC1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9B560D-0506-43F6-8B6C-ECDE07A8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0B91F4F3-38B9-48CA-B55B-5F6A3466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A961813C-5A1D-4AFF-99FA-E7467F36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090F962-4C7F-439B-8563-D1158EE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GetAlgExec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 AICPU 侧取得算法执行器</a:t>
            </a:r>
          </a:p>
        </p:txBody>
      </p:sp>
      <p:sp>
        <p:nvSpPr>
          <p:cNvPr id="89" name="随后调用执行器的 Orchestrate 方法，进入下一页的分块和逐 Peer 编排。">
            <a:extLst xmlns:a="http://schemas.openxmlformats.org/drawingml/2006/main">
              <a:ext uri="{FF2B5EF4-FFF2-40B4-BE49-F238E27FC236}">
                <a16:creationId xmlns:a16="http://schemas.microsoft.com/office/drawing/2014/main" id="{6451FB78-5BF9-475B-B3EB-56AADD7B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随后调用执行器的 Orchestrate 方法，进入下一页的分块和逐 Peer 编排。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878CAB4-EFE6-4377-9FFA-44733290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此页结束：资源和参数已恢复，输入就绪依赖已排入，AICPU 开始生成具体通信任务。">
            <a:extLst xmlns:a="http://schemas.openxmlformats.org/drawingml/2006/main">
              <a:ext uri="{FF2B5EF4-FFF2-40B4-BE49-F238E27FC236}">
                <a16:creationId xmlns:a16="http://schemas.microsoft.com/office/drawing/2014/main" id="{416912E6-9F31-4F80-AE26-CE37A32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此页结束：资源和参数已恢复，输入就绪依赖已排入，AICPU 开始生成具体通信任务。</a:t>
            </a:r>
          </a:p>
        </p:txBody>
      </p:sp>
    </p:spTree>
    <p:extLst>
      <p:ext uri="{BB962C8B-B14F-4D97-AF65-F5344CB8AC3E}">
        <p14:creationId xmlns:p14="http://schemas.microsoft.com/office/powerpoint/2010/main" val="671731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9. AICPU 先确定块大小，再让主从 Thread 按顺序开始">
            <a:extLst xmlns:a="http://schemas.openxmlformats.org/drawingml/2006/main">
              <a:ext uri="{FF2B5EF4-FFF2-40B4-BE49-F238E27FC236}">
                <a16:creationId xmlns:a16="http://schemas.microsoft.com/office/drawing/2014/main" id="{E63F10A2-649B-4DD8-9847-17C4FB5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9. AICPU 先确定块大小，再让主从 Thread 按顺序开始</a:t>
            </a:r>
          </a:p>
        </p:txBody>
      </p:sp>
      <p:sp>
        <p:nvSpPr>
          <p:cNvPr id="2" name="执行器先控制一次处理多大，再交给普通 Mesh 模板。存在从 Thread 时，需要先建立“主线程就绪后才能开始”的依赖。">
            <a:extLst xmlns:a="http://schemas.openxmlformats.org/drawingml/2006/main">
              <a:ext uri="{FF2B5EF4-FFF2-40B4-BE49-F238E27FC236}">
                <a16:creationId xmlns:a16="http://schemas.microsoft.com/office/drawing/2014/main" id="{57364EE6-C7F8-42D8-9CC1-6C243D4C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执行器先控制一次处理多大，再交给普通 Mesh 模板。存在从 Thread 时，需要先建立“主线程就绪后才能开始”的依赖。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C50F9508-7EB5-4C3C-B52E-ED09EABB8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CBFEC-DA84-4874-91B6-AC7BD40B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C4C05-890F-4AD3-8356-2D96406B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5E0A29BE-3CEB-4D88-B8BE-7B86459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978C2CF1-D526-493E-B9AA-B3C2D381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6C4561D7-DBB4-49A6-8296-67AAA189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62817-0ADA-4C35-9306-34B30FE2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36F8D-8E87-4F82-9D78-7AD5A2CE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3C47E-30FF-499D-A998-9F3B8193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00F7B32D-DBB6-4770-8DBB-B5825DC3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BBB99D08-61C5-4B1D-BF31-4603FE60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7C7A700-023C-40EA-8D58-2AAAFB16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InsV2AlltoAllVSoleExecutor::Orchestrate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恢复各 Peer 的发送和接收信息</a:t>
            </a:r>
          </a:p>
        </p:txBody>
      </p:sp>
      <p:sp>
        <p:nvSpPr>
          <p:cNvPr id="17" name="根据资源上下文建立远端 Rank 到 Channel 的映射，读取本次数量和位移。">
            <a:extLst xmlns:a="http://schemas.openxmlformats.org/drawingml/2006/main">
              <a:ext uri="{FF2B5EF4-FFF2-40B4-BE49-F238E27FC236}">
                <a16:creationId xmlns:a16="http://schemas.microsoft.com/office/drawing/2014/main" id="{3A31894B-6676-4C09-BE90-EEA67C15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根据资源上下文建立远端 Rank 到 Channel 的映射，读取本次数量和位移。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99986-51B4-452F-849E-DE1387FF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FB7E0-5F73-48C4-AE36-55DF2E31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75828B-1DDC-4D2D-9F5D-E913FCE5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15F36446-4C5C-40A7-8F4B-6155760C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80F2A524-5705-4BAF-9FE8-45A52F9A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9F48AB1-4D6B-4E86-AC10-B4FF5552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按缓冲区容量和传输上限分块</a:t>
            </a:r>
          </a:p>
        </p:txBody>
      </p:sp>
      <p:sp>
        <p:nvSpPr>
          <p:cNvPr id="25" name="本例每个 Peer 只有 2 个数，可在容量足够时一次处理。大数据则分多块重复下面的过程。">
            <a:extLst xmlns:a="http://schemas.openxmlformats.org/drawingml/2006/main">
              <a:ext uri="{FF2B5EF4-FFF2-40B4-BE49-F238E27FC236}">
                <a16:creationId xmlns:a16="http://schemas.microsoft.com/office/drawing/2014/main" id="{EC12610C-A291-45FF-9DCF-DE4A2049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本例每个 Peer 只有 2 个数，可在容量足够时一次处理。大数据则分多块重复下面的过程。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58131-3E91-4D2D-907E-7122DE95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BF27F1-1812-4FDA-839E-A5417D73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FB5306-D934-4118-AB51-FE35931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7665B936-AC6C-4282-9797-A2E4B646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64DC6B49-BEE8-4791-98BD-2B857F22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81D2200-FD99-4D8C-80CB-6838F4EC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CalcScratchMultiple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计算模板需要多少中转空间</a:t>
            </a:r>
          </a:p>
        </p:txBody>
      </p:sp>
      <p:sp>
        <p:nvSpPr>
          <p:cNvPr id="33" name="用它约束每块大小，避免为每个 Peer 安排的数据超过可用 CCL Buffer。">
            <a:extLst xmlns:a="http://schemas.openxmlformats.org/drawingml/2006/main">
              <a:ext uri="{FF2B5EF4-FFF2-40B4-BE49-F238E27FC236}">
                <a16:creationId xmlns:a16="http://schemas.microsoft.com/office/drawing/2014/main" id="{C9E845C2-06BD-4A57-9C5D-E73E07A2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用它约束每块大小，避免为每个 Peer 安排的数据超过可用 CCL Buffer。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9EBE05-E84C-4692-B69A-14E9B3B8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DDC9E6-C7DB-448D-9DAC-92705BC5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0F4A38-D539-4185-B0DC-89A5D154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AC232C7F-7AAC-413F-A792-A5BBC7D0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37D067EF-EE02-4DC0-8CA9-A03A65A7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3E370F54-B470-48A7-8259-8B9E9B15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InsTempAlltoAllVMesh1D::KernelRun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让普通 Mesh 模板处理当前块</a:t>
            </a:r>
          </a:p>
        </p:txBody>
      </p:sp>
      <p:sp>
        <p:nvSpPr>
          <p:cNvPr id="41" name="取出 Channel、Thread 和本块地址，判断协议。本例非 PCIe，因此进入 Write 路径。">
            <a:extLst xmlns:a="http://schemas.openxmlformats.org/drawingml/2006/main">
              <a:ext uri="{FF2B5EF4-FFF2-40B4-BE49-F238E27FC236}">
                <a16:creationId xmlns:a16="http://schemas.microsoft.com/office/drawing/2014/main" id="{2105A624-642D-4F5C-BD90-9A8D20C1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取出 Channel、Thread 和本块地址，判断协议。本例非 PCIe，因此进入 Write 路径。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C2897D-515A-4ABE-956F-6C74CD13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9AFE4F-FA40-40D4-BADC-780AE67D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027276-C182-43FC-9AA1-43D267C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EA55E759-5AFE-4990-ADC2-B4541B59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C866C777-249F-4ED1-B579-506304F1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E5F27D1-F596-456B-9E88-CFB1E0EB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RunALLtoALL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组织本块的通信轮次和收尾同步</a:t>
            </a:r>
          </a:p>
        </p:txBody>
      </p:sp>
      <p:sp>
        <p:nvSpPr>
          <p:cNvPr id="49" name="多 Thread 时先安排主从开始通知，第一轮还处理属于自己的那份数据。">
            <a:extLst xmlns:a="http://schemas.openxmlformats.org/drawingml/2006/main">
              <a:ext uri="{FF2B5EF4-FFF2-40B4-BE49-F238E27FC236}">
                <a16:creationId xmlns:a16="http://schemas.microsoft.com/office/drawing/2014/main" id="{F0715A78-50C4-4A67-BA8F-55541153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多 Thread 时先安排主从开始通知，第一轮还处理属于自己的那份数据。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E200E5-8F11-45FE-946B-E35F7FFA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38BF8D-145A-456D-989D-91B0B370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785D85B-EA93-4EE5-9B73-B30AA571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631E20C8-67D8-4B53-83BF-55217E98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561AE61D-870A-415E-93B3-935B02AD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3FF5A40-425B-4566-B7B6-F1B9D4BD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CalcCommLoops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计算需要分多少轮覆盖所有远端 Rank</a:t>
            </a:r>
          </a:p>
        </p:txBody>
      </p:sp>
      <p:sp>
        <p:nvSpPr>
          <p:cNvPr id="57" name="这取决于成员和并行资源，不把“4 Rank”简单等同为固定 4 轮。">
            <a:extLst xmlns:a="http://schemas.openxmlformats.org/drawingml/2006/main">
              <a:ext uri="{FF2B5EF4-FFF2-40B4-BE49-F238E27FC236}">
                <a16:creationId xmlns:a16="http://schemas.microsoft.com/office/drawing/2014/main" id="{B073E38D-FC14-4614-8DCB-9BEA820C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这取决于成员和并行资源，不把“4 Rank”简单等同为固定 4 轮。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AC7147-49E4-490E-A5AF-8BA64B7B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8714BE-F0B0-4B20-A295-315FA893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EA9677-1546-4127-883C-5D05DA1B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783A740A-D016-4537-9976-2C28705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39FA0055-E1A5-4934-9363-ADD59C9B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D9751AE-0EC2-4C54-B6E9-2A324618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PreSyncInterThreads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在通信轮次开始前安排主从同步</a:t>
            </a:r>
          </a:p>
        </p:txBody>
      </p:sp>
      <p:sp>
        <p:nvSpPr>
          <p:cNvPr id="65" name="存在从 Thread 时才调用。下面两项发生在此函数内部，所有从 Thread 都受主 Thread 依赖约束。">
            <a:extLst xmlns:a="http://schemas.openxmlformats.org/drawingml/2006/main">
              <a:ext uri="{FF2B5EF4-FFF2-40B4-BE49-F238E27FC236}">
                <a16:creationId xmlns:a16="http://schemas.microsoft.com/office/drawing/2014/main" id="{C8E0CDDA-FD00-4A83-AA7F-DBE00389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存在从 Thread 时才调用。下面两项发生在此函数内部，所有从 Thread 都受主 Thread 依赖约束。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438CB8-F180-43E5-BAAF-95A29A78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73586E9-59B2-458B-8697-5676129D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D6AAB6A-733C-4B7C-ABFA-E65F60F4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6FF5DACD-55B6-4C0B-B8F9-CF0C4F9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AB6072CD-4405-444A-9E06-4D559B01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2D44C79-01CD-4D5A-B6C0-D75878AE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由主 Thread 向各从 Thread 发开始通知</a:t>
            </a:r>
          </a:p>
        </p:txBody>
      </p:sp>
      <p:sp>
        <p:nvSpPr>
          <p:cNvPr id="73" name="通知排在主 Thread 的输入就绪等待之后，让从 Thread 继承“输入可以用了”的条件。">
            <a:extLst xmlns:a="http://schemas.openxmlformats.org/drawingml/2006/main">
              <a:ext uri="{FF2B5EF4-FFF2-40B4-BE49-F238E27FC236}">
                <a16:creationId xmlns:a16="http://schemas.microsoft.com/office/drawing/2014/main" id="{D5E34388-429C-4472-AE80-D291D71D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通知排在主 Thread 的输入就绪等待之后，让从 Thread 继承“输入可以用了”的条件。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176E498-C1F6-4E0B-B12A-7C992DA8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DF714B1-519F-4741-9EBE-018EDF38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03BAE6D-AF65-424D-8AD6-62252A5B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A8110E84-C100-4A6E-A1E3-2FF4EF7D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08A2D44C-57CF-4034-AD1C-C09AA1AA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65712AC-1D16-4A78-9A80-CE80BFC4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在各从 Thread 上排入开始等待</a:t>
            </a:r>
          </a:p>
        </p:txBody>
      </p:sp>
      <p:sp>
        <p:nvSpPr>
          <p:cNvPr id="81" name="每条从 Thread 等到主 Thread 的对应通知，才允许执行后续搬运。默认超时能力由包装层选择。">
            <a:extLst xmlns:a="http://schemas.openxmlformats.org/drawingml/2006/main">
              <a:ext uri="{FF2B5EF4-FFF2-40B4-BE49-F238E27FC236}">
                <a16:creationId xmlns:a16="http://schemas.microsoft.com/office/drawing/2014/main" id="{5FDB8E6C-15FD-4524-AB67-D2B40F37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每条从 Thread 等到主 Thread 的对应通知，才允许执行后续搬运。默认超时能力由包装层选择。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545E655-9AAA-4339-9EB2-F5DA531A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此页结束：当前块大小已确定，主从任务队列的开始依赖也已经排好。">
            <a:extLst xmlns:a="http://schemas.openxmlformats.org/drawingml/2006/main">
              <a:ext uri="{FF2B5EF4-FFF2-40B4-BE49-F238E27FC236}">
                <a16:creationId xmlns:a16="http://schemas.microsoft.com/office/drawing/2014/main" id="{946E2C60-19DE-467B-8667-B1433290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此页结束：当前块大小已确定，主从任务队列的开始依赖也已经排好。</a:t>
            </a:r>
          </a:p>
        </p:txBody>
      </p:sp>
    </p:spTree>
    <p:extLst>
      <p:ext uri="{BB962C8B-B14F-4D97-AF65-F5344CB8AC3E}">
        <p14:creationId xmlns:p14="http://schemas.microsoft.com/office/powerpoint/2010/main" val="10702445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10. 逐个 Peer 计算：发哪一片、走哪个通道、放到哪里">
            <a:extLst xmlns:a="http://schemas.openxmlformats.org/drawingml/2006/main">
              <a:ext uri="{FF2B5EF4-FFF2-40B4-BE49-F238E27FC236}">
                <a16:creationId xmlns:a16="http://schemas.microsoft.com/office/drawing/2014/main" id="{846144C3-7087-402C-A089-77505AB8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10. 逐个 Peer 计算：发哪一片、走哪个通道、放到哪里</a:t>
            </a:r>
          </a:p>
        </p:txBody>
      </p:sp>
      <p:sp>
        <p:nvSpPr>
          <p:cNvPr id="2" name="接上一页已经确定的当前数据块。下面仍以 Rank 0 为本端，逐步形成发给 Rank 1 的具体搬运参数。">
            <a:extLst xmlns:a="http://schemas.openxmlformats.org/drawingml/2006/main">
              <a:ext uri="{FF2B5EF4-FFF2-40B4-BE49-F238E27FC236}">
                <a16:creationId xmlns:a16="http://schemas.microsoft.com/office/drawing/2014/main" id="{221B3C22-A4FB-4ED9-9FE8-A310B472C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接上一页已经确定的当前数据块。下面仍以 Rank 0 为本端，逐步形成发给 Rank 1 的具体搬运参数。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06FCFE4C-7BA6-4951-939F-5121D007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F0185-E0D2-477E-8882-4C5CE186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F87E-2A3B-4966-AFF9-845D88C3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43E445B4-6884-425A-BFE5-0BFF7B17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AA6D920C-0BCE-4C7D-B854-7CDA3C85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27BF1D03-2299-42D9-9844-CE67E666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00C09-5ACA-4814-A569-6BE0FBB8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3EC11-7742-4EFA-B564-23CC77C5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6AAA1-013F-4979-A050-8B25BB6D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14F19AB8-5A87-48D7-8890-0A9CFA80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82C52132-3312-428F-B303-3ADD7316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6A3B869-2DF1-4C0A-A27E-1F36D037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列出当前轮要通信的 Peer</a:t>
            </a:r>
          </a:p>
        </p:txBody>
      </p:sp>
      <p:sp>
        <p:nvSpPr>
          <p:cNvPr id="17" name="例如当前需要处理 Rank 1，则下面进一步取出通往 Rank 1 的 Channel。">
            <a:extLst xmlns:a="http://schemas.openxmlformats.org/drawingml/2006/main">
              <a:ext uri="{FF2B5EF4-FFF2-40B4-BE49-F238E27FC236}">
                <a16:creationId xmlns:a16="http://schemas.microsoft.com/office/drawing/2014/main" id="{DFBBDAB8-6243-42D2-884E-98F0E8A6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例如当前需要处理 Rank 1，则下面进一步取出通往 Rank 1 的 Channel。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75906-C0C6-4668-9B25-B3EE7813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A02EC8-28D5-4091-986A-FB30F069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6D789-2487-4E5C-9A4F-C6D0532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3CFD51F2-03E1-4CE9-AFB3-0BA3A669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1CF964C8-89D7-4D1F-885D-05CA6AC2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3732639-2B33-46D6-9138-842840A7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LocalCopyForMyRank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在第一轮处理发给自己的分片</a:t>
            </a:r>
          </a:p>
        </p:txBody>
      </p:sp>
      <p:sp>
        <p:nvSpPr>
          <p:cNvPr id="25" name="先算本 Rank 对应的输入输出位置，再进入本地拷贝包装。其他轮次不重复这项自分片处理。">
            <a:extLst xmlns:a="http://schemas.openxmlformats.org/drawingml/2006/main">
              <a:ext uri="{FF2B5EF4-FFF2-40B4-BE49-F238E27FC236}">
                <a16:creationId xmlns:a16="http://schemas.microsoft.com/office/drawing/2014/main" id="{96524133-CFB7-46A2-A01B-34059F27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先算本 Rank 对应的输入输出位置，再进入本地拷贝包装。其他轮次不重复这项自分片处理。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F67BF-6D42-4C4C-B629-26EE595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EDE006-4F22-423D-8421-0CD34437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661DB-75ED-4199-8531-787A62FD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10CCEA62-3E35-43EB-8B17-0023DE71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数据面 / 搬运">
            <a:extLst xmlns:a="http://schemas.openxmlformats.org/drawingml/2006/main">
              <a:ext uri="{FF2B5EF4-FFF2-40B4-BE49-F238E27FC236}">
                <a16:creationId xmlns:a16="http://schemas.microsoft.com/office/drawing/2014/main" id="{CC56F155-E881-4F47-AFBF-6C1C8D49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搬运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A95B3C5-A96B-425C-BBEB-F50FF447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 Rank 0 的 [0,1] 拷到自己的输出</a:t>
            </a:r>
          </a:p>
        </p:txBody>
      </p:sp>
      <p:sp>
        <p:nvSpPr>
          <p:cNvPr id="33" name="源是 sendBuf[0]，目的为 recvBuf[0]，长度是 8 字节。这份数据无需经过其他 Rank。">
            <a:extLst xmlns:a="http://schemas.openxmlformats.org/drawingml/2006/main">
              <a:ext uri="{FF2B5EF4-FFF2-40B4-BE49-F238E27FC236}">
                <a16:creationId xmlns:a16="http://schemas.microsoft.com/office/drawing/2014/main" id="{248CA4E6-5477-492B-AC76-084D1C01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源是 sendBuf[0]，目的为 recvBuf[0]，长度是 8 字节。这份数据无需经过其他 Rank。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A98761-5A6A-44D8-8C7B-9A793A8B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B1316A-E135-4DDD-A80E-61B312FB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723543-CCA6-4BFF-8027-2F3DC45D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F7DE5599-95AF-4F41-A24D-AED75098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B32FF078-53D7-43A0-98DC-3A97399D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EE1AC2E-E63F-4398-B828-0AB513EA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遍历本轮 Peer 并组织每个 Peer 的任务</a:t>
            </a:r>
          </a:p>
        </p:txBody>
      </p:sp>
      <p:sp>
        <p:nvSpPr>
          <p:cNvPr id="41" name="按端口能力分配数据，再进入每个 Channel 的发送、接收与后拷贝。">
            <a:extLst xmlns:a="http://schemas.openxmlformats.org/drawingml/2006/main">
              <a:ext uri="{FF2B5EF4-FFF2-40B4-BE49-F238E27FC236}">
                <a16:creationId xmlns:a16="http://schemas.microsoft.com/office/drawing/2014/main" id="{B6DD21E3-C62F-4DD2-8742-13983A93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按端口能力分配数据，再进入每个 Channel 的发送、接收与后拷贝。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D3986B-FD86-45A8-AA1F-6C00E6F3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9A5FB3-761C-4BEE-A6B7-8AAF71CB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A57027-6B0D-4141-84C3-B7E82627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5E8789A0-ADE1-4E4E-A683-82A9AFA9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1C495ABA-7942-4A44-9767-D0875DA0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4535F9FF-400D-4F97-96D2-36938EDF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CalcDataSplitByPortGroupCommon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按端口能力把数据分到可用 Channel</a:t>
            </a:r>
          </a:p>
        </p:txBody>
      </p:sp>
      <p:sp>
        <p:nvSpPr>
          <p:cNvPr id="49" name="分别计算发送和接收的数量、字节数和偏移。单 Channel 时该 Peer 的数据走这一条通道。">
            <a:extLst xmlns:a="http://schemas.openxmlformats.org/drawingml/2006/main">
              <a:ext uri="{FF2B5EF4-FFF2-40B4-BE49-F238E27FC236}">
                <a16:creationId xmlns:a16="http://schemas.microsoft.com/office/drawing/2014/main" id="{5BEBAD94-2718-42E9-9068-09FCB8C9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分别计算发送和接收的数量、字节数和偏移。单 Channel 时该 Peer 的数据走这一条通道。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904C34-9541-485B-BD3B-0D0EC938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9F1CA2-89F4-4C90-91CE-B521849D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9F6116-3530-40B4-B06C-5F37480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703B9E57-BD5C-4A17-8685-BDB582B1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A10B4B76-F9FA-446A-BC8E-C7F6F564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8CD9D2B-2E21-40FE-949D-2FD7173B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RunSendRecvByChannel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逐条 Channel 组织当前 Peer 的交换</a:t>
            </a:r>
          </a:p>
        </p:txBody>
      </p:sp>
      <p:sp>
        <p:nvSpPr>
          <p:cNvPr id="57" name="取得对应 Thread，准备发送与接收的分片描述，交换后再做需要的后拷贝。">
            <a:extLst xmlns:a="http://schemas.openxmlformats.org/drawingml/2006/main">
              <a:ext uri="{FF2B5EF4-FFF2-40B4-BE49-F238E27FC236}">
                <a16:creationId xmlns:a16="http://schemas.microsoft.com/office/drawing/2014/main" id="{09938591-78FE-4B0D-868A-106AE11F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取得对应 Thread，准备发送与接收的分片描述，交换后再做需要的后拷贝。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F6546F-8FC4-452F-AF14-EE95C1C1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BE8BBD-AF7F-48D6-8CE8-B266D55B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4DABCD-8996-4192-8C55-A9187D3E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BC7F217A-614E-43E6-BD75-6D8C3914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C03B6EC5-6037-4E9B-B26D-972CE17B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8641831-A542-4907-B7A2-0083073C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CalcCclBuffIdx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计算双方中转缓冲区使用的槽位</a:t>
            </a:r>
          </a:p>
        </p:txBody>
      </p:sp>
      <p:sp>
        <p:nvSpPr>
          <p:cNvPr id="65" name="槽位与当前 Peer、并行组织有关，不能直接拿远端 Rank 编号当作物理地址下标。">
            <a:extLst xmlns:a="http://schemas.openxmlformats.org/drawingml/2006/main">
              <a:ext uri="{FF2B5EF4-FFF2-40B4-BE49-F238E27FC236}">
                <a16:creationId xmlns:a16="http://schemas.microsoft.com/office/drawing/2014/main" id="{A493FED7-9979-41ED-8E4B-F4DC169C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槽位与当前 Peer、并行组织有关，不能直接拿远端 Rank 编号当作物理地址下标。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3737FB5-0458-4588-A61C-73FCE76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59916BC-7A20-48A1-9B3D-AA757178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E42A6F-F520-4FE4-BDC6-CD1733FA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BB19597C-6544-4F3D-B316-C79025F0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C1C20C66-57DC-4CA5-B812-F78AC1AD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3AA2BE1-5094-4B93-86D4-C5BB29B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BuildDataSlices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计算实际源地址、目的地址和字节数</a:t>
            </a:r>
          </a:p>
        </p:txBody>
      </p:sp>
      <p:sp>
        <p:nvSpPr>
          <p:cNvPr id="73" name="发给 Rank 1 的 [2,3] 从 sendBuf[2] 开始，即第 3 个元素，长度为 8 字节。目的为 Rank 1 的 CCL 槽位。">
            <a:extLst xmlns:a="http://schemas.openxmlformats.org/drawingml/2006/main">
              <a:ext uri="{FF2B5EF4-FFF2-40B4-BE49-F238E27FC236}">
                <a16:creationId xmlns:a16="http://schemas.microsoft.com/office/drawing/2014/main" id="{3F51002F-38B4-40A6-9B47-950840D4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发给 Rank 1 的 [2,3] 从 sendBuf[2] 开始，即第 3 个元素，长度为 8 字节。目的为 Rank 1 的 CCL 槽位。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7432963-F0C0-4300-991D-431001BD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D7C5C6C-44B8-4BBE-B450-C02C2B7E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AB35F3F-7D24-4A61-9466-3C24114C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0A9DA9AE-0123-4910-A01D-F02C4BA8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9C89F9E4-5040-4DBE-AE87-9458E00C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D27C0045-E675-4001-989F-1536CA4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RunSendRecv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按协议与非零数据选择收发包装</a:t>
            </a:r>
          </a:p>
        </p:txBody>
      </p:sp>
      <p:sp>
        <p:nvSpPr>
          <p:cNvPr id="81" name="本例普通 Write，当前 Channel 发送和接收均非零，因此进入下面的双向交换。">
            <a:extLst xmlns:a="http://schemas.openxmlformats.org/drawingml/2006/main">
              <a:ext uri="{FF2B5EF4-FFF2-40B4-BE49-F238E27FC236}">
                <a16:creationId xmlns:a16="http://schemas.microsoft.com/office/drawing/2014/main" id="{12002DE1-4943-4310-8C9F-35D7E735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本例普通 Write，当前 Channel 发送和接收均非零，因此进入下面的双向交换。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529C23D-52A4-473A-991C-9C60CD6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FE77DF4-94FB-4B1D-A39D-8E42494A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07E0265-4CC3-4162-962E-88FEED12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9B18A3EA-4848-49C0-8904-F083B538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62DDA5F4-1F66-4A43-8004-52760738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BA52706-3E50-4DB2-8C39-4670D5B3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SendRecvWrite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展开一个 Peer 的握手和远端写任务</a:t>
            </a:r>
          </a:p>
        </p:txBody>
      </p:sp>
      <p:sp>
        <p:nvSpPr>
          <p:cNvPr id="89" name="它调用的每个 HCOMM API 在下一页单独解释，顺序是接收准备、等待对端、写入和完成通知。">
            <a:extLst xmlns:a="http://schemas.openxmlformats.org/drawingml/2006/main">
              <a:ext uri="{FF2B5EF4-FFF2-40B4-BE49-F238E27FC236}">
                <a16:creationId xmlns:a16="http://schemas.microsoft.com/office/drawing/2014/main" id="{DC07C188-914D-4882-B68B-C0D9C81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它调用的每个 HCOMM API 在下一页单独解释，顺序是接收准备、等待对端、写入和完成通知。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A2ABE29-735F-468D-9C6E-4F86E07F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此页结束：已确定 Thread、Channel、源地址、目的地址和 8 字节长度，下一页开始生成握手与搬运。">
            <a:extLst xmlns:a="http://schemas.openxmlformats.org/drawingml/2006/main">
              <a:ext uri="{FF2B5EF4-FFF2-40B4-BE49-F238E27FC236}">
                <a16:creationId xmlns:a16="http://schemas.microsoft.com/office/drawing/2014/main" id="{2FE19951-D9AB-49C0-AF56-C690F885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此页结束：已确定 Thread、Channel、源地址、目的地址和 8 字节长度，下一页开始生成握手与搬运。</a:t>
            </a:r>
          </a:p>
        </p:txBody>
      </p:sp>
    </p:spTree>
    <p:extLst>
      <p:ext uri="{BB962C8B-B14F-4D97-AF65-F5344CB8AC3E}">
        <p14:creationId xmlns:p14="http://schemas.microsoft.com/office/powerpoint/2010/main" val="11508325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11. 只看 Rank 0 与 Rank 1：先握手，再写数据，再确认">
            <a:extLst xmlns:a="http://schemas.openxmlformats.org/drawingml/2006/main">
              <a:ext uri="{FF2B5EF4-FFF2-40B4-BE49-F238E27FC236}">
                <a16:creationId xmlns:a16="http://schemas.microsoft.com/office/drawing/2014/main" id="{CA757A99-8564-4ECB-B3C3-C71CF164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11. 只看 Rank 0 与 Rank 1：先握手，再写数据，再确认</a:t>
            </a:r>
          </a:p>
        </p:txBody>
      </p:sp>
      <p:sp>
        <p:nvSpPr>
          <p:cNvPr id="2" name="两端执行相同逻辑。下面按 Rank 0 的任务下发顺序读，第 1–5 项属于 SendRecvWrite，第 6 项属于模板的后拷贝。">
            <a:extLst xmlns:a="http://schemas.openxmlformats.org/drawingml/2006/main">
              <a:ext uri="{FF2B5EF4-FFF2-40B4-BE49-F238E27FC236}">
                <a16:creationId xmlns:a16="http://schemas.microsoft.com/office/drawing/2014/main" id="{73640698-958F-4B62-993B-333E8EFE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两端执行相同逻辑。下面按 Rank 0 的任务下发顺序读，第 1–5 项属于 SendRecvWrite，第 6 项属于模板的后拷贝。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F2AACB44-CC39-4BCD-A35A-7992BF31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47DE9-070B-44E3-A465-B9437BBB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CDE81-BC18-4328-A571-BC75B9CA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02DD1598-65D6-4193-B53A-37347C03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68E1A-50AE-4E30-9424-8B517EC0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049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" name="1">
            <a:extLst xmlns:a="http://schemas.openxmlformats.org/drawingml/2006/main">
              <a:ext uri="{FF2B5EF4-FFF2-40B4-BE49-F238E27FC236}">
                <a16:creationId xmlns:a16="http://schemas.microsoft.com/office/drawing/2014/main" id="{29ECDED5-C25A-4450-8E44-BACA45E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1239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D5C8B-E428-4EEA-8312-4506CB8A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9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A4BF1-AD58-4990-87B4-54477FFF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86252" y="139160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2337DD45-DFF6-4A26-BAE8-B9EE282B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95375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14" name="告诉 Rank 1：我可以接收你的数据">
            <a:extLst xmlns:a="http://schemas.openxmlformats.org/drawingml/2006/main">
              <a:ext uri="{FF2B5EF4-FFF2-40B4-BE49-F238E27FC236}">
                <a16:creationId xmlns:a16="http://schemas.microsoft.com/office/drawing/2014/main" id="{3EE6DCE0-B427-4448-BD2A-995F105D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0953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告诉 Rank 1：我可以接收你的数据</a:t>
            </a:r>
          </a:p>
        </p:txBody>
      </p:sp>
      <p:sp>
        <p:nvSpPr>
          <p:cNvPr id="15" name="Rank 0 在接收方向记录 ACK，表示本端接收中转区可以用于本轮交换。">
            <a:extLst xmlns:a="http://schemas.openxmlformats.org/drawingml/2006/main">
              <a:ext uri="{FF2B5EF4-FFF2-40B4-BE49-F238E27FC236}">
                <a16:creationId xmlns:a16="http://schemas.microsoft.com/office/drawing/2014/main" id="{124B87BC-9ACC-4AA6-BAA6-131704F9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在接收方向记录 ACK，表示本端接收中转区可以用于本轮交换。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668D2-852E-43B6-9278-F94EC7DB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DF3B6-570A-4FF3-BA44-51C018E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7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29628" y="16768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2A79F-38C4-48AC-BB52-1C238D5D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4307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2">
            <a:extLst xmlns:a="http://schemas.openxmlformats.org/drawingml/2006/main">
              <a:ext uri="{FF2B5EF4-FFF2-40B4-BE49-F238E27FC236}">
                <a16:creationId xmlns:a16="http://schemas.microsoft.com/office/drawing/2014/main" id="{83F89CFB-5A7E-4203-BAFC-48ECE27A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7621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C1E3F-D219-4CE8-9DBF-62BC22FF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28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333E4-4597-4F46-B20D-EDD6283F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486252" y="2029778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24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D29CD133-7FE3-4DAE-AF7E-21E6B17E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25" name="等待 Rank 1 也准备好接收">
            <a:extLst xmlns:a="http://schemas.openxmlformats.org/drawingml/2006/main">
              <a:ext uri="{FF2B5EF4-FFF2-40B4-BE49-F238E27FC236}">
                <a16:creationId xmlns:a16="http://schemas.microsoft.com/office/drawing/2014/main" id="{F3916B81-0B63-458B-A62C-1E14E56C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7335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 Rank 1 也准备好接收</a:t>
            </a:r>
          </a:p>
        </p:txBody>
      </p:sp>
      <p:sp>
        <p:nvSpPr>
          <p:cNvPr id="26" name="在发送方向排入 ACK 等待。满足这项依赖后，向 Rank 1 的写操作才可执行。">
            <a:extLst xmlns:a="http://schemas.openxmlformats.org/drawingml/2006/main">
              <a:ext uri="{FF2B5EF4-FFF2-40B4-BE49-F238E27FC236}">
                <a16:creationId xmlns:a16="http://schemas.microsoft.com/office/drawing/2014/main" id="{4E1D0485-B61A-491C-A6F7-C54701D9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90725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在发送方向排入 ACK 等待。满足这项依赖后，向 Rank 1 的写操作才可执行。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A32ED4-A0CB-481D-9DF9-8567DD34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7466E6-081B-4B7E-9F3E-0599C48F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14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29628" y="23150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8CAB9B-92AB-429D-9E7A-5DB10505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812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1" name="3">
            <a:extLst xmlns:a="http://schemas.openxmlformats.org/drawingml/2006/main">
              <a:ext uri="{FF2B5EF4-FFF2-40B4-BE49-F238E27FC236}">
                <a16:creationId xmlns:a16="http://schemas.microsoft.com/office/drawing/2014/main" id="{5AAFFEC6-9E64-423C-91D3-9CF53DA3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0030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F3B0FB-D421-4829-A02B-D39AF85F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734D3F-1619-44B7-8A36-FE4A4733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486252" y="266795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35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DA7453D3-5B1C-4EEF-94C1-3ACFD7C3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36" name="把 [2,3] 写入 Rank 1 的 CCL Buffer">
            <a:extLst xmlns:a="http://schemas.openxmlformats.org/drawingml/2006/main">
              <a:ext uri="{FF2B5EF4-FFF2-40B4-BE49-F238E27FC236}">
                <a16:creationId xmlns:a16="http://schemas.microsoft.com/office/drawing/2014/main" id="{CA248EE2-8711-40DF-88E6-8D57F40C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7172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 [2,3] 写入 Rank 1 的 CCL Buffer</a:t>
            </a:r>
          </a:p>
        </p:txBody>
      </p:sp>
      <p:sp>
        <p:nvSpPr>
          <p:cNvPr id="37" name="参数给出 Thread、Channel、远端目的地址、本地源地址、8 字节长度。每个非零 slice 都会生成搬运。">
            <a:extLst xmlns:a="http://schemas.openxmlformats.org/drawingml/2006/main">
              <a:ext uri="{FF2B5EF4-FFF2-40B4-BE49-F238E27FC236}">
                <a16:creationId xmlns:a16="http://schemas.microsoft.com/office/drawing/2014/main" id="{5CAD082F-DA21-4DFA-93B2-9E039A8E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参数给出 Thread、Channel、远端目的地址、本地源地址、8 字节长度。每个非零 slice 都会生成搬运。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B9C99D-FCE5-4CB8-A96E-C2B77398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B61F4B2-3713-4D64-B483-65D86B15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52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9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829628" y="295322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F68DFE-9B77-46E1-931C-6A37B52F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1942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4">
            <a:extLst xmlns:a="http://schemas.openxmlformats.org/drawingml/2006/main">
              <a:ext uri="{FF2B5EF4-FFF2-40B4-BE49-F238E27FC236}">
                <a16:creationId xmlns:a16="http://schemas.microsoft.com/office/drawing/2014/main" id="{765DBB00-B701-4AE7-943B-17718C26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3847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F5AD08-87EA-462A-8EFD-F435F535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65F7E9-8A79-4E79-94C5-8755BA4E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43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486252" y="3306128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46" name="HcommChannel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6EE32FDA-EA96-42DC-AA0D-F6B399FC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HcommChannelNotifyRecordOnThread</a:t>
            </a:r>
          </a:p>
        </p:txBody>
      </p:sp>
      <p:sp>
        <p:nvSpPr>
          <p:cNvPr id="47" name="通知 Rank 1：我发给你的这一阶段已完成">
            <a:extLst xmlns:a="http://schemas.openxmlformats.org/drawingml/2006/main">
              <a:ext uri="{FF2B5EF4-FFF2-40B4-BE49-F238E27FC236}">
                <a16:creationId xmlns:a16="http://schemas.microsoft.com/office/drawing/2014/main" id="{18E63CF6-4D29-49B5-AC50-88CEEB8A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0099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通知 Rank 1：我发给你的这一阶段已完成</a:t>
            </a:r>
          </a:p>
        </p:txBody>
      </p:sp>
      <p:sp>
        <p:nvSpPr>
          <p:cNvPr id="48" name="这次通知索引为 DATA_SIGNAL，它约束 Rank 1 随后的接收处理。">
            <a:extLst xmlns:a="http://schemas.openxmlformats.org/drawingml/2006/main">
              <a:ext uri="{FF2B5EF4-FFF2-40B4-BE49-F238E27FC236}">
                <a16:creationId xmlns:a16="http://schemas.microsoft.com/office/drawing/2014/main" id="{A35BB62C-1D5C-4CB7-87E7-14575E64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这次通知索引为 DATA_SIGNAL，它约束 Rank 1 随后的接收处理。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F47ECC-C3AD-4E8E-824D-0DBB5F2C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73E2FE-80E8-4BD5-B1F6-B71EE667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90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29628" y="359140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D4FBEA-5EF5-48E6-B5DB-FED5193B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576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3" name="5">
            <a:extLst xmlns:a="http://schemas.openxmlformats.org/drawingml/2006/main">
              <a:ext uri="{FF2B5EF4-FFF2-40B4-BE49-F238E27FC236}">
                <a16:creationId xmlns:a16="http://schemas.microsoft.com/office/drawing/2014/main" id="{F333A321-A780-4A68-B9AF-F1D8F45B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676650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3A0609C-1636-4AE7-B80B-C703B3FB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C72982-9B25-4F98-9FD3-7E0BF6671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486252" y="3944303"/>
            <a:ext cx="0" cy="284797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57" name="HcommChannelNotifyWaitOnThread">
            <a:extLst xmlns:a="http://schemas.openxmlformats.org/drawingml/2006/main">
              <a:ext uri="{FF2B5EF4-FFF2-40B4-BE49-F238E27FC236}">
                <a16:creationId xmlns:a16="http://schemas.microsoft.com/office/drawing/2014/main" id="{7E25BA74-2D3D-4B62-A5AD-61040F3D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HcommChannelNotifyWaitOnThread</a:t>
            </a:r>
          </a:p>
        </p:txBody>
      </p:sp>
      <p:sp>
        <p:nvSpPr>
          <p:cNvPr id="58" name="等待 Rank 1 发给我的数据阶段完成">
            <a:extLst xmlns:a="http://schemas.openxmlformats.org/drawingml/2006/main">
              <a:ext uri="{FF2B5EF4-FFF2-40B4-BE49-F238E27FC236}">
                <a16:creationId xmlns:a16="http://schemas.microsoft.com/office/drawing/2014/main" id="{1EA6D310-E5A9-4028-B5B7-D2621678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480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等待 Rank 1 发给我的数据阶段完成</a:t>
            </a:r>
          </a:p>
        </p:txBody>
      </p:sp>
      <p:sp>
        <p:nvSpPr>
          <p:cNvPr id="59" name="Rank 0 等的是反方向 DATA_SIGNAL，对应从 Rank 1 发来的 [10,11]。">
            <a:extLst xmlns:a="http://schemas.openxmlformats.org/drawingml/2006/main">
              <a:ext uri="{FF2B5EF4-FFF2-40B4-BE49-F238E27FC236}">
                <a16:creationId xmlns:a16="http://schemas.microsoft.com/office/drawing/2014/main" id="{F88EA4CB-6FB3-4AAD-82BD-B1DEFE6A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Rank 0 等的是反方向 DATA_SIGNAL，对应从 Rank 1 发来的 [10,11]。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4CD770-0964-4F13-88D7-15128A08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02AEC5-DC9D-4FAD-8855-1A80E117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29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829628" y="4229577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5953B4-B7A3-4086-A396-2308264C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295775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4" name="6">
            <a:extLst xmlns:a="http://schemas.openxmlformats.org/drawingml/2006/main">
              <a:ext uri="{FF2B5EF4-FFF2-40B4-BE49-F238E27FC236}">
                <a16:creationId xmlns:a16="http://schemas.microsoft.com/office/drawing/2014/main" id="{C939A90F-AF6A-438E-B52D-7A96536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314825"/>
            <a:ext cx="342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65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A230A1CF-85D7-4C31-828A-15FBC407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489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66" name="把收到的 [10,11] 拷入 Rank 0 输出">
            <a:extLst xmlns:a="http://schemas.openxmlformats.org/drawingml/2006/main">
              <a:ext uri="{FF2B5EF4-FFF2-40B4-BE49-F238E27FC236}">
                <a16:creationId xmlns:a16="http://schemas.microsoft.com/office/drawing/2014/main" id="{0011CA7F-2D04-4FE9-99D2-A7E49A0E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2862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把收到的 [10,11] 拷入 Rank 0 输出</a:t>
            </a:r>
          </a:p>
        </p:txBody>
      </p:sp>
      <p:sp>
        <p:nvSpPr>
          <p:cNvPr id="67" name="模板的 PostCopy 发起此调用，源是本地 CCL，目的从 recvBuf[2] 开始，共 8 字节。">
            <a:extLst xmlns:a="http://schemas.openxmlformats.org/drawingml/2006/main">
              <a:ext uri="{FF2B5EF4-FFF2-40B4-BE49-F238E27FC236}">
                <a16:creationId xmlns:a16="http://schemas.microsoft.com/office/drawing/2014/main" id="{5D2B6FBA-EEFD-4025-9871-5930146E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109632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模板的 PostCopy 发起此调用，源是本地 CCL，目的从 recvBuf[2] 开始，共 8 字节。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F18158-8CEA-4DAB-9D48-09DD662A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8DE8C03-F292-4939-8C6F-2B1B1825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829628" y="4867752"/>
            <a:ext cx="11076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F63620A-B9C0-4A9B-BA1A-2B426BA7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257800"/>
            <a:ext cx="3314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72" name="Rank 0 用户输入">
            <a:extLst xmlns:a="http://schemas.openxmlformats.org/drawingml/2006/main">
              <a:ext uri="{FF2B5EF4-FFF2-40B4-BE49-F238E27FC236}">
                <a16:creationId xmlns:a16="http://schemas.microsoft.com/office/drawing/2014/main" id="{F2D941D0-0CDA-416F-95D6-47A5F144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3244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0 用户输入</a:t>
            </a:r>
          </a:p>
        </p:txBody>
      </p:sp>
      <p:sp>
        <p:nvSpPr>
          <p:cNvPr id="73" name="[2,3]，发给 Rank 1">
            <a:extLst xmlns:a="http://schemas.openxmlformats.org/drawingml/2006/main">
              <a:ext uri="{FF2B5EF4-FFF2-40B4-BE49-F238E27FC236}">
                <a16:creationId xmlns:a16="http://schemas.microsoft.com/office/drawing/2014/main" id="{3C41C206-BC3D-474E-9D21-3F6C0B5D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5911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[2,3]，发给 Rank 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6ADA66F-0881-43D2-B47C-81DC3512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23E4558-AFDC-4D93-9605-C6104890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3610928" y="5553552"/>
            <a:ext cx="789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3D491D5-D0A2-4B8E-815F-ED290881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57800"/>
            <a:ext cx="3314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78" name="Rank 1 CCL Buffer">
            <a:extLst xmlns:a="http://schemas.openxmlformats.org/drawingml/2006/main">
              <a:ext uri="{FF2B5EF4-FFF2-40B4-BE49-F238E27FC236}">
                <a16:creationId xmlns:a16="http://schemas.microsoft.com/office/drawing/2014/main" id="{EEC384B3-DFC8-46EC-A910-324A8629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244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CCL Buffer</a:t>
            </a:r>
          </a:p>
        </p:txBody>
      </p:sp>
      <p:sp>
        <p:nvSpPr>
          <p:cNvPr id="79" name="通信接收中转区">
            <a:extLst xmlns:a="http://schemas.openxmlformats.org/drawingml/2006/main">
              <a:ext uri="{FF2B5EF4-FFF2-40B4-BE49-F238E27FC236}">
                <a16:creationId xmlns:a16="http://schemas.microsoft.com/office/drawing/2014/main" id="{A3155EC9-196B-49EB-B0FE-EE33564A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5911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通信接收中转区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AC1FD01-024A-4F1D-A561-7A933606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0A4C2A5-94C7-41D7-88FC-A602A90C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555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80" idx="3"/>
            <a:endCxn xmlns:a="http://schemas.openxmlformats.org/drawingml/2006/main" id="81" idx="1"/>
          </p:cNvCxnSpPr>
          <p:nvPr/>
        </p:nvCxnSpPr>
        <p:spPr>
          <a:xfrm xmlns:a="http://schemas.openxmlformats.org/drawingml/2006/main">
            <a:off x="7754303" y="5553552"/>
            <a:ext cx="789622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141414"/>
            </a:solidFill>
            <a:prstDash val="solid"/>
            <a:tailEnd type="triangle" w="sm" len="sm"/>
          </a:ln>
        </p:spPr>
      </p:cxn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5998CF3-02CF-4C1B-9CAC-B5C7BD69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57800"/>
            <a:ext cx="33147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C908B"/>
            </a:solidFill>
          </a:ln>
        </p:spPr>
      </p:sp>
      <p:sp>
        <p:nvSpPr>
          <p:cNvPr id="84" name="Rank 1 用户输出">
            <a:extLst xmlns:a="http://schemas.openxmlformats.org/drawingml/2006/main">
              <a:ext uri="{FF2B5EF4-FFF2-40B4-BE49-F238E27FC236}">
                <a16:creationId xmlns:a16="http://schemas.microsoft.com/office/drawing/2014/main" id="{BED09182-F049-4EEE-9C4D-D029E691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244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Rank 1 用户输出</a:t>
            </a:r>
          </a:p>
        </p:txBody>
      </p:sp>
      <p:sp>
        <p:nvSpPr>
          <p:cNvPr id="85" name="[2,3]，来自 Rank 0">
            <a:extLst xmlns:a="http://schemas.openxmlformats.org/drawingml/2006/main">
              <a:ext uri="{FF2B5EF4-FFF2-40B4-BE49-F238E27FC236}">
                <a16:creationId xmlns:a16="http://schemas.microsoft.com/office/drawing/2014/main" id="{AFF31B36-D1F4-4EC8-83C2-958E91FD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91175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[2,3]，来自 Rank 0</a:t>
            </a:r>
          </a:p>
        </p:txBody>
      </p:sp>
      <p:sp>
        <p:nvSpPr>
          <p:cNvPr id="86" name="Write：远端写入">
            <a:extLst xmlns:a="http://schemas.openxmlformats.org/drawingml/2006/main">
              <a:ext uri="{FF2B5EF4-FFF2-40B4-BE49-F238E27FC236}">
                <a16:creationId xmlns:a16="http://schemas.microsoft.com/office/drawing/2014/main" id="{E8746377-2727-469A-A9B6-47ADC657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38750"/>
            <a:ext cx="790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Write：远端写入</a:t>
            </a:r>
          </a:p>
        </p:txBody>
      </p:sp>
      <p:sp>
        <p:nvSpPr>
          <p:cNvPr id="87" name="LocalCopy：本地取出">
            <a:extLst xmlns:a="http://schemas.openxmlformats.org/drawingml/2006/main">
              <a:ext uri="{FF2B5EF4-FFF2-40B4-BE49-F238E27FC236}">
                <a16:creationId xmlns:a16="http://schemas.microsoft.com/office/drawing/2014/main" id="{C6477ED2-2518-4028-BB0B-D8BAC7FB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238750"/>
            <a:ext cx="7905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LocalCopy：本地取出</a:t>
            </a:r>
          </a:p>
        </p:txBody>
      </p:sp>
      <p:sp>
        <p:nvSpPr>
          <p:cNvPr id="88" name="反方向完全对应：[10,11] 从 Rank 1 输入写到 Rank 0 CCL，再拷入 Rank 0 输出。">
            <a:extLst xmlns:a="http://schemas.openxmlformats.org/drawingml/2006/main">
              <a:ext uri="{FF2B5EF4-FFF2-40B4-BE49-F238E27FC236}">
                <a16:creationId xmlns:a16="http://schemas.microsoft.com/office/drawing/2014/main" id="{96B78018-A6BE-45FB-A312-C7CB8C5B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972175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反方向完全对应：[10,11] 从 Rank 1 输入写到 Rank 0 CCL，再拷入 Rank 0 输出。</a:t>
            </a:r>
          </a:p>
        </p:txBody>
      </p:sp>
      <p:sp>
        <p:nvSpPr>
          <p:cNvPr id="89" name="Wait 的能力分支：HcommChannelNotifyWaitOnThreadWithDefaultTimeout 使用默认超时，支持时替代显式超时接口。">
            <a:extLst xmlns:a="http://schemas.openxmlformats.org/drawingml/2006/main">
              <a:ext uri="{FF2B5EF4-FFF2-40B4-BE49-F238E27FC236}">
                <a16:creationId xmlns:a16="http://schemas.microsoft.com/office/drawing/2014/main" id="{8F2F2C10-022B-48D0-B27F-3D413ED3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257925"/>
            <a:ext cx="11525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Wait 的能力分支：HcommChannelNotifyWaitOnThreadWithDefaultTimeout 使用默认超时，支持时替代显式超时接口。</a:t>
            </a:r>
          </a:p>
        </p:txBody>
      </p:sp>
    </p:spTree>
    <p:extLst>
      <p:ext uri="{BB962C8B-B14F-4D97-AF65-F5344CB8AC3E}">
        <p14:creationId xmlns:p14="http://schemas.microsoft.com/office/powerpoint/2010/main" val="10590647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12. 所有 Peer 的任务排好后，怎样通知上层可以继续">
            <a:extLst xmlns:a="http://schemas.openxmlformats.org/drawingml/2006/main">
              <a:ext uri="{FF2B5EF4-FFF2-40B4-BE49-F238E27FC236}">
                <a16:creationId xmlns:a16="http://schemas.microsoft.com/office/drawing/2014/main" id="{9A4E97F5-EB53-42DB-9FBC-A688D9DE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12. 所有 Peer 的任务排好后，怎样通知上层可以继续</a:t>
            </a:r>
          </a:p>
        </p:txBody>
      </p:sp>
      <p:sp>
        <p:nvSpPr>
          <p:cNvPr id="2" name="先完成当前块的主从汇合，再处理其他块。只有整个算子的任务都编排完，Kernel 才安排最后的完成通知。">
            <a:extLst xmlns:a="http://schemas.openxmlformats.org/drawingml/2006/main">
              <a:ext uri="{FF2B5EF4-FFF2-40B4-BE49-F238E27FC236}">
                <a16:creationId xmlns:a16="http://schemas.microsoft.com/office/drawing/2014/main" id="{22872CD1-70A1-4AAF-AF92-B0E610C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先完成当前块的主从汇合，再处理其他块。只有整个算子的任务都编排完，Kernel 才安排最后的完成通知。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B7E5B96F-1C32-40BA-B9F2-927F6F29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F530D-BA83-4895-BCB9-B604BA2F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92B02-5493-4B27-B6E3-3430A60E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28B31551-CBC3-41A8-A80C-6B0DB3DD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B50E3BE7-F93B-4A62-87C1-F564247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95631D13-B2F1-426F-8E4D-1B58006E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2067B-D7DF-488B-87C0-76E76C9A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50BE95-5625-4C84-8514-BE5E2B27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C4C01-A14D-4F47-B863-A6CB87C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B909E983-E3B3-46D6-85ED-0B873E45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50C31995-9B39-48EA-BFB6-C7D1AA80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1D9DAE4-683A-4AAE-A9D1-BE613364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PostSyncInterThreads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让主 Thread 等齐从 Thread 的工作</a:t>
            </a:r>
          </a:p>
        </p:txBody>
      </p:sp>
      <p:sp>
        <p:nvSpPr>
          <p:cNvPr id="17" name="存在从 Thread 时，为本块末尾建立汇合依赖，防止主 Thread 抢先发算子完成通知。">
            <a:extLst xmlns:a="http://schemas.openxmlformats.org/drawingml/2006/main">
              <a:ext uri="{FF2B5EF4-FFF2-40B4-BE49-F238E27FC236}">
                <a16:creationId xmlns:a16="http://schemas.microsoft.com/office/drawing/2014/main" id="{F3ABF2A9-CB4F-4C34-80E1-4F8D0023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存在从 Thread 时，为本块末尾建立汇合依赖，防止主 Thread 抢先发算子完成通知。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AAB81-FE2E-4494-A22F-71780BA4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AFF37F-D420-4ACD-B53A-607BD80D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645921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E45507-D8E9-40C3-A4D2-62F0F721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21644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D26567A4-E36E-43D3-A688-4F3A436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31169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8CAE8974-137F-4377-ACF1-17816F3F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02594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F8025DB-CD3E-479D-807F-E8979C62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83544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在主 Thread 上排入汇合等待</a:t>
            </a:r>
          </a:p>
        </p:txBody>
      </p:sp>
      <p:sp>
        <p:nvSpPr>
          <p:cNvPr id="25" name="主 Thread 必须等到各从 Thread 的对应通知。默认超时能力存在时由同义默认超时接口承接。">
            <a:extLst xmlns:a="http://schemas.openxmlformats.org/drawingml/2006/main">
              <a:ext uri="{FF2B5EF4-FFF2-40B4-BE49-F238E27FC236}">
                <a16:creationId xmlns:a16="http://schemas.microsoft.com/office/drawing/2014/main" id="{D9415CEF-A7B6-44B6-AE77-E23C1903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12144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主 Thread 必须等到各从 Thread 的对应通知。默认超时能力存在时由同义默认超时接口承接。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955B9-A7D6-4B74-A6D9-10685B0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3B289-53CF-44EA-8857-92C95A63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253140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0F23E-2200-40F2-B55B-6E050225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28863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973DF24E-1637-49A5-B584-4B38EC25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38388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09E10F33-E225-45A4-B29D-2132D734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9813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03D976D-3812-4DE0-B899-22F73CB7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90763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在从 Thread 上排入完成通知</a:t>
            </a:r>
          </a:p>
        </p:txBody>
      </p:sp>
      <p:sp>
        <p:nvSpPr>
          <p:cNvPr id="33" name="从 Thread 前面的搬运与后拷贝完成后才满足主 Thread 的等待。C++ 下发顺序可先 Wait 后 Record。">
            <a:extLst xmlns:a="http://schemas.openxmlformats.org/drawingml/2006/main">
              <a:ext uri="{FF2B5EF4-FFF2-40B4-BE49-F238E27FC236}">
                <a16:creationId xmlns:a16="http://schemas.microsoft.com/office/drawing/2014/main" id="{45AE45EA-9827-43D4-A470-74D6533C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9363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从 Thread 前面的搬运与后拷贝完成后才满足主 Thread 的等待。C++ 下发顺序可先 Wait 后 Record。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8701D6-1818-4CF1-BD4C-2D48F03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56D88-0266-4297-AA8F-9218F016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860358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5FCC61-6ADE-4549-98CB-2FCBF57C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36081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C74DC41E-D9D2-4380-A224-91AAAC61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45606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AICPU&#10;内部函数">
            <a:extLst xmlns:a="http://schemas.openxmlformats.org/drawingml/2006/main">
              <a:ext uri="{FF2B5EF4-FFF2-40B4-BE49-F238E27FC236}">
                <a16:creationId xmlns:a16="http://schemas.microsoft.com/office/drawing/2014/main" id="{158A0631-15F7-445A-A2F0-03E5A17F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7031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AICPU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E49057D6-16E3-4625-8AB1-20B0BE26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97981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OrchestrateLoop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继续下一块或返回 Kernel</a:t>
            </a:r>
          </a:p>
        </p:txBody>
      </p:sp>
      <p:sp>
        <p:nvSpPr>
          <p:cNvPr id="41" name="仍有数据时更新地址和数量，再调模板。全部大块任务都排好后返回。">
            <a:extLst xmlns:a="http://schemas.openxmlformats.org/drawingml/2006/main">
              <a:ext uri="{FF2B5EF4-FFF2-40B4-BE49-F238E27FC236}">
                <a16:creationId xmlns:a16="http://schemas.microsoft.com/office/drawing/2014/main" id="{49282449-8937-4D80-8D2E-54C47F76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6581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仍有数据时更新地址和数量，再调模板。全部大块任务都排好后返回。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2651DC-63AB-483A-863E-BD66A64C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8898B0-A7E6-4D95-9123-239D18FF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6675C6-33E8-48CC-9178-45DFB0A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990B8A36-A59D-4E2B-8CBC-182D4AAB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E96DEC7F-1FC9-466C-9A18-6361A253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8AF99CD-3FF2-44AB-B3C8-5C3A459E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在设备主 Thread 上安排算子完成通知</a:t>
            </a:r>
          </a:p>
        </p:txBody>
      </p:sp>
      <p:sp>
        <p:nvSpPr>
          <p:cNvPr id="49" name="这次目标是 Host 用户流对应的 Thread。通知排在本次通信及汇合依赖之后。">
            <a:extLst xmlns:a="http://schemas.openxmlformats.org/drawingml/2006/main">
              <a:ext uri="{FF2B5EF4-FFF2-40B4-BE49-F238E27FC236}">
                <a16:creationId xmlns:a16="http://schemas.microsoft.com/office/drawing/2014/main" id="{E0D88536-AF90-42DD-938B-1157BF4D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这次目标是 Host 用户流对应的 Thread。通知排在本次通信及汇合依赖之后。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876C32-4E87-44D8-B09B-7B5DF27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8DEB2F-E1E8-4B9F-BE3D-F9E023AD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4074796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353E51-EF74-4CEB-B5F7-945B1FE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50519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92584D13-FC49-4758-BB0D-DA2CC94C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60044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FC443586-DAF5-416C-B176-EB274AE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1469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54D3120-81CA-4951-BEDB-1C193EDE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2419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HcommBatchModeEnd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结束批模式并提交剩余任务</a:t>
            </a:r>
          </a:p>
        </p:txBody>
      </p:sp>
      <p:sp>
        <p:nvSpPr>
          <p:cNvPr id="57" name="把批模式下尚未提交的任务交出去，配对前面的 BatchModeStart。">
            <a:extLst xmlns:a="http://schemas.openxmlformats.org/drawingml/2006/main">
              <a:ext uri="{FF2B5EF4-FFF2-40B4-BE49-F238E27FC236}">
                <a16:creationId xmlns:a16="http://schemas.microsoft.com/office/drawing/2014/main" id="{4C845F25-CA97-467C-99C3-39F0B24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1019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把批模式下尚未提交的任务交出去，配对前面的 BatchModeStart。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EAC3CF8-BCA7-4BA3-B8D3-DD790F08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C83C68-8D95-46D3-8C3E-AB9C86F2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682015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F026FF-83B7-4B37-BE4B-9331C3D7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57738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70FF96CB-E4F3-45E8-AECE-DDC2FA34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67263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DC2934E0-3186-4DE1-8B80-6B2EF1C4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38688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27758AA-0758-4EF3-BA1E-2CAC2B05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9638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HcommReleaseComm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释放本次通信域使用保护</a:t>
            </a:r>
          </a:p>
        </p:txBody>
      </p:sp>
      <p:sp>
        <p:nvSpPr>
          <p:cNvPr id="65" name="退出这次 Kernel 对通信域的使用保护，不销毁通信域，也不要求释放全部缓存资源。">
            <a:extLst xmlns:a="http://schemas.openxmlformats.org/drawingml/2006/main">
              <a:ext uri="{FF2B5EF4-FFF2-40B4-BE49-F238E27FC236}">
                <a16:creationId xmlns:a16="http://schemas.microsoft.com/office/drawing/2014/main" id="{3CC54543-CFBC-4CC7-BC9B-4E72210D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48238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退出这次 Kernel 对通信域的使用保护，不销毁通信域，也不要求释放全部缓存资源。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B2598B-4A99-4565-90E1-5B8DF5FB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A65BB7-EEE6-4309-B20E-5989CB92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5289233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BD1D240-C302-44BC-92BC-F7448AA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4956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36BC7DD9-5558-4DF8-BCEC-CC735136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74481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ost 已排入&#10;数据面 / 同步">
            <a:extLst xmlns:a="http://schemas.openxmlformats.org/drawingml/2006/main">
              <a:ext uri="{FF2B5EF4-FFF2-40B4-BE49-F238E27FC236}">
                <a16:creationId xmlns:a16="http://schemas.microsoft.com/office/drawing/2014/main" id="{4CE05A0C-FC7A-4A91-8606-0761B543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45906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Host 已排入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同步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D9C9954-D0CE-4270-A537-02E1CC6C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26856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让用户流等待设备完成通知</a:t>
            </a:r>
          </a:p>
        </p:txBody>
      </p:sp>
      <p:sp>
        <p:nvSpPr>
          <p:cNvPr id="73" name="此等待在 Host 发射后就已入队。设备通知到达后，用户流中后续任务才能使用本次输出。">
            <a:extLst xmlns:a="http://schemas.openxmlformats.org/drawingml/2006/main">
              <a:ext uri="{FF2B5EF4-FFF2-40B4-BE49-F238E27FC236}">
                <a16:creationId xmlns:a16="http://schemas.microsoft.com/office/drawing/2014/main" id="{6B56444A-667E-439B-868B-8DE870BF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55456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此等待在 Host 发射后就已入队。设备通知到达后，用户流中后续任务才能使用本次输出。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DBA8699-16F8-401A-A00D-F0DCF69C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最终 Rank 0 输出为 [0,1,10,11,20,21,30,31]。上层通过用户流顺序或显式流同步判断可用。">
            <a:extLst xmlns:a="http://schemas.openxmlformats.org/drawingml/2006/main">
              <a:ext uri="{FF2B5EF4-FFF2-40B4-BE49-F238E27FC236}">
                <a16:creationId xmlns:a16="http://schemas.microsoft.com/office/drawing/2014/main" id="{03AD88CB-D425-4AEF-B107-BB9094BC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最终 Rank 0 输出为 [0,1,10,11,20,21,30,31]。上层通过用户流顺序或显式流同步判断可用。</a:t>
            </a:r>
          </a:p>
        </p:txBody>
      </p:sp>
    </p:spTree>
    <p:extLst>
      <p:ext uri="{BB962C8B-B14F-4D97-AF65-F5344CB8AC3E}">
        <p14:creationId xmlns:p14="http://schemas.microsoft.com/office/powerpoint/2010/main" val="16961073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补充 1. HcommWriteOnThread 里面还做了什么">
            <a:extLst xmlns:a="http://schemas.openxmlformats.org/drawingml/2006/main">
              <a:ext uri="{FF2B5EF4-FFF2-40B4-BE49-F238E27FC236}">
                <a16:creationId xmlns:a16="http://schemas.microsoft.com/office/drawing/2014/main" id="{535E3D39-3318-4572-BD58-CCB3CCC6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补充 1. HcommWriteOnThread 里面还做了什么</a:t>
            </a:r>
          </a:p>
        </p:txBody>
      </p:sp>
      <p:sp>
        <p:nvSpPr>
          <p:cNvPr id="2" name="继续向下看同一次“Rank 0 写 [2,3] 到 Rank 1”。下面是 950 适配实现，不把 API 返回画成远端立即完成。">
            <a:extLst xmlns:a="http://schemas.openxmlformats.org/drawingml/2006/main">
              <a:ext uri="{FF2B5EF4-FFF2-40B4-BE49-F238E27FC236}">
                <a16:creationId xmlns:a16="http://schemas.microsoft.com/office/drawing/2014/main" id="{AB8CCD1A-FF87-4EF2-83FD-D5E01897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继续向下看同一次“Rank 0 写 [2,3] 到 Rank 1”。下面是 950 适配实现，不把 API 返回画成远端立即完成。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05FEC75E-E1F3-4D84-894A-EBF92C7E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2B33B-ABB5-4A51-831C-5B05643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7C075-01B6-4E25-A425-A360E6D4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4A31E0DF-C774-4A32-92E6-EECB965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073A958A-39EB-426A-ABDF-F1CD7FD5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DAEAAD9A-1BBC-46E6-A754-B7E723D4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0CDC5-5973-479C-84BE-0276357C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CDAE8-CB8C-4FAF-B482-680E0D96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7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9B564-8735-4B27-A2A9-81202341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3F5B6BB6-25E9-4870-9C63-10707F3B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调 HCOMM&#10;数据面 / 搬运">
            <a:extLst xmlns:a="http://schemas.openxmlformats.org/drawingml/2006/main">
              <a:ext uri="{FF2B5EF4-FFF2-40B4-BE49-F238E27FC236}">
                <a16:creationId xmlns:a16="http://schemas.microsoft.com/office/drawing/2014/main" id="{658D4DC0-D791-490B-B717-BC40E93C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搬运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C0506F3-5735-4701-A391-460F9D0C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HcommWriteOnThread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接收一次远端写任务的描述</a:t>
            </a:r>
          </a:p>
        </p:txBody>
      </p:sp>
      <p:sp>
        <p:nvSpPr>
          <p:cNvPr id="17" name="输入是执行 Thread、Channel、本地源地址、远端目的地址和字节数。">
            <a:extLst xmlns:a="http://schemas.openxmlformats.org/drawingml/2006/main">
              <a:ext uri="{FF2B5EF4-FFF2-40B4-BE49-F238E27FC236}">
                <a16:creationId xmlns:a16="http://schemas.microsoft.com/office/drawing/2014/main" id="{79CB5CB3-FE91-480E-9A98-D54AEE37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输入是执行 Thread、Channel、本地源地址、远端目的地址和字节数。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6428B-D5C4-4EBF-B8DE-72CF442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12071-ACC1-41DC-8C8F-CAA34728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64544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645921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08545-9F15-46ED-808C-00FC1B4E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21644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07DD5246-1A69-45C7-BD72-F0707170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731169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OMM 数据面&#10;内部函数">
            <a:extLst xmlns:a="http://schemas.openxmlformats.org/drawingml/2006/main">
              <a:ext uri="{FF2B5EF4-FFF2-40B4-BE49-F238E27FC236}">
                <a16:creationId xmlns:a16="http://schemas.microsoft.com/office/drawing/2014/main" id="{208E6513-EF90-4213-918F-80CD8D0A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02594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F497D27-3C22-4E3F-B035-D469EA4E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83544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UnwrapChannelHandle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把通道句柄解包为实际通道对象</a:t>
            </a:r>
          </a:p>
        </p:txBody>
      </p:sp>
      <p:sp>
        <p:nvSpPr>
          <p:cNvPr id="25" name="后续才能访问该 Channel 对应的传输实现。">
            <a:extLst xmlns:a="http://schemas.openxmlformats.org/drawingml/2006/main">
              <a:ext uri="{FF2B5EF4-FFF2-40B4-BE49-F238E27FC236}">
                <a16:creationId xmlns:a16="http://schemas.microsoft.com/office/drawing/2014/main" id="{3BCED23F-30C5-4E11-A8CA-AB32370D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12144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后续才能访问该 Channel 对应的传输实现。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2B54CD-F801-4E58-BCCB-6458A78A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2CBD4-B604-4292-8493-BB72FC6D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526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253140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1EDD5-11A5-470C-BE35-A13605FB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328863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7A7A69B3-A8FF-4CD4-9DCB-F49D0B52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38388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OMM 数据面&#10;内部函数">
            <a:extLst xmlns:a="http://schemas.openxmlformats.org/drawingml/2006/main">
              <a:ext uri="{FF2B5EF4-FFF2-40B4-BE49-F238E27FC236}">
                <a16:creationId xmlns:a16="http://schemas.microsoft.com/office/drawing/2014/main" id="{FD808FE7-4BCA-4C44-AF2E-6115C483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9813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内部函数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8B48D832-E29F-4E53-B5FF-A89FCB82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90763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AddThread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把本次使用的 Thread 加入执行管理</a:t>
            </a:r>
          </a:p>
        </p:txBody>
      </p:sp>
      <p:sp>
        <p:nvSpPr>
          <p:cNvPr id="33" name="为后面的批模式与任务管理记录参与者，不是另外新建一条通信线程。">
            <a:extLst xmlns:a="http://schemas.openxmlformats.org/drawingml/2006/main">
              <a:ext uri="{FF2B5EF4-FFF2-40B4-BE49-F238E27FC236}">
                <a16:creationId xmlns:a16="http://schemas.microsoft.com/office/drawing/2014/main" id="{27AB201B-A3DC-462B-A305-A0CC6591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19363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为后面的批模式与任务管理记录参与者，不是另外新建一条通信线程。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6441D8-AF8D-42E4-8C48-6364D93F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755BCF-49D9-4153-90D1-DF027851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9881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860358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157D91-D3EC-4AB0-A95E-CEC3306C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936081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9D0D0491-6193-4803-8466-A31944A2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45606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OMM 数据面&#10;内部方法">
            <a:extLst xmlns:a="http://schemas.openxmlformats.org/drawingml/2006/main">
              <a:ext uri="{FF2B5EF4-FFF2-40B4-BE49-F238E27FC236}">
                <a16:creationId xmlns:a16="http://schemas.microsoft.com/office/drawing/2014/main" id="{0C5998D3-1342-471F-AD8F-EE7BB020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17031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84310C4-F843-43EA-9AF5-1C2B8490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97981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取得 950 的轻量任务流对象</a:t>
            </a:r>
          </a:p>
        </p:txBody>
      </p:sp>
      <p:sp>
        <p:nvSpPr>
          <p:cNvPr id="41" name="把本次搬运放到这个 Thread 对应的任务流上，保持与握手任务的顺序。">
            <a:extLst xmlns:a="http://schemas.openxmlformats.org/drawingml/2006/main">
              <a:ext uri="{FF2B5EF4-FFF2-40B4-BE49-F238E27FC236}">
                <a16:creationId xmlns:a16="http://schemas.microsoft.com/office/drawing/2014/main" id="{1D67FD19-A57D-41F7-9BC1-D2A60E74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26581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把本次搬运放到这个 Thread 对应的任务流上，保持与握手任务的顺序。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9179A8-8177-476C-AC18-6EB55011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85C1D5-CFF2-4776-B042-9BB2A65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E811F2-60A1-4737-BF9A-9B45C583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DA9FD31F-F7B7-4FB1-A843-0C2AF2E7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OMM 传输层&#10;内部方法">
            <a:extLst xmlns:a="http://schemas.openxmlformats.org/drawingml/2006/main">
              <a:ext uri="{FF2B5EF4-FFF2-40B4-BE49-F238E27FC236}">
                <a16:creationId xmlns:a16="http://schemas.microsoft.com/office/drawing/2014/main" id="{D09F5B82-5CA0-4AF9-8B6C-B0FFB11F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传输层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5168FD8-492E-498B-9239-FF5DE1E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BaseTransportLiteImpl::BuildLocRmaBufferLite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构造本地访问描述</a:t>
            </a:r>
          </a:p>
        </p:txBody>
      </p:sp>
      <p:sp>
        <p:nvSpPr>
          <p:cNvPr id="49" name="将 src 和 len 整理成传输层需要的本地缓冲描述，供后续远端写使用。">
            <a:extLst xmlns:a="http://schemas.openxmlformats.org/drawingml/2006/main">
              <a:ext uri="{FF2B5EF4-FFF2-40B4-BE49-F238E27FC236}">
                <a16:creationId xmlns:a16="http://schemas.microsoft.com/office/drawing/2014/main" id="{208741D4-F000-42A8-902E-2F19FED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将 src 和 len 整理成传输层需要的本地缓冲描述，供后续远端写使用。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B66D11-0E59-48A2-BB7F-A636A8F0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9528AB5-F95C-4B43-9F96-D98291A9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07431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4074796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7364D9-1181-4295-83AA-182CB1AA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150519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B3342443-2E5A-49CA-B26C-2265A2F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160044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OMM 传输层&#10;内部方法">
            <a:extLst xmlns:a="http://schemas.openxmlformats.org/drawingml/2006/main">
              <a:ext uri="{FF2B5EF4-FFF2-40B4-BE49-F238E27FC236}">
                <a16:creationId xmlns:a16="http://schemas.microsoft.com/office/drawing/2014/main" id="{F5D53D0D-E62F-465F-8380-91F47912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31469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传输层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67A5FB2-20F5-4517-9E83-394DFC08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12419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向所选传输实现提交远端写</a:t>
            </a:r>
          </a:p>
        </p:txBody>
      </p:sp>
      <p:sp>
        <p:nvSpPr>
          <p:cNvPr id="57" name="使用本地描述、远端地址和任务流生成后续传输任务。具体进一步下钻取决于 Channel 协议。">
            <a:extLst xmlns:a="http://schemas.openxmlformats.org/drawingml/2006/main">
              <a:ext uri="{FF2B5EF4-FFF2-40B4-BE49-F238E27FC236}">
                <a16:creationId xmlns:a16="http://schemas.microsoft.com/office/drawing/2014/main" id="{51796D56-7DD6-44FB-8463-BCF1F88D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41019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使用本地描述、远端地址和任务流生成后续传输任务。具体进一步下钻取决于 Channel 协议。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A8E38D-5873-4253-93FE-793027AC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793CBC-8B96-4E82-866A-90019FEE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15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682015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0512D0D-6845-4193-9877-DADB0928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57738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C9C975FC-B865-482E-9D64-F7C9038C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767263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OMM 数据面&#10;本地拷贝 API">
            <a:extLst xmlns:a="http://schemas.openxmlformats.org/drawingml/2006/main">
              <a:ext uri="{FF2B5EF4-FFF2-40B4-BE49-F238E27FC236}">
                <a16:creationId xmlns:a16="http://schemas.microsoft.com/office/drawing/2014/main" id="{2640D399-FFD0-4AE5-8273-C94E3B2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38688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本地拷贝 API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96D1DB91-055F-4BE5-822B-2D32EFF4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9638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HcommLocalCopyOnThread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处理自分片或接收后的本地拷贝</a:t>
            </a:r>
          </a:p>
        </p:txBody>
      </p:sp>
      <p:sp>
        <p:nvSpPr>
          <p:cNvPr id="65" name="它最终通过 Thread 的本地拷贝能力搬字节，不走同一个跨 Rank 远端写过程。">
            <a:extLst xmlns:a="http://schemas.openxmlformats.org/drawingml/2006/main">
              <a:ext uri="{FF2B5EF4-FFF2-40B4-BE49-F238E27FC236}">
                <a16:creationId xmlns:a16="http://schemas.microsoft.com/office/drawing/2014/main" id="{61721820-3BB4-4A56-9D73-577A88A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48238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它最终通过 Thread 的本地拷贝能力搬字节，不走同一个跨 Rank 远端写过程。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4677C9-FAA1-4635-8740-2BA7C6E8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5F88D3-C8A9-4BAA-9AAD-3B8E919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28875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5289233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79FBB5-4497-4625-847C-AD26742E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364956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BF8C31C8-1915-4957-B75C-2CD460E1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374481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OMM 数据面&#10;内部方法">
            <a:extLst xmlns:a="http://schemas.openxmlformats.org/drawingml/2006/main">
              <a:ext uri="{FF2B5EF4-FFF2-40B4-BE49-F238E27FC236}">
                <a16:creationId xmlns:a16="http://schemas.microsoft.com/office/drawing/2014/main" id="{E2D10B57-0606-4F11-B081-A27F0A4D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345906"/>
            <a:ext cx="1343025" cy="521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内部方法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D37A1A1-C420-4D2B-A50A-8793ED94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26856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Thread::LocalCopy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在指定任务流安排本地复制</a:t>
            </a:r>
          </a:p>
        </p:txBody>
      </p:sp>
      <p:sp>
        <p:nvSpPr>
          <p:cNvPr id="73" name="在后拷贝场景，将本地 CCL 中的数据放入本地用户输出的正确位置。">
            <a:extLst xmlns:a="http://schemas.openxmlformats.org/drawingml/2006/main">
              <a:ext uri="{FF2B5EF4-FFF2-40B4-BE49-F238E27FC236}">
                <a16:creationId xmlns:a16="http://schemas.microsoft.com/office/drawing/2014/main" id="{DF1FFCAD-0A95-4A59-92DD-8B4A9575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555456"/>
            <a:ext cx="9391650" cy="311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在后拷贝场景，将本地 CCL 中的数据放入本地用户输出的正确位置。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D9E3B94-95B7-4ECC-A903-335307C5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HCCL 决定“和谁交换哪一片”，HCOMM 把该片的握手与搬运描述交给相应任务流和传输实现。">
            <a:extLst xmlns:a="http://schemas.openxmlformats.org/drawingml/2006/main">
              <a:ext uri="{FF2B5EF4-FFF2-40B4-BE49-F238E27FC236}">
                <a16:creationId xmlns:a16="http://schemas.microsoft.com/office/drawing/2014/main" id="{604B1A6A-E341-409E-B3A0-FF9B6611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 决定“和谁交换哪一片”，HCOMM 把该片的握手与搬运描述交给相应任务流和传输实现。</a:t>
            </a:r>
          </a:p>
        </p:txBody>
      </p:sp>
    </p:spTree>
    <p:extLst>
      <p:ext uri="{BB962C8B-B14F-4D97-AF65-F5344CB8AC3E}">
        <p14:creationId xmlns:p14="http://schemas.microsoft.com/office/powerpoint/2010/main" val="17688313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补充 2. 拓扑查询里的每个接口分别回答什么">
            <a:extLst xmlns:a="http://schemas.openxmlformats.org/drawingml/2006/main">
              <a:ext uri="{FF2B5EF4-FFF2-40B4-BE49-F238E27FC236}">
                <a16:creationId xmlns:a16="http://schemas.microsoft.com/office/drawing/2014/main" id="{E0233FDD-9BEC-4EED-90F4-AD833B42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补充 2. 拓扑查询里的每个接口分别回答什么</a:t>
            </a:r>
          </a:p>
        </p:txBody>
      </p:sp>
      <p:sp>
        <p:nvSpPr>
          <p:cNvPr id="2" name="对应第 3 页拓扑缓存未命中的局部展开。下面按查询对象解释，实际调用组合和次数受拓扑分支影响。">
            <a:extLst xmlns:a="http://schemas.openxmlformats.org/drawingml/2006/main">
              <a:ext uri="{FF2B5EF4-FFF2-40B4-BE49-F238E27FC236}">
                <a16:creationId xmlns:a16="http://schemas.microsoft.com/office/drawing/2014/main" id="{E131EB85-58F3-404D-AB5E-7C296582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对应第 3 页拓扑缓存未命中的局部展开。下面按查询对象解释，实际调用组合和次数受拓扑分支影响。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AF735328-220F-4AFB-87AA-3370B95D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00BE7-BA8D-427C-8BAA-24DB8AF6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0D1B9-634F-4BEE-90B5-5B4EB2BC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D74BB14A-50A7-42E9-A0D0-95BF372D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0B491772-2D76-48CF-B1F4-B3E5240E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00875901-94FE-449E-A966-D425D405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98343-EB4A-48CA-9C58-665E209E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8B6DE-FBE8-4F17-8DFD-AC985DDA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A5E3A-BE97-48D7-B925-A1D973E6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27BA6282-07C7-4E29-AF7D-07986AAC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A504F13E-95E8-4553-8D9A-1C93D044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EB8AF4B-BDE0-4D37-B1D4-9D724136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HcclRankGraphGetLayers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有哪些网络层</a:t>
            </a:r>
          </a:p>
        </p:txBody>
      </p:sp>
      <p:sp>
        <p:nvSpPr>
          <p:cNvPr id="17" name="返回网络层标识，用于了解通信域是怎样分层组织的。">
            <a:extLst xmlns:a="http://schemas.openxmlformats.org/drawingml/2006/main">
              <a:ext uri="{FF2B5EF4-FFF2-40B4-BE49-F238E27FC236}">
                <a16:creationId xmlns:a16="http://schemas.microsoft.com/office/drawing/2014/main" id="{931A1C43-A9E1-406C-98D3-92FF2002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返回网络层标识，用于了解通信域是怎样分层组织的。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C90FC-75C6-4873-BD06-A45ED7D0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8D0C8-BA05-442D-B4E0-C3F7C65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24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244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05D16-793E-4B7A-A620-D76828AA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002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90826681-C918-4FD3-8D60-84906B47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097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496D8BC5-A74D-45D7-96FC-C28B5E6B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811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0C9C96F-3403-4FAA-ACF2-05169C69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621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HcclRankGraphGetInstSizeListByLayer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这一层各拓扑实例有多大</a:t>
            </a:r>
          </a:p>
        </p:txBody>
      </p:sp>
      <p:sp>
        <p:nvSpPr>
          <p:cNvPr id="25" name="返回实例规模信息，帮助 HCCL 判断这一层的组织形态。">
            <a:extLst xmlns:a="http://schemas.openxmlformats.org/drawingml/2006/main">
              <a:ext uri="{FF2B5EF4-FFF2-40B4-BE49-F238E27FC236}">
                <a16:creationId xmlns:a16="http://schemas.microsoft.com/office/drawing/2014/main" id="{B9B71135-FD76-41F0-9710-BF20862A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907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返回实例规模信息，帮助 HCCL 判断这一层的组织形态。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E19845-E074-4628-8BC1-23E6A730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419D4-DA3C-42E5-9084-8D70147F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009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0102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E9D68A-7289-4DC3-BD1D-704F520A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0859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BCA7B939-7223-49E2-84FE-F29A8B13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0BFE7384-93A0-47C2-9BAD-B6025983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669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D866B9A-090C-4D88-8C02-79C23C4B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这一层包含哪些 Rank</a:t>
            </a:r>
          </a:p>
        </p:txBody>
      </p:sp>
      <p:sp>
        <p:nvSpPr>
          <p:cNvPr id="33" name="给出层级成员，用于构造算法通信分组。">
            <a:extLst xmlns:a="http://schemas.openxmlformats.org/drawingml/2006/main">
              <a:ext uri="{FF2B5EF4-FFF2-40B4-BE49-F238E27FC236}">
                <a16:creationId xmlns:a16="http://schemas.microsoft.com/office/drawing/2014/main" id="{FE60DC36-DEA3-49DB-93A4-4C10B4C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764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给出层级成员，用于构造算法通信分组。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B382D3-28EC-454A-8DCA-0C682661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59AB89-D35A-471C-9CC4-CDE3D46A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4960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C669BB-F8CC-4528-AC06-7CDD8AB1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717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D0C8A72C-CF16-4B9D-B04B-545BFE79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5812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843E58FC-AEEB-471E-9DB5-C17B748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527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5A7DC21C-59AA-4BE9-9DE0-1C1AD428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HcclRankGraphGetTopoInstsByLayer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这一层有哪些拓扑实例</a:t>
            </a:r>
          </a:p>
        </p:txBody>
      </p:sp>
      <p:sp>
        <p:nvSpPr>
          <p:cNvPr id="41" name="列举该层的具体实例，下一步可逐实例查询类型和成员。">
            <a:extLst xmlns:a="http://schemas.openxmlformats.org/drawingml/2006/main">
              <a:ext uri="{FF2B5EF4-FFF2-40B4-BE49-F238E27FC236}">
                <a16:creationId xmlns:a16="http://schemas.microsoft.com/office/drawing/2014/main" id="{8E79881C-264C-407D-9558-C3668662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列举该层的具体实例，下一步可逐实例查询类型和成员。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640C61-6DE3-48BF-90BB-913FEA98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95FF91-0C7B-4671-9FFB-BA104CA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981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29818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CD31DD-7908-4C1B-A835-3C54D6F8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0575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5621A7F5-618E-4F0A-92D0-9D9665DE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0670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0F8D2C6E-9ED1-4EEA-8D08-41213440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384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B4798FC-376A-4B51-97A8-225A11B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194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指定实例是什么拓扑类型</a:t>
            </a:r>
          </a:p>
        </p:txBody>
      </p:sp>
      <p:sp>
        <p:nvSpPr>
          <p:cNvPr id="49" name="给出拓扑类型信息，帮助选择能用于该拓扑的算法。">
            <a:extLst xmlns:a="http://schemas.openxmlformats.org/drawingml/2006/main">
              <a:ext uri="{FF2B5EF4-FFF2-40B4-BE49-F238E27FC236}">
                <a16:creationId xmlns:a16="http://schemas.microsoft.com/office/drawing/2014/main" id="{A41D5E4E-3FE4-45AD-AE6D-AD0E21E8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480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给出拓扑类型信息，帮助选择能用于该拓扑的算法。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78B27A-E8D2-4508-AC94-241CD160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24A4F8-781F-496F-8BEB-D0DAB2C1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67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4675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F6828E3-4051-4D2A-971F-C77CE483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5433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44ED93A0-C680-4FC7-864F-30FFA0A3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5528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F0D1A071-D5C0-47A9-8B98-910EBC47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242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146AF50-153D-445B-98C5-275209CB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5052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HcclRankGraphGetRanksByTopoInst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指定实例有哪些成员</a:t>
            </a:r>
          </a:p>
        </p:txBody>
      </p:sp>
      <p:sp>
        <p:nvSpPr>
          <p:cNvPr id="57" name="将拓扑实例与实际 Rank 编号对应起来。">
            <a:extLst xmlns:a="http://schemas.openxmlformats.org/drawingml/2006/main">
              <a:ext uri="{FF2B5EF4-FFF2-40B4-BE49-F238E27FC236}">
                <a16:creationId xmlns:a16="http://schemas.microsoft.com/office/drawing/2014/main" id="{0301B324-1BEB-4D12-AD95-F0E3B413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338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将拓扑实例与实际 Rank 编号对应起来。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30534E-3072-423C-8344-D7E18200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165AFD-F5E7-4A4C-AF27-2110CC72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52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39533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976F03-03CE-46C9-B947-FF6A34A2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0290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FAD6D0F7-BD53-4444-860B-D7CE691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55A75DF8-684C-482F-A8E6-32A5E3E3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1002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BEE59AD-4CFD-46D3-B849-E5A6C214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HcclRankGraphGetEndpointNum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一个 Rank 有多少可查询端点</a:t>
            </a:r>
          </a:p>
        </p:txBody>
      </p:sp>
      <p:sp>
        <p:nvSpPr>
          <p:cNvPr id="65" name="先得到端点数量，准备后续端点描述查询。">
            <a:extLst xmlns:a="http://schemas.openxmlformats.org/drawingml/2006/main">
              <a:ext uri="{FF2B5EF4-FFF2-40B4-BE49-F238E27FC236}">
                <a16:creationId xmlns:a16="http://schemas.microsoft.com/office/drawing/2014/main" id="{CD50FE72-6EC3-427B-9E29-143AC1ED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957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先得到端点数量，准备后续端点描述查询。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7024C3-F6EA-419C-A269-4C57AA44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2CCB58F-1C74-4E8B-808A-39D24B64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438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43912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ADC4E8E-F12A-469E-8A69-6A376342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1485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5BD2C395-241D-48EF-B1C2-335954EB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52437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B0B46BD3-884F-4967-AFF0-684DC69C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9580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211E1731-E46A-4393-916A-F97D77B8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7675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HcclRankGraphGetEndpointDesc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这些端点怎样标识</a:t>
            </a:r>
          </a:p>
        </p:txBody>
      </p:sp>
      <p:sp>
        <p:nvSpPr>
          <p:cNvPr id="73" name="返回端点描述，供链路选择和 Channel 请求使用。">
            <a:extLst xmlns:a="http://schemas.openxmlformats.org/drawingml/2006/main">
              <a:ext uri="{FF2B5EF4-FFF2-40B4-BE49-F238E27FC236}">
                <a16:creationId xmlns:a16="http://schemas.microsoft.com/office/drawing/2014/main" id="{9FEC173A-BB45-4A5D-BC0B-04DDF118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0535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返回端点描述，供链路选择和 Channel 请求使用。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394EB93-2510-4AC8-A542-6D3D81A9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42E1A50-7FD8-4EED-BC0F-8B01FD6C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7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49249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5316BAC-2079-4641-BF10-17B3192F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0860C182-3E35-4448-97CD-34728057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101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5FE01085-037C-4092-BD28-970089CC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81575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9ED26C4-EBC8-49B3-93B4-DFC4E2DD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端点还有哪些属性</a:t>
            </a:r>
          </a:p>
        </p:txBody>
      </p:sp>
      <p:sp>
        <p:nvSpPr>
          <p:cNvPr id="81" name="查询带宽系数、Die 等属性，后面按端口切分数据也会用到。">
            <a:extLst xmlns:a="http://schemas.openxmlformats.org/drawingml/2006/main">
              <a:ext uri="{FF2B5EF4-FFF2-40B4-BE49-F238E27FC236}">
                <a16:creationId xmlns:a16="http://schemas.microsoft.com/office/drawing/2014/main" id="{94CB9796-55FE-4C26-9DF0-6D4C2DCC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91125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查询带宽系数、Die 等属性，后面按端口切分数据也会用到。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12A2C11-28E6-414F-B8B4-579D869F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AEFC55F-DF7C-4695-BB33-32D774A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410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82" idx="3"/>
            <a:endCxn xmlns:a="http://schemas.openxmlformats.org/drawingml/2006/main" id="83" idx="1"/>
          </p:cNvCxnSpPr>
          <p:nvPr/>
        </p:nvCxnSpPr>
        <p:spPr>
          <a:xfrm xmlns:a="http://schemas.openxmlformats.org/drawingml/2006/main">
            <a:off x="915353" y="5410677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D082A8B-8224-410B-AE65-A2CFDAA38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86400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6" name="10">
            <a:extLst xmlns:a="http://schemas.openxmlformats.org/drawingml/2006/main">
              <a:ext uri="{FF2B5EF4-FFF2-40B4-BE49-F238E27FC236}">
                <a16:creationId xmlns:a16="http://schemas.microsoft.com/office/drawing/2014/main" id="{86606B4C-F81D-4A6F-A2DA-B07B54C8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95925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87" name="HCCL 调 HCOMM&#10;控制面 / 拓扑">
            <a:extLst xmlns:a="http://schemas.openxmlformats.org/drawingml/2006/main">
              <a:ext uri="{FF2B5EF4-FFF2-40B4-BE49-F238E27FC236}">
                <a16:creationId xmlns:a16="http://schemas.microsoft.com/office/drawing/2014/main" id="{D157B318-0502-4E28-AFC3-72773127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67350"/>
            <a:ext cx="1343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拓扑</a:t>
            </a:r>
          </a:p>
        </p:txBody>
      </p:sp>
      <p:sp>
        <p:nvSpPr>
          <p:cNvPr id="8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6446C79-B844-4F27-ABFB-2F1FB7F1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48300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HcclRankGraphGetLinks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两个 Rank 之间有哪些链路</a:t>
            </a:r>
          </a:p>
        </p:txBody>
      </p:sp>
      <p:sp>
        <p:nvSpPr>
          <p:cNvPr id="89" name="得到可用链路信息，帮助选定通信端点、协议及建链请求。">
            <a:extLst xmlns:a="http://schemas.openxmlformats.org/drawingml/2006/main">
              <a:ext uri="{FF2B5EF4-FFF2-40B4-BE49-F238E27FC236}">
                <a16:creationId xmlns:a16="http://schemas.microsoft.com/office/drawing/2014/main" id="{D0B4381C-7844-4D49-956C-6BD86545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76900"/>
            <a:ext cx="9391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得到可用链路信息，帮助选定通信端点、协议及建链请求。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48D00E-E8DF-4873-953C-DEF49CA4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1" name="查询得到的是“怎么连接、有哪些成员和端点”的说明，既不建立所有通道，也不搬运用户输入。">
            <a:extLst xmlns:a="http://schemas.openxmlformats.org/drawingml/2006/main">
              <a:ext uri="{FF2B5EF4-FFF2-40B4-BE49-F238E27FC236}">
                <a16:creationId xmlns:a16="http://schemas.microsoft.com/office/drawing/2014/main" id="{78DED601-69EC-4EF7-A1F0-44B39CA6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查询得到的是“怎么连接、有哪些成员和端点”的说明，既不建立所有通道，也不搬运用户输入。</a:t>
            </a:r>
          </a:p>
        </p:txBody>
      </p:sp>
    </p:spTree>
    <p:extLst>
      <p:ext uri="{BB962C8B-B14F-4D97-AF65-F5344CB8AC3E}">
        <p14:creationId xmlns:p14="http://schemas.microsoft.com/office/powerpoint/2010/main" val="19080509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补充 3. 再运行一次时，哪些步骤可能省掉或改变">
            <a:extLst xmlns:a="http://schemas.openxmlformats.org/drawingml/2006/main">
              <a:ext uri="{FF2B5EF4-FFF2-40B4-BE49-F238E27FC236}">
                <a16:creationId xmlns:a16="http://schemas.microsoft.com/office/drawing/2014/main" id="{C162341B-FF88-4062-B9DA-DA971092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714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补充 3. 再运行一次时，哪些步骤可能省掉或改变</a:t>
            </a:r>
          </a:p>
        </p:txBody>
      </p:sp>
      <p:sp>
        <p:nvSpPr>
          <p:cNvPr id="2" name="先讲清无缓存主线，再单独看变化。下面都是有条件的分支，不能串成每次 AllToAll 的固定执行顺序。">
            <a:extLst xmlns:a="http://schemas.openxmlformats.org/drawingml/2006/main">
              <a:ext uri="{FF2B5EF4-FFF2-40B4-BE49-F238E27FC236}">
                <a16:creationId xmlns:a16="http://schemas.microsoft.com/office/drawing/2014/main" id="{6F087494-9C5B-49D0-9E34-08E37F1B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19125"/>
            <a:ext cx="11239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先讲清无缓存主线，再单独看变化。下面都是有条件的分支，不能串成每次 AllToAll 的固定执行顺序。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0F986E0F-4901-4DCE-BAAD-D791CE35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619125"/>
            <a:ext cx="333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915AA-0C7B-452C-A882-79548514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3BDFB-4440-4CEC-9E7B-B3F54D7E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53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86703" y="6553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</a:ln>
        </p:spPr>
      </p:cxnSp>
      <p:sp>
        <p:nvSpPr>
          <p:cNvPr id="7" name="源码基线：hccl 170ddeec，hcomm 87ce550f。静态调用分析，数值示例未上板运行。">
            <a:extLst xmlns:a="http://schemas.openxmlformats.org/drawingml/2006/main">
              <a:ext uri="{FF2B5EF4-FFF2-40B4-BE49-F238E27FC236}">
                <a16:creationId xmlns:a16="http://schemas.microsoft.com/office/drawing/2014/main" id="{D61F0BC5-08B0-49E5-B02F-F232D288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10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638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源码基线：hccl 170ddeec，hcomm 87ce550f。静态调用分析，数值示例未上板运行。</a:t>
            </a:r>
          </a:p>
        </p:txBody>
      </p:sp>
      <p:sp>
        <p:nvSpPr>
          <p:cNvPr id="8" name="顺序 / 调用发生在哪里">
            <a:extLst xmlns:a="http://schemas.openxmlformats.org/drawingml/2006/main">
              <a:ext uri="{FF2B5EF4-FFF2-40B4-BE49-F238E27FC236}">
                <a16:creationId xmlns:a16="http://schemas.microsoft.com/office/drawing/2014/main" id="{6AACF37A-8AE9-4EDB-8262-D6EA487E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76300"/>
            <a:ext cx="2000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顺序 / 调用发生在哪里</a:t>
            </a:r>
          </a:p>
        </p:txBody>
      </p:sp>
      <p:sp>
        <p:nvSpPr>
          <p:cNvPr id="9" name="函数名后直接说明作用，下行说明本例得到什么">
            <a:extLst xmlns:a="http://schemas.openxmlformats.org/drawingml/2006/main">
              <a:ext uri="{FF2B5EF4-FFF2-40B4-BE49-F238E27FC236}">
                <a16:creationId xmlns:a16="http://schemas.microsoft.com/office/drawing/2014/main" id="{1966B859-3838-407C-98FE-3864CE56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876300"/>
            <a:ext cx="9239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10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函数名后直接说明作用，下行说明本例得到什么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44B67-AC56-4ED2-A8E5-A4966019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90665-C805-4268-80EA-6A7382AD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1027" y="1201103"/>
            <a:ext cx="0" cy="4542472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8C908B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A1FDDE-9E1E-4D26-A23B-67ECD54B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14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01">
            <a:extLst xmlns:a="http://schemas.openxmlformats.org/drawingml/2006/main">
              <a:ext uri="{FF2B5EF4-FFF2-40B4-BE49-F238E27FC236}">
                <a16:creationId xmlns:a16="http://schemas.microsoft.com/office/drawing/2014/main" id="{81C81FB6-01C6-4275-B8AB-1F865927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23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HCCL 调 HCOMM&#10;控制面 / 域资源">
            <a:extLst xmlns:a="http://schemas.openxmlformats.org/drawingml/2006/main">
              <a:ext uri="{FF2B5EF4-FFF2-40B4-BE49-F238E27FC236}">
                <a16:creationId xmlns:a16="http://schemas.microsoft.com/office/drawing/2014/main" id="{ACA02696-5B78-46AB-91C2-7BBEE4D3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95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域资源</a:t>
            </a:r>
          </a:p>
        </p:txBody>
      </p:sp>
      <p:sp>
        <p:nvSpPr>
          <p:cNvPr id="1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150E726C-C7C2-46E1-ABA7-F0DD733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076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HcclEngineCtxGet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命中算法资源时复用已有上下文</a:t>
            </a:r>
          </a:p>
        </p:txBody>
      </p:sp>
      <p:sp>
        <p:nvSpPr>
          <p:cNvPr id="17" name="可跳过相应资源计算、建链和上下文复制，数据搬运与通知任务仍需执行。">
            <a:extLst xmlns:a="http://schemas.openxmlformats.org/drawingml/2006/main">
              <a:ext uri="{FF2B5EF4-FFF2-40B4-BE49-F238E27FC236}">
                <a16:creationId xmlns:a16="http://schemas.microsoft.com/office/drawing/2014/main" id="{EE9CCBC8-3A09-4955-BB6D-C5910408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304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可跳过相应资源计算、建链和上下文复制，数据搬运与通知任务仍需执行。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DCA98-228F-4FE7-B938-640E7155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F29337-9E8C-4048-8DFD-028611F5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577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3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915353" y="1578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98397-AC54-4484-9A58-6393399A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54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2" name="02">
            <a:extLst xmlns:a="http://schemas.openxmlformats.org/drawingml/2006/main">
              <a:ext uri="{FF2B5EF4-FFF2-40B4-BE49-F238E27FC236}">
                <a16:creationId xmlns:a16="http://schemas.microsoft.com/office/drawing/2014/main" id="{53BAB88A-C81F-4989-8195-6E2D89DC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663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3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5848C51E-9AC7-4B88-9E0C-D30499DC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635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2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662EECA0-2482-4045-9956-24BDB2A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16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HcommAicpuTsTaskCacheLookup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查询已经录制的通信任务</a:t>
            </a:r>
          </a:p>
        </p:txBody>
      </p:sp>
      <p:sp>
        <p:nvSpPr>
          <p:cNvPr id="25" name="须满足任务缓存开关和能力条件。它与 Host 的资源缓存是两件事。">
            <a:extLst xmlns:a="http://schemas.openxmlformats.org/drawingml/2006/main">
              <a:ext uri="{FF2B5EF4-FFF2-40B4-BE49-F238E27FC236}">
                <a16:creationId xmlns:a16="http://schemas.microsoft.com/office/drawing/2014/main" id="{A8C54BF2-5C5A-421C-A280-259CC279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844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须满足任务缓存开关和能力条件。它与 Host 的资源缓存是两件事。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DDB67A-0547-420A-8521-85EA1B35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BE83C5-493D-4844-B8C2-7A884A76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117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1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15353" y="2118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1ACEC7-B3C4-4B7E-8F19-9E18C986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3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03">
            <a:extLst xmlns:a="http://schemas.openxmlformats.org/drawingml/2006/main">
              <a:ext uri="{FF2B5EF4-FFF2-40B4-BE49-F238E27FC236}">
                <a16:creationId xmlns:a16="http://schemas.microsoft.com/office/drawing/2014/main" id="{338B0DCC-0BB7-494E-8CBF-E4A302B9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03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1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40217095-62C2-44D0-B148-FCA07260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74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3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CA0BBDB7-8AA1-4344-A080-189217F2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5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HcommAicpuTsTaskCacheStart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未命中时开始录制新任务</a:t>
            </a:r>
          </a:p>
        </p:txBody>
      </p:sp>
      <p:sp>
        <p:nvSpPr>
          <p:cNvPr id="33" name="后面仍执行普通编排，把产生的同步和搬运任务录下来。">
            <a:extLst xmlns:a="http://schemas.openxmlformats.org/drawingml/2006/main">
              <a:ext uri="{FF2B5EF4-FFF2-40B4-BE49-F238E27FC236}">
                <a16:creationId xmlns:a16="http://schemas.microsoft.com/office/drawing/2014/main" id="{840FA9C1-93D3-4B7B-9065-6966E8FB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384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后面仍执行普通编排，把产生的同步和搬运任务录下来。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003344-5FFD-4C91-A694-82AE3F89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08D9D3-E5E7-438A-AFD7-70723622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57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9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5353" y="2657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84C424-07A2-4E91-9322-745A24DA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733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8" name="04">
            <a:extLst xmlns:a="http://schemas.openxmlformats.org/drawingml/2006/main">
              <a:ext uri="{FF2B5EF4-FFF2-40B4-BE49-F238E27FC236}">
                <a16:creationId xmlns:a16="http://schemas.microsoft.com/office/drawing/2014/main" id="{3B42C02B-2534-41BC-ABD8-2FF86834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743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9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12AA5BCB-ACA1-470F-8B60-B4708E4D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714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4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B2873C1B-30F4-473D-8B1C-85A2F586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95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HcommAicpuTsTaskCacheEnd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结束本次任务录制</a:t>
            </a:r>
          </a:p>
        </p:txBody>
      </p:sp>
      <p:sp>
        <p:nvSpPr>
          <p:cNvPr id="41" name="保存可重放的任务内容，首次使用仍然要完成真正的通信。">
            <a:extLst xmlns:a="http://schemas.openxmlformats.org/drawingml/2006/main">
              <a:ext uri="{FF2B5EF4-FFF2-40B4-BE49-F238E27FC236}">
                <a16:creationId xmlns:a16="http://schemas.microsoft.com/office/drawing/2014/main" id="{184F9D51-DFE2-4239-A655-F0EE0AEF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24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保存可重放的任务内容，首次使用仍然要完成真正的通信。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156CF4-AF22-4E11-8A24-25235E56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D5F998-0843-4664-8A6F-1C14613C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197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7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5353" y="3197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B5C96E6-87EC-45CE-A555-411ECFE2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273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05">
            <a:extLst xmlns:a="http://schemas.openxmlformats.org/drawingml/2006/main">
              <a:ext uri="{FF2B5EF4-FFF2-40B4-BE49-F238E27FC236}">
                <a16:creationId xmlns:a16="http://schemas.microsoft.com/office/drawing/2014/main" id="{260643DA-50AA-4B79-B299-873CB6C8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282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7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02F9B6D0-DE83-430D-AE50-8F2FCE3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54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48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0D35AA4F-9A1F-4FAA-80F2-66F299C7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35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HcommAicpuTsTaskCacheExecute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命中时刷新地址并重放任务</a:t>
            </a:r>
          </a:p>
        </p:txBody>
      </p:sp>
      <p:sp>
        <p:nvSpPr>
          <p:cNvPr id="49" name="可以跳过本次逐条算法编排，不能据此说本次没有搬运数据。">
            <a:extLst xmlns:a="http://schemas.openxmlformats.org/drawingml/2006/main">
              <a:ext uri="{FF2B5EF4-FFF2-40B4-BE49-F238E27FC236}">
                <a16:creationId xmlns:a16="http://schemas.microsoft.com/office/drawing/2014/main" id="{C610FC6E-4530-442D-9C33-AF8B51DD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63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可以跳过本次逐条算法编排，不能据此说本次没有搬运数据。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D5F34E-7232-46A0-8966-A2654324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C40C65-E4D8-4FE1-9D65-62270A7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36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5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915353" y="37374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20484A-AB8A-4430-B8DE-27F33478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31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06">
            <a:extLst xmlns:a="http://schemas.openxmlformats.org/drawingml/2006/main">
              <a:ext uri="{FF2B5EF4-FFF2-40B4-BE49-F238E27FC236}">
                <a16:creationId xmlns:a16="http://schemas.microsoft.com/office/drawing/2014/main" id="{4269B1BA-CC13-4C93-8F7A-C0F3F939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8227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5" name="HCCL 调 HCOMM&#10;数据面 / 执行控制">
            <a:extLst xmlns:a="http://schemas.openxmlformats.org/drawingml/2006/main">
              <a:ext uri="{FF2B5EF4-FFF2-40B4-BE49-F238E27FC236}">
                <a16:creationId xmlns:a16="http://schemas.microsoft.com/office/drawing/2014/main" id="{85481A6D-F14A-4B39-85DE-D1CD7BD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941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执行控制</a:t>
            </a:r>
          </a:p>
        </p:txBody>
      </p:sp>
      <p:sp>
        <p:nvSpPr>
          <p:cNvPr id="56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0056FE6-F009-45AD-8E65-B816CA7D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750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HcommAicpuTsTaskCacheClear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异常或清理时移除缓存任务</a:t>
            </a:r>
          </a:p>
        </p:txBody>
      </p:sp>
      <p:sp>
        <p:nvSpPr>
          <p:cNvPr id="57" name="不是每次正常执行都调用，不能强行画入收尾主线。">
            <a:extLst xmlns:a="http://schemas.openxmlformats.org/drawingml/2006/main">
              <a:ext uri="{FF2B5EF4-FFF2-40B4-BE49-F238E27FC236}">
                <a16:creationId xmlns:a16="http://schemas.microsoft.com/office/drawing/2014/main" id="{612CA5E1-EC8E-4436-8F66-67BC2E41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36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不是每次正常执行都调用，不能强行画入收尾主线。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8F8275-B108-4E2A-8569-DC11BE1B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0D567F-CC60-4287-AD25-022708C0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915353" y="42772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351CD94-78CE-47D1-87DF-27BF7CC6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529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2" name="07">
            <a:extLst xmlns:a="http://schemas.openxmlformats.org/drawingml/2006/main">
              <a:ext uri="{FF2B5EF4-FFF2-40B4-BE49-F238E27FC236}">
                <a16:creationId xmlns:a16="http://schemas.microsoft.com/office/drawing/2014/main" id="{8FD6809D-D899-4835-AAE8-2D22F23D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3624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63" name="HCCL 调 HCOMM&#10;数据面 / 搬运">
            <a:extLst xmlns:a="http://schemas.openxmlformats.org/drawingml/2006/main">
              <a:ext uri="{FF2B5EF4-FFF2-40B4-BE49-F238E27FC236}">
                <a16:creationId xmlns:a16="http://schemas.microsoft.com/office/drawing/2014/main" id="{45CB3491-68BE-43F5-A267-4256344B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338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搬运</a:t>
            </a:r>
          </a:p>
        </p:txBody>
      </p:sp>
      <p:sp>
        <p:nvSpPr>
          <p:cNvPr id="64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7A68284D-3D5D-438A-AF4F-2990398B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148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HcommReadOnThread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PCIe 等对应 Read 分支主动读取远端数据</a:t>
            </a:r>
          </a:p>
        </p:txBody>
      </p:sp>
      <p:sp>
        <p:nvSpPr>
          <p:cNvPr id="65" name="普通 Mesh 模板检测到 PCIe 时可以改为 Read，发送方先准备本地中转数据。">
            <a:extLst xmlns:a="http://schemas.openxmlformats.org/drawingml/2006/main">
              <a:ext uri="{FF2B5EF4-FFF2-40B4-BE49-F238E27FC236}">
                <a16:creationId xmlns:a16="http://schemas.microsoft.com/office/drawing/2014/main" id="{72B9E7D8-5F99-416C-BD8C-E2096BA9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434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普通 Mesh 模板检测到 PCIe 时可以改为 Read，发送方先准备本地中转数据。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0B7FCC5-5684-472F-B074-FC4580DB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DC5709-1CE0-4FB7-88E9-792BB8FA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1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915353" y="481695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41667B-4280-4C24-8C93-4960A260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9267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0" name="08">
            <a:extLst xmlns:a="http://schemas.openxmlformats.org/drawingml/2006/main">
              <a:ext uri="{FF2B5EF4-FFF2-40B4-BE49-F238E27FC236}">
                <a16:creationId xmlns:a16="http://schemas.microsoft.com/office/drawing/2014/main" id="{DACD2B84-6882-47EF-86B7-E738BA0A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90220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1" name="HCCL 调 HCOMM&#10;控制面 / 内存">
            <a:extLst xmlns:a="http://schemas.openxmlformats.org/drawingml/2006/main">
              <a:ext uri="{FF2B5EF4-FFF2-40B4-BE49-F238E27FC236}">
                <a16:creationId xmlns:a16="http://schemas.microsoft.com/office/drawing/2014/main" id="{D3BB2580-FAD5-4CFB-8EF5-E19343FB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7362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控制面 / 内存</a:t>
            </a:r>
          </a:p>
        </p:txBody>
      </p:sp>
      <p:sp>
        <p:nvSpPr>
          <p:cNvPr id="72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AF4183D2-A14F-4A4E-8DCB-577CE3C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5457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HcclCommSymWinGet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查询可复用的对称内存窗口</a:t>
            </a:r>
          </a:p>
        </p:txBody>
      </p:sp>
      <p:sp>
        <p:nvSpPr>
          <p:cNvPr id="73" name="版本、能力和注册条件满足时探测。命中后某些算法可直接访问窗口，减少中转。">
            <a:extLst xmlns:a="http://schemas.openxmlformats.org/drawingml/2006/main">
              <a:ext uri="{FF2B5EF4-FFF2-40B4-BE49-F238E27FC236}">
                <a16:creationId xmlns:a16="http://schemas.microsoft.com/office/drawing/2014/main" id="{C052D085-9ED1-4EA1-A114-11815D4E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317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版本、能力和注册条件满足时探测。命中后某些算法可直接访问窗口，减少中转。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4808D68-E578-4130-90D4-AE647A6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C66E976-9557-490B-8AE4-16236D9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356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74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>
            <a:off x="915353" y="5356702"/>
            <a:ext cx="10990897" cy="0"/>
          </a:xfrm>
          <a:prstGeom xmlns:a="http://schemas.openxmlformats.org/drawingml/2006/main" prst="straightConnector1">
            <a:avLst/>
          </a:prstGeom>
          <a:ln xmlns:a="http://schemas.openxmlformats.org/drawingml/2006/main" w="8096">
            <a:solidFill>
              <a:srgbClr val="DCDFD9"/>
            </a:solidFill>
            <a:prstDash val="solid"/>
          </a:ln>
        </p:spPr>
      </p:cxn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8852274-C52B-4056-BE61-723FCB1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432425"/>
            <a:ext cx="5524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09">
            <a:extLst xmlns:a="http://schemas.openxmlformats.org/drawingml/2006/main">
              <a:ext uri="{FF2B5EF4-FFF2-40B4-BE49-F238E27FC236}">
                <a16:creationId xmlns:a16="http://schemas.microsoft.com/office/drawing/2014/main" id="{8BE11817-E1F4-4FC1-9507-5FCDAB1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441950"/>
            <a:ext cx="50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79" name="HCCL 调 HCOMM&#10;数据面 / 搬运">
            <a:extLst xmlns:a="http://schemas.openxmlformats.org/drawingml/2006/main">
              <a:ext uri="{FF2B5EF4-FFF2-40B4-BE49-F238E27FC236}">
                <a16:creationId xmlns:a16="http://schemas.microsoft.com/office/drawing/2014/main" id="{EE337778-A333-4DBD-9977-B5A72812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413375"/>
            <a:ext cx="1343025" cy="45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HCCL 调 HCOMM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数据面 / 搬运</a:t>
            </a:r>
          </a:p>
        </p:txBody>
      </p:sp>
      <p:sp>
        <p:nvSpPr>
          <p:cNvPr id="80" name="[object Object],[object Object]">
            <a:extLst xmlns:a="http://schemas.openxmlformats.org/drawingml/2006/main">
              <a:ext uri="{FF2B5EF4-FFF2-40B4-BE49-F238E27FC236}">
                <a16:creationId xmlns:a16="http://schemas.microsoft.com/office/drawing/2014/main" id="{F61E5855-3D69-4EED-A67D-6119127D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94325"/>
            <a:ext cx="9391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HcommBatchTransferOnThread</a:t>
            </a:r>
            <a:r>
              <a:rPr sz="1050" b="0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   批量描述多个搬运操作</a:t>
            </a:r>
          </a:p>
        </p:txBody>
      </p:sp>
      <p:sp>
        <p:nvSpPr>
          <p:cNvPr id="81" name="某些 MultiJetty 模板分支使用，普通 Mesh Write 不能列成每次必调。">
            <a:extLst xmlns:a="http://schemas.openxmlformats.org/drawingml/2006/main">
              <a:ext uri="{FF2B5EF4-FFF2-40B4-BE49-F238E27FC236}">
                <a16:creationId xmlns:a16="http://schemas.microsoft.com/office/drawing/2014/main" id="{8FAFB064-5A89-481C-A90D-D6DE31F8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22925"/>
            <a:ext cx="9391650" cy="24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545B5C"/>
                </a:solidFill>
                <a:latin typeface="PingFang SC"/>
                <a:ea typeface="PingFang SC"/>
                <a:cs typeface="PingFang SC"/>
              </a:rPr>
              <a:t>某些 MultiJetty 模板分支使用，普通 Mesh Write 不能列成每次必调。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0D993F1-5FC0-41FF-83F6-61A59556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3" name="通信域可复用、任务可重放、协议可换路，但“一次全互换最终要得到哪些数据”不变。">
            <a:extLst xmlns:a="http://schemas.openxmlformats.org/drawingml/2006/main">
              <a:ext uri="{FF2B5EF4-FFF2-40B4-BE49-F238E27FC236}">
                <a16:creationId xmlns:a16="http://schemas.microsoft.com/office/drawing/2014/main" id="{698AA0B4-B994-4CB2-BD0E-F7AD3595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0"/>
            <a:ext cx="11382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41414"/>
                </a:solidFill>
                <a:latin typeface="PingFang SC"/>
                <a:ea typeface="PingFang SC"/>
                <a:cs typeface="PingFang SC"/>
              </a:rPr>
              <a:t>通信域可复用、任务可重放、协议可换路，但“一次全互换最终要得到哪些数据”不变。</a:t>
            </a:r>
          </a:p>
        </p:txBody>
      </p:sp>
    </p:spTree>
    <p:extLst>
      <p:ext uri="{BB962C8B-B14F-4D97-AF65-F5344CB8AC3E}">
        <p14:creationId xmlns:p14="http://schemas.microsoft.com/office/powerpoint/2010/main" val="100384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2026-09-27T12:13:04.0680000Z</dcterms:created>
  <dcterms:modified xsi:type="dcterms:W3CDTF">2026-09-27T12:13:04.0680000Z</dcterms:modified>
</coreProperties>
</file>