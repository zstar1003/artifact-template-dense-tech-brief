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adf5be9b6a4f14" /><Relationship Type="http://schemas.openxmlformats.org/officeDocument/2006/relationships/extended-properties" Target="/docProps/app.xml" Id="R0a38b29382494673" /><Relationship Type="http://schemas.openxmlformats.org/officeDocument/2006/relationships/officeDocument" Target="/ppt/presentation.xml" Id="R8a12f1d373a64a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a07efa09cb4d1f"/>
  </p:sldMasterIdLst>
  <p:notesMasterIdLst>
    <p:notesMasterId xmlns:r="http://schemas.openxmlformats.org/officeDocument/2006/relationships" r:id="R36cd460b57174933"/>
  </p:notesMasterIdLst>
  <p:sldIdLst>
    <p:sldId xmlns:r="http://schemas.openxmlformats.org/officeDocument/2006/relationships" id="256" r:id="R7b78e158881a42b4"/>
    <p:sldId xmlns:r="http://schemas.openxmlformats.org/officeDocument/2006/relationships" id="257" r:id="R0e73b6c6135a4009"/>
    <p:sldId xmlns:r="http://schemas.openxmlformats.org/officeDocument/2006/relationships" id="258" r:id="R99542f589961486c"/>
    <p:sldId xmlns:r="http://schemas.openxmlformats.org/officeDocument/2006/relationships" id="259" r:id="R4e715a64619842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5a0462c89c4a57" /><Relationship Type="http://schemas.openxmlformats.org/officeDocument/2006/relationships/slideMaster" Target="/ppt/slideMasters/slideMaster1.xml" Id="R57a07efa09cb4d1f" /><Relationship Type="http://schemas.openxmlformats.org/officeDocument/2006/relationships/notesMaster" Target="/ppt/notesMasters/notesMaster1.xml" Id="R36cd460b57174933" /><Relationship Type="http://schemas.openxmlformats.org/officeDocument/2006/relationships/presProps" Target="/ppt/presProps.xml" Id="Re9795cb84f99471e" /><Relationship Type="http://schemas.openxmlformats.org/officeDocument/2006/relationships/tableStyles" Target="/ppt/tableStyles.xml" Id="R411d4b64d2d04afa" /><Relationship Type="http://schemas.openxmlformats.org/officeDocument/2006/relationships/slide" Target="/ppt/slides/slide1.xml" Id="R7b78e158881a42b4" /><Relationship Type="http://schemas.openxmlformats.org/officeDocument/2006/relationships/slide" Target="/ppt/slides/slide2.xml" Id="R0e73b6c6135a4009" /><Relationship Type="http://schemas.openxmlformats.org/officeDocument/2006/relationships/slide" Target="/ppt/slides/slide3.xml" Id="R99542f589961486c" /><Relationship Type="http://schemas.openxmlformats.org/officeDocument/2006/relationships/slide" Target="/ppt/slides/slide4.xml" Id="R4e715a64619842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36b12ab9a745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8db224e6a04847" /><Relationship Type="http://schemas.openxmlformats.org/officeDocument/2006/relationships/notesMaster" Target="/ppt/notesMasters/notesMaster1.xml" Id="R8a5a5ab06ad14e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ee2f5e77da421a" /><Relationship Type="http://schemas.openxmlformats.org/officeDocument/2006/relationships/notesMaster" Target="/ppt/notesMasters/notesMaster1.xml" Id="R30e5571408f74c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0cd2b817624cbd" /><Relationship Type="http://schemas.openxmlformats.org/officeDocument/2006/relationships/notesMaster" Target="/ppt/notesMasters/notesMaster1.xml" Id="R4c41ceb3e3e146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b3a105457942a7" /><Relationship Type="http://schemas.openxmlformats.org/officeDocument/2006/relationships/notesMaster" Target="/ppt/notesMasters/notesMaster1.xml" Id="R79a22616b937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开场先用这一页建立阅读坐标：左到右是一次算子调用的六段主干。第 2 页解释算法如何选，第 3 页解释通信链路如何建，第 4 页解释三种 Engine 如何执行。粗蓝箭头表示一定会沿主干推进；条件分支在详情页展开。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讲法：四个阶段严格串行。SelectorEngine 与 ExecuteSelector 是不同选择入口，不应讲成串行调用。不同集合算子主要替换入口与 Fill*OpParam；RankGraph、Selector、HcclExecOp、资源申请主干高度共用。旧流程或条件不满足时可能进入 legacy 分支。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讲法：顶部四个阶段是串行；每列内部按编号向下。第一阶段准备 HCCL 参数，第二阶段进入 HCOMM Socket 与描述符，第三阶段建立或复用 EndpointPair 并创建 Channel，第四阶段连接、检查、按 Engine 做资源回填。HcclChannelAcquire 不是一个简单建连函数，而是一条 32 步资源生命周期。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讲法：三条路径先共享 RankGraph、EngineCtx、Thread/Channel 和通信内存，然后只选一条。AICPU 在 AICPU Kernel 内逐原语调用 Hcomm*OnThread；AIV 在 Host 准备并映射资源后发射 Vector Kernel；CCU 先申请或复用 CcuIns、注册 Kernel，再提交 Mission。CCU 资源不足时各 Rank 协商回退。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b994b85dc41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890ffc06784dee" /><Relationship Type="http://schemas.openxmlformats.org/officeDocument/2006/relationships/slideLayout" Target="/ppt/slideLayouts/slideLayout1.xml" Id="R2365d0ea3ed54e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65d0ea3ed54e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9dcb9dc824e99" /><Relationship Type="http://schemas.openxmlformats.org/officeDocument/2006/relationships/notesSlide" Target="/ppt/notesSlides/notesSlide1.xml" Id="R207ffd2bee6c48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f221b62244d25" /><Relationship Type="http://schemas.openxmlformats.org/officeDocument/2006/relationships/notesSlide" Target="/ppt/notesSlides/notesSlide2.xml" Id="R7b314601861448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331216e0f4b3b" /><Relationship Type="http://schemas.openxmlformats.org/officeDocument/2006/relationships/notesSlide" Target="/ppt/notesSlides/notesSlide3.xml" Id="R2940a2dd7f1d45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5345e0e144817" /><Relationship Type="http://schemas.openxmlformats.org/officeDocument/2006/relationships/notesSlide" Target="/ppt/notesSlides/notesSlide4.xml" Id="R22bfb346be254a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98B84-1295-416F-95EA-A8CD2D0F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6961A-159E-48CB-989F-895C63EE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一张图读懂：算子如何走到 HCOMM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D794D-9795-432F-979E-CDAF2B9B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0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先抓住六段主干，再进入后面三页查看 API 细节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C2883-2243-46D0-A9E8-1DE66ED4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948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怎么看：只沿粗蓝箭头从左到右；虚线表示条件或三选一，灰色表示资源复用/返回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DDD25-0342-42E9-A465-36A484BC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  上层算子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表达通信语义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例：AllReduce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0D0E3-8584-4465-BF24-9C36767C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  HCCL API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检查并归一化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OpParam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95500" y="2371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08738-2362-4E0D-AF39-52FA103B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  模式 / 算法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读取拓扑并选择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algName / Engine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29075" y="2371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EC4FA-CAE3-41AC-9A68-6B55968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4  HCOMM 建链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创建通信资源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Endpoint / Channel</a:t>
            </a:r>
          </a:p>
        </p:txBody>
      </p: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62650" y="2371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96852-2DF2-4FC2-AC63-97ED1069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5  执行引擎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三选一执行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 / AIV / CCU</a:t>
            </a:r>
          </a:p>
        </p:txBody>
      </p: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96225" y="2371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9B978-589A-4E54-973A-D560E356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6  数据传输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落到 Channel L3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UB / RoCE / HCCS</a:t>
            </a:r>
          </a:p>
        </p:txBody>
      </p:sp>
      <p:cxnSp>
        <p:nvCxnSpPr>
          <p:cNvPr id="4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829800" y="2371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B86E4-E234-4903-A5DB-426DD951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详见第 2 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28017-1381-4BA6-B32D-51EA1126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028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入口 → 展开模式 → RankGraph → Selector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2187A-E32D-4F50-BE79-33C9A256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95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详见第 3 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F61CD-E0A1-43CE-AB4F-12E72359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3028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HcclChannelAcquire 内部 32 步建链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B755C-E0A9-445F-BEEE-A16035E3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95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详见第 4 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B8B13-E2AA-4B7F-A0DF-B322CB0B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562350"/>
            <a:ext cx="3028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共享准备后，AICPU / AIV / CCU 三选一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6E24C-EDBD-4627-BBCC-D6B6DD01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领导只需要记住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BA6F1-A971-4D16-9517-55C28A46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3395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算子决定“做什么”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65E8E-A06E-4669-B8B0-5D893D6D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3395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 决定“用什么算法”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EF7DD-AC4A-4BC8-AB19-08719D4D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3395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9940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Engine 决定“调用哪组 HCOMM API”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BA864-5D11-4D19-8B0E-C1F9D8E5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816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共用部分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66272F-E5D7-4348-A7D1-14403A55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816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05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RankGraph、EngineCtx、Thread、Channel、通信内存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6D2D56-C19D-4FC0-A1A4-088B3676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816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变化部分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8AFB9B-52D5-4953-BE21-99C85113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781675"/>
            <a:ext cx="473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05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展开位置、资源申请方式、最终 Kernel / Mission 发射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DE896C-BD35-4287-A9FA-77FCA88B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033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分析范围：hccl 170ddeec539b；hcomm 87ce550f8f7c；以新流程 AllReduce 为代表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2DF7F2-9EBF-4D8F-BDBB-747F1CE2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62725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205691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A55CC7-9D02-4957-A8F1-498772E9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5FE9C-50D9-4B2C-BA5C-1C38BD08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入口、展开模式与算法选择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BCA95-C9C5-4425-947C-6DC5A239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0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公共主干负责把算子语义变成 algName、CommEngine 和 algTag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2B942-DCB2-478F-8993-D6CB56EE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948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怎么看：从左侧 ① 到 ④ 自上而下；每一阶段先看蓝色主框，再看右侧细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67E4D-B5E0-49AC-96DE-DA9C97B9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0">
            <a:solidFill>
              <a:srgbClr val="1557A0"/>
            </a:solidFill>
          </a:ln>
        </p:spPr>
        <p:txBody>
          <a:bodyPr xmlns:a="http://schemas.openxmlformats.org/drawingml/2006/main" anchor="ctr">
            <a:normAutofit fontScale="3390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D116B-E5F1-47D6-A0FD-0DB4BE9F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入口与参数归一化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751B6-3A71-46CD-B91D-F3694E02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3525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6425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C06E8-5555-43BD-9AD2-F22E28A9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5162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输入：sendBuf / recvBuf / count / datatype / reduceType / stream</a:t>
            </a:r>
          </a:p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输出：OpParam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C1980-FC3F-4B58-96CB-AE1AA3B2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15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输入 / 输出 / 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8E927-D35B-4BC6-A108-896C25FA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9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0">
            <a:solidFill>
              <a:srgbClr val="1557A0"/>
            </a:solidFill>
          </a:ln>
        </p:spPr>
        <p:txBody>
          <a:bodyPr xmlns:a="http://schemas.openxmlformats.org/drawingml/2006/main" anchor="ctr">
            <a:normAutofit fontScale="231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14E80-FD20-4FE1-95C9-7C3601E3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决定展开模式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3CA70-B6CF-4102-92BB-D4F9A3EC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9080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6425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684EA-E8B4-41FB-89EC-0297F569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5162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读取：HcclConfigGetInfo()</a:t>
            </a:r>
          </a:p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候选：AICPU_TS ｜ AIV/AIV_ONLY ｜ CCU_MS/CCU_SCHED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BA1ED-E17E-4286-8A56-ED254BE4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956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15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输入 / 输出 / 条件</a:t>
            </a:r>
          </a:p>
        </p:txBody>
      </p: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429125" y="23431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E619C-3293-4CD3-9221-410012DD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0">
            <a:solidFill>
              <a:srgbClr val="1557A0"/>
            </a:solidFill>
          </a:ln>
        </p:spPr>
        <p:txBody>
          <a:bodyPr xmlns:a="http://schemas.openxmlformats.org/drawingml/2006/main" anchor="ctr">
            <a:normAutofit fontScale="231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8E987-09F7-4BD4-BBB1-5DC7A09E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读取通信域与拓扑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5BAF3-2ED4-48D2-9FB3-0FA4ED14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290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6425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HcclEngineCtxGet() / Create()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RankGraph 查询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40644-CB23-4EF9-9958-130BCE75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5162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98891"/>
          </a:bodyPr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HcclRankGraphGetLayers()</a:t>
            </a:r>
          </a:p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HcclRankGraphGetTopoInstsByLayer()</a:t>
            </a:r>
          </a:p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HcclRankGraphGetTopoType()</a:t>
            </a:r>
          </a:p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HcclRankGraphGetRanksByTopoInst()</a:t>
            </a:r>
          </a:p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HcclRankGraphGetEndpointNum/Desc()</a:t>
            </a:r>
          </a:p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HcclRankGraphGetLinks() / GetEndpointInfo()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F03A6-B2C1-4BFF-99D2-E19CD75D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338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完整查询清单</a:t>
            </a:r>
          </a:p>
        </p:txBody>
      </p:sp>
      <p:cxnSp>
        <p:nvCxnSpPr>
          <p:cNvPr id="51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429125" y="3581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01CF3-A103-4BD2-886F-5F0D49B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0">
            <a:solidFill>
              <a:srgbClr val="1557A0"/>
            </a:solidFill>
          </a:ln>
        </p:spPr>
        <p:txBody>
          <a:bodyPr xmlns:a="http://schemas.openxmlformats.org/drawingml/2006/main" anchor="ctr">
            <a:normAutofit fontScale="231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1084A-F8B1-42D5-B759-70C940DB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算法选择并进入执行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05FAA-4E43-4744-835F-E2C5D9EE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6730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968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├─ SelectorEngine()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└─ ExecuteSelector()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5B636-C68D-4EA9-9BE0-9F3BC4EA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5162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选择维度：设备类型、Rank 数、数据量、datatype、reduceType、内存布局、CCU 资源</a:t>
            </a:r>
          </a:p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输出：algName / CommEngine / algTag</a:t>
            </a:r>
          </a:p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随后：CalcResRequest() → GetAlgResource()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E57CB-BEE4-46B3-994F-363CE834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721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15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输入 / 输出 / 条件</a:t>
            </a:r>
          </a:p>
        </p:txBody>
      </p:sp>
      <p:cxnSp>
        <p:nvCxnSpPr>
          <p:cNvPr id="57" name=""/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429125" y="48196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20847-4F5D-435A-8D06-9A644DC4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229350"/>
            <a:ext cx="882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8163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下一站：按 CommEngine 申请资源 → 需要通信连接时调用 HcclChannelAcquire()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A97348-246C-477B-8EDC-1ACCDA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033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8A6351-B367-4969-BE60-4AA4F47B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62725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326755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00A400E-8CB8-408D-A47C-B21869D9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A9908-F11B-4065-91D9-68A77F2F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HcclChannelAcquire：32 步建链顺序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19647-C0D9-47D9-A1E9-2A8491C3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0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建链依次完成 HCCL 准备、Socket/描述符、Endpoint/Channel、连接确认与资源回填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98859-59A6-463F-8EEA-082F0085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948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怎么看：四列不是并行：每列自上而下，走完后沿顶部箭头进入右边下一列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59684-C076-40C9-AB13-C5BD3218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2714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① HCCL 准备   01–08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9EA81-5FFD-4539-9642-9055BBB5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57A0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A0F5F-8112-4155-B60A-70C4A3C4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4785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HcclGetChannelImpl()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04514-9BB1-464B-A6EF-F0F8FDE6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2885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A1630-D67E-4DCE-88A2-DB8D0EF1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57438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F5493-EC02-4E68-AE4D-01B1EBB8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57438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AddExchangeInfo()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5791D-7414-4DF8-9A59-01139522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3843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1CA7A-BCBB-4AF5-8297-9BD6E13F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67025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BBB12-E04E-474C-80D6-B069918D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67025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19A45-566A-4E69-8D63-15AE349A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4802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F63D7-7549-4C8C-A60B-CE543E3D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76613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3B22D-0264-4896-8C94-979BCE40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76613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CheckChannelResParams()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A6B9D-C752-4149-8D03-C536A848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57613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794D7-EC1B-49AC-8410-CA200448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6200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9146C-CA27-43B4-884E-88517EDC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88620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ProcessHcclResPackReq()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3799A-D305-49A9-91B0-A721E56F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6720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4526E-C266-4554-97EF-8B8FB3B2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95788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9D67E-1A37-41BC-8D40-74646032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95788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PrepareV2ChannelAcquire()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4A40F-7606-4556-8A2B-CA659ACC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7678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6C573-A541-488F-9889-47A358EF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05375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C3110-2830-4BD2-A2B7-1556B796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05375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PrepareChannelSymMemHandles()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BFAEE-E7BE-437F-8A25-4DEF76C0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8637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3ADDC5-D994-40E3-AEE3-7EC2D594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14963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BB5816-BD7E-4F52-9DFF-5461B287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14963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MyRank::CreateChannels()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EE6CE-124C-4480-A3B5-A9638B9B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62075"/>
            <a:ext cx="2714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② Socket / 描述符   09–16</a:t>
            </a:r>
          </a:p>
        </p:txBody>
      </p:sp>
      <p:cxnSp>
        <p:nvCxnSpPr>
          <p:cNvPr id="136" name=""/>
          <p:cNvCxnSpPr>
            <a:stCxn xmlns:a="http://schemas.openxmlformats.org/drawingml/2006/main" id="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133725" y="15430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823FD4-EF65-4575-9FD2-448DCCF1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47850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57A0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6C2A8-807B-4280-8C2A-C04DF27D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4785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CheckChannelParam()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7264B8-5F69-4F5D-932D-54211A3E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2885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DB8351-A2FD-4B1A-848B-CFF18ABC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57438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0313A9-4EF5-460A-857D-A46FD8DA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57438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ChannelDescHccl2Hcomm()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89F2DE-C8C6-41A0-9FF3-2FBD0185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3843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F4EDDD-A1D9-4D10-A407-30E11D54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67025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B7497A-4C62-4A93-92CC-81D2A429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67025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ConfigSqDepthByExpansionMode()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CD10DB-BF2C-41D2-86D8-416C51D6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4802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4C2B1E-AED8-48AB-A029-F583F001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76613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3FB96B-B702-4E4B-8885-681C197B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6613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BatchCreateSockets()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B9B1CE-39DA-4E22-8AB2-FD12E8FB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57613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775F6F-084F-47E2-98AA-0C8881E7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886200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DF7220-E9B1-45A5-B0CA-1C08D9C7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8620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BatchServerInitForChannels()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8F39F8-6333-41D2-B7B8-25538B08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6720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5E64A0-38B6-4FBB-BD8E-BA5153C2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5788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BB7DF-6AB2-4712-B9AC-19852F22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95788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BatchGetSocketsForChannels()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5017D3-35E1-4CDD-AD2E-92944B0B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7678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ED6011-9559-4414-B663-D80FF756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905375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CDC34B-5A47-4490-A925-43D9739A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05375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BatchCreateChannels()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B11346-D552-43AE-B4E0-D75EF9CF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8637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E0466D-A95F-437F-9B58-1C2CE6C2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414963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6BBABB-4576-4C76-8D36-F6E585CE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14963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EndpointMgr::Get()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187BA8-B112-43A7-8502-AE2E5AD3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2075"/>
            <a:ext cx="2714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③ Endpoint / Channel   17–24</a:t>
            </a:r>
          </a:p>
        </p:txBody>
      </p:sp>
      <p:cxnSp>
        <p:nvCxnSpPr>
          <p:cNvPr id="161" name=""/>
          <p:cNvCxnSpPr>
            <a:stCxn xmlns:a="http://schemas.openxmlformats.org/drawingml/2006/main" id="29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6019800" y="15430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0B5D63-EED9-4D42-BC93-4AE58DD6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57A0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ABC34B-E3A2-4B5E-9201-B9FB5FEA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4785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HcommEndpointStartListen()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437D08-A4E0-4441-B7C7-AD9870B4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2885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59A22F-93B1-47B5-BF77-CEFD24A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7438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50CDAE-6075-4DCB-94D2-E7301CB2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57438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PrepareMemHandles()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D62766-FD61-4F9B-97BF-078039A4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3843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3CA22A-4773-4650-965D-B1C026F7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A3A2CF-9D68-48B4-BC79-3AAA8FC9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67025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RankPairMgr::Get()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D58C3E-70D1-433A-AEFA-C73EB83A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4802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883620-A872-4C26-BEBD-9DCEA568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6613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3E3A41-6E01-4D90-84DB-5884474F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76613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RankPair::GetEndpointPair()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636C4D-D3E0-4FB0-A706-F0FF523B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57613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CC5B7E-0047-41C6-9762-0DD4412F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8FE29F-1BB6-488D-961B-82257B94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8620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EndpointPair::CreateChannel()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29D27FC-0CE2-4956-AB73-3BA57D66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6720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0E4C68-3286-47DE-BE7F-2D37AF8B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5788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938EF34-406F-46D9-9C53-D0C7D112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95788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68ECDF4-63A2-464F-A521-468DA13B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7678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9BEA17A-3BBA-4BE2-94A6-1246DB45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BDFE878-8869-45E0-98BC-C100FB14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05375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NormalizeHcommChannelDescs()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6EB1F6-140E-446E-838D-32865E09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28637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E0501F5-8657-41F2-8496-53E91E99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4963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9234C9-C6C2-4BB3-9912-07E46C52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414963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96578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ChannelProcess::CreateChannelsLoop()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100DF4D-3479-466E-8A79-A1D60E04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362075"/>
            <a:ext cx="2714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④ 连接 / 回填   25–32</a:t>
            </a:r>
          </a:p>
        </p:txBody>
      </p:sp>
      <p:cxnSp>
        <p:nvCxnSpPr>
          <p:cNvPr id="186" name=""/>
          <p:cNvCxnSpPr>
            <a:stCxn xmlns:a="http://schemas.openxmlformats.org/drawingml/2006/main" id="54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905875" y="15430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3D1326-31B7-453C-BEB6-D6033928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47850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57A0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ADC83B3-D4FB-4D5D-815F-6C21A8EC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4785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Channel::CreateChannel()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66AB732-74A2-4B4F-966D-1790452B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2885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778BB3E-6D8A-47EB-B8F8-BD399700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57438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694394-98F8-4222-B47A-D7DBB492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57438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BatchConnectChannels()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ACA4D0F-6978-4D17-B47F-6C3BD5E8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3843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E4B5E7D-8825-4F2B-81D3-B8331762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67025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D964C06-16CA-4A1F-AD5B-B83CCC58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67025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ChannelProcess::ChannelGetStatus()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FE5DFDD-42F1-4212-855E-FCB06270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4802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5D860E9-3967-45D0-8137-3D0FDA92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376613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FEE30A-3389-4E7A-87A0-A519B102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76613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96734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BatchExchangeAndCheckConsistency()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6AC9340-524A-48F7-BCDD-01E6109E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7613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F9AFBC-887C-4D53-8487-BDEFA8C2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86200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2026766-FD79-4F8C-87DC-F338392E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8620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FinalizeChannelsByEngine()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17BE00F-D709-4A38-B02C-14E04AA9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6720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320CDD9-CAD0-4B46-9DCF-ED73851D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95788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B2EE87-3ED2-4369-86E3-AFBB3B73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95788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ConvertAivChannelHandlesToDevicePtrs()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54603B0-20E1-4CD2-AA9C-87335FEB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7678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FA09F9E-FEE2-45AB-9ACD-A9171E1D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905375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629451B-5EDA-4EEF-856E-E225DBD6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05375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HcclChannelGetHcclBuffer()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30BC8ED-B6ED-4BCB-9A93-B21453FF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8637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7FF2A49-45A2-4CCF-B030-81B3C694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414963"/>
            <a:ext cx="361950" cy="3810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006784E-30AE-4C18-B661-464491AB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14963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98234"/>
          </a:bodyPr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return ChannelHandle + Remote CCL Buffer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3BBF2AF-2DDE-4159-B379-BC1D5F87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19800"/>
            <a:ext cx="11391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关键条件：AICPU/AIV 交换对称内存 ｜ AIV 转换设备侧 Channel 句柄 ｜ 950 做一致性校验 ｜ CCU 资源不足返回 HCCL_E_UNAVAIL 并协商回退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B4255D6-16D7-45BB-B3B1-B606202D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033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C94346B-8C42-4B9B-9146-BB6EB751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62725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502690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0C5783-4760-4364-ABE7-9666480C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8598B-7461-4A29-9407-61C22353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三种执行引擎：共用准备，三选一发射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8CACB-1226-4F80-9562-9E78679E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0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AICPU、AIV、CCU 共享通信资源，但展开位置和最终执行 API 不同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F6077-B670-443E-B288-1CD45837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948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怎么看：先看顶部共用主干，再从“三选一”向下选一列；三列不是依次执行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98304-24E6-4C34-BCA7-0B32D23A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400175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A3C17-96F1-482D-B7AA-DBC5F4E8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400175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cxnSp>
        <p:nvCxnSpPr>
          <p:cNvPr id="4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52825" y="1581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310B4-135E-4112-8B54-2485E5F5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00175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695950" y="1581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572C0-A7B6-4586-8933-E5686433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00175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通信内存</a:t>
            </a:r>
          </a:p>
        </p:txBody>
      </p: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39075" y="1581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4A3B5-EB1F-4E13-8D1D-13E1628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76425"/>
            <a:ext cx="1676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7A0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841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三选一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F4B8A-6356-465C-AEAC-B4A3587B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28875"/>
            <a:ext cx="3600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cxnSp>
        <p:nvCxnSpPr>
          <p:cNvPr id="53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228850" y="2181225"/>
            <a:ext cx="38671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D81E8-38FA-4812-BDF5-1E8B34DF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86050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AICPU Kernel 逐原语展开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8119D-BB62-4EC1-9B4E-19C66F0C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241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B0A63-95E4-43AD-863E-1DB6C1CE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62300"/>
            <a:ext cx="36004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HcclThreadAcquire()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AicpuKernelLaunch()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HcclThreadResGetInfo()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aclrtLaunchKernelWithConfig()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B0F95-D36F-4B36-885C-F83063D9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3867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638C2-2E5D-400D-B50C-E0961D35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876800"/>
            <a:ext cx="36004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79368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HcommLocalCopy/ReduceOnThread()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HcommRead/WriteOnThread()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HcommReadReduce/WriteReduceOnThread()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HcommBatchTransferOnThread()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HcommThreadNotifyRecord/WaitOnThread()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HcommChannelNotifyRecordOnThread()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HcommFence/ChannelFence/DrainOnThread()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78A1F-DD2E-4908-A54F-A5FF33CA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29300"/>
            <a:ext cx="3600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最终：Hcomm*OnThread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C92A4-F266-4B50-9244-312598C5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428875"/>
            <a:ext cx="3600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cxnSp>
        <p:nvCxnSpPr>
          <p:cNvPr id="61" name=""/>
          <p:cNvCxnSpPr>
            <a:stCxn xmlns:a="http://schemas.openxmlformats.org/drawingml/2006/main" id="12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6076950" y="2181225"/>
            <a:ext cx="190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260C4-5DED-49E9-9FFB-164A0C10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86050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Host 准备资源，Vector Kernel 展开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DC066-2F24-41BA-B022-FF364F2D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241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F8347-C717-46E4-8069-420779C2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62300"/>
            <a:ext cx="36004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GetAlgResAiv()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HcclEngineCtxGet/Create()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HcclAllocAlgResourceAiv()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HcclCommRegCommStateCallback()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HcclCommMemReg() / HcclGetHcclBuffer()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HcclChannelAcquire(AIV)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ConvertAivChannelHandlesToDevicePtrs()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43BA22-6D98-4FDE-9689-50133B1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3867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333BF7-575C-4EA2-BD9D-5CC90ACE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76800"/>
            <a:ext cx="36004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HcclAivKernelEntranceLaunch()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GetAivParamStorageByComm()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ExecuteKernelLaunch()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ExecuteKernelLaunchInner()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0876C8-1A35-4B1E-A19B-C6A3E060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829300"/>
            <a:ext cx="3600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最终：aclrtLaunchKernelWithHostArgs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EEEDA-F8D5-4E9D-AF01-E3F1EA69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28875"/>
            <a:ext cx="3600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cxnSp>
        <p:nvCxnSpPr>
          <p:cNvPr id="69" name=""/>
          <p:cNvCxnSpPr>
            <a:stCxn xmlns:a="http://schemas.openxmlformats.org/drawingml/2006/main" id="12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6096000" y="2181225"/>
            <a:ext cx="38290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81C1E-2864-42BA-8C07-9B81282D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86050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申请 CCU 实例，注册并提交 Mission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0378A-D199-459E-8624-3452C89F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241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D03C6C-C65D-4DCB-BA03-C5786B91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62300"/>
            <a:ext cx="36004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GetAlgResCcu()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HcclAllocAlgResourceCcu()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HcclGetThread() / HcclGetChannelForCcu()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HcclChannelQuery/Acquire(CCU)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HcclGetCcuKernel/Dynamic()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HcclCommQueryAssignedCcuIns()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HcommCcuInsResDescCreate/SetNum()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HcommCcuInsCreate() / HcclCommAssignCcuIns()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30701D-D493-4BF9-BC8B-451F22F1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63867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0C51FF-EE19-408D-B011-15FC434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876800"/>
            <a:ext cx="36004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HcommCcuKernelRegisterStart()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HcommCcuKernelRegister()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HcommCcuKernelRegisterEnd()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1406A7-F866-4DAF-8AC1-E1E95DD7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829300"/>
            <a:ext cx="3600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最终：HcommCcuKernelLaunch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323B64-8472-4D08-9946-98D1871C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210300"/>
            <a:ext cx="62865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73034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共同落点：Channel L3 → UB / RoCE / HCCS 等 Transport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872D06-B787-4BBD-95A9-98D83807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033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8BAF26-C605-4891-9BC6-5B7455C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62725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41618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2026-09-14T13:28:08.4050000Z</dcterms:created>
  <dcterms:modified xsi:type="dcterms:W3CDTF">2026-09-14T13:28:08.4050000Z</dcterms:modified>
</coreProperties>
</file>