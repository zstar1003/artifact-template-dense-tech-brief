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02701b07b4487b" /><Relationship Type="http://schemas.openxmlformats.org/officeDocument/2006/relationships/extended-properties" Target="/docProps/app.xml" Id="Rb7d70adc07974021" /><Relationship Type="http://schemas.openxmlformats.org/officeDocument/2006/relationships/officeDocument" Target="/ppt/presentation.xml" Id="Ra45dadb533ff4d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df567b2b1f4179"/>
  </p:sldMasterIdLst>
  <p:notesMasterIdLst>
    <p:notesMasterId xmlns:r="http://schemas.openxmlformats.org/officeDocument/2006/relationships" r:id="Rb4cd4c52c4b5463a"/>
  </p:notesMasterIdLst>
  <p:sldIdLst>
    <p:sldId xmlns:r="http://schemas.openxmlformats.org/officeDocument/2006/relationships" id="256" r:id="R862aaa1753774f4a"/>
    <p:sldId xmlns:r="http://schemas.openxmlformats.org/officeDocument/2006/relationships" id="257" r:id="R3e208a04e12b4364"/>
    <p:sldId xmlns:r="http://schemas.openxmlformats.org/officeDocument/2006/relationships" id="258" r:id="R4802ead6ec7840f4"/>
    <p:sldId xmlns:r="http://schemas.openxmlformats.org/officeDocument/2006/relationships" id="259" r:id="R0ebffe9f9d2b483a"/>
    <p:sldId xmlns:r="http://schemas.openxmlformats.org/officeDocument/2006/relationships" id="260" r:id="Re3e11ea32f38464f"/>
    <p:sldId xmlns:r="http://schemas.openxmlformats.org/officeDocument/2006/relationships" id="261" r:id="R57b1f3a6671348f5"/>
    <p:sldId xmlns:r="http://schemas.openxmlformats.org/officeDocument/2006/relationships" id="262" r:id="Rccd50662aa0d4f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30bf053bdc4af6" /><Relationship Type="http://schemas.openxmlformats.org/officeDocument/2006/relationships/slideMaster" Target="/ppt/slideMasters/slideMaster1.xml" Id="R78df567b2b1f4179" /><Relationship Type="http://schemas.openxmlformats.org/officeDocument/2006/relationships/notesMaster" Target="/ppt/notesMasters/notesMaster1.xml" Id="Rb4cd4c52c4b5463a" /><Relationship Type="http://schemas.openxmlformats.org/officeDocument/2006/relationships/presProps" Target="/ppt/presProps.xml" Id="R9a7c7ffcb7144e3b" /><Relationship Type="http://schemas.openxmlformats.org/officeDocument/2006/relationships/tableStyles" Target="/ppt/tableStyles.xml" Id="Rbe20a251d9684848" /><Relationship Type="http://schemas.openxmlformats.org/officeDocument/2006/relationships/slide" Target="/ppt/slides/slide1.xml" Id="R862aaa1753774f4a" /><Relationship Type="http://schemas.openxmlformats.org/officeDocument/2006/relationships/slide" Target="/ppt/slides/slide2.xml" Id="R3e208a04e12b4364" /><Relationship Type="http://schemas.openxmlformats.org/officeDocument/2006/relationships/slide" Target="/ppt/slides/slide3.xml" Id="R4802ead6ec7840f4" /><Relationship Type="http://schemas.openxmlformats.org/officeDocument/2006/relationships/slide" Target="/ppt/slides/slide4.xml" Id="R0ebffe9f9d2b483a" /><Relationship Type="http://schemas.openxmlformats.org/officeDocument/2006/relationships/slide" Target="/ppt/slides/slide5.xml" Id="Re3e11ea32f38464f" /><Relationship Type="http://schemas.openxmlformats.org/officeDocument/2006/relationships/slide" Target="/ppt/slides/slide6.xml" Id="R57b1f3a6671348f5" /><Relationship Type="http://schemas.openxmlformats.org/officeDocument/2006/relationships/slide" Target="/ppt/slides/slide7.xml" Id="Rccd50662aa0d4f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26a4ba105443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f60287d7fe47dc" /><Relationship Type="http://schemas.openxmlformats.org/officeDocument/2006/relationships/notesMaster" Target="/ppt/notesMasters/notesMaster1.xml" Id="R6e6501c516f944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dcc24b92844f46" /><Relationship Type="http://schemas.openxmlformats.org/officeDocument/2006/relationships/notesMaster" Target="/ppt/notesMasters/notesMaster1.xml" Id="R251e7acbb91e4c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9cd123ae6e4bc2" /><Relationship Type="http://schemas.openxmlformats.org/officeDocument/2006/relationships/notesMaster" Target="/ppt/notesMasters/notesMaster1.xml" Id="Rcad03b4800894f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0f8bf76c3f4d0c" /><Relationship Type="http://schemas.openxmlformats.org/officeDocument/2006/relationships/notesMaster" Target="/ppt/notesMasters/notesMaster1.xml" Id="R08d89329bad94f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eda44c003d4a42" /><Relationship Type="http://schemas.openxmlformats.org/officeDocument/2006/relationships/notesMaster" Target="/ppt/notesMasters/notesMaster1.xml" Id="R938868abcad544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6d0fe1df3b4405" /><Relationship Type="http://schemas.openxmlformats.org/officeDocument/2006/relationships/notesMaster" Target="/ppt/notesMasters/notesMaster1.xml" Id="R813e7d92604746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d7836d18cc4e39" /><Relationship Type="http://schemas.openxmlformats.org/officeDocument/2006/relationships/notesMaster" Target="/ppt/notesMasters/notesMaster1.xml" Id="R367d909a812349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本页用于建立阅读坐标。HCCL 与 HCOMM 不是“一个算子对应一个底层 API”。HCCL 先把不同算子的公开参数归一化为 OpParam，再选择算法和 CommEngine。HCOMM L2 提供通信域、拓扑和资源 ABI，HCOMM L3 提供通道与数据面原语。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动态边界位于 hccl/src/common/hcomm_dlsym/。HCOMM L2 的部分函数也以 Hccl 开头，例如 HcclChannelAcquire，它们不是公开集合算子，而是 HCCL 消费的通信资源 ABI。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步骤 1 至 5 先做兼容分流。步骤 6 把公开参数归一化为 OpParam。步骤 7 至 9 决定展开模式。步骤 10 至 14 查询拓扑并选择算法。步骤 15 至 18 计算资源、进入 HCOMM 建链。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关键调试字段是 param.algName、param.algTag、param.opExecuteConfig 和 CommEngine。HcclExecOp 在 op_common.cc:866-868 附近打印资源复用、算法名、引擎与 algTag，可用于把运行日志映射回静态调用链。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Selector 并非只看算子类型。AllReduce AutoSelector 会检查展开引擎、拓扑层数、2-Die、Rank 数、数据量、inplace、datatype、reduceType、确定性和 CCU / AIV 资源限制。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算法名可以作为运行时调用链的索引。先从日志取得 algName，再搜索 REGISTER_ALG_ATTRS 和 Executor 注册，继续追踪 CalcRes、Orchestrate、Template 与 Hcomm 原语。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建链严格按四个阶段推进。03 是 HCCL 建链入口，10 完成 HCCL 到 HCOMM 的描述符转换，17 启动 Endpoint 监听，22 进入 HCOMM L3 创建集合通信 Channel，28 校验跨 Rank 一致性，30 为 AIV 生成设备可见指针，32 返回 ChannelHandle 与 Remote CCL Buffer。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Channel::CreateChannel 会根据 CommEngine 和协议创建 AicpuTs*Channel、Aiv*Channel、CcuUrmaChannel 或 HostCpu*Channel，不是固定实现。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本页回答“不同算子是否共用 HCOMM”。共用程度很高。归约类算子在搬运基础上增加 ReadReduce、WriteReduce 或 LocalReduce。搬运类算子主要使用 Read、Write 和 LocalCopy。Barrier 以 Notify / Wait 为主。AlltoAll、Send / Recv 和 BatchSendRecv 更强调逐 Peer Channel 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表格表示能力集合，不代表一次运行必然调用所有原语。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AICPU_TS 由 AICPU Kernel 展开算法模板，执行 Hcomm*OnThread 原语。AIV 仍使用 HCOMM 的 Channel、RemoteMem 和通信信息，但 Host 不再逐步调用同一套 OnThread 原语，Vector Kernel 在设备侧执行。CCU 先查询资源、创建 CcuIns、注册 Kernel，再用 HcommCcuKernelLaunch 提交 Mission。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AIV_ONLY 的语义很重要：找不到 AIV 算法时不能回退到 AICPU。CCU 资源不足时必须跨 Rank 协商相同回退结果，否则可能出现死锁。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本页给出一条可在源码中逐层跳转的具体链路。算法差异主要发生在第一层：Template 决定分片、Peer、Channel、偏移、并发 Thread 和 Notify 索引。AlgDataTransWrapper 把这些差异收敛到有限的 HCOMM 原语。HCOMM 适配层再根据设备和协议进入具体 Transport。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因此，很多算法代码看起来不同，但最后调用的 HCOMM API 很接近。它们的差别更多体现在原语顺序和参数，而不是传输 API 名称。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2085afcd9d41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bb26537c9740b0" /><Relationship Type="http://schemas.openxmlformats.org/officeDocument/2006/relationships/slideLayout" Target="/ppt/slideLayouts/slideLayout1.xml" Id="R8e5278e8c30b47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5278e8c30b47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e2e5daf92443a" /><Relationship Type="http://schemas.openxmlformats.org/officeDocument/2006/relationships/notesSlide" Target="/ppt/notesSlides/notesSlide1.xml" Id="R78092adda8e141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0679990ad4a62" /><Relationship Type="http://schemas.openxmlformats.org/officeDocument/2006/relationships/notesSlide" Target="/ppt/notesSlides/notesSlide2.xml" Id="Re086dc0ab96c4b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88066b32b497a" /><Relationship Type="http://schemas.openxmlformats.org/officeDocument/2006/relationships/notesSlide" Target="/ppt/notesSlides/notesSlide3.xml" Id="Rafafe816174e45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8ceb0bfcf4a75" /><Relationship Type="http://schemas.openxmlformats.org/officeDocument/2006/relationships/notesSlide" Target="/ppt/notesSlides/notesSlide4.xml" Id="R64f8d1a26e604e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3d71611cc4a34" /><Relationship Type="http://schemas.openxmlformats.org/officeDocument/2006/relationships/notesSlide" Target="/ppt/notesSlides/notesSlide5.xml" Id="R2cf4c15f14704d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81574ffc04f58" /><Relationship Type="http://schemas.openxmlformats.org/officeDocument/2006/relationships/notesSlide" Target="/ppt/notesSlides/notesSlide6.xml" Id="Rd37c3c6cbd3c46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6ca4137954ce2" /><Relationship Type="http://schemas.openxmlformats.org/officeDocument/2006/relationships/notesSlide" Target="/ppt/notesSlides/notesSlide7.xml" Id="R0ab4a40593464c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EEED43-F015-4BBB-A352-E2900B58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13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7131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97131C"/>
                </a:solidFill>
                <a:latin typeface="PingFang SC"/>
                <a:ea typeface="PingFang SC"/>
                <a:cs typeface="PingFang SC"/>
              </a:rPr>
              <a:t>HCCL 算子到 HCOMM 的公共主干与分叉点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51C89-B28B-4714-98E4-9D5EFC19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从公开 C API 到 Transport；算子语义、展开引擎和物理拓扑分别影响不同层次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A185F-D843-4EE5-9CDD-4056BB6B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76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58934-1DE3-4FAB-AFD7-822C29C8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86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713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E4794-CB98-4CF9-AFB4-C5CC2F3B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19175"/>
            <a:ext cx="1238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7620">
            <a:solidFill>
              <a:srgbClr val="34383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上层调用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3111A5-1238-43BC-A603-6EA46397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114425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34383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 框架 / 自定义算子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ADA9E6-22B3-4F72-9767-545F863A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114425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34383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HcclAllReduce / AllGather / ReduceScatter / Broadcast / AlltoAll / Send / Recv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375DD9-08CC-4C4F-BEA8-00037913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668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383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433A9-8F80-4A99-8047-04FCC49F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43839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343839"/>
                </a:solidFill>
                <a:latin typeface="PingFang SC"/>
                <a:ea typeface="PingFang SC"/>
                <a:cs typeface="PingFang SC"/>
              </a:rPr>
              <a:t>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BBBC6-0959-495B-AFCA-D6EEBE2F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57375"/>
            <a:ext cx="123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HCCL 算子层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32CFDA-40D5-4836-A55E-6065B832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952625"/>
            <a:ext cx="19354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InitAndCheck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80D974-2B47-495C-BF36-52E1E84A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280" y="1952625"/>
            <a:ext cx="19354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Fill*OpParam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2AFC9D-2C56-4968-893E-FBAC9A8A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960" y="1952625"/>
            <a:ext cx="19354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HcclGetOpExpansionMode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6095D7-1A93-492C-B3F5-A7D8EAE8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952625"/>
            <a:ext cx="19354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Selector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38D32F-E8B2-4812-9A39-D80AE221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1952625"/>
            <a:ext cx="19354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HcclExecOp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A6D1AB-74D9-40A2-8889-09FDE6AA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336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713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B6D5AD-E519-438B-92FA-3995D557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7131C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97131C"/>
                </a:solidFill>
                <a:latin typeface="PingFang SC"/>
                <a:ea typeface="PingFang SC"/>
                <a:cs typeface="PingFang SC"/>
              </a:rPr>
              <a:t>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551DF8-191E-491D-B0A9-484E0309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924175"/>
            <a:ext cx="123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1621"/>
          </a:solidFill>
          <a:ln xmlns:a="http://schemas.openxmlformats.org/drawingml/2006/main" w="7620">
            <a:solidFill>
              <a:srgbClr val="B1162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HCOMM L2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28C10F-6F6C-49A0-B3B6-C7BA5AA1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1942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9EA"/>
          </a:solidFill>
          <a:ln xmlns:a="http://schemas.openxmlformats.org/drawingml/2006/main" w="7620">
            <a:solidFill>
              <a:srgbClr val="B1162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HcclConfigGetInfo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D59E44-36DF-416B-AB6B-A4F564DD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1942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7620">
            <a:solidFill>
              <a:srgbClr val="B1162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HcclRankGraphGet*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12A7C0-8E94-49FD-8723-66BA9E5A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1942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9EA"/>
          </a:solidFill>
          <a:ln xmlns:a="http://schemas.openxmlformats.org/drawingml/2006/main" w="7620">
            <a:solidFill>
              <a:srgbClr val="B1162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HcclEngineCtx*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99E8EA-EE72-481A-9940-BC91A4C0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1942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9EA"/>
          </a:solidFill>
          <a:ln xmlns:a="http://schemas.openxmlformats.org/drawingml/2006/main" w="7620">
            <a:solidFill>
              <a:srgbClr val="B1162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HcclThreadAcquire*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94182E-4115-4758-9AE4-0E16B7B7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1942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7620">
            <a:solidFill>
              <a:srgbClr val="B1162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 / Query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F3F7C1-6FC1-492D-B496-26085D3D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1942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9EA"/>
          </a:solidFill>
          <a:ln xmlns:a="http://schemas.openxmlformats.org/drawingml/2006/main" w="7620">
            <a:solidFill>
              <a:srgbClr val="B1162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HcclCommMemReg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68A30A-4ECB-49E7-B62D-F3FEBCF3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004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1162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B1DC70-05CA-428F-8DC1-F020039D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11621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B11621"/>
                </a:solidFill>
                <a:latin typeface="PingFang SC"/>
                <a:ea typeface="PingFang SC"/>
                <a:cs typeface="PingFang SC"/>
              </a:rPr>
              <a:t>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4B393B-D2F0-48F9-B975-525FF16A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990975"/>
            <a:ext cx="123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HCOMM L3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4FC2DC-E0CE-4BBB-866A-6F8AC61C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86225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 / EndpointPair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CCE935-D514-47FF-B724-1A5BC2EF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86225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 / CommMem / Thread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13CCB0-B191-42E7-B17D-7FA62B94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86225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HcommRead / Write / Reduce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1A69FF-3515-45F6-AFFE-D3CC90E0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86225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Notify / Fence / Drain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8A623B-7F44-4416-90EE-40E1E0F7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672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E8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0C7069-5D26-4E60-9AB6-600FEC54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43E8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243E8F"/>
                </a:solidFill>
                <a:latin typeface="PingFang SC"/>
                <a:ea typeface="PingFang SC"/>
                <a:cs typeface="PingFang SC"/>
              </a:rPr>
              <a:t>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DDE3BE-9747-4ED0-821F-465E9144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057775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7620">
            <a:solidFill>
              <a:srgbClr val="34383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传输与硬件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C706D9-5BD9-417F-B304-CAEA4651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53025"/>
            <a:ext cx="19354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34383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UB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002661-21CA-4014-8DFC-4238C1D0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280" y="5153025"/>
            <a:ext cx="19354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34383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RoCE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155DEA-4CE0-46DA-8650-E36FC454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960" y="5153025"/>
            <a:ext cx="19354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34383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887C24-D23E-41A6-A9C7-9E04C11F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153025"/>
            <a:ext cx="19354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34383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SDMA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7D7ACA-E36D-404E-95A2-855342FA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5153025"/>
            <a:ext cx="19354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34383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CCU / URMA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E7702F-0BB6-4916-B0EE-1328D9F1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248275"/>
            <a:ext cx="12382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三个决策维度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04B7A5-F1FA-4030-A4AA-892B6DF8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48275"/>
            <a:ext cx="17621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9EA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算子语义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18D78A-070B-4A7A-B33A-E093B42F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248275"/>
            <a:ext cx="82200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决定 Copy / Reduce、Root / Peer、分片布局和输出语义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A3441F-FA10-4E29-A9D0-55F5BC25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43550"/>
            <a:ext cx="17621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展开引擎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296DBA-472B-4124-8793-1D7B8D11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543550"/>
            <a:ext cx="82200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决定算法在 AICPU、AIV 还是 CCU 展开；执行 API 家族随之变化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B1AF96-9DC7-4B89-959A-E7890BDD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38825"/>
            <a:ext cx="17621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拓扑与数据规模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6EA1C2-FC9A-4E46-B093-C98F9513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838825"/>
            <a:ext cx="82200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决定 Mesh / NHR、多层组合、Channel 数量、OneShot / TwoShot 和并发方式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07CCCA2-F065-44F0-BE39-B6784358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229350"/>
            <a:ext cx="113061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1047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跨算子共用：配置、RankGraph、EngineCtx、Thread、Channel、通信内存、Notify、Profiling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529AB3-CF70-4DA7-BDC2-1FC3A796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83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31CF71-7C32-4463-90B4-D01FFBFA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981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571"/>
          </a:bodyPr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基线：hccl 170ddeec539b；hcomm 87ce550f8f7c；动态边界：hccl/src/common/hcomm_dlsym/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08F140-DE8F-4ABB-B885-7099FFC9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610350"/>
            <a:ext cx="1485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571"/>
          </a:bodyPr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HCCL / HCOMM 源码追踪</a:t>
            </a:r>
          </a:p>
        </p:txBody>
      </p:sp>
    </p:spTree>
    <p:extLst>
      <p:ext uri="{BB962C8B-B14F-4D97-AF65-F5344CB8AC3E}">
        <p14:creationId xmlns:p14="http://schemas.microsoft.com/office/powerpoint/2010/main" val="8126693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E64291E-4595-48DB-9CD5-BD8E9BD8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13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7131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97131C"/>
                </a:solidFill>
                <a:latin typeface="PingFang SC"/>
                <a:ea typeface="PingFang SC"/>
                <a:cs typeface="PingFang SC"/>
              </a:rPr>
              <a:t>AllReduce 新流程的 API 调用链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B5EB1-8FDE-4C4D-A20F-D5067CB9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入口兼容分流、参数归一化、算法选择、资源计算和 HCOMM 建链均保留真实函数名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E21B7-A3B6-42C5-8C1E-BFFB7939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76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C4A4F-2AB8-415A-B5D1-221D68FE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86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713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F0F8B-8B21-4910-952C-806498A0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90600"/>
            <a:ext cx="11239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入口与分流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66A95-2916-4921-B38C-DF76D68E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295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0EFFA-974F-478F-9CDE-76FF1DBD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5730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HcclAllReduce()</a:t>
            </a:r>
          </a:p>
          <a:p xmlns:a="http://schemas.openxmlformats.org/drawingml/2006/main">
            <a:pPr algn="l">
              <a:def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公开集合规约入口</a:t>
            </a:r>
          </a:p>
          <a:p xmlns:a="http://schemas.openxmlformats.org/drawingml/2006/main">
            <a:pPr algn="l">
              <a:def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all_reduce.cc:23-55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0CF7DC-E86E-4ED4-8A60-D98DA516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257300"/>
            <a:ext cx="295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A8C8B8-1445-4B43-81B1-E9E02F9F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25730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版本 / 条件判断</a:t>
            </a:r>
          </a:p>
          <a:p xmlns:a="http://schemas.openxmlformats.org/drawingml/2006/main">
            <a:pPr algn="l">
              <a:defRPr sz="6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版本、out-place、新流程条件</a:t>
            </a:r>
          </a:p>
          <a:p xmlns:a="http://schemas.openxmlformats.org/drawingml/2006/main">
            <a:pPr algn="l">
              <a:defRPr sz="6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all_reduce.cc:27-42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CEC5C-D1E2-4C74-86C6-B1509D06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257300"/>
            <a:ext cx="295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9FD48-F6F9-406E-9180-B4A56F6C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25730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9EA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HcclAllReduceInner()</a:t>
            </a:r>
          </a:p>
          <a:p xmlns:a="http://schemas.openxmlformats.org/drawingml/2006/main">
            <a:pPr algn="l">
              <a:def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兼容分支进入旧流程</a:t>
            </a:r>
          </a:p>
          <a:p xmlns:a="http://schemas.openxmlformats.org/drawingml/2006/main">
            <a:pPr algn="l">
              <a:def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条件分支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79907-D1B2-467C-984F-5D82600A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257300"/>
            <a:ext cx="295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0A340-E9E3-48FC-B725-DCEC513F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25730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AllReduceInitAndCheck()</a:t>
            </a:r>
          </a:p>
          <a:p xmlns:a="http://schemas.openxmlformats.org/drawingml/2006/main">
            <a:pPr algn="l">
              <a:defRPr sz="6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校验 comm、指针、count、datatype</a:t>
            </a:r>
          </a:p>
          <a:p xmlns:a="http://schemas.openxmlformats.org/drawingml/2006/main">
            <a:pPr algn="l">
              <a:defRPr sz="6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all_reduce.cc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6DD31E-7C5B-4A63-87D5-38CFBE10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57300"/>
            <a:ext cx="295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05FF06-FDD3-4C19-8345-E2C2A443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25730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AllReduceOutPlace()</a:t>
            </a:r>
          </a:p>
          <a:p xmlns:a="http://schemas.openxmlformats.org/drawingml/2006/main">
            <a:pPr algn="l">
              <a:def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进入 A5 / V2 新流程</a:t>
            </a:r>
          </a:p>
          <a:p xmlns:a="http://schemas.openxmlformats.org/drawingml/2006/main">
            <a:pPr algn="l">
              <a:def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all_reduce.cc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BAC098-3541-46C6-8802-38C4B72E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5144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4383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E1E270-8F1B-4E69-9B43-FCA9EBF7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144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4383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F6AD4D-FF4B-423C-B2D9-0355B667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5144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4383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427E4F-2803-493D-9AB9-EE17914E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5144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4383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DFEF0F-98E6-4A4E-8FDA-8B3E233E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43100"/>
            <a:ext cx="11239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参数与模式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8C7D7A-1A10-4FA7-B334-2DB915C2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09800"/>
            <a:ext cx="2952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9930F1-E8B9-4148-A72F-3C041210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09800"/>
            <a:ext cx="24193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FillAllReduceOpParam()</a:t>
            </a:r>
          </a:p>
          <a:p xmlns:a="http://schemas.openxmlformats.org/drawingml/2006/main">
            <a:pPr algn="l">
              <a:defRPr sz="61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生成 OpParam；写入 opType、buffer、count、reduceType</a:t>
            </a:r>
          </a:p>
          <a:p xmlns:a="http://schemas.openxmlformats.org/drawingml/2006/main">
            <a:pPr algn="l">
              <a:defRPr sz="61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all_reduce.cc:159-187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22E2F1-40D6-4E9B-AB63-27753983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209800"/>
            <a:ext cx="2952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1BA9A4-B80A-42AD-B3EF-A4D57075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09800"/>
            <a:ext cx="24193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HcclGetOpExpansionMode()</a:t>
            </a:r>
          </a:p>
          <a:p xmlns:a="http://schemas.openxmlformats.org/drawingml/2006/main">
            <a:pPr algn="l">
              <a:def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读取通信域级展开配置</a:t>
            </a:r>
          </a:p>
          <a:p xmlns:a="http://schemas.openxmlformats.org/drawingml/2006/main">
            <a:pPr algn="l">
              <a:def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op_common.cc:3418-3435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EF26DE-4CF5-4433-B1B1-AFBC04FE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09800"/>
            <a:ext cx="2952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4F3562-5596-4FAA-BFAD-8990B4ED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09800"/>
            <a:ext cx="24193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DecideHcclOpExpansionMode()</a:t>
            </a:r>
          </a:p>
          <a:p xmlns:a="http://schemas.openxmlformats.org/drawingml/2006/main">
            <a:pPr algn="l">
              <a:def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HcclConfigGetInfo 优先；兼容环境变量</a:t>
            </a:r>
          </a:p>
          <a:p xmlns:a="http://schemas.openxmlformats.org/drawingml/2006/main">
            <a:pPr algn="l">
              <a:def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op_common.cc:3463-3503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DE26E4-7056-486F-A05E-569ACC6F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209800"/>
            <a:ext cx="2952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C42AB8-E58C-4565-902E-C6B14CBC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09800"/>
            <a:ext cx="24193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ApplyOpExpansionMode()</a:t>
            </a:r>
          </a:p>
          <a:p xmlns:a="http://schemas.openxmlformats.org/drawingml/2006/main">
            <a:pPr algn="l">
              <a:defRPr sz="61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写入 OpExecuteConfig 与 CommEngine</a:t>
            </a:r>
          </a:p>
          <a:p xmlns:a="http://schemas.openxmlformats.org/drawingml/2006/main">
            <a:pPr algn="l">
              <a:defRPr sz="61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op_common.cc:3526-3565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DCB89D-9CE6-48F3-85C2-11FA9AC2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5050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4383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D861E0-8EDA-4E91-ABAB-0705A40F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050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4383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014112-56BB-4AE2-9E64-E5B04D5C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5050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4383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A3A4DE-20A1-48B7-9CC4-BF8BBD04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90850"/>
            <a:ext cx="11239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选择与执行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55EA0B-45C1-43E7-A0AF-E1CB82AF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57550"/>
            <a:ext cx="2952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6FFB1F-C5F6-420E-89DB-212DA547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57550"/>
            <a:ext cx="18478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Selector()</a:t>
            </a:r>
          </a:p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统一算法选择入口</a:t>
            </a:r>
          </a:p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op_common.cc:158-223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588636-8443-41F4-A661-14F29A7F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257550"/>
            <a:ext cx="2952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76B36E-A605-4342-AE00-86E0D280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57550"/>
            <a:ext cx="18478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HcclCalcTopoInfo()</a:t>
            </a:r>
          </a:p>
          <a:p xmlns:a="http://schemas.openxmlformats.org/drawingml/2006/main">
            <a:pPr algn="l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初始化并缓存 TopoInfo</a:t>
            </a:r>
          </a:p>
          <a:p xmlns:a="http://schemas.openxmlformats.org/drawingml/2006/main">
            <a:pPr algn="l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Selector 子调用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53C2DA-48CC-4B2B-88F9-F0A6B47C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57550"/>
            <a:ext cx="2952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4FC2AA-C811-4B4B-B602-C55BD3D9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257550"/>
            <a:ext cx="18478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HcclRankGraphGet*</a:t>
            </a:r>
          </a:p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读取 Layers、TopoInst、Ranks、Links、Endpoint</a:t>
            </a:r>
          </a:p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rank_graph adapter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CD3DAE-E48F-4C32-B40F-88BD6561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257550"/>
            <a:ext cx="2952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4137CC-973F-45A7-98C4-A9C41CAF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57550"/>
            <a:ext cx="18478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SelectorEngine() / ExecuteSelector()</a:t>
            </a:r>
          </a:p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二选一；输出 algName、CommEngine、algTag</a:t>
            </a:r>
          </a:p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op_common.cc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7916D0-35E8-4F46-BC80-23BEE41C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57550"/>
            <a:ext cx="2952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CB3DFD-B9AF-4ACD-A376-73FC4ED8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257550"/>
            <a:ext cx="18478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HcclExecOp()</a:t>
            </a:r>
          </a:p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取得 Executor，进入统一执行框架</a:t>
            </a:r>
          </a:p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op_common.cc:780-941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E13390-E186-4329-BCBF-8AB2D373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55282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4383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9D4195-8B5F-4B2C-A3E1-4329A6F3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5282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4383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84F97DA-EB78-403B-95FF-CAE1E7EB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55282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4383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1D36F6-B920-4EBA-A408-DAFD05F2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5282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4383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6FDDB6-A702-4DA7-8271-F7DE0A37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48125"/>
            <a:ext cx="11239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资源与建链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F4AA7D9-DC43-4826-ABAB-01F21172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14825"/>
            <a:ext cx="2952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6AC309D-A4DE-414A-9308-4953DCE1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14825"/>
            <a:ext cx="24193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executor-&gt;CalcRes()</a:t>
            </a:r>
          </a:p>
          <a:p xmlns:a="http://schemas.openxmlformats.org/drawingml/2006/main">
            <a:pPr algn="l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只计算需要哪些 Thread、Channel、Mem、Notify</a:t>
            </a:r>
          </a:p>
          <a:p xmlns:a="http://schemas.openxmlformats.org/drawingml/2006/main">
            <a:pPr algn="l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Executor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76287D9-A8A5-4072-AFE5-84AB35E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314825"/>
            <a:ext cx="2952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89029DC-4EA3-4E1C-A148-AE26FF77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14825"/>
            <a:ext cx="24193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GetAlgResWithEngine()</a:t>
            </a:r>
          </a:p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CommEngine 分派资源申请</a:t>
            </a:r>
          </a:p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op_common.cc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814ACA1-8F4B-4C41-9F78-40C04165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14825"/>
            <a:ext cx="2952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532BF2E-5A78-4167-B13F-2033AB76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314825"/>
            <a:ext cx="24193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HcclChannelAcquire()</a:t>
            </a:r>
          </a:p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描述符转换、Socket、EndpointPair、Channel</a:t>
            </a:r>
          </a:p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op_common.cc:2061-2091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A584F7B-7667-4A37-A4BA-5B24FC8F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314825"/>
            <a:ext cx="2952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3AF3E5B-2874-44A7-80D6-FF504537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14825"/>
            <a:ext cx="24193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HcommCollectiveChannelCreate()</a:t>
            </a:r>
          </a:p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进入 HCOMM L3 创建具体 Channel</a:t>
            </a:r>
          </a:p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hcomm_channel_c_adpt.cc:437-458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95146F2-AE7D-425F-9C69-B589806B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61010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3E8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6382504-A620-4842-AF6C-ECE29893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1010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3E8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A8F3600-F384-46B0-887A-3A6912FB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61010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3E8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4FB6CDF-D4D2-4B43-9D1C-0F50436B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6255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观测点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B05A533-795A-49B8-B6A1-1A2BD865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62550"/>
            <a:ext cx="238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输入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4365CD8-F185-4C61-9AC5-086B708D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162550"/>
            <a:ext cx="238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Selector 输出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7879EB0-4CBD-43FF-B6B3-670C15EE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62550"/>
            <a:ext cx="238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资源输出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F519F03-48DE-4472-85E9-84B23D71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62550"/>
            <a:ext cx="2733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返回 HCCL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73B6C0C-91B9-4002-9925-DC107955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00675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运行时字段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65055CB-2437-4831-B061-D5F1F14F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00675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sendBuf / recvBuf / count / datatype / reduceType / stream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650BFB3-7809-4858-8C7A-242E5D86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00675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algName / CommEngine / algTag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18E0E19-C110-4AA4-B0B2-37A56BD5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00675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Thread / Channel / CommMem / Notify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806B96C-FA46-4194-8DE6-9B44A410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400675"/>
            <a:ext cx="2733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ChannelHandle / Remote CCL Buffer / 设备侧资源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297354A-4DCA-4FED-9290-CC115AB5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67425"/>
            <a:ext cx="113061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9EA"/>
          </a:solidFill>
          <a:ln xmlns:a="http://schemas.openxmlformats.org/drawingml/2006/main" w="9525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兼容分支提示：不满足新流程条件时进入 HcclAllReduceInner；不能把本页新流程视为所有设备和版本的唯一链路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E6905AF-CA23-4079-A259-AD5A69C0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839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B2F79AA-05B9-405B-8F2E-8AA1F30C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981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571"/>
          </a:bodyPr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主要源码：hccl/src/ops/all_reduce/all_reduce.cc；hccl/src/ops/op_common/op_common.cc；hcomm/.../api_c_adpt/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FDD8A28-DB85-4F2B-9807-F30D87B1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610350"/>
            <a:ext cx="1485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571"/>
          </a:bodyPr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HCCL / HCOMM 源码追踪</a:t>
            </a:r>
          </a:p>
        </p:txBody>
      </p:sp>
    </p:spTree>
    <p:extLst>
      <p:ext uri="{BB962C8B-B14F-4D97-AF65-F5344CB8AC3E}">
        <p14:creationId xmlns:p14="http://schemas.microsoft.com/office/powerpoint/2010/main" val="15615644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175B6D4-6424-4452-973B-45B8C5A9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13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7131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97131C"/>
                </a:solidFill>
                <a:latin typeface="PingFang SC"/>
                <a:ea typeface="PingFang SC"/>
                <a:cs typeface="PingFang SC"/>
              </a:rPr>
              <a:t>展开模式与 Selector 决策表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FB907-6ED0-4B64-B107-E31CFAC0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展开模式决定执行位置；Selector 再结合拓扑、数据规模和资源约束选出具体算法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68A57-39E3-45C8-8925-795F4E49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76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14026-CE01-4C7F-95C1-F3ACBDDF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86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713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D46DC-3EB4-40A8-9E87-F489B872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81075"/>
            <a:ext cx="12573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展开模式映射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44AC3A-03E4-4D7F-ACB0-06EFF228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1920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配置值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F0442-1391-4C32-9677-64CA7C25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21920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OpExecuteConfig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64DADA-770C-4E09-89D1-8C5763AF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219200"/>
            <a:ext cx="209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CommEngine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4BCE6A-3466-47AF-BCA8-75BD1DBD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219200"/>
            <a:ext cx="2647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初始化 / 约束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895F0-1B6D-4B72-9913-80DC01DF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219200"/>
            <a:ext cx="34194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执行含义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9CF6E0-6E8A-4421-86FB-54CA7A90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57325"/>
            <a:ext cx="1428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AI_CPU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C2B2C9-1ED5-4CC6-AE5E-C7082A9E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457325"/>
            <a:ext cx="1714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8C7CE7-E30A-41FA-BD1E-2AFA4000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457325"/>
            <a:ext cx="2095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COMM_ENGINE_AICPU_TS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69FE0A-6815-4916-851A-B37B7D3D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457325"/>
            <a:ext cx="2647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LoadAICPUKernel()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AE5502-403A-47BB-8E5A-3DAF2DD8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57325"/>
            <a:ext cx="34194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 Kernel 展开模板；调用 Hcomm*OnThread 原语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E8FA0C-717A-47AE-8D15-F1D4BF38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52600"/>
            <a:ext cx="1428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2FEF2F-1E57-4704-B440-B42C163E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52600"/>
            <a:ext cx="1714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C6275D-F611-40C8-A576-C64F0A37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95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COMM_ENGINE_AIV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8F2381-4971-4516-AD6D-65850E47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752600"/>
            <a:ext cx="2647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RegisterKernel()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670C24-0848-4444-B462-AAF1215E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52600"/>
            <a:ext cx="34194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Host 发射 Vector Kernel；设备核消费 Channel / RemoteMem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2512E3-58E9-4058-9AAB-88E1F9D4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47875"/>
            <a:ext cx="1428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AIV_ONLY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8057C5-EFD6-4D37-80A8-75E4279B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047875"/>
            <a:ext cx="1714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AIV_ONLY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03D3FD-E5FE-419A-A828-CBC1D397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47875"/>
            <a:ext cx="2095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COMM_ENGINE_AIV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ADD778-0661-4A41-8572-5460232A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47875"/>
            <a:ext cx="2647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禁止回退到非 AIV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A2A09E-60A2-49FC-A310-B767D63D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47875"/>
            <a:ext cx="34194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找不到 AIV 算法时直接返回不支持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F5397C-6C64-4B7B-A08F-616CEAF1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43150"/>
            <a:ext cx="1428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CCU_MS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6C9D7C-FCC8-4A98-9B51-170A1A37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343150"/>
            <a:ext cx="1714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CCU_MS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482841-CE74-4288-803F-867FB7EE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43150"/>
            <a:ext cx="2095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COMM_ENGINE_CCU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8406DD-68CC-4510-9BB0-D04CD501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43150"/>
            <a:ext cx="2647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申请 CcuIns / Kernel 资源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06D324-C391-439C-95B8-1F487A9F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43150"/>
            <a:ext cx="34194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注册 CCU Kernel 后提交 Mission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C16D9E-1876-43C5-A6C8-A6255B6F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38425"/>
            <a:ext cx="1428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CCU_SCHED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B7066C-0821-41C2-95B7-7DFC5937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638425"/>
            <a:ext cx="1714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CCU_SCHED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8DC05F-91EB-4FBA-A37F-59761709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38425"/>
            <a:ext cx="2095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COMM_ENGINE_CCU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C73B3C-3E84-40A9-B0A7-4ABCBE83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638425"/>
            <a:ext cx="2647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调度模型与资源规格不同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BFCEED-D158-483B-AAEB-A699BB19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38425"/>
            <a:ext cx="34194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可在资源协商后由 CCU_MS 回退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410A67-53A2-487B-AF32-3406A193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3700"/>
            <a:ext cx="1428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无效 / 不支持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CCE5A3-66F3-46D3-8274-170F14E5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933700"/>
            <a:ext cx="1714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AA926E-BB5B-4CFC-89C8-17AC329F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33700"/>
            <a:ext cx="2095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COMM_ENGINE_AICPU_TS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3DB30D-1D62-4498-B3DF-63514E85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33700"/>
            <a:ext cx="2647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默认回退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E2A115-60B6-4DE1-9F39-90662F30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33700"/>
            <a:ext cx="34194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保持各 Rank 一致，避免独立选择导致死锁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25618C-3EE0-4AD4-B5A6-ED8D8139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12573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Selector 输入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B3336A-3F7E-4476-9C4C-E17AA328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90925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9EA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执行与回退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860554-9DA9-4E77-8F27-D17DAC9C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590925"/>
            <a:ext cx="954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CommEngine、设备代际、HCOMM 版本、AIV_ONLY 限制、CCU 跨 Rank 能力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CA9973-3043-420E-A8A7-9FA2F691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14775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9EA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拓扑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3C49CE-8C65-4C6F-8D15-7D2868B2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914775"/>
            <a:ext cx="954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层数、MESH_1D / MESH_1D_CLOS / CLOS、2-Die、PCIe 混合组网、Rank 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03B784-CD1A-4820-B55A-B7702070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38625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数据与语义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1EDD63-D39C-41D6-AD28-FE511C39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238625"/>
            <a:ext cx="954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count、datatype、reduceType、数据量阈值、inplace / overlap、Root / Peer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749D108-6968-440D-9213-66C2966F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62475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资源与确定性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13D0D12-0BAC-4C7F-81FD-4CD6F680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562475"/>
            <a:ext cx="954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 / Thread / CCU 余量、内存布局、保序和确定性要求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73D2A6B-CE5A-4F13-9130-33A3E3D0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48250"/>
            <a:ext cx="12573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算法名解码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0C94C5-2EB3-467E-A3B3-CFF5514F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48250"/>
            <a:ext cx="9972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1047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&lt;Engine&gt;&lt;Collective&gt;&lt;Schedule&gt;&lt;Level0Algo&gt;&lt;Level1Algo&gt;[Variant]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22D2CE-BD9F-4BC4-98D3-ED43A22C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38775"/>
            <a:ext cx="85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Engine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03C1872-7091-4A32-8680-54304487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38775"/>
            <a:ext cx="1857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9EA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 / Aiv / CcuMS / CcuSched / Dpu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664D30B-C34F-4E9D-BFAF-4679D9DE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5438775"/>
            <a:ext cx="85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Schedule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15901A9-B155-4826-8ACF-F28AC5B4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438775"/>
            <a:ext cx="1857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Sole / Sequence / Parallel / PipeLine / Concur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48BC088-2925-417E-B8F7-F1C9A82D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85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Topo Algo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0F99125-3B69-43E0-99FC-8ED6C19F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438775"/>
            <a:ext cx="1857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Mesh / NHR / MultiLink / MultiJetty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6D9A6FB-3E6D-4C8B-A89F-36025A15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438775"/>
            <a:ext cx="85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Variant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C1AEBAB-922B-4FFD-9EF5-7D20853E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438775"/>
            <a:ext cx="1857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OneShot / TwoShot / AicpuReduce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81DA0DA-F0CE-4BE1-BEE9-6A4F5E86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34100"/>
            <a:ext cx="113061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示例：AicpuAllReducePipeLineMeshNHR = AICPU 引擎 + AllReduce 语义 + 流水组织 + Mesh / NHR 分层算法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57AF018-6FB0-4562-8AD9-E8A2123B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839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47116BB-9B4D-4461-BC61-56F3FEF0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981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571"/>
          </a:bodyPr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Selector：op_common.cc:158-223；展开模式：op_common.cc:3418-3565；AllReduce AutoSelector：all_reduce_auto_selector.cc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ED55585-4FD6-4FBD-9BD8-68EEBDE3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610350"/>
            <a:ext cx="1485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571"/>
          </a:bodyPr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HCCL / HCOMM 源码追踪</a:t>
            </a:r>
          </a:p>
        </p:txBody>
      </p:sp>
    </p:spTree>
    <p:extLst>
      <p:ext uri="{BB962C8B-B14F-4D97-AF65-F5344CB8AC3E}">
        <p14:creationId xmlns:p14="http://schemas.microsoft.com/office/powerpoint/2010/main" val="14950731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5E7AAA2-EF4B-493F-900D-8C1DEC7B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13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7131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97131C"/>
                </a:solidFill>
                <a:latin typeface="PingFang SC"/>
                <a:ea typeface="PingFang SC"/>
                <a:cs typeface="PingFang SC"/>
              </a:rPr>
              <a:t>HcclChannelAcquire 建链的 32 个有序步骤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D5113-8A97-4761-8AF6-A8289FBB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每列自上而下；列间按 08、16、24 的阶段输出继续；黄色表示跨层或关键资源点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BD731-ACA7-4FA6-B8B5-31F42000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76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60573-C8F4-438E-A536-560070C6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86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713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041FD-F218-4317-9466-B8B39C25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9650"/>
            <a:ext cx="2714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1. HCCL 请求准备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5CEE1-522A-45A4-9284-41F2C151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23975"/>
            <a:ext cx="2714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555" b="0">
                <a:solidFill>
                  <a:srgbClr val="97131C"/>
                </a:solidFill>
                <a:latin typeface="PingFang SC"/>
                <a:ea typeface="PingFang SC"/>
                <a:cs typeface="PingFang SC"/>
              </a:defRPr>
            </a:pPr>
            <a:r>
              <a:rPr sz="555" b="0">
                <a:solidFill>
                  <a:srgbClr val="97131C"/>
                </a:solidFill>
                <a:latin typeface="PingFang SC"/>
                <a:ea typeface="PingFang SC"/>
                <a:cs typeface="PingFang SC"/>
              </a:rPr>
              <a:t>op_common.cc / coll_comm_res_c_adpt.cc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7CE39-7595-462E-A30C-A1762F17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2400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F45B3-F835-452D-95E8-FFF631B3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HcclGetChannelImpl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选择通道实现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BB2CE-A864-4C49-8024-22C8008D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431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7131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E1BDE-FC6C-4CCF-BB85-0C6D0AD1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3835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68441-3B97-4370-AF93-EEF7C3C8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383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AddExchangeInfo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加入跨 Rank 交换信息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E5D60-3565-4912-B708-6EB8D04C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4574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7131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38F5C8-ECDB-49B3-8F2D-E6065A4A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5270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956E1-D7A3-46A0-9B8A-40A76C4A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5270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1143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  <a:p xmlns:a="http://schemas.openxmlformats.org/drawingml/2006/main">
            <a:pPr algn="l">
              <a:def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申请或复用 Channel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C62B70-8907-4D2B-B2DD-E66DE6A7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9718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7131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58796E-509D-4AB3-BD6C-8F580AC6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6705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FFF0F4-CC25-41BE-B0D8-4634A923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670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CheckChannelResParams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校验资源参数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C68891-4DEC-4F82-A58E-47A1F49B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4861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7131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9AEF2-2452-4B5A-B248-FC15D60D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8140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537F41-911D-4FBF-B213-40E4488F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8140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ProcessHcclResPackReq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处理资源打包请求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96129E-8AA3-48D6-AF26-168E8D6D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713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553105-C30A-4C06-9DE7-F7DC6040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9575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70079D-A431-4447-BE84-499401F9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PrepareV2ChannelAcquire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准备 V2 申请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1F638A-E09A-42D3-BC16-829199D8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5148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7131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596213-F67A-4143-9882-BDD9AC6B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1010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A138FD-116B-468B-AF5C-D8D89817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010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PrepareChannelSymMemHandles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准备对称内存句柄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1657A6-208A-4FD0-AB66-FB5C6549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0292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7131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4B575B-C934-48A9-9B86-8099C9A5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2445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3E90B9-99D2-4B50-B6AF-0FFD95FC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244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MyRank::CreateChannels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创建本 Rank 通道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AECC2C-EF39-4C3E-88BF-A64EA768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63880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97131C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97131C"/>
                </a:solidFill>
                <a:latin typeface="PingFang SC"/>
                <a:ea typeface="PingFang SC"/>
                <a:cs typeface="PingFang SC"/>
              </a:rPr>
              <a:t>8 完成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B1D545-4310-4B9A-9219-BD8DF27E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724525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4383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ED43AC-4924-446C-9CC3-F95B6DD5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009650"/>
            <a:ext cx="2714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2. Socket 与描述符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EFA122-ED2E-4229-A711-B436143B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323975"/>
            <a:ext cx="2714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555" b="0">
                <a:solidFill>
                  <a:srgbClr val="97131C"/>
                </a:solidFill>
                <a:latin typeface="PingFang SC"/>
                <a:ea typeface="PingFang SC"/>
                <a:cs typeface="PingFang SC"/>
              </a:defRPr>
            </a:pPr>
            <a:r>
              <a:rPr sz="555" b="0">
                <a:solidFill>
                  <a:srgbClr val="97131C"/>
                </a:solidFill>
                <a:latin typeface="PingFang SC"/>
                <a:ea typeface="PingFang SC"/>
                <a:cs typeface="PingFang SC"/>
              </a:rPr>
              <a:t>my_rank.cc:1228-1300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F51483-B945-41CD-8BED-7D37119A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52400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6D93EA-05DF-480B-9941-295507C3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52400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CheckChannelParam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校验 HCOMM 参数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DAAFCC-D955-430F-8CA7-BBFA5DD7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431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7131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C34BD0-03C5-4808-88B4-10E07148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3835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2987BC-C3F3-4273-AA6E-2368C251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383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1143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ChannelDescHccl2Hcomm</a:t>
            </a:r>
          </a:p>
          <a:p xmlns:a="http://schemas.openxmlformats.org/drawingml/2006/main">
            <a:pPr algn="l">
              <a:def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跨层转换描述符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B77D9E-015E-4A85-A401-D56E5FE4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574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7131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07C195-96C3-4D53-818C-90D20509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5270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91DBC7-A4C9-48AC-A4FD-FC45C19E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5270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ConfigSqDepthByExpansionMode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按展开模式配置 SQ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D3EAF2-1549-4D71-ADCA-09337E63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7131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DB2C56-89DB-403C-A770-9B341A94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6705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447F41-1ECD-424D-9E7D-03C9F6B9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670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BatchCreateSockets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批量创建 Socket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2C9293-3BC2-4CA4-B351-942211CF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861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7131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0CCC68-FF57-4BD0-B4EA-03823162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58140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D022827-0E2F-4895-9D65-3CDC1EE3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8140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BatchServerInitForChannels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初始化服务端 Socket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4DB34C6-6EED-4207-92C0-C7E50DA9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005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7131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097D70-B1ED-438F-9BB7-27FD4611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9575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368D05-2571-4BF4-88D2-A6DB0333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957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BatchGetSocketsForChannels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获取通道 Socket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E434BED-6B2F-473A-A5F3-63E685F2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148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7131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3ABF63-4EE5-4C8B-846B-D5F6A416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61010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A70950B-FA9B-4020-B318-46433A8D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1010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BatchCreateChannels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创建 Channel 对象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2D90A98-F427-4C36-985D-BDF2954B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292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7131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E196D4A-5847-46C5-913D-1038F80F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12445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8D9291-5191-49E5-ADA9-2BAD08B6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1244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EndpointMgr::Get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取得 Endpoint 管理器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DAFACC9-F772-4F09-98E8-D6AD4F18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63880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97131C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97131C"/>
                </a:solidFill>
                <a:latin typeface="PingFang SC"/>
                <a:ea typeface="PingFang SC"/>
                <a:cs typeface="PingFang SC"/>
              </a:rPr>
              <a:t>16 完成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1DC0C67-8802-4551-BF19-3E126C0B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724525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43839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AB7AF43-7886-4BCA-AD1F-AB8EE7DE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09650"/>
            <a:ext cx="2714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3. Endpoint 与 Channel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067E4AB-C22A-475A-92FA-A96FA0A3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323975"/>
            <a:ext cx="2714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555" b="0">
                <a:solidFill>
                  <a:srgbClr val="243E8F"/>
                </a:solidFill>
                <a:latin typeface="PingFang SC"/>
                <a:ea typeface="PingFang SC"/>
                <a:cs typeface="PingFang SC"/>
              </a:defRPr>
            </a:pPr>
            <a:r>
              <a:rPr sz="555" b="0">
                <a:solidFill>
                  <a:srgbClr val="243E8F"/>
                </a:solidFill>
                <a:latin typeface="PingFang SC"/>
                <a:ea typeface="PingFang SC"/>
                <a:cs typeface="PingFang SC"/>
              </a:rPr>
              <a:t>endpoint_pair.cc:199-226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EC06AE8-1EB9-476E-BE90-D4A9A879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2400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A5139AE-AFF4-41C6-BCA4-E26F3B58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52400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1143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HcommEndpointStartListen</a:t>
            </a:r>
          </a:p>
          <a:p xmlns:a="http://schemas.openxmlformats.org/drawingml/2006/main">
            <a:pPr algn="l">
              <a:def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启动 Endpoint 监听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2BD6113-E3AA-4563-8C79-8484D1F7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9431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E8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2E72904-7B11-45C9-B93A-A8A7919A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3835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5B82063-3CB8-4E73-83A1-BE695E2C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0383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PrepareMemHandles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准备内存句柄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D76BD88-8763-4CA6-9886-54AD0F6D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574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E8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B2884BD-FE82-440B-96F3-1AA3D23D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5270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580C3F4-6EBB-49BA-B701-30558F72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55270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RankPairMgr::Get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取得 RankPair 管理器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60A024C-5E16-4B04-97FC-0BADB57E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9718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E8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8C13337-CCEE-402F-8254-EF663D95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6705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1AF0039-82D4-4E06-BAB8-E1A00808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670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RankPair::GetEndpointPair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获取或复用 EndpointPair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672FAC1-B4B6-452D-9372-06F482F6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4861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E8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F95B021-7CAA-4E52-8706-8AC5E0A4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8140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59D87D8-99DA-454A-89C8-BD068A87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58140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EndpointPair::CreateChannel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创建具体 Channel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1DEEAB3-AC8C-45DE-9A79-89569F63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0005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E8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718F0EC-35EE-47E1-860E-C9DCE96E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9575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CCD4A94-BCB2-4C31-8AB3-74A231FC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0957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1143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</a:p>
          <a:p xmlns:a="http://schemas.openxmlformats.org/drawingml/2006/main">
            <a:pPr algn="l">
              <a:def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创建集合通信 Channel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D5614B1-C8A8-4A42-A907-12DB4C12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5148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E8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9569AB0-AB4E-4DC5-9AEF-8A3DFBB3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1010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196BBF0-0649-4A18-B2DD-4E2837CE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61010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NormalizeHcommChannelDescs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归一化描述符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C0959C0-0B80-460C-AFFF-6FFC2081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0292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E8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E10B3AC-56AD-41B0-BD90-F3AF32FC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2445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F8F588D-E453-4DF7-B425-2A02747B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1244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ChannelProcess::CreateChannelsLoop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循环创建 Channel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D683C16-28B1-4862-844A-066F3304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63880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43E8F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243E8F"/>
                </a:solidFill>
                <a:latin typeface="PingFang SC"/>
                <a:ea typeface="PingFang SC"/>
                <a:cs typeface="PingFang SC"/>
              </a:rPr>
              <a:t>24 完成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6BE0100-5F49-4C59-933A-30DFAA22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724525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43839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E27982D-E30D-4252-AE4E-6B843E08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009650"/>
            <a:ext cx="2714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4. 连接、校验与回填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B9B9A5B-E3D9-47DE-9A07-E71D9614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323975"/>
            <a:ext cx="2714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555" b="0">
                <a:solidFill>
                  <a:srgbClr val="243E8F"/>
                </a:solidFill>
                <a:latin typeface="PingFang SC"/>
                <a:ea typeface="PingFang SC"/>
                <a:cs typeface="PingFang SC"/>
              </a:defRPr>
            </a:pPr>
            <a:r>
              <a:rPr sz="555" b="0">
                <a:solidFill>
                  <a:srgbClr val="243E8F"/>
                </a:solidFill>
                <a:latin typeface="PingFang SC"/>
                <a:ea typeface="PingFang SC"/>
                <a:cs typeface="PingFang SC"/>
              </a:rPr>
              <a:t>channel_process.cc:89-133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B1EAD0B-2F84-4308-816E-5B1CFCE5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52400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B9F13DF-40BB-431B-8DC9-9450291A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52400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Channel::CreateChannel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创建底层 Channel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AEB5373-E792-41C3-AA02-DAB66688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431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E8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21E8226-4E26-4A04-AD7F-CCC34C2E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3835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943D4FF-8290-447D-ACFF-85A2F7C0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383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BatchConnectChannels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批量发起连接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A63E422-3E9C-47BE-BE64-825141E4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574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E8F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41FBA01-67EF-4928-99DE-12864D53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55270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FE54EB6-E356-4898-8E9F-F9C4DF67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5270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ChannelGetStatus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查询连接状态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A238C73-9541-4074-B626-8142C2ED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718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E8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78D30AD-6846-4506-AB83-B4503CFE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06705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C89164E-9754-44AC-BA6D-EFAF6B81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670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1143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BatchExchangeAndCheckConsistency</a:t>
            </a:r>
          </a:p>
          <a:p xmlns:a="http://schemas.openxmlformats.org/drawingml/2006/main">
            <a:pPr algn="l">
              <a:def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交换并校验一致性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093674B-F38E-41F8-8FBB-4328A6A8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861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E8F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26354AF-BF58-4C3C-BF7D-A7C0B008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58140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CD580A7-2849-447E-BCA4-A74BC0CA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8140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Engine 封装资源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5C34692-E2DD-4AEF-8203-1154D4D5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005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E8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BB975AE-8A81-4177-970E-47CCAD24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30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7568969-CC6F-4B5D-8D93-48819CCB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1143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3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3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ConvertAivChannelHandlesToDevicePtrs</a:t>
            </a:r>
          </a:p>
          <a:p xmlns:a="http://schemas.openxmlformats.org/drawingml/2006/main">
            <a:pPr algn="l">
              <a:defRPr sz="53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3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AIV 句柄转设备指针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DE38523-87FD-4AE1-846B-5CB36A51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5148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E8F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78B1F42-FC05-473B-AF75-75F9B611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61010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31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41831A2-8C84-465E-BFB5-55594473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1010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5715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</a:p>
          <a:p xmlns:a="http://schemas.openxmlformats.org/drawingml/2006/main">
            <a:pPr algn="l">
              <a:def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取得通信缓冲区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ACA4377-3372-4C03-A45C-6A5F7FD7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292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3E8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CDFE132-2C63-4A56-ABAD-6B2F8029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124450"/>
            <a:ext cx="295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32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2D9938A-7292-482C-B913-A4CBB514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244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1143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3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3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return ChannelHandle + Remote CCL Buffer</a:t>
            </a:r>
          </a:p>
          <a:p xmlns:a="http://schemas.openxmlformats.org/drawingml/2006/main">
            <a:pPr algn="l">
              <a:defRPr sz="53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3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返回句柄与远端缓冲区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212CDD4-45E7-4523-A134-BD894BB3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674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9525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条件 / 异常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737C18B-458D-4053-867F-0B7FFFE8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5867400"/>
            <a:ext cx="10020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9525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 与 AIV 场景交换对称内存；AIV 转设备指针；950 路径做一致性校验；CCU 资源不足时返回 HCCL_E_UNAVAIL 并跨 Rank 协商回退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0DB41BE-14F9-4130-A43B-98FCA373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839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F2438C7-0498-4DC9-AA47-DDA9D4F9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981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571"/>
          </a:bodyPr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核心源码：coll_comm_res_c_adpt.cc:755-858；my_rank.cc:567-1300；endpoint_pair.cc:199-226；channel_process.cc:89-133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6860E8A-344C-4644-A78C-E536A2CB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610350"/>
            <a:ext cx="1485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571"/>
          </a:bodyPr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HCCL / HCOMM 源码追踪</a:t>
            </a:r>
          </a:p>
        </p:txBody>
      </p:sp>
    </p:spTree>
    <p:extLst>
      <p:ext uri="{BB962C8B-B14F-4D97-AF65-F5344CB8AC3E}">
        <p14:creationId xmlns:p14="http://schemas.microsoft.com/office/powerpoint/2010/main" val="6269138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C5832A7-C44E-4561-B720-5D7C3E25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13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7131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97131C"/>
                </a:solidFill>
                <a:latin typeface="PingFang SC"/>
                <a:ea typeface="PingFang SC"/>
                <a:cs typeface="PingFang SC"/>
              </a:rPr>
              <a:t>不同算子复用的 HCOMM API 与差异点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2BC63-2221-4714-B197-4D892441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控制面和资源面高度共用；算子语义主要改变原语组合、Peer 关系、分片布局和同步顺序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19B0EA-37CD-4EF1-B780-50662142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76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47159-04E2-4A50-9BFF-7C4938F0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86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713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32A2D-3713-4AC7-9E0E-1E07D1A8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00125"/>
            <a:ext cx="1657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算子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3F7AF-AAAC-43EE-B872-BA97300E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000125"/>
            <a:ext cx="9144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搬运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41E11-13DB-44B4-91EE-FD815A18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000125"/>
            <a:ext cx="9144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归约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CA8EE-9D48-47F7-A475-B2527314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000125"/>
            <a:ext cx="10668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Channel Notify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442C2-5D39-4CA7-BAF5-329C30F3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000125"/>
            <a:ext cx="10668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Thread Notify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3E008-2D01-451E-9732-9696F0D3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000125"/>
            <a:ext cx="10668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逐 Peer 编排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1A36A3-353D-406E-82DD-D92AF748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000125"/>
            <a:ext cx="46196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主要差异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33C33-35FD-44E7-B18D-E1D4E046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276350"/>
            <a:ext cx="1657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AllReduce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0630E5-22A9-4830-9E36-49727AB1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76350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8FE607-9A8A-4B9F-BCD2-E76C363B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276350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2AD84-C222-46B5-9CC2-3BF8AB55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276350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6AE76A-61C0-4E77-A1D4-44F3EEC5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276350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并发算法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37AB62-7850-4AE9-8476-31924BAD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276350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按算法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3E4408-9016-4E20-A546-A15F5630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276350"/>
            <a:ext cx="4619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ReduceScatter 与 AllGather 的组合或融合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311A39-CE0B-4FD2-BD13-3B296813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09725"/>
            <a:ext cx="1657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ReduceScatter / 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A85F2C-AE76-49D1-BD41-CAE4E969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609725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4F9B06-AFC7-4A1B-B9A0-A2A76F1E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609725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09BE89-2D70-4FD3-B57D-632077A4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60972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78CAF1-B906-4C3A-A1DC-662E4E8C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60972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并发算法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BFCF3C-9EAD-493F-98DC-1C756582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60972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按算法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F15213-3CFF-4DF1-96A3-AC1F8D06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609725"/>
            <a:ext cx="4619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最终每 Rank 只保留一个分片；V 版本布局可变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B497B7-19AE-4929-A903-86783436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943100"/>
            <a:ext cx="1657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Reduce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E0232D-86CC-408C-9530-4B086836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943100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F4A317-18AE-47A2-92A3-B9BA104B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943100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FC2366-D127-4D2A-9190-D8744C67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943100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489285-F938-4495-964C-B6BFD1DA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943100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并发算法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2ECE0B-A1DC-4544-A6F7-05089C87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943100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按算法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E16E72-72AC-4B1C-848F-88BB30E2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43100"/>
            <a:ext cx="4619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Root 改变收敛方向和资源 Tag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FFD525-BB75-43AB-B527-6BB3C2AD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276475"/>
            <a:ext cx="1657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AllGather / 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11A950-D307-48E4-8405-2962F7FB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76475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F6FA2D-703C-436C-BDF0-D01435A8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276475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1C9563-C922-4D41-9E72-1352D8D1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27647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42A1B9-F6C5-4A6E-8640-1AD76E8A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27647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并发算法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0C581D-4070-41BB-8784-2DB07E42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27647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按算法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77A368-4078-40CE-9A7F-0B9444CD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76475"/>
            <a:ext cx="4619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无归约；定长与变长分片布局不同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668AF7-3DAD-41BE-8D7C-BD96A009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609850"/>
            <a:ext cx="1657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Broadcast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18D34A-59EB-4254-8A42-7AA4F257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09850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806EB5-DDEA-4AB8-A2E4-4866394D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609850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B825CB-A936-4DD5-90B3-0E618FBD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609850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53C90B-2F0A-482B-BD4E-2923293B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609850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并发算法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03CFE3-B303-4877-9F94-4BB5DA1D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609850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按算法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9FDF1EF-B143-47F9-9B5A-BA03B72A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09850"/>
            <a:ext cx="4619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Root 向外扩散；常见 Scatter 加 AllGather 分阶段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0B0E5FE-31C0-429D-9091-0263B47C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943225"/>
            <a:ext cx="1657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Scatter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7536D9C-9EB6-488A-80BB-3360CC01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943225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BE8AB7D-E003-4EC0-BC68-2B375987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943225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9070C5C-ED8D-484B-A49C-8308BD59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94322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6721D89-9A13-49E5-BB62-50CEA45A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94322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并发算法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6EDE63-A322-49C3-AAC0-C682A35C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94322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按算法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9BE56D-9463-4ECD-A4EA-29165B7B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43225"/>
            <a:ext cx="4619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Root 按 Rank 切片发送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39571BD-24CC-4CBB-9C80-3B016894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276600"/>
            <a:ext cx="1657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AlltoAll / V / VC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C382535-8ADF-4C56-AA21-8D17050E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276600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4F20C54-7D78-40A6-87D8-CE41A842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276600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8FA1F31-F347-4700-9B63-C814E016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276600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8D2DCB6-FAFD-48EA-95EF-30C4DE5D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276600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并发算法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6A3374D-4B9E-438F-9312-3A7EDA31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276600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突出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6E42AEE-0053-4F2C-98F2-A40945D8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276600"/>
            <a:ext cx="4619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多 Peer 个性化 count / displacement；Channel 批处理突出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034D59E-30A5-4F9F-963F-5794F573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609975"/>
            <a:ext cx="1657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Send / Recv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7986341-90DF-44CF-8D58-1ACF1B4D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09975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76DCF44-6674-4EF2-A4C8-F12C822D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609975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19B23AF-B8FE-4830-8730-FB2BFFB5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60997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5DF2B97-F06A-499B-84BC-3F2989F1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60997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Group 场景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1C8F461-9E51-445B-A1E4-BC4B0BC3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60997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单 Peer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3B31C6E-771D-4250-8223-EC1BADEC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09975"/>
            <a:ext cx="4619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方向明确；Host-NIC / DPU 路径还使用 Fence / Drain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CF8D471-EBB8-4442-8BA7-C8F2F2D3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943350"/>
            <a:ext cx="1657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BatchSendRecv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FAA9581-CC4A-408F-A5CA-66B856D4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943350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8452663-982F-4FBB-8626-4575CBB0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943350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4A94CDF-0785-4772-8096-8BAC9AE9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943350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B79CE62-D205-4B22-8FBE-AD68FD71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943350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可使用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2AF0318-306C-462D-8C7E-99D7D740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943350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突出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4F62502-272B-4657-BE4E-21EA7F51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43350"/>
            <a:ext cx="4619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合并多个 P2P Item 调度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64A1A77-CD49-4EED-8EA3-E9CB7A99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276725"/>
            <a:ext cx="1657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Barrier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692B943-9EB6-4226-9EAC-9F1CE9C7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276725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零字节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E3DF91B-DF98-4105-8646-DA9BE4B7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276725"/>
            <a:ext cx="91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2717974-9742-4F04-A04D-E8059F00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27672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C58D8A4-E373-4781-B1C1-FD5ECC4F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27672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可使用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7E661FD-E14B-49DC-AE0A-8710133F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27672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DFC2D17-6A1E-463E-A8A2-C8EB132C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76725"/>
            <a:ext cx="4619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目标是到达同步，不产生数据结果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4A2B2DA-2EB7-4B27-A889-53F73FDD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791075"/>
            <a:ext cx="12668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公共 API 家族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1FF5214-5CC2-493E-887F-C332FB22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0673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9EA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控制面查询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17520C7-A82A-480E-9DBE-9CEA6C08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067300"/>
            <a:ext cx="961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HcclConfigGetInfo；HcclRankGraphGet*；HcclGetRankId / Size / CommName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F709A3E-2EF9-42EB-8F52-31CB4418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3911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资源面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68CF143-1DB3-4D9C-A4B3-381DA97C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391150"/>
            <a:ext cx="961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HcclEngineCtx*；HcclThreadAcquire*；HcclChannelAcquire / Query；HcclCommMemReg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98B5816-0B6B-4A75-BC92-6A791B46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7150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4663AB6-695F-4F38-B6BD-832A7B70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715000"/>
            <a:ext cx="961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HcommRead / Write*；HcommLocalCopy / Reduce*；HcommBatchTransferOnThread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3E06892-85D5-4EEB-9502-3FD6AE41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0388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同步与 DFX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3604937-973B-4E98-A854-7E8F8658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6038850"/>
            <a:ext cx="961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 / Thread Notify；Fence / Drain；Profiling；Op 注册与异常上报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05DD9DE-772C-41FF-AC59-22882A7D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362700"/>
            <a:ext cx="113061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9525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结论：不同算法的主要差别通常是调用顺序、分片偏移、Peer / Channel 选择、并发 Thread 和 Notify 索引，而不是重新定义传输 API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2DD1036-C036-4A66-868B-4A1A90F3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839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6F87680-9F1D-4DDB-BE6C-664CA190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981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571"/>
          </a:bodyPr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能力矩阵表示可能使用的 API 家族，不表示一次运行会覆盖全部函数；具体路径仍由 AlgAttrs、Selector 和资源状态过滤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53F70B5-3AC6-4C30-8EA8-ECE840B2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610350"/>
            <a:ext cx="1485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571"/>
          </a:bodyPr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HCCL / HCOMM 源码追踪</a:t>
            </a:r>
          </a:p>
        </p:txBody>
      </p:sp>
    </p:spTree>
    <p:extLst>
      <p:ext uri="{BB962C8B-B14F-4D97-AF65-F5344CB8AC3E}">
        <p14:creationId xmlns:p14="http://schemas.microsoft.com/office/powerpoint/2010/main" val="19286456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D331F83-61EB-426B-8042-AAC5EF67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13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7131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97131C"/>
                </a:solidFill>
                <a:latin typeface="PingFang SC"/>
                <a:ea typeface="PingFang SC"/>
                <a:cs typeface="PingFang SC"/>
              </a:rPr>
              <a:t>AICPU、AIV 与 CCU 的资源链和执行链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36514-A7B5-4DAA-8BB6-7F945F0E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三条路径共享 RankGraph、EngineCtx、Thread、Channel 和通信内存；执行 API 与失败语义不同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81B63-E189-4838-ADD7-3198C40A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76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B4C29-77A0-4EC5-B566-64E1FA7F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86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713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D3B82-679F-4CEA-A73C-276859DC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90600"/>
            <a:ext cx="1238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共享资源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8677C-757E-4532-86A1-2E945D01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990600"/>
            <a:ext cx="2286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RankGraph / TopoInfo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83C40-D10F-424E-8266-31DF3827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90600"/>
            <a:ext cx="2286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EngineCtx / algTag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75DE6-A2B2-4F24-AC5C-CADBF997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90600"/>
            <a:ext cx="2286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Thread / Channel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CB0534-460E-462D-9BEF-059AE8A7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990600"/>
            <a:ext cx="32099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CommMem / CCL Buffer / Notify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773F7-DB35-4303-AE4D-2734AF81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19225"/>
            <a:ext cx="3562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9EA"/>
          </a:solidFill>
          <a:ln xmlns:a="http://schemas.openxmlformats.org/drawingml/2006/main" w="12383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CommEngine = COMM_ENGINE_AICPU_TS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5BB00-CB75-4F57-BC0D-D6E7874D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882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阶段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4F72B5-A21F-46B3-8BB1-F76525F2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28825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44E423-7F75-4AA9-A26C-D4737A24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288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含义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82B21F-990C-4D5D-8C97-CE77B76A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57425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 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AA060-44CE-421E-9A3F-27C499B7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57425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HcclThreadAcquire*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BC7C0F-1EDF-496D-BFCE-1FC3C13A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57425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申请主 / 从执行线程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F47C1-24BA-4292-BE48-6CDEBE38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0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 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FCF71C-9E6A-4753-B268-4612A892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6F5EF7-D501-45A7-9F34-2EDD612D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67000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分配 AICPU 算法资源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0217BB-2FCD-497F-8229-D77AF60F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76575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发射 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AAE6B7-4E3A-4A2F-A689-0F0D0192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76575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8895DD-8FB5-493A-8B00-4DC0479B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76575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进入 AICPU Kernel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C169BE-0BAA-44E4-B767-DF77E99A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发射 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E5F930-37D6-405B-A469-67210115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BE0CDE-FE27-4A9E-A853-F037D42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86150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启动 Kernel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0D4349-00BE-4D53-B368-169792B8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95725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执行 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D4A462-01BE-417B-A2DF-3248533A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95725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 / LocalReduceOnThread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66005D-846E-440B-8509-EDFB175D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95725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本地搬运或归约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79639D-8170-407C-896E-33F22D8D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05300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执行 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C0F15A-78CE-4B0B-8554-9E38A577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HcommRead / WriteOnThread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E0F8CD-BBD5-43F2-95E8-A93E6E79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05300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 数据传输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422BC7-A193-4068-BC7B-9F1693A3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14875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执行 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404D2B-297F-40CC-98C6-D00C0A4E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14875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HcommReadReduce / WriteReduceOnThread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75B684-9AD0-4890-82A1-256315FB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714875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传输融合归约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385B53-D5B6-4A83-890F-EE284ABA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24450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同步 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33576F-8CEC-4112-B087-53DF4121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24450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 / Thread Notify；Fence；Drain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F19F83-0FC4-43C9-AAB7-C2576668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建立顺序并排空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769BA0-7830-4F4A-8E90-98F3DB6B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19750"/>
            <a:ext cx="3562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1143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算法模板在 AICPU Kernel 中逐原语展开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10B6B7-D791-4D87-AAF7-D5A8348F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419225"/>
            <a:ext cx="3562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12383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CommEngine = COMM_ENGINE_AIV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F54EC5-A1E0-4FF8-8F31-8E8432E4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02882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阶段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062481-9954-45B4-9358-9E49B5D3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028825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API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1408F5-C5BB-41D9-B269-F40C96F7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288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含义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AA64D7-F189-4A8F-83FC-39416051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257425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 01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B0E3A8-1B3B-42F1-BF9A-FC42B0B5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257425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GetAlgResAiv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7D6B73-FADD-4E31-808D-C7B3C9A4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57425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汇总 AIV 资源请求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2E3762-30D3-4C49-8553-CCEDADB8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667000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 02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21CAEE8-884D-41A6-BCC6-4D1673EA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667000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HcclAllocAlgResourceAiv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78ABE0B-DE27-4616-BBA9-C22D3D34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67000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分配资源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342AF9-BAD6-4020-92FE-A8B5E9D1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076575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 03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CD28988-30FF-45C5-A5F9-4555BA3E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076575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HcclCommMemReg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267528C-4F4C-4F9F-92BA-FA23142B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76575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注册设备可见通信内存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9BD3FC4-53B1-4BF3-BB88-93E6A2A0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486150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 04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26ED0F-6C82-47FB-B596-628E0121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486150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HcclChannelAcquire(AIV)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2035924-2595-4615-B669-EF475B4F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486150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申请 AIV Channel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CE5248A-5266-45B5-BCF6-85CCCE7C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95725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转换 05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914BC2B-9C76-4F6C-A845-F6D5844D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895725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ConvertAivChannelHandlesToDevicePtrs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C12B0CF-5ECC-46B6-814F-D864FB39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95725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句柄转设备指针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8457BAC-C684-42DC-954D-40749959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发射 06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17113FB-822E-4158-9878-97004F11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305300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HcclAivKernelEntranceLaunch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4A22731-B033-46A2-A8A5-3A448873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05300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进入 AIV 发射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EA6766C-9662-428A-BC0B-5B917E79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714875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发射 07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C3B513B-61B6-4658-B752-C7D12526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714875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ExecuteKernelLaunch / LaunchInner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805E0DC-0D46-49A9-86F9-FA402BFD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14875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组装参数并调用 Runtime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4AA4765-A3BD-42F8-8EBB-731FA4BC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124450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发射 08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28D3A16-AB34-4BC0-9801-6063A554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124450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aclrtLaunchKernelWithHostArgs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8F68DC4-15A9-4C77-AC34-305358A6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124450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携带 Host 参数发射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CA05011-FB7F-45C1-B8A6-E351F76D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619750"/>
            <a:ext cx="3562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1143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设备核直接消费 HCOMM 准备的 Channel / RemoteMem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9114E34-5AC3-494C-B82F-6CCCE60D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19225"/>
            <a:ext cx="3562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12383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CommEngine = COMM_ENGINE_CCU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BAAC8ED-C85A-4696-98E8-82118FF4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2882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阶段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636515D-DBC9-499B-B1EB-967F6FAC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28825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API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F9B3A05-31F1-493D-907A-0B847BF2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0288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含义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B648A5D-F36E-4118-B034-049E71EA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57425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 01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29F014F-A7F7-4D0D-A056-8FE95DD3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57425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GetAlgResCcu / HcclAllocAlgResourceCcu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F4E943E-062F-4700-9E80-210314F9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257425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计算并分配 CCU 资源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BE93B76-42B5-4465-8CC2-1AB0C6E7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 02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1339874-ADBA-4124-AF69-660B53C1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67000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HcommCcuKernelQueryResReq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E9D6618-2E3A-4174-810F-3774E19D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667000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查询 Kernel 资源需求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37483EA-615F-48C6-AED2-503000B5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76575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 03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CE32893-2FF0-41D3-B1D3-D83201EC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76575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HcommCcuQueryRemainResDesc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E6A76DE-8814-472F-BCFD-FE157443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076575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查询剩余资源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3032AC9-BC74-4920-9222-79163EDD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86150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实例 04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A05ACF8-3A05-42A0-A6EF-65B7F83C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86150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HcommCcuInsCreate / Assign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8A7806B-C20D-4066-82A8-AE1A3BDF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486150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创建并绑定 CcuIns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96E1316-3D7F-4E4D-9FC7-CF568EAA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95725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注册 05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D2247D0-B29F-4067-BF11-CDC0EBB9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95725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HcommCcuKernelRegisterStart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6FA1C9C-B422-4FD7-BA7D-DE635FE3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895725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开始注册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864F81E-9DBC-4D63-B0EA-8E576D5B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05300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注册 06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C671874-35E9-4018-88E1-02454F3C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05300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HcommCcuKernelRegister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9BBD684-5C80-4645-BAA1-BB77AABB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305300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注册 Kernel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C206356-0E92-4F99-AC82-523C4260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14875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注册 07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8764FE8-27CB-4394-A062-D2A60377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14875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HcommCcuKernelRegisterEnd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86F31F3-A584-4885-872E-27C7C8AE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714875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完成注册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203E6E2-4845-4169-BDA5-C58B2B71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24450"/>
            <a:ext cx="647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发射 08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ACB8A1D-21E8-495A-9275-D31208B1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124450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HcommCcuKernelLaunch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DFE12EC-0698-4454-8ED1-E62E147C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24450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提交 CCU Mission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B41D1F0-535D-45DD-B582-48BC178C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19750"/>
            <a:ext cx="3562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1143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资源不足时跨 Rank 协商回退，不能各 Rank 独立选择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D8176DD-1FDD-47BD-B489-3C3CE154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91250"/>
            <a:ext cx="1524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失败 / 回退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41A1D8C-2C95-46CF-B13F-BB93FF27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91250"/>
            <a:ext cx="9782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AIV_ONLY 无算法时返回不支持；CCU 资源不足需跨 Rank 协商；通用兜底通常回到 AICPU_TS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ECB1548-526B-4F0E-BD56-4B720CD4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839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9AACE31-1234-4258-9678-24755D7A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981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571"/>
          </a:bodyPr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主要源码：op_common.cc:887-904,2440-2972；hccl_aiv_utils.cc:1068-1143；aicpu_ts_primitives_c_adpt.cc；ccu_launch.cc:291-335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CD4FC14-0FFE-4824-BFD7-F7504F5C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610350"/>
            <a:ext cx="1485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571"/>
          </a:bodyPr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HCCL / HCOMM 源码追踪</a:t>
            </a:r>
          </a:p>
        </p:txBody>
      </p:sp>
    </p:spTree>
    <p:extLst>
      <p:ext uri="{BB962C8B-B14F-4D97-AF65-F5344CB8AC3E}">
        <p14:creationId xmlns:p14="http://schemas.microsoft.com/office/powerpoint/2010/main" val="12205950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146F91-9954-4DB9-97AE-4429BB1C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13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7131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97131C"/>
                </a:solidFill>
                <a:latin typeface="PingFang SC"/>
                <a:ea typeface="PingFang SC"/>
                <a:cs typeface="PingFang SC"/>
              </a:rPr>
              <a:t>HcommWriteOnThread 落到 Transport 的具体路径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89E87-CD0B-4EDD-9BA1-88020372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以一次写传输为例，展示 HCCL Template、公共封装、HCOMM 适配层、Channel 和硬件传输的真实衔接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C0C1C-1090-4D69-A7B3-CC790B9A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76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9D58B-E13E-4D05-A0E6-B3B53440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86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713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AC2AD-7277-4778-8C17-9D306362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438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E88C1-01D8-4689-939E-A8731C6A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0012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9EA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E1D71-1285-4ECE-AD89-F6F39D0B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00125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具体算法决定分片、Peer、Channel、offset 和执行顺序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A3D8F-6D59-499B-86C1-4BB7C7FD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00012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8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src/ops/&lt;op&gt;/algorithm/template/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C551A6-56CD-48A0-9061-45BCC9BE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52575"/>
            <a:ext cx="0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7131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580D6-7133-4730-8115-A381F613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28775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97131C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97131C"/>
                </a:solidFill>
                <a:latin typeface="PingFang SC"/>
                <a:ea typeface="PingFang SC"/>
                <a:cs typeface="PingFang SC"/>
              </a:rPr>
              <a:t>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B8AA0B-F236-4585-885F-7EE2F622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52600"/>
            <a:ext cx="438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93CC39-ACF5-4DDD-A98D-859EE56C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9EA"/>
          </a:solidFill>
          <a:ln xmlns:a="http://schemas.openxmlformats.org/drawingml/2006/main" w="762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AlgDataTransWrapper::Tx / TxAsync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679332-4E6D-493F-8232-AD53FB71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5260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统一封装传输描述与 Notify 组合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3C072A-9971-4189-B389-9B8B19B6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526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8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alg_data_trans_wrapper.cc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1E266D-931E-4BD3-9F47-7A555390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05050"/>
            <a:ext cx="0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3E8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7BEB42-793B-475C-AFF8-904C4247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43E8F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243E8F"/>
                </a:solidFill>
                <a:latin typeface="PingFang SC"/>
                <a:ea typeface="PingFang SC"/>
                <a:cs typeface="PingFang SC"/>
              </a:rPr>
              <a:t>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0AE873-4BE2-4142-BD56-C3CE732E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05075"/>
            <a:ext cx="438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F1B51D-A96E-45D4-8015-5DE5ADA3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0507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12383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HcommWriteOnThread(thread, channel, dst, src, len)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2E2A23-05E8-4A30-BD2B-053C4DC0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05075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AICPU_TS 数据面 ABI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7E0746-7005-45E1-93CE-E4C0200A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0507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8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aicpu_ts_primitives_c_adpt.cc:495-545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FFDBFB-DACD-4589-8DD4-522E04EF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57525"/>
            <a:ext cx="0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3E8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CD6EFA-9762-477A-A0AA-4EAAF6FB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43E8F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243E8F"/>
                </a:solidFill>
                <a:latin typeface="PingFang SC"/>
                <a:ea typeface="PingFang SC"/>
                <a:cs typeface="PingFang SC"/>
              </a:rPr>
              <a:t>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7C6421-2D28-4324-8D15-40222C86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57550"/>
            <a:ext cx="438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15FF46-79BE-4BF0-BC23-5B2231D5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BaseTransportLiteImpl::BuildLocRmaBufferLite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736ED1-618A-473B-B45C-EE48A099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5755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A5 路径构造本地 RMA Buffer 描述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CC0D11-5873-4021-96F0-73D7F5C3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57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8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BaseTransportLiteImpl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6A4E47-C209-4B7B-98BD-63C47A49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10000"/>
            <a:ext cx="0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3E8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681D97-2296-486C-B23B-F252F24A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86200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43E8F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243E8F"/>
                </a:solidFill>
                <a:latin typeface="PingFang SC"/>
                <a:ea typeface="PingFang SC"/>
                <a:cs typeface="PingFang SC"/>
              </a:rPr>
              <a:t>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9EA876-DEC7-4ACC-8656-15A5953B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10025"/>
            <a:ext cx="438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E8F"/>
          </a:solidFill>
          <a:ln xmlns:a="http://schemas.openxmlformats.org/drawingml/2006/main" w="7620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F0FB88-62E2-489E-81F8-18CB706E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002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12383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BaseTransportLiteImpl::Write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CDAF52-3D0E-4F96-BAF9-39C293DC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10025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把写请求交给具体 Channel / Transport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940AAE-2DC3-4F34-802C-27E132E7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1002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8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A5 新路径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C0206A-0CDD-406F-9D04-72E5BB27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62475"/>
            <a:ext cx="0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3E8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81C3F6-CD1A-44B7-81E8-C3DCF1BB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38675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43E8F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243E8F"/>
                </a:solidFill>
                <a:latin typeface="PingFang SC"/>
                <a:ea typeface="PingFang SC"/>
                <a:cs typeface="PingFang SC"/>
              </a:rPr>
              <a:t>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96068A-EB9A-4428-B76B-456B3E7A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0"/>
            <a:ext cx="438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9"/>
          </a:solidFill>
          <a:ln xmlns:a="http://schemas.openxmlformats.org/drawingml/2006/main" w="7620">
            <a:solidFill>
              <a:srgbClr val="34383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5A650A-FC93-4074-9650-F7C194ED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7620">
            <a:solidFill>
              <a:srgbClr val="34383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UB / RoCE / HCCS / SDMA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02CEB2-A755-4A6C-A61F-DBFD420B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6250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由通道类型、协议和硬件拓扑决定实际传输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43521A-B288-4D65-B4DD-5904C075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625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8"/>
          </a:solidFill>
          <a:ln xmlns:a="http://schemas.openxmlformats.org/drawingml/2006/main" w="7620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8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Transport / Driver / Hardware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25CFB1-B0B6-4DF1-81F9-360A2B9F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91175"/>
            <a:ext cx="1352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31C"/>
          </a:solidFill>
          <a:ln xmlns:a="http://schemas.openxmlformats.org/drawingml/2006/main" w="0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同一结构的变体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FE614A-01F3-4898-BA0C-1BE265C8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591175"/>
            <a:ext cx="1857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B2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归约传输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F0541B-E22B-4EF4-8EA6-C7EBD3AD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591175"/>
            <a:ext cx="8010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7131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HcommWriteReduceOnThread / HcommReadReduceOnThread：额外校验 datatype、reduceType，并构造 Reduce 描述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A6B456-6434-4313-B156-85FC4477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857875"/>
            <a:ext cx="1857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7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同步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31C31E-8E4D-49AB-AF1F-8E40F0EC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857875"/>
            <a:ext cx="8010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243E8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HcommChannelNotifyRecord / WaitOnThread：落到 Transport Post / Wait 或兼容 RemoteNotify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79A230-5D34-436D-99D4-BEB7E4E3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124575"/>
            <a:ext cx="1857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6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兼容路径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F0CF63F-0659-4899-ADAE-79DF1F31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6124575"/>
            <a:ext cx="8010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FC3C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非 A5 或历史设备可进入 HcclRemoteWrite(Stream, Transport, buffers)，而不是 BaseTransportLiteImpl::Write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7203447-A432-4AFD-9092-FEBBED96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1141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83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D40D32-57AF-4053-8092-188A662C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981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571"/>
          </a:bodyPr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HcommWriteOnThread：aicpu_ts_primitives_c_adpt.cc:495-545；ReadReduce：832-907；Notify Record / Wait：1006-1080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8DB8560-D9E5-4AA5-A09E-6AC4FE01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610350"/>
            <a:ext cx="1485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571"/>
          </a:bodyPr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defRPr>
            </a:pPr>
            <a:r>
              <a:rPr sz="525" b="0">
                <a:solidFill>
                  <a:srgbClr val="5F6366"/>
                </a:solidFill>
                <a:latin typeface="PingFang SC"/>
                <a:ea typeface="PingFang SC"/>
                <a:cs typeface="PingFang SC"/>
              </a:rPr>
              <a:t>HCCL / HCOMM 源码追踪</a:t>
            </a:r>
          </a:p>
        </p:txBody>
      </p:sp>
    </p:spTree>
    <p:extLst>
      <p:ext uri="{BB962C8B-B14F-4D97-AF65-F5344CB8AC3E}">
        <p14:creationId xmlns:p14="http://schemas.microsoft.com/office/powerpoint/2010/main" val="14636459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2026-09-19T06:39:03.0130000Z</dcterms:created>
  <dcterms:modified xsi:type="dcterms:W3CDTF">2026-09-19T06:39:03.0130000Z</dcterms:modified>
</coreProperties>
</file>