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aa9cfc845d34425" /><Relationship Type="http://schemas.openxmlformats.org/officeDocument/2006/relationships/extended-properties" Target="/docProps/app.xml" Id="R9fbbb5e6f94e43b5" /><Relationship Type="http://schemas.openxmlformats.org/officeDocument/2006/relationships/officeDocument" Target="/ppt/presentation.xml" Id="R9288f09c16214c9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1e888f139aa405b"/>
  </p:sldMasterIdLst>
  <p:notesMasterIdLst>
    <p:notesMasterId xmlns:r="http://schemas.openxmlformats.org/officeDocument/2006/relationships" r:id="Rd3fae75ab6a94683"/>
  </p:notesMasterIdLst>
  <p:sldIdLst>
    <p:sldId xmlns:r="http://schemas.openxmlformats.org/officeDocument/2006/relationships" id="256" r:id="Re5b7768fb4484426"/>
    <p:sldId xmlns:r="http://schemas.openxmlformats.org/officeDocument/2006/relationships" id="257" r:id="R0f39f328ef8c4e92"/>
    <p:sldId xmlns:r="http://schemas.openxmlformats.org/officeDocument/2006/relationships" id="258" r:id="R3cfeec086d5e47ef"/>
    <p:sldId xmlns:r="http://schemas.openxmlformats.org/officeDocument/2006/relationships" id="259" r:id="Ra3ebf754d23c41d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2842ede17314cc5" /><Relationship Type="http://schemas.openxmlformats.org/officeDocument/2006/relationships/slideMaster" Target="/ppt/slideMasters/slideMaster1.xml" Id="R31e888f139aa405b" /><Relationship Type="http://schemas.openxmlformats.org/officeDocument/2006/relationships/notesMaster" Target="/ppt/notesMasters/notesMaster1.xml" Id="Rd3fae75ab6a94683" /><Relationship Type="http://schemas.openxmlformats.org/officeDocument/2006/relationships/presProps" Target="/ppt/presProps.xml" Id="Rb09b11a5bc8948c4" /><Relationship Type="http://schemas.openxmlformats.org/officeDocument/2006/relationships/tableStyles" Target="/ppt/tableStyles.xml" Id="R6679fd31fef647f3" /><Relationship Type="http://schemas.openxmlformats.org/officeDocument/2006/relationships/slide" Target="/ppt/slides/slide1.xml" Id="Re5b7768fb4484426" /><Relationship Type="http://schemas.openxmlformats.org/officeDocument/2006/relationships/slide" Target="/ppt/slides/slide2.xml" Id="R0f39f328ef8c4e92" /><Relationship Type="http://schemas.openxmlformats.org/officeDocument/2006/relationships/slide" Target="/ppt/slides/slide3.xml" Id="R3cfeec086d5e47ef" /><Relationship Type="http://schemas.openxmlformats.org/officeDocument/2006/relationships/slide" Target="/ppt/slides/slide4.xml" Id="Ra3ebf754d23c41d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9804f3c6e0b414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90e9ae5f5aa4dc9" /><Relationship Type="http://schemas.openxmlformats.org/officeDocument/2006/relationships/notesMaster" Target="/ppt/notesMasters/notesMaster1.xml" Id="R89b78edeba534c6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de8a4cdb36d49ce" /><Relationship Type="http://schemas.openxmlformats.org/officeDocument/2006/relationships/notesMaster" Target="/ppt/notesMasters/notesMaster1.xml" Id="R7d818ff96a89432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c4143ba7bd148c0" /><Relationship Type="http://schemas.openxmlformats.org/officeDocument/2006/relationships/notesMaster" Target="/ppt/notesMasters/notesMaster1.xml" Id="R0840b790635945b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03c6191b08e4919" /><Relationship Type="http://schemas.openxmlformats.org/officeDocument/2006/relationships/notesMaster" Target="/ppt/notesMasters/notesMaster1.xml" Id="R7ee470a13072413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本页采用参考图的三段软件栈与右侧编号解读结构。源码依据：hccl/src/ops/all_reduce/all_reduce.cc，hccl/src/ops/op_common/op_common.cc，hcomm RankGraph、Channel 与 Engine 相关实现。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SelectorEngine 与 ExecuteSelector 是不同选择入口，不应讲成顺序调用。旧流程或条件不满足时可能进入 legacy 分支。本页所有 API 均来自已克隆源码分析。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阅读顺序：每列自上而下，完成后进入右侧下一列。黄色步骤标出跨层边界、核心 HCOMM 创建点、一致性检查和资源回填点。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三列为互斥执行路径。AICPU 最终调用 Hcomm*OnThread；AIV 最终调用 aclrtLaunchKernelWithHostArgs；CCU 最终调用 HcommCcuKernelLaunch。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a7ac6d5d3743e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c4c941943c54cfa" /><Relationship Type="http://schemas.openxmlformats.org/officeDocument/2006/relationships/slideLayout" Target="/ppt/slideLayouts/slideLayout1.xml" Id="R1c88f3f14ad2423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c88f3f14ad2423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f34127979543de" /><Relationship Type="http://schemas.openxmlformats.org/officeDocument/2006/relationships/notesSlide" Target="/ppt/notesSlides/notesSlide1.xml" Id="R45009cf310284ed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4844828b094231" /><Relationship Type="http://schemas.openxmlformats.org/officeDocument/2006/relationships/notesSlide" Target="/ppt/notesSlides/notesSlide2.xml" Id="Rc315103287d6465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13ce44545d43e9" /><Relationship Type="http://schemas.openxmlformats.org/officeDocument/2006/relationships/notesSlide" Target="/ppt/notesSlides/notesSlide3.xml" Id="R0b5c5032440f4df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3816496ae24c40" /><Relationship Type="http://schemas.openxmlformats.org/officeDocument/2006/relationships/notesSlide" Target="/ppt/notesSlides/notesSlide4.xml" Id="Rbca3af8f053446e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AE332E4-E981-4EB3-AB75-F4AB54B49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3825"/>
            <a:ext cx="11477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9F111B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9F111B"/>
                </a:solidFill>
                <a:latin typeface="PingFang SC"/>
                <a:ea typeface="PingFang SC"/>
                <a:cs typeface="PingFang SC"/>
              </a:rPr>
              <a:t>一次集合算子调用跨越算法选择、HCOMM 建链与三类执行引擎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E21196-3322-4FD6-88B4-250D4FA60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42925"/>
            <a:ext cx="11477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859"/>
          </a:bodyPr>
          <a:lstStyle xmlns:a="http://schemas.openxmlformats.org/drawingml/2006/main"/>
          <a:p xmlns:a="http://schemas.openxmlformats.org/drawingml/2006/main">
            <a:pPr algn="ctr">
              <a:defRPr sz="138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138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AllReduce 新流程完整调用框架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BC52EE-D280-440A-A486-9E2B8B829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542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E6368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E6368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F4536A-E955-4459-A37B-E0EE52E5A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2524125" cy="395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111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651838-6664-4649-9D19-D99A35C3D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23925"/>
            <a:ext cx="2409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232"/>
          </a:bodyPr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HCCL 算子与选择层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B973C6-BCC4-414B-A2A0-62807D9B9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76350"/>
            <a:ext cx="2333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HcclAllReduce()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675248-2B9E-4645-8968-5430174CB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2333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AllReduceInitAndCheck()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63F536-6B75-45AC-984D-36D58E0DA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14550"/>
            <a:ext cx="2333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FillAllReduceOpParam()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89AFED-497B-4FE6-88ED-973DE35F1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14600"/>
            <a:ext cx="2333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HcclGetOpExpansionMode()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ED5239-FB72-4725-9BFF-C083E7D56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14650"/>
            <a:ext cx="2333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Decide / ApplyOpExpansionMode()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D4D068-2039-48BB-9805-236442A1B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09950"/>
            <a:ext cx="1104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Selector()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F0F394-836C-4819-A223-DAAF5553E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409950"/>
            <a:ext cx="11334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SelectorEngine()</a:t>
            </a:r>
          </a:p>
          <a:p xmlns:a="http://schemas.openxmlformats.org/drawingml/2006/main">
            <a:pPr algn="ctr">
              <a:defRPr sz="84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ExecuteSelector()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4E61E9-3743-4BB9-A20B-1D01FE576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67150"/>
            <a:ext cx="2333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HcclExecOp()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B6036F-E390-4092-908D-2B4219166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2435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90119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CalcResRequest()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2A956E-3417-4C6C-95B2-7B6FFB856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324350"/>
            <a:ext cx="11334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969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91504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GetAlgResource()</a:t>
            </a:r>
          </a:p>
        </p:txBody>
      </p:sp>
      <p:cxnSp>
        <p:nvCxnSpPr>
          <p:cNvPr id="88" name=""/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1719263" y="1638300"/>
            <a:ext cx="0" cy="7620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D4144"/>
            </a:solidFill>
            <a:prstDash val="solid"/>
            <a:tailEnd type="triangle" w="sm" len="sm"/>
          </a:ln>
        </p:spPr>
      </p:cxnSp>
      <p:cxnSp>
        <p:nvCxnSpPr>
          <p:cNvPr id="89" name=""/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1719263" y="2038350"/>
            <a:ext cx="0" cy="7620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D4144"/>
            </a:solidFill>
            <a:prstDash val="solid"/>
            <a:tailEnd type="triangle" w="sm" len="sm"/>
          </a:ln>
        </p:spPr>
      </p:cxnSp>
      <p:cxnSp>
        <p:nvCxnSpPr>
          <p:cNvPr id="90" name=""/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1719263" y="2438400"/>
            <a:ext cx="0" cy="7620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D4144"/>
            </a:solidFill>
            <a:prstDash val="solid"/>
            <a:tailEnd type="triangle" w="sm" len="sm"/>
          </a:ln>
        </p:spPr>
      </p:cxnSp>
      <p:cxnSp>
        <p:nvCxnSpPr>
          <p:cNvPr id="91" name=""/>
          <p:cNvCxnSpPr>
            <a:stCxn xmlns:a="http://schemas.openxmlformats.org/drawingml/2006/main" id="9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1719263" y="2838450"/>
            <a:ext cx="0" cy="7620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D4144"/>
            </a:solidFill>
            <a:prstDash val="solid"/>
            <a:tailEnd type="triangle" w="sm" len="sm"/>
          </a:ln>
        </p:spPr>
      </p:cxnSp>
      <p:cxnSp>
        <p:nvCxnSpPr>
          <p:cNvPr id="92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 flipH="1">
            <a:off x="1104900" y="3238500"/>
            <a:ext cx="614363" cy="17145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D4144"/>
            </a:solidFill>
            <a:prstDash val="solid"/>
            <a:tailEnd type="triangle" w="sm" len="sm"/>
          </a:ln>
        </p:spPr>
      </p:cxnSp>
      <p:cxnSp>
        <p:nvCxnSpPr>
          <p:cNvPr id="93" name=""/>
          <p:cNvCxnSpPr>
            <a:stCxn xmlns:a="http://schemas.openxmlformats.org/drawingml/2006/main" id="11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1104900" y="3771900"/>
            <a:ext cx="614363" cy="9525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D4144"/>
            </a:solidFill>
            <a:prstDash val="solid"/>
            <a:tailEnd type="triangle" w="sm" len="sm"/>
          </a:ln>
        </p:spPr>
      </p:cxnSp>
      <p:cxnSp>
        <p:nvCxnSpPr>
          <p:cNvPr id="94" name=""/>
          <p:cNvCxnSpPr>
            <a:stCxn xmlns:a="http://schemas.openxmlformats.org/drawingml/2006/main" id="13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 flipH="1">
            <a:off x="1104900" y="4229100"/>
            <a:ext cx="614363" cy="9525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D4144"/>
            </a:solidFill>
            <a:prstDash val="solid"/>
            <a:tailEnd type="triangle" w="sm" len="sm"/>
          </a:ln>
        </p:spPr>
      </p:cxnSp>
      <p:cxnSp>
        <p:nvCxnSpPr>
          <p:cNvPr id="95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1657350" y="4486275"/>
            <a:ext cx="952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D4144"/>
            </a:solidFill>
            <a:prstDash val="solid"/>
            <a:tailEnd type="triangle" w="sm" len="sm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DED456-29C8-484E-B3B7-EA72F1F65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1143000"/>
            <a:ext cx="2524125" cy="395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33E9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B2B264-D9A3-4533-A58F-0A1324B22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923925"/>
            <a:ext cx="2409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232"/>
          </a:bodyPr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HCOMM 通信资源层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B23972-C1E6-4C31-B67D-9746B7109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1276350"/>
            <a:ext cx="2333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RankGraph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EC268C8-A0C1-4965-ADD0-FB336396A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1695450"/>
            <a:ext cx="2333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1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GetLayers / GetTopoInstsByLayer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73B17C0-8513-467C-BF30-60F1398A6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019300"/>
            <a:ext cx="2333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1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GetTopoType / GetRanksByTopoInst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B2A59A2-6D26-4FA7-9190-5CED6DB17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343150"/>
            <a:ext cx="2333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1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GetEndpointNum / GetEndpointDesc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938EC8E-2CC1-4DE1-981F-E68CB2C18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667000"/>
            <a:ext cx="2333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1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GetLinks / GetEndpointInfo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22BBA44-7D65-4D20-A484-40D666C5C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3095625"/>
            <a:ext cx="23336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969"/>
          </a:solidFill>
          <a:ln xmlns:a="http://schemas.openxmlformats.org/drawingml/2006/main" w="15240">
            <a:solidFill>
              <a:srgbClr val="9F111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HcclChannelAcquire()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124FABC-3771-49DC-95B8-A015077AE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3562350"/>
            <a:ext cx="1104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87827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Socket / Endpoint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A6077A6-46BC-4220-94EA-C280E2A28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562350"/>
            <a:ext cx="1133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RankPair / EndpointPair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B637283-618E-4B0D-9510-216E6F23D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4000500"/>
            <a:ext cx="2333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4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HcommCollectiveChannelCreate()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9A20CFD-9397-453B-87D5-88E4486B9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4438650"/>
            <a:ext cx="2333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Channel L3</a:t>
            </a:r>
          </a:p>
        </p:txBody>
      </p:sp>
      <p:cxnSp>
        <p:nvCxnSpPr>
          <p:cNvPr id="108" name=""/>
          <p:cNvCxnSpPr>
            <a:stCxn xmlns:a="http://schemas.openxmlformats.org/drawingml/2006/main" id="31" idx="2"/>
            <a:endCxn xmlns:a="http://schemas.openxmlformats.org/drawingml/2006/main" id="32" idx="0"/>
          </p:cNvCxnSpPr>
          <p:nvPr/>
        </p:nvCxnSpPr>
        <p:spPr>
          <a:xfrm xmlns:a="http://schemas.openxmlformats.org/drawingml/2006/main" flipH="1">
            <a:off x="3819525" y="3467100"/>
            <a:ext cx="614363" cy="9525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D4144"/>
            </a:solidFill>
            <a:prstDash val="solid"/>
            <a:tailEnd type="triangle" w="sm" len="sm"/>
          </a:ln>
        </p:spPr>
      </p:cxnSp>
      <p:cxnSp>
        <p:nvCxnSpPr>
          <p:cNvPr id="109" name=""/>
          <p:cNvCxnSpPr>
            <a:stCxn xmlns:a="http://schemas.openxmlformats.org/drawingml/2006/main" id="32" idx="2"/>
            <a:endCxn xmlns:a="http://schemas.openxmlformats.org/drawingml/2006/main" id="34" idx="0"/>
          </p:cNvCxnSpPr>
          <p:nvPr/>
        </p:nvCxnSpPr>
        <p:spPr>
          <a:xfrm xmlns:a="http://schemas.openxmlformats.org/drawingml/2006/main">
            <a:off x="3819525" y="3905250"/>
            <a:ext cx="614363" cy="9525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D4144"/>
            </a:solidFill>
            <a:prstDash val="solid"/>
            <a:tailEnd type="triangle" w="sm" len="sm"/>
          </a:ln>
        </p:spPr>
      </p:cxnSp>
      <p:cxnSp>
        <p:nvCxnSpPr>
          <p:cNvPr id="110" name=""/>
          <p:cNvCxnSpPr>
            <a:stCxn xmlns:a="http://schemas.openxmlformats.org/drawingml/2006/main" id="34" idx="2"/>
            <a:endCxn xmlns:a="http://schemas.openxmlformats.org/drawingml/2006/main" id="35" idx="0"/>
          </p:cNvCxnSpPr>
          <p:nvPr/>
        </p:nvCxnSpPr>
        <p:spPr>
          <a:xfrm xmlns:a="http://schemas.openxmlformats.org/drawingml/2006/main">
            <a:off x="4433888" y="4343400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D4144"/>
            </a:solidFill>
            <a:prstDash val="solid"/>
            <a:tailEnd type="triangle" w="sm" len="sm"/>
          </a:ln>
        </p:spPr>
      </p:cxnSp>
      <p:cxnSp>
        <p:nvCxnSpPr>
          <p:cNvPr id="111" name=""/>
          <p:cNvCxnSpPr>
            <a:stCxn xmlns:a="http://schemas.openxmlformats.org/drawingml/2006/main" id="15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 flipV="1">
            <a:off x="2886075" y="3281363"/>
            <a:ext cx="381000" cy="120491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F111B"/>
            </a:solidFill>
            <a:prstDash val="solid"/>
            <a:tailEnd type="triangle" w="sm" len="sm"/>
          </a:ln>
        </p:spPr>
      </p:cxn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6E3D5B5-330A-40C6-9954-1B0883659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143000"/>
            <a:ext cx="2524125" cy="395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33E9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B6F0D98-8147-41BD-8D54-B17E703EC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923925"/>
            <a:ext cx="2409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232"/>
          </a:bodyPr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Engine 执行层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630591D-DAB3-489D-8001-1A48A1F45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276350"/>
            <a:ext cx="2333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共享资源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C811178-8A1C-4023-A4D8-9044E77B3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638300"/>
            <a:ext cx="1104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EngineCtx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7D1D6E4-B412-4CA8-8B87-6F405A322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38300"/>
            <a:ext cx="11334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94196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Thread / Channel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8828A66-FAE5-42E5-8B0B-B4B3D1DE2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000250"/>
            <a:ext cx="2333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通信内存与 Notify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6D4C555-2BEA-4C82-BB11-846A76CDD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95550"/>
            <a:ext cx="2333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AICPU_TS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85B48DE-C93E-4E2A-8106-8169D483E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876550"/>
            <a:ext cx="233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8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Hcomm*OnThread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09CDACC-24EC-468D-AAC7-6259BA835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295650"/>
            <a:ext cx="2333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AIV / AIV_ONLY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9CAF85F-6674-449D-8B16-96726EE69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676650"/>
            <a:ext cx="233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4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aclrtLaunchKernelWithHostArgs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63CBF3D-A0D0-47B5-9B5F-7A1CA5FF2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095750"/>
            <a:ext cx="2333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CCU_MS / CCU_SCHED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856F15D-A401-4DFC-A9C0-B7984C67A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476750"/>
            <a:ext cx="233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8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HcommCcuKernelLaunch</a:t>
            </a:r>
          </a:p>
        </p:txBody>
      </p:sp>
      <p:cxnSp>
        <p:nvCxnSpPr>
          <p:cNvPr id="124" name=""/>
          <p:cNvCxnSpPr>
            <a:stCxn xmlns:a="http://schemas.openxmlformats.org/drawingml/2006/main" id="35" idx="3"/>
            <a:endCxn xmlns:a="http://schemas.openxmlformats.org/drawingml/2006/main" id="51" idx="1"/>
          </p:cNvCxnSpPr>
          <p:nvPr/>
        </p:nvCxnSpPr>
        <p:spPr>
          <a:xfrm xmlns:a="http://schemas.openxmlformats.org/drawingml/2006/main">
            <a:off x="5600700" y="4610100"/>
            <a:ext cx="3810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33E93"/>
            </a:solidFill>
            <a:prstDash val="solid"/>
            <a:tailEnd type="triangle" w="sm" len="sm"/>
          </a:ln>
        </p:spPr>
      </p:cxn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D8589F8-8956-42CC-9000-9B00DC28B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05425"/>
            <a:ext cx="7953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11430">
            <a:solidFill>
              <a:srgbClr val="3D414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Transport：UB / RoCE / HCCS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4AC728C-8174-423D-9A0C-033B95447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72150"/>
            <a:ext cx="795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5E6368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E6368"/>
                </a:solidFill>
                <a:latin typeface="PingFang SC"/>
                <a:ea typeface="PingFang SC"/>
                <a:cs typeface="PingFang SC"/>
              </a:rPr>
              <a:t>图例：灰色为共用基础能力　黄色为跨层关键 API　红框为 HCCL 作用域　蓝框为 HCOMM / Engine 作用域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F259E9F-DD7D-4F89-951B-5489F8135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152525"/>
            <a:ext cx="29146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F111B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A79CC60-B39F-4353-A843-37B69C637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2287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111B"/>
          </a:solidFill>
          <a:ln xmlns:a="http://schemas.openxmlformats.org/drawingml/2006/main" w="0">
            <a:solidFill>
              <a:srgbClr val="9F111B"/>
            </a:solidFill>
          </a:ln>
        </p:spPr>
        <p:txBody>
          <a:bodyPr xmlns:a="http://schemas.openxmlformats.org/drawingml/2006/main" anchor="ctr">
            <a:normAutofit fontScale="52059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A8FCCC2-7FB0-4E6F-A141-4EFDBD711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228725"/>
            <a:ext cx="2343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976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9F111B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9F111B"/>
                </a:solidFill>
                <a:latin typeface="PingFang SC"/>
                <a:ea typeface="PingFang SC"/>
                <a:cs typeface="PingFang SC"/>
              </a:rPr>
              <a:t>公共主干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BE8000C-CB9F-4105-BC88-C29A8941C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485900"/>
            <a:ext cx="23431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不同集合算子会替换入口和 Fill*OpParam。展开模式、RankGraph、Selector、资源申请主干高度共用。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2C3B802-9EFE-4DB2-99D0-A481DD269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76500"/>
            <a:ext cx="29146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3E9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97F4402-1FD1-46EA-B40C-D048953F4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5527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3E93"/>
          </a:solidFill>
          <a:ln xmlns:a="http://schemas.openxmlformats.org/drawingml/2006/main" w="0">
            <a:solidFill>
              <a:srgbClr val="233E93"/>
            </a:solidFill>
          </a:ln>
        </p:spPr>
        <p:txBody>
          <a:bodyPr xmlns:a="http://schemas.openxmlformats.org/drawingml/2006/main" anchor="ctr">
            <a:normAutofit fontScale="35572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0566D97-97A5-4BBC-979A-3CBDE3A95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552700"/>
            <a:ext cx="2343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976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233E93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233E93"/>
                </a:solidFill>
                <a:latin typeface="PingFang SC"/>
                <a:ea typeface="PingFang SC"/>
                <a:cs typeface="PingFang SC"/>
              </a:rPr>
              <a:t>HCCL 与 HCOMM 边界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8AA7305-0560-41E3-A35D-80292F084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809875"/>
            <a:ext cx="23431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GetAlgResource 根据 CommEngine 组织资源。需要通信连接时，HcclChannelAcquire 把 HCCL 描述符转换为 HCOMM 对象。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2EAD3C3-E06D-4149-9078-241B95425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933825"/>
            <a:ext cx="29146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F111B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C8E669F-ED36-4AA7-AC17-B461D5746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0100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111B"/>
          </a:solidFill>
          <a:ln xmlns:a="http://schemas.openxmlformats.org/drawingml/2006/main" w="0">
            <a:solidFill>
              <a:srgbClr val="9F111B"/>
            </a:solidFill>
          </a:ln>
        </p:spPr>
        <p:txBody>
          <a:bodyPr xmlns:a="http://schemas.openxmlformats.org/drawingml/2006/main" anchor="ctr">
            <a:normAutofit fontScale="35572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E8BF2E6-E2E1-429D-96AD-3EC6509E3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010025"/>
            <a:ext cx="2343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976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9F111B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9F111B"/>
                </a:solidFill>
                <a:latin typeface="PingFang SC"/>
                <a:ea typeface="PingFang SC"/>
                <a:cs typeface="PingFang SC"/>
              </a:rPr>
              <a:t>执行差异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8162D21-AA16-4E72-A2F2-9587EFA8E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267200"/>
            <a:ext cx="23431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AICPU 逐原语调用 HCOMM。AIV 发射 Vector Kernel。CCU 注册 Kernel 并提交 Mission。三条路径共享 Channel 和通信内存。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5EF8125-8F57-409C-B9E4-B21D4C142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476875"/>
            <a:ext cx="2914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汇报结论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7BF0340-02CC-45EF-9544-232C95AF7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734050"/>
            <a:ext cx="1028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F111B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BB8958E-EA6F-4AD9-807E-3E4B2DB56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800725"/>
            <a:ext cx="2914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975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算子决定通信语义，Selector 决定算法和 Engine，Engine 决定最终调用的 HCOMM API 族。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D352F24-DBC6-4CE7-AEB8-0BC230467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6553200"/>
            <a:ext cx="11477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3D4144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0D2D361-76A7-47DB-B868-1E84B8F83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81775"/>
            <a:ext cx="10572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5041"/>
          </a:bodyPr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5E6368"/>
                </a:solidFill>
                <a:latin typeface="PingFang SC"/>
                <a:ea typeface="PingFang SC"/>
                <a:cs typeface="PingFang SC"/>
              </a:defRPr>
            </a:pPr>
            <a:r>
              <a:rPr sz="615" b="0">
                <a:solidFill>
                  <a:srgbClr val="5E6368"/>
                </a:solidFill>
                <a:latin typeface="PingFang SC"/>
                <a:ea typeface="PingFang SC"/>
                <a:cs typeface="PingFang SC"/>
              </a:rPr>
              <a:t>分析范围：hccl 170ddeec539b；hcomm 87ce550f8f7c；以 AllReduce 新流程为代表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9372E52-4B42-4614-A159-BF936FB89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81775"/>
            <a:ext cx="1314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5041"/>
          </a:bodyPr>
          <a:lstStyle xmlns:a="http://schemas.openxmlformats.org/drawingml/2006/main"/>
          <a:p xmlns:a="http://schemas.openxmlformats.org/drawingml/2006/main">
            <a:pPr algn="r">
              <a:defRPr sz="615" b="0">
                <a:solidFill>
                  <a:srgbClr val="5E6368"/>
                </a:solidFill>
                <a:latin typeface="PingFang SC"/>
                <a:ea typeface="PingFang SC"/>
                <a:cs typeface="PingFang SC"/>
              </a:defRPr>
            </a:pPr>
            <a:r>
              <a:rPr sz="615" b="0">
                <a:solidFill>
                  <a:srgbClr val="5E6368"/>
                </a:solidFill>
                <a:latin typeface="PingFang SC"/>
                <a:ea typeface="PingFang SC"/>
                <a:cs typeface="PingFang SC"/>
              </a:rPr>
              <a:t>HCCL / HCOMM 源码分析</a:t>
            </a:r>
          </a:p>
        </p:txBody>
      </p:sp>
    </p:spTree>
    <p:extLst>
      <p:ext uri="{BB962C8B-B14F-4D97-AF65-F5344CB8AC3E}">
        <p14:creationId xmlns:p14="http://schemas.microsoft.com/office/powerpoint/2010/main" val="2663824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BDB6E34-1A75-4D19-99D2-B3C022B6B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3825"/>
            <a:ext cx="11477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9F111B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9F111B"/>
                </a:solidFill>
                <a:latin typeface="PingFang SC"/>
                <a:ea typeface="PingFang SC"/>
                <a:cs typeface="PingFang SC"/>
              </a:rPr>
              <a:t>HCCL 先归一化算子参数，再结合配置与拓扑选择算法和执行引擎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A7D821-EE17-49EA-9055-C5811F56A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42925"/>
            <a:ext cx="11477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859"/>
          </a:bodyPr>
          <a:lstStyle xmlns:a="http://schemas.openxmlformats.org/drawingml/2006/main"/>
          <a:p xmlns:a="http://schemas.openxmlformats.org/drawingml/2006/main">
            <a:pPr algn="ctr">
              <a:defRPr sz="138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138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入口、展开模式、RankGraph 与 Selector 详细调用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0574FD-696F-4795-98A9-C8EE6E295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542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E6368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E6368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6CDEA5-F5EC-4CEA-BBB6-08559744D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62050"/>
            <a:ext cx="8001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111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65E483-C097-4116-A494-C1E7CE274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42975"/>
            <a:ext cx="788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232"/>
          </a:bodyPr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HCCL 算子公共入口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27049C-B3CC-4FC5-84A0-35B9B6EC4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14450"/>
            <a:ext cx="17621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HcclAllReduce()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7CC5F9-5FEA-4336-BAAB-6021F843F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314450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AllReduceInitAndCheck()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F8D18E-BD80-4503-843C-F3C9C6087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1314450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FillAllReduceOpParam()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CB6E6A-C937-499B-964F-DA65BEF98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314450"/>
            <a:ext cx="17621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OpParam</a:t>
            </a:r>
          </a:p>
        </p:txBody>
      </p:sp>
      <p:cxnSp>
        <p:nvCxnSpPr>
          <p:cNvPr id="79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333625" y="1485900"/>
            <a:ext cx="200025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D4144"/>
            </a:solidFill>
            <a:prstDash val="solid"/>
            <a:tailEnd type="triangle" w="sm" len="sm"/>
          </a:ln>
        </p:spPr>
      </p:cxnSp>
      <p:cxnSp>
        <p:nvCxnSpPr>
          <p:cNvPr id="80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343400" y="1485900"/>
            <a:ext cx="200025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D4144"/>
            </a:solidFill>
            <a:prstDash val="solid"/>
            <a:tailEnd type="triangle" w="sm" len="sm"/>
          </a:ln>
        </p:spPr>
      </p:cxnSp>
      <p:cxnSp>
        <p:nvCxnSpPr>
          <p:cNvPr id="81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6353175" y="1485900"/>
            <a:ext cx="200025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D4144"/>
            </a:solidFill>
            <a:prstDash val="solid"/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94FE47-EB9F-467F-83E8-D524235B4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71650"/>
            <a:ext cx="77438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输入：sendBuf、recvBuf、count、datatype、reduceType、stream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70D81C-7C96-4FC0-8CE0-C391FACDD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71750"/>
            <a:ext cx="800100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111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1A07C5-D213-4C39-A60D-CAEEC0FE5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52675"/>
            <a:ext cx="788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232"/>
          </a:bodyPr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展开模式决策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3A9C9C-AFA3-4343-B506-D17CD3017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24150"/>
            <a:ext cx="2190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HcclGetOpExpansionMode()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489010-20D9-45D5-B007-1F22DA3D7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72415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DecideHcclOpExpansionMode()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8B5089-F70F-4640-ADDC-FA10BBE17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724150"/>
            <a:ext cx="2771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ApplyOpExpansionMode()</a:t>
            </a:r>
          </a:p>
        </p:txBody>
      </p:sp>
      <p:cxnSp>
        <p:nvCxnSpPr>
          <p:cNvPr id="88" name="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2762250" y="2905125"/>
            <a:ext cx="200025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D4144"/>
            </a:solidFill>
            <a:prstDash val="solid"/>
            <a:tailEnd type="triangle" w="sm" len="sm"/>
          </a:ln>
        </p:spPr>
      </p:cxnSp>
      <p:cxnSp>
        <p:nvCxnSpPr>
          <p:cNvPr id="89" name="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5343525" y="2905125"/>
            <a:ext cx="200025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D4144"/>
            </a:solidFill>
            <a:prstDash val="solid"/>
            <a:tail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01E8A8-34DE-4D35-A03E-5C9E36D23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623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配置来源：HcclConfigGetInfo()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77F24D-8709-4824-91C5-A368A34B0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3162300"/>
            <a:ext cx="1562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AICPU_TS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033061-89AA-44C8-8F7E-8FBADF3CA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162300"/>
            <a:ext cx="16859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AIV / AIV_ONLY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D6745D-C49D-437A-AA26-85F8B2937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62300"/>
            <a:ext cx="19145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CCU_MS / CCU_SCHED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2C8A60-5322-4258-8226-EB8AB7F0D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95725"/>
            <a:ext cx="80010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33E9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9F4650-302C-462E-862D-EC0FB3E13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76650"/>
            <a:ext cx="788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232"/>
          </a:bodyPr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通信域与 RankGraph 查询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2160C2-214B-4AAE-A3AF-75235AB8B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48125"/>
            <a:ext cx="18383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HcclCommGetStatus()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70F5FF8-548C-4390-AC57-1521B56C3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048125"/>
            <a:ext cx="18383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HcclEngineCtxGet() / Create()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2933034-1624-4233-A4F9-47D5D0286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38650"/>
            <a:ext cx="1819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GetLayers()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F04913B-23C1-4501-8EB8-08BCB8133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4438650"/>
            <a:ext cx="1819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GetTopoInstsByLayer()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D7662C2-1A26-4D7D-9E25-4CDC7E937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438650"/>
            <a:ext cx="1819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GetTopoType()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14E47FA-C943-4E8F-8257-7F370197E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438650"/>
            <a:ext cx="1819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GetRanksByTopoInst()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732355D-660E-4126-8001-6BA2B650B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43450"/>
            <a:ext cx="1819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GetEndpointNum()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55F3D47-D56A-4AFA-8669-B830D6415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4743450"/>
            <a:ext cx="1819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GetEndpointDesc()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B5AF1D5-C181-4B9A-BABC-F4F311F9F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743450"/>
            <a:ext cx="1819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GetLinks()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B310E17-F1B3-40C3-868F-A5026E59C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743450"/>
            <a:ext cx="1819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GetEndpointInfo()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5B48E68-BD33-4516-8C45-AA4BB0897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86375"/>
            <a:ext cx="8001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111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E6259B1-D859-455E-89C6-15D91489F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67300"/>
            <a:ext cx="788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232"/>
          </a:bodyPr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Selector 与执行入口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55B75C7-C4FA-45CF-9BFB-49082124D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62600"/>
            <a:ext cx="1285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Selector()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952AE57-80D3-4899-B18D-D6ADB3873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391150"/>
            <a:ext cx="1581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SelectorEngine()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4B52EDB-928C-44AA-AC73-3F6852142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800725"/>
            <a:ext cx="1581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ExecuteSelector()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2044BAE-8F3B-4AEF-A1FF-66D2FD5F5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5638800"/>
            <a:ext cx="857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4867"/>
          </a:bodyPr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5E6368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5E6368"/>
                </a:solidFill>
                <a:latin typeface="PingFang SC"/>
                <a:ea typeface="PingFang SC"/>
                <a:cs typeface="PingFang SC"/>
              </a:rPr>
              <a:t>二选一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E38C1AB-0C45-45F5-8A00-011FFD595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562600"/>
            <a:ext cx="1285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HcclExecOp()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EAD0D04-5D85-4409-AF7E-142699EEB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562600"/>
            <a:ext cx="1381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CalcResRequest()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426FBB3-2A4F-4CA1-8830-892D3FE5A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562600"/>
            <a:ext cx="10763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969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GetAlgResource()</a:t>
            </a:r>
          </a:p>
        </p:txBody>
      </p:sp>
      <p:cxnSp>
        <p:nvCxnSpPr>
          <p:cNvPr id="115" name=""/>
          <p:cNvCxnSpPr>
            <a:stCxn xmlns:a="http://schemas.openxmlformats.org/drawingml/2006/main" id="39" idx="3"/>
            <a:endCxn xmlns:a="http://schemas.openxmlformats.org/drawingml/2006/main" id="40" idx="1"/>
          </p:cNvCxnSpPr>
          <p:nvPr/>
        </p:nvCxnSpPr>
        <p:spPr>
          <a:xfrm xmlns:a="http://schemas.openxmlformats.org/drawingml/2006/main" flipV="1">
            <a:off x="1857375" y="5519738"/>
            <a:ext cx="257175" cy="2047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3335">
            <a:solidFill>
              <a:srgbClr val="3D4144"/>
            </a:solidFill>
            <a:prstDash val="solid"/>
            <a:tailEnd type="triangle" w="sm" len="sm"/>
          </a:ln>
        </p:spPr>
      </p:cxnSp>
      <p:cxnSp>
        <p:nvCxnSpPr>
          <p:cNvPr id="116" name=""/>
          <p:cNvCxnSpPr>
            <a:stCxn xmlns:a="http://schemas.openxmlformats.org/drawingml/2006/main" id="39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1857375" y="5724525"/>
            <a:ext cx="257175" cy="2047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3335">
            <a:solidFill>
              <a:srgbClr val="3D4144"/>
            </a:solidFill>
            <a:prstDash val="solid"/>
            <a:tailEnd type="triangle" w="sm" len="sm"/>
          </a:ln>
        </p:spPr>
      </p:cxnSp>
      <p:cxnSp>
        <p:nvCxnSpPr>
          <p:cNvPr id="117" name=""/>
          <p:cNvCxnSpPr>
            <a:stCxn xmlns:a="http://schemas.openxmlformats.org/drawingml/2006/main" id="40" idx="3"/>
            <a:endCxn xmlns:a="http://schemas.openxmlformats.org/drawingml/2006/main" id="43" idx="1"/>
          </p:cNvCxnSpPr>
          <p:nvPr/>
        </p:nvCxnSpPr>
        <p:spPr>
          <a:xfrm xmlns:a="http://schemas.openxmlformats.org/drawingml/2006/main">
            <a:off x="3695700" y="5519738"/>
            <a:ext cx="361950" cy="2047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3335">
            <a:solidFill>
              <a:srgbClr val="3D4144"/>
            </a:solidFill>
            <a:prstDash val="solid"/>
            <a:tailEnd type="triangle" w="sm" len="sm"/>
          </a:ln>
        </p:spPr>
      </p:cxnSp>
      <p:cxnSp>
        <p:nvCxnSpPr>
          <p:cNvPr id="118" name=""/>
          <p:cNvCxnSpPr>
            <a:stCxn xmlns:a="http://schemas.openxmlformats.org/drawingml/2006/main" id="41" idx="3"/>
            <a:endCxn xmlns:a="http://schemas.openxmlformats.org/drawingml/2006/main" id="43" idx="1"/>
          </p:cNvCxnSpPr>
          <p:nvPr/>
        </p:nvCxnSpPr>
        <p:spPr>
          <a:xfrm xmlns:a="http://schemas.openxmlformats.org/drawingml/2006/main" flipV="1">
            <a:off x="3695700" y="5724525"/>
            <a:ext cx="361950" cy="2047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3335">
            <a:solidFill>
              <a:srgbClr val="3D4144"/>
            </a:solidFill>
            <a:prstDash val="solid"/>
            <a:tailEnd type="triangle" w="sm" len="sm"/>
          </a:ln>
        </p:spPr>
      </p:cxnSp>
      <p:cxnSp>
        <p:nvCxnSpPr>
          <p:cNvPr id="119" name=""/>
          <p:cNvCxnSpPr>
            <a:stCxn xmlns:a="http://schemas.openxmlformats.org/drawingml/2006/main" id="43" idx="3"/>
            <a:endCxn xmlns:a="http://schemas.openxmlformats.org/drawingml/2006/main" id="44" idx="1"/>
          </p:cNvCxnSpPr>
          <p:nvPr/>
        </p:nvCxnSpPr>
        <p:spPr>
          <a:xfrm xmlns:a="http://schemas.openxmlformats.org/drawingml/2006/main">
            <a:off x="5343525" y="5724525"/>
            <a:ext cx="257175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D4144"/>
            </a:solidFill>
            <a:prstDash val="solid"/>
            <a:tailEnd type="triangle" w="sm" len="sm"/>
          </a:ln>
        </p:spPr>
      </p:cxn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ECDF4E7-0C31-4D2B-8D4D-6CF3C9D84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6000750"/>
            <a:ext cx="42576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40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输出：algName、CommEngine、algTag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DA5DBFB-E537-4789-A881-3060444E5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181100"/>
            <a:ext cx="29146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F111B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7A9DA8E-4C7E-41F0-8C87-8CA467029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2573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111B"/>
          </a:solidFill>
          <a:ln xmlns:a="http://schemas.openxmlformats.org/drawingml/2006/main" w="0">
            <a:solidFill>
              <a:srgbClr val="9F111B"/>
            </a:solidFill>
          </a:ln>
        </p:spPr>
        <p:txBody>
          <a:bodyPr xmlns:a="http://schemas.openxmlformats.org/drawingml/2006/main" anchor="ctr">
            <a:normAutofit fontScale="52059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0350067-A081-4588-A519-1E0712836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257300"/>
            <a:ext cx="2343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976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9F111B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9F111B"/>
                </a:solidFill>
                <a:latin typeface="PingFang SC"/>
                <a:ea typeface="PingFang SC"/>
                <a:cs typeface="PingFang SC"/>
              </a:rPr>
              <a:t>阶段 1：参数统一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5FEB4FF-A2CA-4785-8168-5AF8ACC46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514475"/>
            <a:ext cx="2343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各算子把公开接口参数转成 OpParam。不同算子主要差在 Fill*OpParam 和语义字段。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EAEC305-A6DF-4723-9FAB-ADC943131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90775"/>
            <a:ext cx="2914650" cy="1362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3E93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C120D7D-C3B2-4EBA-B138-216697E51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46697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3E93"/>
          </a:solidFill>
          <a:ln xmlns:a="http://schemas.openxmlformats.org/drawingml/2006/main" w="0">
            <a:solidFill>
              <a:srgbClr val="233E93"/>
            </a:solidFill>
          </a:ln>
        </p:spPr>
        <p:txBody>
          <a:bodyPr xmlns:a="http://schemas.openxmlformats.org/drawingml/2006/main" anchor="ctr">
            <a:normAutofit fontScale="35572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0D26678-E22D-458A-BBC3-62077BE56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466975"/>
            <a:ext cx="2343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976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233E93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233E93"/>
                </a:solidFill>
                <a:latin typeface="PingFang SC"/>
                <a:ea typeface="PingFang SC"/>
                <a:cs typeface="PingFang SC"/>
              </a:rPr>
              <a:t>阶段 2：模式与拓扑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39CDF90-67F7-42ED-874C-EB87F79FB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724150"/>
            <a:ext cx="23431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配置先限定 AICPU、AIV 或 CCU。RankGraph 再提供层级、拓扑类型、Rank 分组、Endpoint 和 Link。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5E9A36C-0178-4719-A4C8-58C4F6D1B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905250"/>
            <a:ext cx="29146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F111B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D3724A5-E870-4130-B57E-DBC3CD305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9814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111B"/>
          </a:solidFill>
          <a:ln xmlns:a="http://schemas.openxmlformats.org/drawingml/2006/main" w="0">
            <a:solidFill>
              <a:srgbClr val="9F111B"/>
            </a:solidFill>
          </a:ln>
        </p:spPr>
        <p:txBody>
          <a:bodyPr xmlns:a="http://schemas.openxmlformats.org/drawingml/2006/main" anchor="ctr">
            <a:normAutofit fontScale="35572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3D99A60-DC76-4995-9160-A1CEF46F8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981450"/>
            <a:ext cx="2343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976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9F111B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9F111B"/>
                </a:solidFill>
                <a:latin typeface="PingFang SC"/>
                <a:ea typeface="PingFang SC"/>
                <a:cs typeface="PingFang SC"/>
              </a:rPr>
              <a:t>阶段 3：算法选择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921A25B-0199-4EFB-A93D-717EFD38C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238625"/>
            <a:ext cx="23431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Selector 根据设备类型、Rank 数、数据量、datatype、reduceType、内存布局和 CCU 资源输出算法。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1B5A6DB-9159-4D12-B77C-EC8BBA34F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334000"/>
            <a:ext cx="2914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公用与差异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0E595B3-1B83-4E00-BCF9-FBA3ECDE5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591175"/>
            <a:ext cx="1028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F111B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FD8E20E-5460-46A1-ADD8-4A3E27820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657850"/>
            <a:ext cx="2914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公用：展开模式、RankGraph、Selector、HcclExecOp、资源申请。差异：算子入口、OpParam 字段、候选算法及阈值。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7C0E656-AEDD-4F78-A2F6-50310CE7C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6553200"/>
            <a:ext cx="11477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3D4144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D6036BA-2772-43C5-B027-B0DD37F7C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81775"/>
            <a:ext cx="10572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5041"/>
          </a:bodyPr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5E6368"/>
                </a:solidFill>
                <a:latin typeface="PingFang SC"/>
                <a:ea typeface="PingFang SC"/>
                <a:cs typeface="PingFang SC"/>
              </a:defRPr>
            </a:pPr>
            <a:r>
              <a:rPr sz="615" b="0">
                <a:solidFill>
                  <a:srgbClr val="5E6368"/>
                </a:solidFill>
                <a:latin typeface="PingFang SC"/>
                <a:ea typeface="PingFang SC"/>
                <a:cs typeface="PingFang SC"/>
              </a:rPr>
              <a:t>源码：hccl/src/ops/all_reduce/all_reduce.cc；hccl/src/ops/op_common/op_common.cc；hcomm/.../coll_comm_rank_graph_a_adpt.cc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0DABDFD-1A31-4A20-84DC-43A9B775C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81775"/>
            <a:ext cx="1314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5041"/>
          </a:bodyPr>
          <a:lstStyle xmlns:a="http://schemas.openxmlformats.org/drawingml/2006/main"/>
          <a:p xmlns:a="http://schemas.openxmlformats.org/drawingml/2006/main">
            <a:pPr algn="r">
              <a:defRPr sz="615" b="0">
                <a:solidFill>
                  <a:srgbClr val="5E6368"/>
                </a:solidFill>
                <a:latin typeface="PingFang SC"/>
                <a:ea typeface="PingFang SC"/>
                <a:cs typeface="PingFang SC"/>
              </a:defRPr>
            </a:pPr>
            <a:r>
              <a:rPr sz="615" b="0">
                <a:solidFill>
                  <a:srgbClr val="5E6368"/>
                </a:solidFill>
                <a:latin typeface="PingFang SC"/>
                <a:ea typeface="PingFang SC"/>
                <a:cs typeface="PingFang SC"/>
              </a:rPr>
              <a:t>HCCL / HCOMM 源码分析</a:t>
            </a:r>
          </a:p>
        </p:txBody>
      </p:sp>
    </p:spTree>
    <p:extLst>
      <p:ext uri="{BB962C8B-B14F-4D97-AF65-F5344CB8AC3E}">
        <p14:creationId xmlns:p14="http://schemas.microsoft.com/office/powerpoint/2010/main" val="201669491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EDF2C84-C804-4D3C-9990-92C643DFD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3825"/>
            <a:ext cx="11477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9F111B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9F111B"/>
                </a:solidFill>
                <a:latin typeface="PingFang SC"/>
                <a:ea typeface="PingFang SC"/>
                <a:cs typeface="PingFang SC"/>
              </a:rPr>
              <a:t>HcclChannelAcquire 内部包含 32 个顺序步骤，跨越 HCCL 与 HCOMM 资源生命周期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E85DEE-57F1-4068-B70B-CCC842C8D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42925"/>
            <a:ext cx="11477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859"/>
          </a:bodyPr>
          <a:lstStyle xmlns:a="http://schemas.openxmlformats.org/drawingml/2006/main"/>
          <a:p xmlns:a="http://schemas.openxmlformats.org/drawingml/2006/main">
            <a:pPr algn="ctr">
              <a:defRPr sz="138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138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Socket、EndpointPair、Channel 创建、连接确认与资源回填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690101-8E6E-4E1D-A411-3C20B0253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542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E6368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E6368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BE8FA0-753E-484C-BDD9-348613C0B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20097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DEE"/>
          </a:solidFill>
          <a:ln xmlns:a="http://schemas.openxmlformats.org/drawingml/2006/main" w="14288">
            <a:solidFill>
              <a:srgbClr val="9F111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① HCCL 准备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5BFADB-A3A3-4995-885A-4DA28DA2C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287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7620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01 HcclGetChannelImpl()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A51B65-C4F2-4480-B56C-59CAAC332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859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7620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02 AddExchangeInfo()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24E4A5-4EA7-4417-827A-ADF0C56AA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431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13335">
            <a:solidFill>
              <a:srgbClr val="9F111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9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03 HcclChannelAcquire()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F26E45-6668-4BCC-B4C1-C593C15A3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003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7620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04 CheckChannelResParams()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1F869F-8BF1-4E61-B2B0-0040F6DA3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575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7620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05 ProcessHcclResPackReq()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E00D93-5393-4D94-A198-4F591F113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147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7620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06 PrepareV2ChannelAcquire()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7B3BD9-D752-4AD6-9204-2F5FACEA6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719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7620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07 PrepareChannelSymMemHandles()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C89F7B-2B89-4E48-8798-F3B8D2601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291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7620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08 MyRank::CreateChannels()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56BBDB-161B-456D-AA1F-E69C1EDFE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200150"/>
            <a:ext cx="20097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DEE"/>
          </a:solidFill>
          <a:ln xmlns:a="http://schemas.openxmlformats.org/drawingml/2006/main" w="14288">
            <a:solidFill>
              <a:srgbClr val="9F111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② Socket / 描述符</a:t>
            </a:r>
          </a:p>
        </p:txBody>
      </p:sp>
      <p:cxnSp>
        <p:nvCxnSpPr>
          <p:cNvPr id="77" name=""/>
          <p:cNvCxnSpPr>
            <a:stCxn xmlns:a="http://schemas.openxmlformats.org/drawingml/2006/main" id="4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2409825" y="1362075"/>
            <a:ext cx="12382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9F111B"/>
            </a:solidFill>
            <a:prstDash val="solid"/>
            <a:tailEnd type="triangle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2C95DC-74A5-44A2-A980-5F86A79FF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6287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7620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09 CheckChannelParam()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9325AB-F053-480B-BABE-C07D90A82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0859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13335">
            <a:solidFill>
              <a:srgbClr val="9F111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9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10 ChannelDescHccl2Hcomm()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CABB48-A947-4D06-BD75-0804EF6CE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5431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7620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11 ConfigSqDepthByExpansionMode()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E7FEC8-739E-4DAF-8D1C-5C14CAE06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0003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7620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12 BatchCreateSockets()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1834A5-C3A5-46C4-8EF5-E7305DF04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4575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7620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13 BatchServerInitForChannels()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F26FFB-00DA-424C-B7BA-7A8000654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9147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7620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14 BatchGetSocketsForChannels()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2B2500-E622-422F-95BE-A2115F719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3719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7620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15 BatchCreateChannels()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595408-8764-47CB-9C9A-202A4A2BB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8291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7620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16 EndpointMgr::Get()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6E90DC-D89D-468C-986A-D95DDD573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200150"/>
            <a:ext cx="20097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A"/>
          </a:solidFill>
          <a:ln xmlns:a="http://schemas.openxmlformats.org/drawingml/2006/main" w="14288">
            <a:solidFill>
              <a:srgbClr val="233E93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③ Endpoint / Channel</a:t>
            </a:r>
          </a:p>
        </p:txBody>
      </p:sp>
      <p:cxnSp>
        <p:nvCxnSpPr>
          <p:cNvPr id="87" name=""/>
          <p:cNvCxnSpPr>
            <a:stCxn xmlns:a="http://schemas.openxmlformats.org/drawingml/2006/main" id="13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4543425" y="1362075"/>
            <a:ext cx="12382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33E93"/>
            </a:solidFill>
            <a:prstDash val="solid"/>
            <a:tailEnd type="triangle" w="sm" len="sm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E69C92-6F3A-4739-87D1-1DA1B6588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6287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13335">
            <a:solidFill>
              <a:srgbClr val="233E93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9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17 HcommEndpointStartListen()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D549A0-5811-42E8-9B62-9191E698A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859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7620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18 PrepareMemHandles()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A343D9-88EF-4316-A7FC-398096A9E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431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7620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19 RankPairMgr::Get()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4ED3B0-7BC7-4F03-A967-1F876E89B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003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7620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20 RankPair::GetEndpointPair()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EF6C817-0908-4A01-9E3F-5B5D2A3C5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4575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7620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21 EndpointPair::CreateChannel()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4188840-3EE4-43BF-BC2E-37D3A3D47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9147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13335">
            <a:solidFill>
              <a:srgbClr val="233E93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9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22 HcommCollectiveChannelCreate()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8641D35-F833-4DE2-8FC7-D0EDAF727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3719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7620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23 NormalizeHcommChannelDescs()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D5687FF-C852-4660-840A-2B748D0A4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8291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7620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2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24 ChannelProcess::CreateChannelsLoop()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59415F0-290A-4B80-89BA-7AEC707AF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200150"/>
            <a:ext cx="20097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A"/>
          </a:solidFill>
          <a:ln xmlns:a="http://schemas.openxmlformats.org/drawingml/2006/main" w="14288">
            <a:solidFill>
              <a:srgbClr val="233E93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④ 连接 / 回填</a:t>
            </a:r>
          </a:p>
        </p:txBody>
      </p:sp>
      <p:cxnSp>
        <p:nvCxnSpPr>
          <p:cNvPr id="97" name=""/>
          <p:cNvCxnSpPr>
            <a:stCxn xmlns:a="http://schemas.openxmlformats.org/drawingml/2006/main" id="23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>
            <a:off x="6677025" y="1362075"/>
            <a:ext cx="12382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33E93"/>
            </a:solidFill>
            <a:prstDash val="solid"/>
            <a:tailEnd type="triangle" w="sm" len="sm"/>
          </a:ln>
        </p:spPr>
      </p:cxn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102B896-83D5-450C-B0B8-C13E10363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6287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7620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25 Channel::CreateChannel()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847DB11-E26F-477A-AB3C-23C5AA5BA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0859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7620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26 BatchConnectChannels()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7F1B4D0-173D-417F-9D8B-2DB84423B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5431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7620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27 ChannelProcess::ChannelGetStatus()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61224A4-9C45-48AF-A62A-D93C4198C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0003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13335">
            <a:solidFill>
              <a:srgbClr val="233E93"/>
            </a:solidFill>
            <a:prstDash val="solid"/>
          </a:ln>
        </p:spPr>
        <p:txBody>
          <a:bodyPr xmlns:a="http://schemas.openxmlformats.org/drawingml/2006/main" anchor="ctr">
            <a:normAutofit fontScale="96618"/>
          </a:bodyPr>
          <a:lstStyle xmlns:a="http://schemas.openxmlformats.org/drawingml/2006/main"/>
          <a:p xmlns:a="http://schemas.openxmlformats.org/drawingml/2006/main">
            <a:pPr algn="l">
              <a:defRPr sz="79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9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28 BatchExchangeAndCheckConsistency()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0A0CDA1-1BDA-4DB7-9765-3CFA8DA93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4575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7620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29 FinalizeChannelsByEngine()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73DC8A5-FCF2-4733-8985-2BB1707F3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9147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13335">
            <a:solidFill>
              <a:srgbClr val="233E93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20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20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30 ConvertAivChannelHandlesToDevicePtrs()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B7E0242-05A1-45E2-8DAD-08A782C88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3719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7620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31 HcclChannelGetHcclBuffer()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A7B0ABC-126B-42BE-9044-199B60D27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8291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13335">
            <a:solidFill>
              <a:srgbClr val="233E93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20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20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32 return ChannelHandle + Remote CCL Buffer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40295E4-B893-46D8-B746-E314AE00C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10200"/>
            <a:ext cx="8667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969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条件分支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B3075C4-C6C3-46BC-9781-21FC0843E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410200"/>
            <a:ext cx="75152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AICPU / AIV 交换对称内存　AIV 转换设备侧 Channel 句柄　950 做一致性校验　CCU 资源不足返回 HCCL_E_UNAVAIL 并协商回退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560CE03-7104-441E-9D87-0DA89E384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81675"/>
            <a:ext cx="8448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输出：ChannelHandle、Remote CCL Buffer、Engine 对应的设备侧资源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47CF30A-DFBA-4858-9334-398813B5A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00150"/>
            <a:ext cx="2647950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F111B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10129D1-6E10-45BA-93B8-9F127344A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2763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111B"/>
          </a:solidFill>
          <a:ln xmlns:a="http://schemas.openxmlformats.org/drawingml/2006/main" w="0">
            <a:solidFill>
              <a:srgbClr val="9F111B"/>
            </a:solidFill>
          </a:ln>
        </p:spPr>
        <p:txBody>
          <a:bodyPr xmlns:a="http://schemas.openxmlformats.org/drawingml/2006/main" anchor="ctr">
            <a:normAutofit fontScale="52059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34B16CE-8E40-4CAD-A2DB-3A2490609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276350"/>
            <a:ext cx="20764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976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9F111B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9F111B"/>
                </a:solidFill>
                <a:latin typeface="PingFang SC"/>
                <a:ea typeface="PingFang SC"/>
                <a:cs typeface="PingFang SC"/>
              </a:rPr>
              <a:t>HCCL 准备与转换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47846D4-ABE1-454B-BCD7-82DD2E2D6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533525"/>
            <a:ext cx="20764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01 至 10 检查资源参数，组织交换信息，并把 HcclChannelDesc 转换为 HCOMM Channel 描述符。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64A0E25-E2AE-4DA7-BDFE-E7BA02B42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409825"/>
            <a:ext cx="2647950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3E93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9A15450-FCCA-47C5-9021-6345D37A5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4860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3E93"/>
          </a:solidFill>
          <a:ln xmlns:a="http://schemas.openxmlformats.org/drawingml/2006/main" w="0">
            <a:solidFill>
              <a:srgbClr val="233E93"/>
            </a:solidFill>
          </a:ln>
        </p:spPr>
        <p:txBody>
          <a:bodyPr xmlns:a="http://schemas.openxmlformats.org/drawingml/2006/main" anchor="ctr">
            <a:normAutofit fontScale="35572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1EC2F93-18AE-4249-A5C3-E7B162295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486025"/>
            <a:ext cx="20764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976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233E93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233E93"/>
                </a:solidFill>
                <a:latin typeface="PingFang SC"/>
                <a:ea typeface="PingFang SC"/>
                <a:cs typeface="PingFang SC"/>
              </a:rPr>
              <a:t>HCOMM 对象创建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2D143B4-5613-4553-A3CC-96BF4E41A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743200"/>
            <a:ext cx="20764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11 至 24 创建 Socket，获取 EndpointMgr 和 RankPair，复用或创建 EndpointPair，再构造具体 Channel。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42C9E9F-7D55-4954-AB91-448887CE2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848100"/>
            <a:ext cx="26479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F111B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F5E028E-5C73-46AB-B333-2A0A0C757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9243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111B"/>
          </a:solidFill>
          <a:ln xmlns:a="http://schemas.openxmlformats.org/drawingml/2006/main" w="0">
            <a:solidFill>
              <a:srgbClr val="9F111B"/>
            </a:solidFill>
          </a:ln>
        </p:spPr>
        <p:txBody>
          <a:bodyPr xmlns:a="http://schemas.openxmlformats.org/drawingml/2006/main" anchor="ctr">
            <a:normAutofit fontScale="35572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F564023-2F87-4AC2-BACA-638A79108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924300"/>
            <a:ext cx="20764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976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9F111B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9F111B"/>
                </a:solidFill>
                <a:latin typeface="PingFang SC"/>
                <a:ea typeface="PingFang SC"/>
                <a:cs typeface="PingFang SC"/>
              </a:rPr>
              <a:t>连接与一致性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07BE2C2-E02F-44A7-8980-08901DC5C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181475"/>
            <a:ext cx="20764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25 至 32 发起连接并轮询状态。部分设备交换并校验一致性，再按 Engine 回填句柄和通信缓冲区。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2AAB53A-3EFC-4832-8376-090A0E2AA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276850"/>
            <a:ext cx="2647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建链结论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33BEC89-8891-4F86-8121-D2E5A5618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534025"/>
            <a:ext cx="1028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F111B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E128A43-F3B7-4271-995B-9DF9E5B4F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600700"/>
            <a:ext cx="26479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9247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HcclChannelAcquire 不是单一建连动作。它把 HCCL 的资源请求转换成 HCOMM 的 Socket、EndpointPair 和 Channel，并返回执行引擎可直接使用的资源。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2F854B5-C117-47CF-85BE-B582C808D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6553200"/>
            <a:ext cx="11477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3D4144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5C6BB14-778C-4446-A774-CBE51721A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81775"/>
            <a:ext cx="10572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5041"/>
          </a:bodyPr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5E6368"/>
                </a:solidFill>
                <a:latin typeface="PingFang SC"/>
                <a:ea typeface="PingFang SC"/>
                <a:cs typeface="PingFang SC"/>
              </a:defRPr>
            </a:pPr>
            <a:r>
              <a:rPr sz="615" b="0">
                <a:solidFill>
                  <a:srgbClr val="5E6368"/>
                </a:solidFill>
                <a:latin typeface="PingFang SC"/>
                <a:ea typeface="PingFang SC"/>
                <a:cs typeface="PingFang SC"/>
              </a:rPr>
              <a:t>源码：coll_comm_res_c_adpt.cc:755-858；my_rank.cc:567-1300；endpoint_pair.cc:199-226；channel_process.cc:89-133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2D44886-99A2-45D7-B2EE-3A90B0D50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81775"/>
            <a:ext cx="1314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5041"/>
          </a:bodyPr>
          <a:lstStyle xmlns:a="http://schemas.openxmlformats.org/drawingml/2006/main"/>
          <a:p xmlns:a="http://schemas.openxmlformats.org/drawingml/2006/main">
            <a:pPr algn="r">
              <a:defRPr sz="615" b="0">
                <a:solidFill>
                  <a:srgbClr val="5E6368"/>
                </a:solidFill>
                <a:latin typeface="PingFang SC"/>
                <a:ea typeface="PingFang SC"/>
                <a:cs typeface="PingFang SC"/>
              </a:defRPr>
            </a:pPr>
            <a:r>
              <a:rPr sz="615" b="0">
                <a:solidFill>
                  <a:srgbClr val="5E6368"/>
                </a:solidFill>
                <a:latin typeface="PingFang SC"/>
                <a:ea typeface="PingFang SC"/>
                <a:cs typeface="PingFang SC"/>
              </a:rPr>
              <a:t>HCCL / HCOMM 源码分析</a:t>
            </a:r>
          </a:p>
        </p:txBody>
      </p:sp>
    </p:spTree>
    <p:extLst>
      <p:ext uri="{BB962C8B-B14F-4D97-AF65-F5344CB8AC3E}">
        <p14:creationId xmlns:p14="http://schemas.microsoft.com/office/powerpoint/2010/main" val="109038986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A0D78408-42F0-45E6-8858-4B41365EB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3825"/>
            <a:ext cx="11477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9F111B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9F111B"/>
                </a:solidFill>
                <a:latin typeface="PingFang SC"/>
                <a:ea typeface="PingFang SC"/>
                <a:cs typeface="PingFang SC"/>
              </a:rPr>
              <a:t>三种 Engine 共用 RankGraph、Channel 与通信内存，差异集中在展开位置和发射 API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A20CB3-B238-444D-8BF3-D6A7E8559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42925"/>
            <a:ext cx="11477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859"/>
          </a:bodyPr>
          <a:lstStyle xmlns:a="http://schemas.openxmlformats.org/drawingml/2006/main"/>
          <a:p xmlns:a="http://schemas.openxmlformats.org/drawingml/2006/main">
            <a:pPr algn="ctr">
              <a:defRPr sz="138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138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AICPU_TS、AIV 与 CCU 执行链路对照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01A49D-3B4B-4F81-84C7-264B7D59C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542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E6368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E6368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BD1FB5-0E37-41E2-B380-E82131767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81100"/>
            <a:ext cx="914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共用准备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44A980-6CE8-460D-932D-F971EE5A2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181100"/>
            <a:ext cx="17240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RankGraph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DC3B09-7C1B-40C3-8578-8A7D6DE59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181100"/>
            <a:ext cx="17240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EngineCtx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5B6297-0563-4856-A830-F76AFDFD2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181100"/>
            <a:ext cx="17240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Thread / Channel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6D159D-0553-43E3-B08C-059B64C44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181100"/>
            <a:ext cx="17240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通信内存与 Notify</a:t>
            </a:r>
          </a:p>
        </p:txBody>
      </p:sp>
      <p:cxnSp>
        <p:nvCxnSpPr>
          <p:cNvPr id="91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152775" y="1323975"/>
            <a:ext cx="123825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D4144"/>
            </a:solidFill>
            <a:prstDash val="solid"/>
            <a:tailEnd type="triangle" w="sm" len="sm"/>
          </a:ln>
        </p:spPr>
      </p:cxnSp>
      <p:cxnSp>
        <p:nvCxnSpPr>
          <p:cNvPr id="92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000625" y="1323975"/>
            <a:ext cx="123825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D4144"/>
            </a:solidFill>
            <a:prstDash val="solid"/>
            <a:tailEnd type="triangle" w="sm" len="sm"/>
          </a:ln>
        </p:spPr>
      </p:cxnSp>
      <p:cxnSp>
        <p:nvCxnSpPr>
          <p:cNvPr id="93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6848475" y="1323975"/>
            <a:ext cx="123825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D4144"/>
            </a:solidFill>
            <a:prstDash val="solid"/>
            <a:tail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D55CFA-AAF7-47E5-A397-249C6F114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57375"/>
            <a:ext cx="26955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111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6B4DB4-0D83-4DBD-8C82-4D345D19D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38300"/>
            <a:ext cx="25812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232"/>
          </a:bodyPr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AICPU_TS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E16302-D0DC-411A-AAAB-3F6A50A48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33575"/>
            <a:ext cx="25812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10" b="0">
                <a:solidFill>
                  <a:srgbClr val="5E6368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5E6368"/>
                </a:solidFill>
                <a:latin typeface="PingFang SC"/>
                <a:ea typeface="PingFang SC"/>
                <a:cs typeface="PingFang SC"/>
              </a:rPr>
              <a:t>AICPU Kernel 内逐原语展开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DE0F4B-0235-45DD-B8C9-CA92F0012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57425"/>
            <a:ext cx="25431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资源准备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B9620D-39CE-41E5-95BA-329A147FB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71750"/>
            <a:ext cx="2543175" cy="261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01  HcclThreadAcquire()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8C4ACA-D9D8-416A-979A-0AE286406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71788"/>
            <a:ext cx="2543175" cy="261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02  AicpuKernelLaunch()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089E82-D2AA-4FAE-8502-692933CF1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171825"/>
            <a:ext cx="2543175" cy="261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03  HcclThreadResGetInfo()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A3CFF6-3EDA-41F6-ADD9-742E77002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71863"/>
            <a:ext cx="2543175" cy="261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04  aclrtLaunchKernelWithConfig()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006254-A451-4823-B741-A598338D5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57625"/>
            <a:ext cx="25431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执行 / 发射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65EA63-F88E-4100-9A5D-EC7CF157F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71950"/>
            <a:ext cx="2543175" cy="1578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59851"/>
          </a:bodyPr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05  HcommLocalCopy / ReduceOnThread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56474E-4C2E-4A2B-887D-D0A51B699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358368"/>
            <a:ext cx="2543175" cy="1578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59851"/>
          </a:bodyPr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06  HcommRead / WriteOnThread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518406-D4B1-406B-818B-0CBD5CB51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44786"/>
            <a:ext cx="2543175" cy="1578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59851"/>
          </a:bodyPr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07  HcommReadReduce / WriteReduceOnThread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E21C02-AB5B-40D0-94E8-BCE0F189C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31204"/>
            <a:ext cx="2543175" cy="1578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59851"/>
          </a:bodyPr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08  HcommBatchTransferOnThread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3E5C9A-600D-482E-8FAC-CADF5F16E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917621"/>
            <a:ext cx="2543175" cy="1578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59851"/>
          </a:bodyPr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09  HcommThreadNotifyRecord / WaitOnThread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A9E36D-55C7-4BAA-AF69-3D1D68EA5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04039"/>
            <a:ext cx="2543175" cy="1578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59851"/>
          </a:bodyPr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10  HcommChannelNotifyRecordOnThread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14A165-EA8C-4D67-B572-5694D42CB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290457"/>
            <a:ext cx="2543175" cy="1578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67553"/>
          </a:bodyPr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11  HcommFence / ChannelFence / DrainOnThread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4DC1562-D26A-40D8-807B-68CB330F9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43550"/>
            <a:ext cx="25431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969"/>
          </a:solidFill>
          <a:ln xmlns:a="http://schemas.openxmlformats.org/drawingml/2006/main" w="13335">
            <a:solidFill>
              <a:srgbClr val="9F111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最终：Hcomm*OnThread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AAC7C8E-E06A-429F-A188-EFB28C71F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57375"/>
            <a:ext cx="26955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33E9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F5DB09F-309B-4574-A2F7-FC26505D9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38300"/>
            <a:ext cx="25812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232"/>
          </a:bodyPr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AIV / AIV_ONLY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DB00347-FCC4-48B1-840B-2ADD5701A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33575"/>
            <a:ext cx="25812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10" b="0">
                <a:solidFill>
                  <a:srgbClr val="5E6368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5E6368"/>
                </a:solidFill>
                <a:latin typeface="PingFang SC"/>
                <a:ea typeface="PingFang SC"/>
                <a:cs typeface="PingFang SC"/>
              </a:rPr>
              <a:t>Host 准备资源，Vector Kernel 展开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1A09A65-8AA7-4055-978C-D5723FB3D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257425"/>
            <a:ext cx="25431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资源准备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E8F6FA7-E2D2-4C97-A2C1-774DBC71A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571750"/>
            <a:ext cx="2543175" cy="2204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01  GetAlgResAiv()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ED4A6A5-E812-4890-8CD6-0D4F49478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830286"/>
            <a:ext cx="2543175" cy="2204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02  HcclEngineCtxGet / Create()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4D68584-3694-4F1D-95F4-F29BFF9BD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088821"/>
            <a:ext cx="2543175" cy="2204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03  HcclAllocAlgResourceAiv()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ECEE11E-9B80-4E48-85D2-AE5C21D7B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347357"/>
            <a:ext cx="2543175" cy="2204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04  HcclCommRegCommStateCallback()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9FC4FC0-0588-4E5E-889D-7DA8A2CAE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605893"/>
            <a:ext cx="2543175" cy="2204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05  HcclCommMemReg() / GetHcclBuffer()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300D1DE-C0F2-472A-9B31-8B5A4BC56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864429"/>
            <a:ext cx="2543175" cy="2204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06  HcclChannelAcquire(AIV)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140FA6D-2BDC-47CC-9C6E-4414B79CA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122964"/>
            <a:ext cx="2543175" cy="2204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07  ConvertAivChannelHandlesToDevicePtrs()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61ECB42-D39C-4E7C-953A-39F86DBF1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467225"/>
            <a:ext cx="25431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执行 / 发射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4DCB8B4-BBC9-402A-B242-31AA6AB59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781550"/>
            <a:ext cx="2543175" cy="1452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48506"/>
          </a:bodyPr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08  HcclAivKernelEntranceLaunch()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3CA148D-1C79-49E4-93E3-D0B9915CF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955381"/>
            <a:ext cx="2543175" cy="1452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48506"/>
          </a:bodyPr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09  GetAivParamStorageByComm()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B5D7906-68AF-45AE-AE95-1097ED66C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129213"/>
            <a:ext cx="2543175" cy="1452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48506"/>
          </a:bodyPr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10  ExecuteKernelLaunch()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3F35DEB-71F9-471B-A7B2-5F74F80AF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303044"/>
            <a:ext cx="2543175" cy="1452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48506"/>
          </a:bodyPr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11  ExecuteKernelLaunchInner()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C5FABC5-B7AE-42BC-85A2-F6CCF2979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543550"/>
            <a:ext cx="25431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969"/>
          </a:solidFill>
          <a:ln xmlns:a="http://schemas.openxmlformats.org/drawingml/2006/main" w="13335">
            <a:solidFill>
              <a:srgbClr val="233E93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最终：aclrtLaunchKernelWithHostArgs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C0A8DF9-7834-4DB2-8D3E-2CADC92CF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857375"/>
            <a:ext cx="26955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33E93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0C7F5CE-29EB-4330-89DE-1B2135169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638300"/>
            <a:ext cx="25812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232"/>
          </a:bodyPr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CCU_MS / CCU_SCHED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E8A1D74-C182-4375-92A8-B36DF67DF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933575"/>
            <a:ext cx="25812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10" b="0">
                <a:solidFill>
                  <a:srgbClr val="5E6368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5E6368"/>
                </a:solidFill>
                <a:latin typeface="PingFang SC"/>
                <a:ea typeface="PingFang SC"/>
                <a:cs typeface="PingFang SC"/>
              </a:rPr>
              <a:t>申请 CCU 实例，注册并提交 Mission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F77B308-9D60-44B3-8B83-53C2FE4D8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257425"/>
            <a:ext cx="25431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资源准备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A13F669-7DF8-4F2F-B269-D1C4D171A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71750"/>
            <a:ext cx="2543175" cy="1881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83801"/>
          </a:bodyPr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01  GetAlgResCcu()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19053CA-8BB6-4FD6-8422-CB0BBA3C5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797969"/>
            <a:ext cx="2543175" cy="1881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83801"/>
          </a:bodyPr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02  HcclAllocAlgResourceCcu()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EC55164-08DF-41CA-8F92-50AFF1588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024188"/>
            <a:ext cx="2543175" cy="1881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83801"/>
          </a:bodyPr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03  HcclGetThread / GetChannelForCcu()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9FD7B73-526D-4D7C-AABD-9FAF69121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250406"/>
            <a:ext cx="2543175" cy="1881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83801"/>
          </a:bodyPr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04  HcclChannelQuery / Acquire(CCU)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9CE8559-C195-4F96-9030-03ADF6B02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476625"/>
            <a:ext cx="2543175" cy="1881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83801"/>
          </a:bodyPr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05  HcclGetCcuKernel / Dynamic()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FB7408F-2E87-4216-A287-94011FE98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02844"/>
            <a:ext cx="2543175" cy="1881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83801"/>
          </a:bodyPr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06  HcclCommQueryAssignedCcuIns()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DDFE06F-7317-407A-8135-9419B43ED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929063"/>
            <a:ext cx="2543175" cy="1881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83801"/>
          </a:bodyPr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07  HcommCcuInsResDescCreate / SetNum()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4298092-92A8-48CE-8C00-A328AE9E2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155281"/>
            <a:ext cx="2543175" cy="1881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83801"/>
          </a:bodyPr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08  HcommCcuInsCreate / AssignCcuIns()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DCA92AF-C06A-4051-9B6A-025ACAB23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467225"/>
            <a:ext cx="25431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执行 / 发射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87EC4C7-F154-4740-ACA9-3002F2ACF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781550"/>
            <a:ext cx="2543175" cy="20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09  HcommCcuKernelRegisterStart()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51191EC-3FDD-435E-BF28-C3AAA6E13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013325"/>
            <a:ext cx="2543175" cy="20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10  HcommCcuKernelRegister()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019B4C8-42CB-496B-B19C-A80291072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245100"/>
            <a:ext cx="2543175" cy="20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11  HcommCcuKernelRegisterEnd()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801DC03-3D48-416F-BF4F-154674166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543550"/>
            <a:ext cx="25431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969"/>
          </a:solidFill>
          <a:ln xmlns:a="http://schemas.openxmlformats.org/drawingml/2006/main" w="13335">
            <a:solidFill>
              <a:srgbClr val="233E93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最终：HcommCcuKernelLaunch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D43E2A1-4F26-4BCA-B962-A54DD3509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05525"/>
            <a:ext cx="84486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共同落点：Channel L3、UB、RoCE、HCCS 等 Transport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FE78C05-B1F2-4F60-92B1-F19886220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00150"/>
            <a:ext cx="2647950" cy="1114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F111B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2457D47-3546-48A5-8DFA-7CEF43ED8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2763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111B"/>
          </a:solidFill>
          <a:ln xmlns:a="http://schemas.openxmlformats.org/drawingml/2006/main" w="0">
            <a:solidFill>
              <a:srgbClr val="9F111B"/>
            </a:solidFill>
          </a:ln>
        </p:spPr>
        <p:txBody>
          <a:bodyPr xmlns:a="http://schemas.openxmlformats.org/drawingml/2006/main" anchor="ctr">
            <a:normAutofit fontScale="52059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14CB63A-7C23-40F5-812F-6E2977F46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276350"/>
            <a:ext cx="20764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976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9F111B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9F111B"/>
                </a:solidFill>
                <a:latin typeface="PingFang SC"/>
                <a:ea typeface="PingFang SC"/>
                <a:cs typeface="PingFang SC"/>
              </a:rPr>
              <a:t>共用资源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A12FC26-AE70-4F84-9763-B7CF236E7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533525"/>
            <a:ext cx="20764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三种 Engine 都依赖 RankGraph、EngineCtx、Thread、Channel、通信内存和 Notify。建链结果可以复用。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E39337E-4D58-47ED-AE8C-F4EAAB422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457450"/>
            <a:ext cx="26479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3E93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202090A-A968-47FE-953E-C82F5AE72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5336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3E93"/>
          </a:solidFill>
          <a:ln xmlns:a="http://schemas.openxmlformats.org/drawingml/2006/main" w="0">
            <a:solidFill>
              <a:srgbClr val="233E93"/>
            </a:solidFill>
          </a:ln>
        </p:spPr>
        <p:txBody>
          <a:bodyPr xmlns:a="http://schemas.openxmlformats.org/drawingml/2006/main" anchor="ctr">
            <a:normAutofit fontScale="35572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3D8CA77-C8BA-4AAB-A877-E302482F7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533650"/>
            <a:ext cx="20764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976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233E93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233E93"/>
                </a:solidFill>
                <a:latin typeface="PingFang SC"/>
                <a:ea typeface="PingFang SC"/>
                <a:cs typeface="PingFang SC"/>
              </a:rPr>
              <a:t>展开位置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F58842D-F383-477C-BD32-DEB5EE280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790825"/>
            <a:ext cx="20764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AICPU 在 AICPU Kernel 内逐步调用 HCOMM 原语。AIV 在 Vector Kernel 内展开。CCU 在 CCU 实例中执行已注册 Kernel。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693121B-A47C-4822-B74D-03052D461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933825"/>
            <a:ext cx="2647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F111B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D2A684F-FA5A-4AAA-B6B8-944362FF8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0100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111B"/>
          </a:solidFill>
          <a:ln xmlns:a="http://schemas.openxmlformats.org/drawingml/2006/main" w="0">
            <a:solidFill>
              <a:srgbClr val="9F111B"/>
            </a:solidFill>
          </a:ln>
        </p:spPr>
        <p:txBody>
          <a:bodyPr xmlns:a="http://schemas.openxmlformats.org/drawingml/2006/main" anchor="ctr">
            <a:normAutofit fontScale="35572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930698E-A61D-408D-B3A6-969626AF6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010025"/>
            <a:ext cx="20764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976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9F111B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9F111B"/>
                </a:solidFill>
                <a:latin typeface="PingFang SC"/>
                <a:ea typeface="PingFang SC"/>
                <a:cs typeface="PingFang SC"/>
              </a:rPr>
              <a:t>资源与回退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F5A89EBD-BCDF-4336-AAD2-6F9B51640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267200"/>
            <a:ext cx="20764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AIV 需要把 Channel 句柄转换为设备指针。CCU 需要实例、Kernel 注册和 Mission 提交。CCU 资源不足时跨 Rank 协商回退。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CD90BEB5-82D6-42A6-A6E6-68F4698E6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467350"/>
            <a:ext cx="2647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算子间复用规律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C93703F1-9247-4792-9E37-FDC405DF9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724525"/>
            <a:ext cx="1028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F111B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C86027C6-F7B0-4EA6-BC7A-D4E0FA1F6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791200"/>
            <a:ext cx="26479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251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不同算子可复用 RankGraph、建链和基础 HCOMM 原语。算法展开方式不同，会改变资源准备步骤及最终发射 API。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ED28A660-970F-43D2-BBE1-6C8C90729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2763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111B"/>
          </a:solidFill>
          <a:ln xmlns:a="http://schemas.openxmlformats.org/drawingml/2006/main" w="0">
            <a:solidFill>
              <a:srgbClr val="9F111B"/>
            </a:solidFill>
          </a:ln>
        </p:spPr>
        <p:txBody>
          <a:bodyPr xmlns:a="http://schemas.openxmlformats.org/drawingml/2006/main" anchor="ctr">
            <a:normAutofit fontScale="52059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C1FFF19C-1CF0-4B39-856D-EB49BF419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6553200"/>
            <a:ext cx="11477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3D4144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55C0AD13-331B-46C6-B553-8162A5B6F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81775"/>
            <a:ext cx="10572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5041"/>
          </a:bodyPr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5E6368"/>
                </a:solidFill>
                <a:latin typeface="PingFang SC"/>
                <a:ea typeface="PingFang SC"/>
                <a:cs typeface="PingFang SC"/>
              </a:defRPr>
            </a:pPr>
            <a:r>
              <a:rPr sz="615" b="0">
                <a:solidFill>
                  <a:srgbClr val="5E6368"/>
                </a:solidFill>
                <a:latin typeface="PingFang SC"/>
                <a:ea typeface="PingFang SC"/>
                <a:cs typeface="PingFang SC"/>
              </a:rPr>
              <a:t>源码：aicpu_ts_primitives_c_adpt.cc；op_common.cc:1216-1247,2200-2990；hccl_aiv_utils.cc:1068-1223；ccu_launch.cc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9991DBAF-A444-4F40-8676-B18C988F5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81775"/>
            <a:ext cx="1314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5041"/>
          </a:bodyPr>
          <a:lstStyle xmlns:a="http://schemas.openxmlformats.org/drawingml/2006/main"/>
          <a:p xmlns:a="http://schemas.openxmlformats.org/drawingml/2006/main">
            <a:pPr algn="r">
              <a:defRPr sz="615" b="0">
                <a:solidFill>
                  <a:srgbClr val="5E6368"/>
                </a:solidFill>
                <a:latin typeface="PingFang SC"/>
                <a:ea typeface="PingFang SC"/>
                <a:cs typeface="PingFang SC"/>
              </a:defRPr>
            </a:pPr>
            <a:r>
              <a:rPr sz="615" b="0">
                <a:solidFill>
                  <a:srgbClr val="5E6368"/>
                </a:solidFill>
                <a:latin typeface="PingFang SC"/>
                <a:ea typeface="PingFang SC"/>
                <a:cs typeface="PingFang SC"/>
              </a:rPr>
              <a:t>HCCL / HCOMM 源码分析</a:t>
            </a:r>
          </a:p>
        </p:txBody>
      </p:sp>
    </p:spTree>
    <p:extLst>
      <p:ext uri="{BB962C8B-B14F-4D97-AF65-F5344CB8AC3E}">
        <p14:creationId xmlns:p14="http://schemas.microsoft.com/office/powerpoint/2010/main" val="3653940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2026-09-14T14:04:53.4580000Z</dcterms:created>
  <dcterms:modified xsi:type="dcterms:W3CDTF">2026-09-14T14:04:53.4580000Z</dcterms:modified>
</coreProperties>
</file>