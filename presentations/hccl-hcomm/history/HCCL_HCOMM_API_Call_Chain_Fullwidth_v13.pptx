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a299d9aa534290" /><Relationship Type="http://schemas.openxmlformats.org/officeDocument/2006/relationships/extended-properties" Target="/docProps/app.xml" Id="Ra995a8484c454bb3" /><Relationship Type="http://schemas.openxmlformats.org/officeDocument/2006/relationships/officeDocument" Target="/ppt/presentation.xml" Id="Rf8847d64f34e44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211925825e47b4"/>
  </p:sldMasterIdLst>
  <p:notesMasterIdLst>
    <p:notesMasterId xmlns:r="http://schemas.openxmlformats.org/officeDocument/2006/relationships" r:id="Rfa7a489c31c34cb7"/>
  </p:notesMasterIdLst>
  <p:sldIdLst>
    <p:sldId xmlns:r="http://schemas.openxmlformats.org/officeDocument/2006/relationships" id="256" r:id="Rcafc7d411b244281"/>
    <p:sldId xmlns:r="http://schemas.openxmlformats.org/officeDocument/2006/relationships" id="257" r:id="R99a6c4b88806420e"/>
    <p:sldId xmlns:r="http://schemas.openxmlformats.org/officeDocument/2006/relationships" id="258" r:id="Rfc682dcae5194bc3"/>
    <p:sldId xmlns:r="http://schemas.openxmlformats.org/officeDocument/2006/relationships" id="259" r:id="R8ce1586d944940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02fd574c3e4a66" /><Relationship Type="http://schemas.openxmlformats.org/officeDocument/2006/relationships/slideMaster" Target="/ppt/slideMasters/slideMaster1.xml" Id="Rfc211925825e47b4" /><Relationship Type="http://schemas.openxmlformats.org/officeDocument/2006/relationships/notesMaster" Target="/ppt/notesMasters/notesMaster1.xml" Id="Rfa7a489c31c34cb7" /><Relationship Type="http://schemas.openxmlformats.org/officeDocument/2006/relationships/presProps" Target="/ppt/presProps.xml" Id="R1196aae1778d49d9" /><Relationship Type="http://schemas.openxmlformats.org/officeDocument/2006/relationships/tableStyles" Target="/ppt/tableStyles.xml" Id="Rf4133bb8070d4584" /><Relationship Type="http://schemas.openxmlformats.org/officeDocument/2006/relationships/slide" Target="/ppt/slides/slide1.xml" Id="Rcafc7d411b244281" /><Relationship Type="http://schemas.openxmlformats.org/officeDocument/2006/relationships/slide" Target="/ppt/slides/slide2.xml" Id="R99a6c4b88806420e" /><Relationship Type="http://schemas.openxmlformats.org/officeDocument/2006/relationships/slide" Target="/ppt/slides/slide3.xml" Id="Rfc682dcae5194bc3" /><Relationship Type="http://schemas.openxmlformats.org/officeDocument/2006/relationships/slide" Target="/ppt/slides/slide4.xml" Id="R8ce1586d944940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40b7aebd06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9d9e67cbb47b0" /><Relationship Type="http://schemas.openxmlformats.org/officeDocument/2006/relationships/notesMaster" Target="/ppt/notesMasters/notesMaster1.xml" Id="Re607205ee53d45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7d448b98044206" /><Relationship Type="http://schemas.openxmlformats.org/officeDocument/2006/relationships/notesMaster" Target="/ppt/notesMasters/notesMaster1.xml" Id="R62214a72425b47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e6188861fe4425" /><Relationship Type="http://schemas.openxmlformats.org/officeDocument/2006/relationships/notesMaster" Target="/ppt/notesMasters/notesMaster1.xml" Id="R8082655bc62e40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ef5b5281cc4c32" /><Relationship Type="http://schemas.openxmlformats.org/officeDocument/2006/relationships/notesMaster" Target="/ppt/notesMasters/notesMaster1.xml" Id="Ref7f7c5317d247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本页从上到下阅读。第一泳道是 HCCL 入口、模式和算法选择。第二泳道是 HCOMM 建链。第三泳道按 CommEngine 进入 AICPU、AIV 或 CCU。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关键关系：GetAlgResource 计算并申请算法资源。如果资源请求包含通信连接，HCCL 调用 HcclChannelAcquire。HcclChannelAcquire 把 HCCL 描述符转换为 HCOMM 描述符，创建 Socket、EndpointPair 和 Channel。HCOMM 返回 ChannelHandle、Remote CCL Buffer 和 Engine 需要的设备侧资源。执行框架随后按 CommEngine 选择一个分支。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HcclAllReduce：集合规约公开入口。AllReduceInitAndCheck：校验参数和通信域。FillAllReduceOpParam：生成统一 OpParam。HcclGetOpExpansionMode：读取展开模式。Selector：选择 algName、CommEngine、algTag。HcclExecOp：进入统一执行。GetAlgResource：申请线程、Channel、内存和同步资源。HcclChannelAcquire：HCCL 建链入口。ChannelDescHccl2Hcomm：把 HCCL Channel 描述符转换为 HCOMM 描述符。BatchCreateSockets：创建对端 Socket。GetEndpointPair：获取或复用 Rank 间 EndpointPair。HcommCollectiveChannelCreate：创建集合通信 Channel。Channel L3：承接原语并落到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 RankGraph、Channel、EndpointPair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四个阶段严格串行。阶段 1 把公开 API 参数变成 OpParam。阶段 2 决定 AICPU、AIV 或 CCU 展开模式。阶段 3 读取通信域状态、EngineCtx 与 RankGraph。阶段 4 选择算法并计算资源需求。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SelectorEngine 与 ExecuteSelector 是两个可选入口，不是先后调用。Selector 综合设备类型、Rank 数、数据量、datatype、reduceType、内存布局和 CCU 资源，输出 algName、CommEngine、algTag。CalcResRequest 计算 Thread、Channel、内存和 Notify。GetAlgResource 申请或复用资源。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RankGraph API：GetLayers 获取拓扑层级。GetTopoInstsByLayer 获取层内拓扑实例。GetTopoType 获取拓扑类型。GetRanksByTopoInst 获取实例内 Rank 分组。GetEndpointNum/Desc 获取端点数量和描述。GetLinks/GetEndpointInfo 获取链路与端点详情。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源码：hccl/src/ops/all_reduce/all_reduce.cc；hccl/src/ops/op_common/op_common.cc；hcomm/.../coll_comm_rank_graph_a_adpt.cc。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阅读顺序：每列自上而下，完成后进入右侧下一列。黄色步骤是跨层转换、核心 HCOMM 创建点、一致性检查和资源回填点。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至 08：HCCL 检查资源参数、组织交换信息、准备 V2 申请和对称内存句柄。09 至 16：把 HCCL 描述符转换为 HCOMM 描述符，配置 SQ，创建 Socket 并取得 EndpointMgr。17 至 24：启动监听，准备内存句柄，获取 RankPair 和 EndpointPair，创建集合通信 Channel。25 至 32：创建底层 Channel，批量连接，查询状态，校验一致性，按 Engine 回填资源。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完整函数释义已经标在每个步骤中。关键边界：03 是 HCCL 建链入口。10 完成 HCCL 到 HCOMM 的描述符转换。17 启动 HCOMM Endpoint。22 创建集合通信 Channel。28 校验跨 Rank 一致性。30 把 AIV 句柄转换为设备指针。32 返回 ChannelHandle 和 Remote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源码：coll_comm_res_c_adpt.cc:755-858；my_rank.cc:567-1300；endpoint_pair.cc:199-226；channel_process.cc:89-133。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顶部资源由三种 Engine 共用。CommEngine 只选择一条路径，不会依次执行三列。底部三条路径最终汇入 Channel L3 和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AICPU_TS：HcclThreadAcquire 申请执行线程。AicpuKernelLaunch 发射 AICPU Kernel。HcclThreadResGetInfo 查询线程资源。aclrtLaunchKernelWithConfig 启动 Kernel。随后 AICPU Kernel 逐步调用 HcommLocalCopy、LocalReduce、Read、Write、ReadReduce、WriteReduce、BatchTransfer、Notify、Fence、Drain 等 OnThread 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AIV：GetAlgResAiv 汇总资源。HcclAllocAlgResourceAiv 分配资源。HcclCommMemReg 注册设备可访问内存。HcclChannelAcquire(AIV) 申请通道。ConvertAivChannelHandlesToDevicePtrs 把句柄转成设备指针。HcclAivKernelEntranceLaunch 进入 AIV 发射，最终调用 aclrtLaunchKernelWithHostArgs。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CCU：GetAlgResCcu 汇总资源。HcclAllocAlgResourceCcu 分配资源。HcclChannelQuery/Acquire 获取通道。HcclGetCcuKernel 获取静态或动态 Kernel。HcommCcuInsCreate 和 HcclCommAssignCcuIns 创建并绑定实例。HcommCcuKernelRegisterStart/Register/End 完成注册。HcommCcuKernelLaunch 提交 Mission。资源不足时各 Rank 协商后回退。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源码：aicpu_ts_primitives_c_adpt.cc；op_common.cc:1216-1247,2200-2990；hccl_aiv_utils.cc:1068-1223；ccu_launch.cc。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fe1fe5e4d41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2bff435699431b" /><Relationship Type="http://schemas.openxmlformats.org/officeDocument/2006/relationships/slideLayout" Target="/ppt/slideLayouts/slideLayout1.xml" Id="R494bf5a3cdc546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4bf5a3cdc546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2466cd0844209" /><Relationship Type="http://schemas.openxmlformats.org/officeDocument/2006/relationships/notesSlide" Target="/ppt/notesSlides/notesSlide1.xml" Id="Rf14efc348b9d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56c0190ba4b50" /><Relationship Type="http://schemas.openxmlformats.org/officeDocument/2006/relationships/notesSlide" Target="/ppt/notesSlides/notesSlide2.xml" Id="R58e193ea26fa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2397ff8364753" /><Relationship Type="http://schemas.openxmlformats.org/officeDocument/2006/relationships/notesSlide" Target="/ppt/notesSlides/notesSlide3.xml" Id="Rcdc7da88654b49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d52ff42964d44" /><Relationship Type="http://schemas.openxmlformats.org/officeDocument/2006/relationships/notesSlide" Target="/ppt/notesSlides/notesSlide4.xml" Id="R502d21fa5b4d40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B7560B-4E8F-4CF1-A4A6-BDD62A60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一次集合算子调用由 HCCL 选择算法，经 HCOMM 建链后进入指定执行引擎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89083-3511-482F-B888-E92A51F0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新流程的跨层调用与资源返回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A9491-66E5-4B8C-B17E-E11CCA5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DC7BF-D865-4FEB-8E0C-9F778CB6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1000B-312F-43FC-AA9E-D2CEAF54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算子入口与算法选择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6DD2B-E01D-46E7-BFBF-FF8283C5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集合规约入口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04681-59D8-4093-9FCB-557FDDFB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校验参数与通信域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3CE44-56A3-46D2-96F1-1A72AEFD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组装统一 OpParam</a:t>
            </a:r>
          </a:p>
        </p:txBody>
      </p:sp>
      <p:cxnSp>
        <p:nvCxnSpPr>
          <p:cNvPr id="6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623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DC4FB-91ED-4550-BCCB-9993527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读取展开模式</a:t>
            </a:r>
          </a:p>
        </p:txBody>
      </p: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E0A66-6A72-42EB-8A7E-C5C1196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选择算法与 Engine</a:t>
            </a:r>
          </a:p>
        </p:txBody>
      </p: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246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EF0D4-0E3A-4740-A470-7F45DB1B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进入统一执行框架</a:t>
            </a:r>
          </a:p>
        </p:txBody>
      </p: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058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02084-FB10-4405-B0B7-0C3C06D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申请算法资源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869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08E48-3B04-4E80-BEC0-651B2AA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01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73E19-2B5B-4AE0-A275-7DF7FEF3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选择输出：algName、CommEngine、algTag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05562-5BA4-4551-A11A-24FD40D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11353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9B4A0-5E2F-4A77-918D-43F33D3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建链与通信资源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415E6-DA4E-4F51-847B-F5581D24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建链入口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E97BD-B552-4407-ADA1-86670F8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描述符跨层转换</a:t>
            </a:r>
          </a:p>
        </p:txBody>
      </p: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27647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ACEDC-BA77-42C3-8344-71F0D524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cxnSp>
        <p:nvCxnSpPr>
          <p:cNvPr id="78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171950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2786C-97A8-4CCD-B384-6D23170A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GetEndpointPair()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获取或复用端点对</a:t>
            </a:r>
          </a:p>
        </p:txBody>
      </p:sp>
      <p:cxnSp>
        <p:nvCxnSpPr>
          <p:cNvPr id="80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06742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8FFD7-5839-48D0-8B7F-FF54C6CD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ctr">
              <a:def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cxnSp>
        <p:nvCxnSpPr>
          <p:cNvPr id="82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962900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ADCEE-C4E9-4A42-9AC9-22379CC2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统一传输通道</a:t>
            </a:r>
          </a:p>
        </p:txBody>
      </p:sp>
      <p:cxnSp>
        <p:nvCxnSpPr>
          <p:cNvPr id="84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85837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F16348-E1D5-49C8-88D7-A267DFA2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05250"/>
            <a:ext cx="6381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8573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 HCCL：ChannelHandle、Remote CCL Buffer、设备侧资源</a:t>
            </a:r>
          </a:p>
        </p:txBody>
      </p:sp>
      <p:cxnSp>
        <p:nvCxnSpPr>
          <p:cNvPr id="86" name=""/>
          <p:cNvCxnSpPr>
            <a:stCxn xmlns:a="http://schemas.openxmlformats.org/drawingml/2006/main" id="32" idx="2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9286875" y="3752850"/>
            <a:ext cx="1604963" cy="2905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4C6D54"/>
            </a:solidFill>
            <a:prstDash val="dash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414463" y="2057400"/>
            <a:ext cx="9339263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ABE765-EFB3-4696-A75C-0FD575F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812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需要通信连接时进入 HCOMM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826379-E8FC-468E-9036-3C11B37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72025"/>
            <a:ext cx="113538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DF3314-A490-496A-B8B5-40440A8A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执行引擎分支：由 CommEngine 三选一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6F795B-CD61-4E10-85F1-8E60302E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619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40444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决定执行路径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97F69E-3B7C-42C1-AF43-63ACC419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006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逐原语执行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DB7A00-5DFD-4479-9CA9-438F2438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00625"/>
            <a:ext cx="2619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发射 Vector Kernel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A4E663-B886-44E2-B2FA-3E7F60B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00625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提交 CCU Mission</a:t>
            </a:r>
          </a:p>
        </p:txBody>
      </p:sp>
      <p:cxnSp>
        <p:nvCxnSpPr>
          <p:cNvPr id="9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171700" y="5367338"/>
            <a:ext cx="8572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40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171700" y="5367338"/>
            <a:ext cx="361950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2171700" y="5367338"/>
            <a:ext cx="666750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4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1362075" y="4181475"/>
            <a:ext cx="47339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4C6D54"/>
            </a:solidFill>
            <a:prstDash val="dash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5A5C01-DE66-4874-BF43-A6D35196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819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主调用：粗实线　条件选择：分支箭头　资源返回：绿色虚线　红色边界：HCCL　蓝色边界：HCOMM / 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0E3091-4029-4868-BEDB-36B0769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C80230-EF9F-4670-935B-C5C3936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C60542-19CD-4EF9-A225-2CB396F5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603685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64ED2F-E7B9-4E62-B72F-D188302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通过四个串行阶段把公开算子参数转换为可执行算法和资源请求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25E0-F2EF-46A2-863E-6FFBA35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的具象调用关系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98336-4637-48BB-AC14-47771238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A4A28-CF8C-4835-9F1D-2ACECE8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7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9D530-4631-41BE-907C-F746F0E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1029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93617-5F53-445B-851E-3D3AD7BC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　参数归一化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30E83-96D7-4FE5-B06A-1035AD21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6207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公开入口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629D6-697C-405B-9EE2-6E500490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620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校验通信域、指针与类型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FC507-05A7-4045-8811-D2DEABF2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620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生成统一 OpParam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0C662-A7EF-4377-8298-4FC8109C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6207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算法无关输入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6262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2487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70938-AA41-47FF-B1B9-FD157F7A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62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C970-A42A-4228-AC3F-8599BE0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1029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577EF-C0DB-4D42-961E-C054163F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2　展开模式决策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65821-837F-4F71-AD2B-47CE2FC5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50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读取支持模式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1B66C-D11F-4997-B677-84F81EA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0507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结合配置与资源做决策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A88D4-1C49-428E-9E31-B34969AB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050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写入执行上下文</a:t>
            </a:r>
          </a:p>
        </p:txBody>
      </p:sp>
      <p:cxnSp>
        <p:nvCxnSpPr>
          <p:cNvPr id="7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381375" y="2695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15125" y="2695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47D48-81DA-4857-B890-B81981F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E3051-51FB-461A-897A-A7902B49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FEB92-478A-4DBD-8D3E-901CA700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cxnSp>
        <p:nvCxnSpPr>
          <p:cNvPr id="83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238625" y="2886075"/>
            <a:ext cx="104775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286375" y="2886075"/>
            <a:ext cx="114300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286375" y="2886075"/>
            <a:ext cx="352425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6FCC3-5E06-4612-9942-EFFE9567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B843C7-55BE-4DDB-B7D1-23E870E2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1029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A1C767-B3B0-4D99-9D9D-9D61807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3　通信域与 RankGraph 查询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74DA8-8C5D-4BFB-AACE-5EECBAB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确认通信域可用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0BCDF-188E-458F-BF4F-F4C895C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 / Create()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获取或创建 EngineCtx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DE6DE-8D6D-4392-AC5B-37D03EFF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拓扑层级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8C91A3-DDC3-436A-97AF-9865DAD1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层内实例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AA956-AF70-4B70-8C90-D8A57D1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拓扑类型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8B3A0B-31EB-42CB-855E-0DD519D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 分组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02B814-FD83-49DE-BDAF-618BDFA7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Desc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端点数量与描述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C1C0B6-F551-43DC-A256-92D1EA5B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链路与端点详情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8DBBFA-4729-41D6-A8DA-46C23C7D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05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A429E8-F3AB-48D5-AF11-226C196E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10299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5C5564-C76F-4157-9D5C-7F19E290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4　算法选择、执行入口与资源请求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684B83-4377-4895-84BF-9767965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算法选择总入口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8048B7-E526-48EB-B456-D97AB2D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选择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5F8C3E-4C69-419F-93FA-93DFAD0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3880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按执行模板选择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13A73F-EEC1-49D9-AC30-F8EE854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743F52-C0E6-4ABF-B095-33D90747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计算资源需求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DC00A6-605B-4957-828E-FA4F9991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9590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申请或复用算法资源</a:t>
            </a:r>
          </a:p>
        </p:txBody>
      </p:sp>
      <p:cxnSp>
        <p:nvCxnSpPr>
          <p:cNvPr id="10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2524125" y="5343525"/>
            <a:ext cx="4762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524125" y="5524500"/>
            <a:ext cx="476250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3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857750" y="5343525"/>
            <a:ext cx="4762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4857750" y="5524500"/>
            <a:ext cx="476250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953250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144000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EDDCEC-635F-4781-AA51-AE85AAC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5245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7EBD54-1695-4E84-A650-F073C8A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85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　资源请求：Thread、Channel、通信内存、Notify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BB7F0C-CDCB-4DE8-B5E6-7883D2B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2DC6D5-B89C-4EAD-A756-63547DF4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577291-6553-439B-BC82-48011C0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564301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A7F0BA1-0EBD-42BD-8ED9-67E975D6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通过 32 个有序步骤完成描述符转换、对象创建、连接确认与资源回填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5410E-D42C-4CD0-B568-5D9FBF85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四阶段连续调用轨道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759D-6EB9-4B12-B684-C41E5DDA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A25BE-ED04-4F4C-AD0B-F984E98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39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45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整体顺序：01 到 08，进入 09 到 16，再进入 17 到 24，最后执行 25 到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484DC-26D2-45FF-BC47-C40BB73A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6C441-D624-4478-8E91-0632D62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7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7127B-6171-452F-8613-8322849D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HcclGetChannelImpl()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37E09-2B34-4CDF-976D-06E0176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380EE-34B6-4104-9BFD-736AC263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2CC7E-6941-447C-AC24-B1614178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AddExchangeInfo()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添加跨 Rank 交换信息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1A75D-3BDE-427B-BFE5-E860964B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67CF-88A0-4D7C-B3D3-0134D229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BFD76-3445-454D-AFAC-AFAC30D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2EE83-08E0-4C7B-8261-CCE8B1B5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2EE88-55E2-43E8-AE7F-70EE0E48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8520A-D310-4D51-B88A-C6FF38BC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CheckChannelResParams()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校验资源参数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52821-81FE-4E22-B07C-5B903D5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4CDD0-4E81-41CD-BE77-C36C5A6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63E34-816A-4CB8-B2A5-2364B1E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ProcessHcclResPackReq()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处理资源打包请求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E4516-1AF8-4D1B-9CBD-C123F48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F8362-6F59-4AD0-9582-1A79E55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CA33D-CE04-4DF1-8B9D-1DA603C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PrepareV2ChannelAcquire()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 V2 通道申请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B8C3E-0F89-4E62-95BC-F1B298B0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9FBD91-146D-4BA8-B66E-9B1724D0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94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E7E83-4BA0-411C-9363-5B288758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PrepareChannelSymMemHandles()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准备对称内存句柄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D519E-BE43-43CF-A332-BEF556A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03C18-DB6E-4DB8-87CD-6493D24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92E8A-02D0-4790-BFCF-2A26EC4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MyRank::CreateChannels()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创建本 Rank 通道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9ECD2-3B05-4D4B-B0A3-AA733826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140" name=""/>
          <p:cNvCxnSpPr>
            <a:stCxn xmlns:a="http://schemas.openxmlformats.org/drawingml/2006/main" id="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23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DDC1D0-A997-4143-82F4-DB49ABC9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D3D7E-F43B-4145-8E96-DD3B685B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CheckChannelParam()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 HCOMM 通道参数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819F0-5535-4FF4-8558-9096BC2A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CDEFF5-948F-423E-AB65-6F84D564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ECED8-AB13-4061-8B16-BC37CA1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描述符跨层转换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A005C6-169A-49C5-8BA4-FA17F19D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E81D65-7BC8-4654-AF9A-0C46385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E9DC82-7FBA-4F93-8C96-335FEBA1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ConfigSqDepthByExpansionMode()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按模式配置 SQ 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CB87F3-ABFF-456D-9A54-34CC1EB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ED4161-6FBF-46BC-B7CD-23866EBE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551D47-A5FB-4A28-A634-747FB576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E0CE47-15B3-4A66-BEF3-B68D0CE2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ABC16E-E20B-49A1-B2CD-422B112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231242-AFB7-4EFC-8B59-0428C92B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BatchServerInitForChannels()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初始化服务端 Socket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8906C8-45A9-4D82-8C64-5F0995B1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DC17A6-E4F6-485D-8363-EA7DED3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91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856295-CA07-401E-B939-47B63BE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BatchGetSocketsForChannels()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 Socket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80EF30-11B4-4CA0-9333-4FCFF59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A2063E-9BF5-4B5F-8D2F-161B29D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67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10516B-14BB-49F2-BC3E-A3E350B8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Channel 对象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F1A5A3-5672-4722-85C7-6DCA108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A53644-30FE-44BA-A16D-DD7FBD9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43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BD22A7-6EBB-48C9-8653-758C3C9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EndpointMgr::Get()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Endpoint 管理器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21FEC5-2753-41A1-97A6-6927E414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165" name=""/>
          <p:cNvCxnSpPr>
            <a:stCxn xmlns:a="http://schemas.openxmlformats.org/drawingml/2006/main" id="2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0579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F7408B-3185-45B6-8C46-3705878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445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802E2E-D2A4-4E19-B6A0-1BF78635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HcommEndpointStartListen()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启动 Endpoint 监听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BFDBA8-164C-4179-940D-9A2BF9B4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488F85-3034-451D-83EB-2BDEFC8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F0D2C3-9212-4128-B5B7-ACC90FE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PrepareMemHandles()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准备内存句柄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6955B5-6136-4739-AA59-FC406E14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A29BC9-92C7-488C-9BE3-44D68828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9F1B60-4C02-4BA3-8EA4-3422586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RankPairMgr::Get()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RankPair 管理器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A36716-2C8A-4F93-B1C7-049BF076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1F53FB-7607-44C6-9A7C-13321491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5FD77F-391E-4BFA-AE89-58C71F53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RankPair::GetEndpointPair()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 EndpointPair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CEC419-A67E-4262-83A9-BD28A42F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F58621-796B-4EEF-A671-6B3696E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057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CA7539-20FA-42CE-A5ED-C61CF23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EndpointPair::CreateChannel()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创建具体 Channel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019332-3B07-4743-A47C-2FBD4D1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4191C0E-FE93-4E5B-A64D-D4EB1D97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6A5335-5FCA-4BD2-913C-4F74718E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B4F5E5-3E45-47F4-9BBB-E5E9D17A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51844A-AFEE-4167-9476-3221E71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3FA443-B332-41A4-A07F-CA5FFBE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NormalizeHcommChannelDescs()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归一化描述符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0C5E28-5D22-49AB-995D-B5E4B8E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8EC869-E5DE-40B9-BCB1-E7F9C03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6EF9C3-A841-41EE-B611-D901AC02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ChannelProcess::CreateChannelsLoop()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循环创建 Channel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2C2D7C-6C55-4D32-A951-66891CA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190" name=""/>
          <p:cNvCxnSpPr>
            <a:stCxn xmlns:a="http://schemas.openxmlformats.org/drawingml/2006/main" id="54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9535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F54A49-F646-4E8B-ADB7-992FC6C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A04F64-2031-48FA-8D3D-66C8ABE8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Channel::CreateChannel()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创建底层 Channel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BACC7A-0EFA-4637-A6E9-A79A1F7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1A726F-7D11-4CE6-8A98-65245F1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9641C8-912D-4A48-B056-319F74E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BatchConnectChannels()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批量发起连接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98F858-25F7-49D1-A067-64CF752B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9153EEC-5406-4F3F-AD94-48FA268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94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D62FAB-7D9D-4765-A1D8-3935E146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ChannelProcess::ChannelGetStatus()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查询连接状态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E53D59-BAEF-400B-B75C-D5B189D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B6F61C7-7F54-42DB-BF4D-EE7356DB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5723F6-A104-4B0B-95D4-392FFA1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BatchExchangeAndCheckConsistency()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交换并校验一致性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A36B89-6292-4267-B0DA-3451002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16DBE3-B1C8-4B94-ABA7-0EB7078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AC8E9F3-066E-4D10-9264-FD7E1CF9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FinalizeChannelsByEngine()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封装资源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C67D051-189B-49A7-8270-BC513F48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FACA408-6C59-429B-8EAF-93A32A8E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C89F2C-F2DF-45EC-A82D-08D7A7C2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ConvertAivChannelHandlesToDevicePtrs()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句柄转设备指针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1F735A2-496E-4E72-9DDD-E932224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828A84-14A2-4C10-93CC-DFF4573D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057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6241D3-41FA-4E93-9AAA-DA5DB33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HcclChannelGetHcclBuffer()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获取通信缓冲区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90C1B4-A668-43A1-B213-88A1944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1ADC4C4-4718-445E-8795-0056BCDC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43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770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840EEF-9C25-4208-AA6E-7DC5A3C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返回句柄和远端缓冲区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7CF15F-DC3C-4C0E-88BD-61D419D1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08 完成后进入 09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FC60FA4-36A3-45CE-B896-73CCB48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16 完成后进入 17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BBF508-91E9-474F-BABE-2A0C5CB7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24 完成后进入 25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4FDD82-65B5-4AC4-9C0F-25166549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条件调用：AICPU / AIV 交换对称内存　AIV 转换设备侧句柄　950 执行一致性校验　CCU 资源不足返回 HCCL_E_UNAVAIL 并协商回退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105030-2505-4DD7-9A03-236999E4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D6C105D-4C10-418D-AD23-1E05C221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631D4C-7B62-446F-AB21-2F6F160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736252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C9388F-CEF8-4C68-98B2-6A96721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CommEngine 选择一条执行路径，三种 Engine 共享建链结果并最终汇入同一传输层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06158-D2FD-49AC-AB52-6A48C88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的分叉、执行与汇合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286A4-3121-4CAE-8DEC-99AA04D5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8FF37-20B7-479D-8525-BFFE6F3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9F87C-C8EF-4646-AC18-C1DD0E9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通信拓扑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EBEC-8654-41AB-894A-E04C439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引擎上下文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84471-425A-402E-A889-731CB273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线程与通道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6BC01-52FC-4318-8656-CAAF9A7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 / Notify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缓冲区与同步</a:t>
            </a:r>
          </a:p>
        </p:txBody>
      </p:sp>
      <p:cxnSp>
        <p:nvCxnSpPr>
          <p:cNvPr id="7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528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293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058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3688D-C335-4316-AF40-008A3138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DEA3B-EB2E-4293-A5B0-D7D67AA8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AICPU_TS</a:t>
            </a:r>
          </a:p>
        </p:txBody>
      </p: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19325" y="1990725"/>
            <a:ext cx="3876675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547F7-5F1E-4B12-8FAE-250B19E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53DCA-B116-4406-8763-D80C0E63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51492-EA74-4079-961F-FF64B071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 — 申请执行线程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E9C88-A3C4-4702-8917-9F73075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 — 发射 AICPU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C2A43-A771-46D1-922F-8D7245BB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 — 查询线程资源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0C571-C22B-4150-AFB7-62DA8550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 — 启动 Kernel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2D9FB-CBE0-4FAD-A32B-5504E60D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3638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14D2E-726A-41EC-99F3-30124A61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0532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3E881-A4D1-403B-BDE1-DF725DE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344805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 — 本地拷贝与规约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0B779-C4D0-431A-8BE6-CE7A4E7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66335"/>
            <a:ext cx="344805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 — 通道读写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856D3-9A59-49B8-BF5C-30A0D7F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3495"/>
            <a:ext cx="344805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ReadReduce / WriteReduce — 读写融合规约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CF279-7F4C-482E-A486-4A66178A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0655"/>
            <a:ext cx="344805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BatchTransfer — 批量传输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3A234-51F9-444E-B2D1-702DA733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7815"/>
            <a:ext cx="3448050" cy="118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Notify / Fence / Drain — 同步、屏障与排空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0B8B2-2E56-4E43-B377-F6BD182A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逐原语执行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96754-B027-4C53-82F2-CA47FB63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5240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AIV 或 AIV_ONLY</a:t>
            </a:r>
          </a:p>
        </p:txBody>
      </p:sp>
      <p:cxnSp>
        <p:nvCxnSpPr>
          <p:cNvPr id="96" name=""/>
          <p:cNvCxnSpPr>
            <a:stCxn xmlns:a="http://schemas.openxmlformats.org/drawingml/2006/main" id="1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096000" y="19907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5C284-C732-4AB6-A593-D6661FEE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F56FA-1249-43D7-A780-EC3BE30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39339-A77A-4352-8262-FAB9F10E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 — 汇总 AIV 资源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1ACF93-AE13-432F-A3F1-9F7FB52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HcclAllocAlgResourceAiv — 分配算法资源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5C172-889B-4CB7-89C8-BB3BD027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HcclCommMemReg — 注册通信内存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606D8E-D574-4DFF-9190-A005CA9B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HcclChannelAcquire(AIV) — 申请通道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D9697E-9B42-4B35-BD0C-DECDB507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957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ConvertAivChannelHandlesToDevicePtrs — 转设备指针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297BF5-72C0-48E8-ACF7-C956BDA7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14875"/>
            <a:ext cx="3638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B7B0F0-3026-4E8B-AD42-178157F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50532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D4FD06-6005-4634-9D42-2A3443A3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2917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HcclAivKernelEntranceLaunch — AIV 核入口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85AC3E-7611-4BA8-A55F-4D025728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0062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GetAivParamStorageByComm — 获取参数区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1A7DB5-C0EC-463C-B2CD-290FE5AE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7207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ExecuteKernelLaunch — 组装并发射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7D419F-D3BF-4AFF-961E-581A0DF1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4352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ExecuteKernelLaunchInner — Runtime 底层发射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800187-BD6B-4C15-A39F-068A363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携带 Host 参数发射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5DB9C2-FBC5-46CF-84F0-65C84B32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5240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CCU_MS 或 CCU_SCHED</a:t>
            </a:r>
          </a:p>
        </p:txBody>
      </p:sp>
      <p:cxnSp>
        <p:nvCxnSpPr>
          <p:cNvPr id="112" name=""/>
          <p:cNvCxnSpPr>
            <a:stCxn xmlns:a="http://schemas.openxmlformats.org/drawingml/2006/main" id="1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096000" y="1990725"/>
            <a:ext cx="3876675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4CDDC8-8132-4051-A318-7D1DB596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335CB2-E132-4B2E-8219-BE1C7C9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15B213-DB3C-4307-9FE8-97F29B9B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 — 汇总 CCU 资源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FC3E34-9D5A-4352-9AEF-69AB021D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 — 分配算法资源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A67B0C-B898-4985-A014-5DCB0E1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HcclChannelQuery / Acquire — 查询或申请通道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EB75FF-78A0-4F5C-8774-2746AA4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HcclGetCcuKernel / Dynamic — 获取 Kernel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FA81F8-06B1-474D-894F-7D21514D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HcommCcuInsCreate / Assign — 创建并绑定实例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7525F9-921D-4528-AEF2-CAC2B539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14875"/>
            <a:ext cx="3638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7F5F6F-EB5D-44EF-99D3-5467024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0532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D70D4E-3D70-4A0A-B0FA-4D663FD2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291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HcommCcuKernelRegisterStart — 开始注册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4678B4-EE8B-4E10-BAA7-16D5E36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577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HcommCcuKernelRegister — 注册 Kernel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D7CE0A-1580-4BFC-9754-A1D978A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863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HcommCcuKernelRegisterEnd — 完成注册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85081A-738A-4156-A69F-8F2D789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提交 CCU 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C7D622-0287-45E4-87E5-0238E690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67450"/>
            <a:ext cx="800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共同汇入 Channel L3，最终使用 UB、RoCE、HCCS 等 Transport</a:t>
            </a:r>
          </a:p>
        </p:txBody>
      </p:sp>
      <p:cxnSp>
        <p:nvCxnSpPr>
          <p:cNvPr id="127" name=""/>
          <p:cNvCxnSpPr>
            <a:stCxn xmlns:a="http://schemas.openxmlformats.org/drawingml/2006/main" id="28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219325" y="6191250"/>
            <a:ext cx="3876675" cy="76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44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6096000" y="6191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6096000" y="6191250"/>
            <a:ext cx="3876675" cy="76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6DF8EC-090B-46EF-8F96-0F5FB3B3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11410D-1833-4F65-8B9C-1D88575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BC7B76-39A6-4532-959A-F8AECE9C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139887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2026-09-19T06:24:32.6650000Z</dcterms:created>
  <dcterms:modified xsi:type="dcterms:W3CDTF">2026-09-19T06:24:32.6650000Z</dcterms:modified>
</coreProperties>
</file>