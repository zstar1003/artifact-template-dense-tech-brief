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61566079d734a77" /><Relationship Type="http://schemas.openxmlformats.org/officeDocument/2006/relationships/extended-properties" Target="/docProps/app.xml" Id="R3b6643ba80884736" /><Relationship Type="http://schemas.openxmlformats.org/officeDocument/2006/relationships/officeDocument" Target="/ppt/presentation.xml" Id="R3293daa7e38341e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8dd8d8148d94809"/>
  </p:sldMasterIdLst>
  <p:notesMasterIdLst>
    <p:notesMasterId xmlns:r="http://schemas.openxmlformats.org/officeDocument/2006/relationships" r:id="R0b96563576d24564"/>
  </p:notesMasterIdLst>
  <p:sldIdLst>
    <p:sldId xmlns:r="http://schemas.openxmlformats.org/officeDocument/2006/relationships" id="256" r:id="Rcf32e91943cb4c38"/>
    <p:sldId xmlns:r="http://schemas.openxmlformats.org/officeDocument/2006/relationships" id="257" r:id="R97a9d270dad34e1e"/>
    <p:sldId xmlns:r="http://schemas.openxmlformats.org/officeDocument/2006/relationships" id="258" r:id="R40b0de84d4f94a7c"/>
    <p:sldId xmlns:r="http://schemas.openxmlformats.org/officeDocument/2006/relationships" id="259" r:id="R0a1250e1d2c7437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29d3e3b1f6441bf" /><Relationship Type="http://schemas.openxmlformats.org/officeDocument/2006/relationships/slideMaster" Target="/ppt/slideMasters/slideMaster1.xml" Id="Rb8dd8d8148d94809" /><Relationship Type="http://schemas.openxmlformats.org/officeDocument/2006/relationships/notesMaster" Target="/ppt/notesMasters/notesMaster1.xml" Id="R0b96563576d24564" /><Relationship Type="http://schemas.openxmlformats.org/officeDocument/2006/relationships/presProps" Target="/ppt/presProps.xml" Id="R42220a7b51cf4e31" /><Relationship Type="http://schemas.openxmlformats.org/officeDocument/2006/relationships/tableStyles" Target="/ppt/tableStyles.xml" Id="R5f3803a04a9944d6" /><Relationship Type="http://schemas.openxmlformats.org/officeDocument/2006/relationships/slide" Target="/ppt/slides/slide1.xml" Id="Rcf32e91943cb4c38" /><Relationship Type="http://schemas.openxmlformats.org/officeDocument/2006/relationships/slide" Target="/ppt/slides/slide2.xml" Id="R97a9d270dad34e1e" /><Relationship Type="http://schemas.openxmlformats.org/officeDocument/2006/relationships/slide" Target="/ppt/slides/slide3.xml" Id="R40b0de84d4f94a7c" /><Relationship Type="http://schemas.openxmlformats.org/officeDocument/2006/relationships/slide" Target="/ppt/slides/slide4.xml" Id="R0a1250e1d2c7437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c3412276d094b5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2e0d4e18ae4375" /><Relationship Type="http://schemas.openxmlformats.org/officeDocument/2006/relationships/notesMaster" Target="/ppt/notesMasters/notesMaster1.xml" Id="Rfd691695ff6844d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615abd81dfb482a" /><Relationship Type="http://schemas.openxmlformats.org/officeDocument/2006/relationships/notesMaster" Target="/ppt/notesMasters/notesMaster1.xml" Id="Rc77142303d4945f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4c23f06168846bb" /><Relationship Type="http://schemas.openxmlformats.org/officeDocument/2006/relationships/notesMaster" Target="/ppt/notesMasters/notesMaster1.xml" Id="R129ee2d21df1406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6e6805d1d0f4e40" /><Relationship Type="http://schemas.openxmlformats.org/officeDocument/2006/relationships/notesMaster" Target="/ppt/notesMasters/notesMaster1.xml" Id="Ree0c89b7ebbd475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本页采用参考图的三段软件栈与右侧编号解读结构。源码依据：hccl/src/ops/all_reduce/all_reduce.cc，hccl/src/ops/op_common/op_common.cc，hcomm RankGraph、Channel 与 Engine 相关实现。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SelectorEngine 与 ExecuteSelector 是不同选择入口，不应讲成顺序调用。旧流程或条件不满足时可能进入 legacy 分支。本页所有 API 均来自已克隆源码分析。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阅读顺序：每列自上而下，完成后进入右侧下一列。黄色步骤标出跨层边界、核心 HCOMM 创建点、一致性检查和资源回填点。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三列为互斥执行路径。AICPU 最终调用 Hcomm*OnThread；AIV 最终调用 aclrtLaunchKernelWithHostArgs；CCU 最终调用 HcommCcuKernelLaunch。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587743618b422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d03b53a596450d" /><Relationship Type="http://schemas.openxmlformats.org/officeDocument/2006/relationships/slideLayout" Target="/ppt/slideLayouts/slideLayout1.xml" Id="Rea9cc787b70c4c2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9cc787b70c4c2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486b1d0ced4dab" /><Relationship Type="http://schemas.openxmlformats.org/officeDocument/2006/relationships/notesSlide" Target="/ppt/notesSlides/notesSlide1.xml" Id="R86455901527a443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c7595d437349eb" /><Relationship Type="http://schemas.openxmlformats.org/officeDocument/2006/relationships/notesSlide" Target="/ppt/notesSlides/notesSlide2.xml" Id="R6f2046c000774a6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e2a88e1c3e4a90" /><Relationship Type="http://schemas.openxmlformats.org/officeDocument/2006/relationships/notesSlide" Target="/ppt/notesSlides/notesSlide3.xml" Id="R2c19b4a69f664fd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d77f47b3aa4153" /><Relationship Type="http://schemas.openxmlformats.org/officeDocument/2006/relationships/notesSlide" Target="/ppt/notesSlides/notesSlide4.xml" Id="Rcb9bf8eca13c49a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C3DCF96-83C7-4197-AA99-A0D0B20AF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3825"/>
            <a:ext cx="11477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一次集合算子调用跨越算法选择、HCOMM 建链与三类执行引擎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3E3A52-30D2-4BE3-9E4E-73AFA5694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42925"/>
            <a:ext cx="11477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859"/>
          </a:bodyPr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3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AllReduce 新流程完整调用框架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38F0B9-D5A8-4DCE-A89F-98B2E7565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542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E6368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E6368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B3D3A8-8E25-4CCE-82B9-DA25EC93E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2524125" cy="395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F6705A-D50F-43C4-9D9F-C65A7E08C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3925"/>
            <a:ext cx="2409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32"/>
          </a:bodyPr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HCCL 算子与选择层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29193A-D72C-4DA4-B453-04984B4B9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76350"/>
            <a:ext cx="2333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HcclAllReduce()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9AB19A-3384-4486-82F0-B341D7ECD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2333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AllReduceInitAndCheck()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3F75F5-D10F-403C-89D0-EC21B3216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14550"/>
            <a:ext cx="2333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FillAllReduceOpParam()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463270-80D3-4862-8433-E44B2E65A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14600"/>
            <a:ext cx="2333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HcclGetOpExpansionMode()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B52FC9-BE50-4EED-8B54-4C8A7C78A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14650"/>
            <a:ext cx="2333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Decide / ApplyOpExpansionMode()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3D51E6-11B3-45A3-A4C3-577287285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09950"/>
            <a:ext cx="1104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Selector()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BD25E4-1B9F-4155-B5E0-643C0C264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09950"/>
            <a:ext cx="11334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SelectorEngine()</a:t>
            </a:r>
          </a:p>
          <a:p xmlns:a="http://schemas.openxmlformats.org/drawingml/2006/main">
            <a:pPr algn="ctr">
              <a:defRPr sz="84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ExecuteSelector()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00C65C-023D-4E05-9D84-9F3CFA204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67150"/>
            <a:ext cx="2333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HcclExecOp()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C0705D-DC30-4A9D-B211-C30BB8A21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243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90119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CalcResRequest()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F791AA-95FB-451A-90BA-C1DFC3ABD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324350"/>
            <a:ext cx="11334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969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91504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GetAlgResource()</a:t>
            </a:r>
          </a:p>
        </p:txBody>
      </p:sp>
      <p:cxnSp>
        <p:nvCxnSpPr>
          <p:cNvPr id="88" name=""/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1719263" y="1638300"/>
            <a:ext cx="0" cy="7620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89" name="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719263" y="2038350"/>
            <a:ext cx="0" cy="7620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90" name="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1719263" y="2438400"/>
            <a:ext cx="0" cy="7620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91" name=""/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1719263" y="2838450"/>
            <a:ext cx="0" cy="7620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92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 flipH="1">
            <a:off x="1104900" y="3238500"/>
            <a:ext cx="614363" cy="17145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93" name=""/>
          <p:cNvCxnSpPr>
            <a:stCxn xmlns:a="http://schemas.openxmlformats.org/drawingml/2006/main" id="11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1104900" y="3771900"/>
            <a:ext cx="614363" cy="9525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94" name=""/>
          <p:cNvCxnSpPr>
            <a:stCxn xmlns:a="http://schemas.openxmlformats.org/drawingml/2006/main" id="13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 flipH="1">
            <a:off x="1104900" y="4229100"/>
            <a:ext cx="614363" cy="9525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95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1657350" y="4486275"/>
            <a:ext cx="952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2ACE32-4358-4D0F-8752-8605E3D8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1143000"/>
            <a:ext cx="2524125" cy="395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5BF989-CB49-439B-AE33-CAB463F98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923925"/>
            <a:ext cx="2409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32"/>
          </a:bodyPr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HCOMM 通信资源层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3CCB31-01FE-4048-8A5D-C993DD3DA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1276350"/>
            <a:ext cx="2333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RankGraph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AD234C-689A-440C-9933-C256DD9A2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1695450"/>
            <a:ext cx="2333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1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GetLayers / GetTopoInstsByLayer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E25EE1-8152-423C-B5FB-474700042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019300"/>
            <a:ext cx="2333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1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GetTopoType / GetRanksByTopoInst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FF68A8-9A6E-44AA-B33A-12A0C131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343150"/>
            <a:ext cx="2333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1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GetEndpointNum / GetEndpointDesc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CF913F-CA3A-4C13-8FA9-860DA64B4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667000"/>
            <a:ext cx="2333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1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GetLinks / GetEndpointInfo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F8B2DA-FB45-4E0A-A7A0-59797AD01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095625"/>
            <a:ext cx="23336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969"/>
          </a:solidFill>
          <a:ln xmlns:a="http://schemas.openxmlformats.org/drawingml/2006/main" w="15240">
            <a:solidFill>
              <a:srgbClr val="9F111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HcclChannelAcquire()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ED4C6A6-8CA0-4D49-ACAA-F95A0F7B7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56235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8782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Socket / Endpoint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4ABD629-2B3D-468E-8F0A-EA3C36D66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562350"/>
            <a:ext cx="1133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RankPair / EndpointPair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8D996B5-DB5E-4F9D-AAF5-EFFD608C3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000500"/>
            <a:ext cx="2333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4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HcommCollectiveChannelCreate()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758DB20-6BC8-4A30-B559-1FF19EAD8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438650"/>
            <a:ext cx="2333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Channel L3</a:t>
            </a:r>
          </a:p>
        </p:txBody>
      </p:sp>
      <p:cxnSp>
        <p:nvCxnSpPr>
          <p:cNvPr id="108" name=""/>
          <p:cNvCxnSpPr>
            <a:stCxn xmlns:a="http://schemas.openxmlformats.org/drawingml/2006/main" id="31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 flipH="1">
            <a:off x="3819525" y="3467100"/>
            <a:ext cx="614363" cy="9525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109" name=""/>
          <p:cNvCxnSpPr>
            <a:stCxn xmlns:a="http://schemas.openxmlformats.org/drawingml/2006/main" id="32" idx="2"/>
            <a:endCxn xmlns:a="http://schemas.openxmlformats.org/drawingml/2006/main" id="34" idx="0"/>
          </p:cNvCxnSpPr>
          <p:nvPr/>
        </p:nvCxnSpPr>
        <p:spPr>
          <a:xfrm xmlns:a="http://schemas.openxmlformats.org/drawingml/2006/main">
            <a:off x="3819525" y="3905250"/>
            <a:ext cx="614363" cy="9525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110" name=""/>
          <p:cNvCxnSpPr>
            <a:stCxn xmlns:a="http://schemas.openxmlformats.org/drawingml/2006/main" id="34" idx="2"/>
            <a:endCxn xmlns:a="http://schemas.openxmlformats.org/drawingml/2006/main" id="35" idx="0"/>
          </p:cNvCxnSpPr>
          <p:nvPr/>
        </p:nvCxnSpPr>
        <p:spPr>
          <a:xfrm xmlns:a="http://schemas.openxmlformats.org/drawingml/2006/main">
            <a:off x="4433888" y="4343400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111" name=""/>
          <p:cNvCxnSpPr>
            <a:stCxn xmlns:a="http://schemas.openxmlformats.org/drawingml/2006/main" id="1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 flipV="1">
            <a:off x="2886075" y="3281363"/>
            <a:ext cx="381000" cy="12049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F111B"/>
            </a:solidFill>
            <a:prstDash val="solid"/>
            <a:tailEnd type="triangle" w="sm" len="sm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2479F2E-A68F-4BE2-ADB1-C72AC3332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143000"/>
            <a:ext cx="2524125" cy="395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970BA22-4132-4AFF-AAF6-0DE011FD3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923925"/>
            <a:ext cx="2409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32"/>
          </a:bodyPr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Engine 执行层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42EB26C-C4FB-429A-8FF7-46567EEA2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276350"/>
            <a:ext cx="2333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共享资源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F3D788C-D61C-47FC-940E-1139358E1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638300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EngineCtx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2122713-3829-4B5A-AA43-24BB6932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38300"/>
            <a:ext cx="11334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94196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Thread / Channel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D4BE2B7-EA16-42C1-BAFF-25A38E26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00250"/>
            <a:ext cx="2333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通信内存与 Notify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B03EF1F-6102-4413-8ECC-9E8F7CDF6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95550"/>
            <a:ext cx="2333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AICPU_TS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BBAEC6C-33DD-4817-9ADF-2335B87F4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876550"/>
            <a:ext cx="233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Hcomm*OnThread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A1F08FC-C48E-408C-A492-CCCECFE70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295650"/>
            <a:ext cx="2333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AIV / AIV_ONLY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6A77398-9899-4E0D-9DF2-3BB2DA1AB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676650"/>
            <a:ext cx="233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4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aclrtLaunchKernelWithHostArgs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ECE3510-01C3-4FF9-BE27-563A6321B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095750"/>
            <a:ext cx="2333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CCU_MS / CCU_SCHED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C9BF330-3D3E-4D4B-A05D-4FC1E0269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476750"/>
            <a:ext cx="233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HcommCcuKernelLaunch</a:t>
            </a:r>
          </a:p>
        </p:txBody>
      </p:sp>
      <p:cxnSp>
        <p:nvCxnSpPr>
          <p:cNvPr id="124" name=""/>
          <p:cNvCxnSpPr>
            <a:stCxn xmlns:a="http://schemas.openxmlformats.org/drawingml/2006/main" id="35" idx="3"/>
            <a:endCxn xmlns:a="http://schemas.openxmlformats.org/drawingml/2006/main" id="51" idx="1"/>
          </p:cNvCxnSpPr>
          <p:nvPr/>
        </p:nvCxnSpPr>
        <p:spPr>
          <a:xfrm xmlns:a="http://schemas.openxmlformats.org/drawingml/2006/main">
            <a:off x="5600700" y="4610100"/>
            <a:ext cx="3810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3E93"/>
            </a:solidFill>
            <a:prstDash val="solid"/>
            <a:tailEnd type="triangle" w="sm" len="sm"/>
          </a:ln>
        </p:spPr>
      </p:cxn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FCB8D12-333F-4368-870D-052175B71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05425"/>
            <a:ext cx="7953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11430">
            <a:solidFill>
              <a:srgbClr val="3D414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Transport：UB / RoCE / HCCS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D993984-AEEB-477B-8D51-0E761BD2C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72150"/>
            <a:ext cx="795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5E6368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E6368"/>
                </a:solidFill>
                <a:latin typeface="PingFang SC"/>
                <a:ea typeface="PingFang SC"/>
                <a:cs typeface="PingFang SC"/>
              </a:rPr>
              <a:t>图例：灰色为共用基础能力　黄色为跨层关键 API　红框为 HCCL 作用域　蓝框为 HCOMM / Engine 作用域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1C39542-B219-4ABF-B77A-95B870DDD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152525"/>
            <a:ext cx="29146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28E75A7-9411-4748-A624-C44CE9D0A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2287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111B"/>
          </a:solidFill>
          <a:ln xmlns:a="http://schemas.openxmlformats.org/drawingml/2006/main" w="0">
            <a:solidFill>
              <a:srgbClr val="9F111B"/>
            </a:solidFill>
          </a:ln>
        </p:spPr>
        <p:txBody>
          <a:bodyPr xmlns:a="http://schemas.openxmlformats.org/drawingml/2006/main" anchor="ctr">
            <a:normAutofit fontScale="52059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0D8275B-AA44-4285-9DB6-E258E64B3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228725"/>
            <a:ext cx="2343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976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公共主干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C6999D8-43D4-448C-8D79-A312DDFE7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485900"/>
            <a:ext cx="23431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不同集合算子会替换入口和 Fill*OpParam。展开模式、RankGraph、Selector、资源申请主干高度共用。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B777202-0E68-44D6-94C9-64C7D84B7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76500"/>
            <a:ext cx="29146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E76F579-754D-4576-8094-674C32C60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527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3E93"/>
          </a:solidFill>
          <a:ln xmlns:a="http://schemas.openxmlformats.org/drawingml/2006/main" w="0">
            <a:solidFill>
              <a:srgbClr val="233E93"/>
            </a:solidFill>
          </a:ln>
        </p:spPr>
        <p:txBody>
          <a:bodyPr xmlns:a="http://schemas.openxmlformats.org/drawingml/2006/main" anchor="ctr">
            <a:normAutofit fontScale="35572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42E7077-7AF9-47CC-AA5B-3A380FCEF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552700"/>
            <a:ext cx="2343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976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233E93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233E93"/>
                </a:solidFill>
                <a:latin typeface="PingFang SC"/>
                <a:ea typeface="PingFang SC"/>
                <a:cs typeface="PingFang SC"/>
              </a:rPr>
              <a:t>HCCL 与 HCOMM 边界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58C9824-8B2D-4013-8E06-745035B38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09875"/>
            <a:ext cx="23431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GetAlgResource 根据 CommEngine 组织资源。需要通信连接时，HcclChannelAcquire 把 HCCL 描述符转换为 HCOMM 对象。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8B13057-8976-47CF-A302-DCFAE8F03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33825"/>
            <a:ext cx="29146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DC4C64E-C28B-4C68-9C1E-6C0CCA4E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100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111B"/>
          </a:solidFill>
          <a:ln xmlns:a="http://schemas.openxmlformats.org/drawingml/2006/main" w="0">
            <a:solidFill>
              <a:srgbClr val="9F111B"/>
            </a:solidFill>
          </a:ln>
        </p:spPr>
        <p:txBody>
          <a:bodyPr xmlns:a="http://schemas.openxmlformats.org/drawingml/2006/main" anchor="ctr">
            <a:normAutofit fontScale="35572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C36328B-12B0-47FF-9DCE-AB5113050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10025"/>
            <a:ext cx="2343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976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执行差异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86F0EA1-8D28-4EC3-A701-BE99ABE46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267200"/>
            <a:ext cx="23431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AICPU 逐原语调用 HCOMM。AIV 发射 Vector Kernel。CCU 注册 Kernel 并提交 Mission。三条路径共享 Channel 和通信内存。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DCFEF5D-D9A6-415C-87E1-3508CCDAE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476875"/>
            <a:ext cx="2914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汇报结论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D7618AC-71E0-492B-A728-EEFF4FE11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734050"/>
            <a:ext cx="1028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F111B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B05BA0C-4E05-4C35-811E-A43AB18E9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800725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975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算子决定通信语义，Selector 决定算法和 Engine，Engine 决定最终调用的 HCOMM API 族。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5F3D3E2-E4EE-43C1-841C-A4938B7F8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6553200"/>
            <a:ext cx="1147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D4144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07B90AF-119A-49A2-8F2E-5637BD953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81775"/>
            <a:ext cx="1057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5041"/>
          </a:bodyPr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5E6368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5E6368"/>
                </a:solidFill>
                <a:latin typeface="PingFang SC"/>
                <a:ea typeface="PingFang SC"/>
                <a:cs typeface="PingFang SC"/>
              </a:rPr>
              <a:t>分析范围：hccl 170ddeec539b；hcomm 87ce550f8f7c；以 AllReduce 新流程为代表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9BF8D4C-88A6-4074-BF46-3845BC65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314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5041"/>
          </a:bodyPr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5E6368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5E6368"/>
                </a:solidFill>
                <a:latin typeface="PingFang SC"/>
                <a:ea typeface="PingFang SC"/>
                <a:cs typeface="PingFang SC"/>
              </a:rPr>
              <a:t>HCCL / HCOMM 源码分析</a:t>
            </a:r>
          </a:p>
        </p:txBody>
      </p:sp>
    </p:spTree>
    <p:extLst>
      <p:ext uri="{BB962C8B-B14F-4D97-AF65-F5344CB8AC3E}">
        <p14:creationId xmlns:p14="http://schemas.microsoft.com/office/powerpoint/2010/main" val="8243822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26D7C73-6A1C-4FBA-95C3-1ACD377B1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3825"/>
            <a:ext cx="11477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HCCL 先归一化算子参数，再结合配置与拓扑选择算法和执行引擎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BB94AC-F335-42BA-A089-0A799D257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42925"/>
            <a:ext cx="11477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859"/>
          </a:bodyPr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3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入口、展开模式、RankGraph 与 Selector 详细调用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83851E-B316-4A6C-A699-DA11C290C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542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E6368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E6368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966A1E-04DF-40D2-BFB6-091C982A5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2050"/>
            <a:ext cx="8001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AC4E35-85A2-4E97-994F-E654C02BE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42975"/>
            <a:ext cx="788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32"/>
          </a:bodyPr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HCCL 算子公共入口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26C037-2847-4377-9185-0B863ED72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17621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HcclAllReduce()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841AF2-158B-4D92-AB0E-C3AE86960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31445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AllReduceInitAndCheck()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E82DDC-A2C0-46B6-8551-0EAAAE900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31445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FillAllReduceOpParam()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AE182D-78AA-4A12-9195-602ACAE76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314450"/>
            <a:ext cx="17621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OpParam</a:t>
            </a:r>
          </a:p>
        </p:txBody>
      </p:sp>
      <p:cxnSp>
        <p:nvCxnSpPr>
          <p:cNvPr id="79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333625" y="1485900"/>
            <a:ext cx="20002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80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343400" y="1485900"/>
            <a:ext cx="20002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81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353175" y="1485900"/>
            <a:ext cx="20002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914BB4-061D-4153-89E5-DFA5C4E6E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71650"/>
            <a:ext cx="77438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输入：sendBuf、recvBuf、count、datatype、reduceType、stream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FF682D-6065-43D6-B735-CAAA61B98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71750"/>
            <a:ext cx="80010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1DD964-10CB-44C6-9595-D65B3A7E2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52675"/>
            <a:ext cx="788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32"/>
          </a:bodyPr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展开模式决策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90BB63-6AB4-41A3-BD13-22FC579C5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24150"/>
            <a:ext cx="219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HcclGetOpExpansionMode()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5A6B9B-26E2-4573-8B32-716FC52C6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72415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DecideHcclOpExpansionMode()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EC03C3-9859-489B-BD9B-9568F26BF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724150"/>
            <a:ext cx="2771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ApplyOpExpansionMode()</a:t>
            </a:r>
          </a:p>
        </p:txBody>
      </p:sp>
      <p:cxnSp>
        <p:nvCxnSpPr>
          <p:cNvPr id="88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2762250" y="2905125"/>
            <a:ext cx="20002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89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5343525" y="2905125"/>
            <a:ext cx="20002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7BC7E0-C299-41CD-9EE0-82E7F285F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623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配置来源：HcclConfigGetInfo()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14CBB4-4648-48D4-B092-31564E45C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162300"/>
            <a:ext cx="1562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AICPU_TS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D064CF-3C6B-4AD4-8F0C-6B19E44D0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162300"/>
            <a:ext cx="16859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AIV / AIV_ONLY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180BAD-3999-49EA-A1FC-134445614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62300"/>
            <a:ext cx="19145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CCU_MS / CCU_SCHED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590CCD-E5B0-4AC1-8E7C-D5E542A4F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95725"/>
            <a:ext cx="8001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0E265D-4AA8-400F-8492-2F0E9F196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76650"/>
            <a:ext cx="788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32"/>
          </a:bodyPr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通信域与 RankGraph 查询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7BAE2E-27D0-4249-A0C4-99D1918BE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48125"/>
            <a:ext cx="18383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HcclCommGetStatus()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54D82B-2FA3-4419-A709-29180DBCE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048125"/>
            <a:ext cx="18383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HcclEngineCtxGet() / Create()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9BED3EC-FFDB-440B-99E3-224A7A338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38650"/>
            <a:ext cx="1819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GetLayers()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2CE814-9F68-405F-BEAB-67E59DC55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438650"/>
            <a:ext cx="1819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GetTopoInstsByLayer()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E41A8A-61AB-4869-BCC7-11EDEDF03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438650"/>
            <a:ext cx="1819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GetTopoType()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41C08BB-595D-42CA-B3AB-85D38924C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438650"/>
            <a:ext cx="1819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GetRanksByTopoInst()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AA2BE5C-44F8-4102-8A95-2F593B519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43450"/>
            <a:ext cx="1819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GetEndpointNum()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867A807-65A9-42D6-8C9C-B7BB9BCC2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743450"/>
            <a:ext cx="1819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GetEndpointDesc()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AC5B123-D5CC-4C19-9DB7-3A75A8B0D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743450"/>
            <a:ext cx="1819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GetLinks()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FB0C4D2-2BA9-4107-81A6-1109D164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743450"/>
            <a:ext cx="1819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GetEndpointInfo()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BE0C55D-1866-486C-80DB-4568821F2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86375"/>
            <a:ext cx="8001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DBD5C45-43B6-4971-85DA-7998B70B4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67300"/>
            <a:ext cx="788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32"/>
          </a:bodyPr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Selector 与执行入口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262DC98-01E2-4BF8-850B-30E15DC77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62600"/>
            <a:ext cx="1285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Selector()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7CC7093-5B28-4106-A443-343CB51BC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391150"/>
            <a:ext cx="1581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SelectorEngine()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3C717D5-E0B3-4F3A-A2A8-4883A2F7D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800725"/>
            <a:ext cx="1581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ExecuteSelector()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3F27A32-BA9B-4A4D-B946-F7601A389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5638800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4867"/>
          </a:bodyPr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5E6368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5E6368"/>
                </a:solidFill>
                <a:latin typeface="PingFang SC"/>
                <a:ea typeface="PingFang SC"/>
                <a:cs typeface="PingFang SC"/>
              </a:rPr>
              <a:t>二选一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17A80A8-6530-4AF5-8C01-FF49EC2F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562600"/>
            <a:ext cx="1285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HcclExecOp()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BC1B533-FBA1-437A-AB87-1DD05D268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562600"/>
            <a:ext cx="1381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CalcResRequest()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16E6926-4EDB-447F-935A-5D7836B84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562600"/>
            <a:ext cx="10763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969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GetAlgResource()</a:t>
            </a:r>
          </a:p>
        </p:txBody>
      </p:sp>
      <p:cxnSp>
        <p:nvCxnSpPr>
          <p:cNvPr id="115" name=""/>
          <p:cNvCxnSpPr>
            <a:stCxn xmlns:a="http://schemas.openxmlformats.org/drawingml/2006/main" id="39" idx="3"/>
            <a:endCxn xmlns:a="http://schemas.openxmlformats.org/drawingml/2006/main" id="40" idx="1"/>
          </p:cNvCxnSpPr>
          <p:nvPr/>
        </p:nvCxnSpPr>
        <p:spPr>
          <a:xfrm xmlns:a="http://schemas.openxmlformats.org/drawingml/2006/main" flipV="1">
            <a:off x="1857375" y="5519738"/>
            <a:ext cx="257175" cy="2047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116" name=""/>
          <p:cNvCxnSpPr>
            <a:stCxn xmlns:a="http://schemas.openxmlformats.org/drawingml/2006/main" id="39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1857375" y="5724525"/>
            <a:ext cx="257175" cy="2047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117" name=""/>
          <p:cNvCxnSpPr>
            <a:stCxn xmlns:a="http://schemas.openxmlformats.org/drawingml/2006/main" id="40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3695700" y="5519738"/>
            <a:ext cx="361950" cy="2047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118" name=""/>
          <p:cNvCxnSpPr>
            <a:stCxn xmlns:a="http://schemas.openxmlformats.org/drawingml/2006/main" id="41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 flipV="1">
            <a:off x="3695700" y="5724525"/>
            <a:ext cx="361950" cy="2047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119" name=""/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5343525" y="5724525"/>
            <a:ext cx="25717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46F1646-4654-4626-A5BE-DA4DC9F8F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6000750"/>
            <a:ext cx="42576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4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输出：algName、CommEngine、algTag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D584B61-0FF6-4D3A-A234-36F5672BA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181100"/>
            <a:ext cx="29146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D440783-8FAE-4326-A771-25B523938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2573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111B"/>
          </a:solidFill>
          <a:ln xmlns:a="http://schemas.openxmlformats.org/drawingml/2006/main" w="0">
            <a:solidFill>
              <a:srgbClr val="9F111B"/>
            </a:solidFill>
          </a:ln>
        </p:spPr>
        <p:txBody>
          <a:bodyPr xmlns:a="http://schemas.openxmlformats.org/drawingml/2006/main" anchor="ctr">
            <a:normAutofit fontScale="52059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AD79155-1B63-4034-9BA8-01C4A42DB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257300"/>
            <a:ext cx="2343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976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阶段 1：参数统一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50223F1-E33E-4648-9955-21143953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514475"/>
            <a:ext cx="2343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各算子把公开接口参数转成 OpParam。不同算子主要差在 Fill*OpParam 和语义字段。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EB57506-D566-4C07-91BC-0BA5B92D7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90775"/>
            <a:ext cx="2914650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BC81AD2-B0BC-424E-9684-D73E74EED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6697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3E93"/>
          </a:solidFill>
          <a:ln xmlns:a="http://schemas.openxmlformats.org/drawingml/2006/main" w="0">
            <a:solidFill>
              <a:srgbClr val="233E93"/>
            </a:solidFill>
          </a:ln>
        </p:spPr>
        <p:txBody>
          <a:bodyPr xmlns:a="http://schemas.openxmlformats.org/drawingml/2006/main" anchor="ctr">
            <a:normAutofit fontScale="35572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37037D3-F3D6-40E2-BD4B-6AB201ACB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66975"/>
            <a:ext cx="2343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976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233E93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233E93"/>
                </a:solidFill>
                <a:latin typeface="PingFang SC"/>
                <a:ea typeface="PingFang SC"/>
                <a:cs typeface="PingFang SC"/>
              </a:rPr>
              <a:t>阶段 2：模式与拓扑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EF39DDD-9341-46E4-A443-8499CD78C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24150"/>
            <a:ext cx="23431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配置先限定 AICPU、AIV 或 CCU。RankGraph 再提供层级、拓扑类型、Rank 分组、Endpoint 和 Link。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4D4DD19-9EA0-4E73-8F5D-AEAD9810A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05250"/>
            <a:ext cx="29146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FC6F7B7-2C5A-4166-BC35-B87C02108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9814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111B"/>
          </a:solidFill>
          <a:ln xmlns:a="http://schemas.openxmlformats.org/drawingml/2006/main" w="0">
            <a:solidFill>
              <a:srgbClr val="9F111B"/>
            </a:solidFill>
          </a:ln>
        </p:spPr>
        <p:txBody>
          <a:bodyPr xmlns:a="http://schemas.openxmlformats.org/drawingml/2006/main" anchor="ctr">
            <a:normAutofit fontScale="35572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35A66A6-4194-4C86-864A-5BBC05B6F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981450"/>
            <a:ext cx="2343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976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阶段 3：算法选择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2B8B7D0-13C4-4E52-92BB-C9886814D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238625"/>
            <a:ext cx="23431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Selector 根据设备类型、Rank 数、数据量、datatype、reduceType、内存布局和 CCU 资源输出算法。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45AB7FA-A931-44A8-8BF2-50C7CCA2C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334000"/>
            <a:ext cx="2914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公用与差异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44B9D29-B49A-4D79-9E9A-D1C13D7D6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591175"/>
            <a:ext cx="1028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F111B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D5B1C56-0EBF-4557-83F7-B13616DD6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657850"/>
            <a:ext cx="2914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公用：展开模式、RankGraph、Selector、HcclExecOp、资源申请。差异：算子入口、OpParam 字段、候选算法及阈值。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42228FE-B228-490C-ADF2-0B1D8C60F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6553200"/>
            <a:ext cx="1147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D4144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ED96D77-CAFF-4029-B1E1-01DD8599B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81775"/>
            <a:ext cx="1057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5041"/>
          </a:bodyPr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5E6368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5E6368"/>
                </a:solidFill>
                <a:latin typeface="PingFang SC"/>
                <a:ea typeface="PingFang SC"/>
                <a:cs typeface="PingFang SC"/>
              </a:rPr>
              <a:t>源码：hccl/src/ops/all_reduce/all_reduce.cc；hccl/src/ops/op_common/op_common.cc；hcomm/.../coll_comm_rank_graph_a_adpt.cc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15CC8DE-981F-4D83-A448-819550518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314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5041"/>
          </a:bodyPr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5E6368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5E6368"/>
                </a:solidFill>
                <a:latin typeface="PingFang SC"/>
                <a:ea typeface="PingFang SC"/>
                <a:cs typeface="PingFang SC"/>
              </a:rPr>
              <a:t>HCCL / HCOMM 源码分析</a:t>
            </a:r>
          </a:p>
        </p:txBody>
      </p:sp>
    </p:spTree>
    <p:extLst>
      <p:ext uri="{BB962C8B-B14F-4D97-AF65-F5344CB8AC3E}">
        <p14:creationId xmlns:p14="http://schemas.microsoft.com/office/powerpoint/2010/main" val="18214881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611786C-7A1D-46CA-B9F0-581927A12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3825"/>
            <a:ext cx="11477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HcclChannelAcquire 内部包含 32 个顺序步骤，跨越 HCCL 与 HCOMM 资源生命周期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CCD6DA-1113-4E86-B2E1-2756B213B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42925"/>
            <a:ext cx="11477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859"/>
          </a:bodyPr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3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Socket、EndpointPair、Channel 创建、连接确认与资源回填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88C8A7-7438-40D8-85B9-9AC39A10B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542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E6368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E6368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9E3243-32BD-4CAD-8341-12B617423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20097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DEE"/>
          </a:solidFill>
          <a:ln xmlns:a="http://schemas.openxmlformats.org/drawingml/2006/main" w="14288">
            <a:solidFill>
              <a:srgbClr val="9F111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① HCCL 准备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DF66F4-7586-44A6-A6FC-84A7B9CD3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287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01 HcclGetChannelImpl()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A11A81-1B74-47A5-A027-37033D243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859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02 AddExchangeInfo()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90C4FA-8DDC-4FE4-81D8-F2DD0304E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431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13335">
            <a:solidFill>
              <a:srgbClr val="9F111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03 HcclChannelAcquire()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E606A5-CBD3-4F06-8E91-185FAEDC6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003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04 CheckChannelResParams()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ABAADC-21EF-4A6E-917B-2D680B600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575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05 ProcessHcclResPackReq()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236BC4-F547-4D34-9824-4790CA2EC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147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06 PrepareV2ChannelAcquire()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059CBE-57D8-4CCD-9788-87DF5B7B1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719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07 PrepareChannelSymMemHandles()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E6CFDA-202B-4BBF-B3B8-F035689D8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291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08 MyRank::CreateChannels()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14BDCD-EC52-43AE-AC5F-5350217D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200150"/>
            <a:ext cx="20097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DEE"/>
          </a:solidFill>
          <a:ln xmlns:a="http://schemas.openxmlformats.org/drawingml/2006/main" w="14288">
            <a:solidFill>
              <a:srgbClr val="9F111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② Socket / 描述符</a:t>
            </a:r>
          </a:p>
        </p:txBody>
      </p:sp>
      <p:cxnSp>
        <p:nvCxnSpPr>
          <p:cNvPr id="77" name=""/>
          <p:cNvCxnSpPr>
            <a:stCxn xmlns:a="http://schemas.openxmlformats.org/drawingml/2006/main" id="4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2409825" y="1362075"/>
            <a:ext cx="12382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9F111B"/>
            </a:solidFill>
            <a:prstDash val="solid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DB0BC4-94CB-449C-B2D4-C5F84C3CE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6287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09 CheckChannelParam()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460630-F358-4502-91BC-91DCAE9AB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0859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13335">
            <a:solidFill>
              <a:srgbClr val="9F111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10 ChannelDescHccl2Hcomm()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1E1664-B8E4-4BC8-9E0E-0C2166679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5431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11 ConfigSqDepthByExpansionMode()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C4A26F-78DE-4D5F-ADB8-B97F9699C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0003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12 BatchCreateSockets()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09987D-2F90-46A3-A187-1AF0E4B45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4575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13 BatchServerInitForChannels()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A71FDA-C8CE-47DE-B337-3962D0AFC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9147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14 BatchGetSocketsForChannels()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308E19-8575-4360-8489-E722392CE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3719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15 BatchCreateChannels()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E3CBF8-098D-476E-9C77-2DDF43377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8291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16 EndpointMgr::Get()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BDD7EC-B7D6-490B-8B7B-F4A3BCF93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200150"/>
            <a:ext cx="20097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A"/>
          </a:solidFill>
          <a:ln xmlns:a="http://schemas.openxmlformats.org/drawingml/2006/main" w="14288">
            <a:solidFill>
              <a:srgbClr val="233E9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③ Endpoint / Channel</a:t>
            </a:r>
          </a:p>
        </p:txBody>
      </p:sp>
      <p:cxnSp>
        <p:nvCxnSpPr>
          <p:cNvPr id="87" name=""/>
          <p:cNvCxnSpPr>
            <a:stCxn xmlns:a="http://schemas.openxmlformats.org/drawingml/2006/main" id="13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4543425" y="1362075"/>
            <a:ext cx="12382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33E93"/>
            </a:solidFill>
            <a:prstDash val="solid"/>
            <a:tail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BCDECF-2CBC-43E1-866A-FEB03FBB4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287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13335">
            <a:solidFill>
              <a:srgbClr val="233E9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17 HcommEndpointStartListen()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DA4E54-0201-4AEB-AB3B-8F74AAFF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859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18 PrepareMemHandles()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D8AF04-31D1-4E64-B8EF-C93CBDAEB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431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19 RankPairMgr::Get()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3E3294-3C05-4914-9BC4-55FA4E6AE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003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20 RankPair::GetEndpointPair()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6CA529-89D8-4BE4-BD95-D9E458ABA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575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21 EndpointPair::CreateChannel()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17F068F-8C3D-434A-B6EA-2867C0984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147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13335">
            <a:solidFill>
              <a:srgbClr val="233E9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22 HcommCollectiveChannelCreate()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A951EC-A2AF-495D-80DB-80F4C1880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3719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23 NormalizeHcommChannelDescs()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BD50C9E-4D16-456B-B7F5-66A952DEF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8291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24 ChannelProcess::CreateChannelsLoop()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2F2CD17-0802-4BEF-A487-BD0EB9C9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200150"/>
            <a:ext cx="20097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A"/>
          </a:solidFill>
          <a:ln xmlns:a="http://schemas.openxmlformats.org/drawingml/2006/main" w="14288">
            <a:solidFill>
              <a:srgbClr val="233E9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④ 连接 / 回填</a:t>
            </a:r>
          </a:p>
        </p:txBody>
      </p:sp>
      <p:cxnSp>
        <p:nvCxnSpPr>
          <p:cNvPr id="97" name=""/>
          <p:cNvCxnSpPr>
            <a:stCxn xmlns:a="http://schemas.openxmlformats.org/drawingml/2006/main" id="23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6677025" y="1362075"/>
            <a:ext cx="12382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33E93"/>
            </a:solidFill>
            <a:prstDash val="solid"/>
            <a:tailEnd type="triangle" w="sm" len="sm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C203BCF-2CCA-49CD-8774-3CE37857E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6287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25 Channel::CreateChannel()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E41E507-0486-4A28-8CE8-40223A8C8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0859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26 BatchConnectChannels()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FE842ED-4A0D-4A3C-A62C-EABA4F143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5431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27 ChannelProcess::ChannelGetStatus()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7B92267-B4AD-481C-83CF-76DF2C32B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003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13335">
            <a:solidFill>
              <a:srgbClr val="233E93"/>
            </a:solidFill>
            <a:prstDash val="solid"/>
          </a:ln>
        </p:spPr>
        <p:txBody>
          <a:bodyPr xmlns:a="http://schemas.openxmlformats.org/drawingml/2006/main" anchor="ctr">
            <a:normAutofit fontScale="96618"/>
          </a:bodyPr>
          <a:lstStyle xmlns:a="http://schemas.openxmlformats.org/drawingml/2006/main"/>
          <a:p xmlns:a="http://schemas.openxmlformats.org/drawingml/2006/main">
            <a:pPr algn="l">
              <a:defRPr sz="79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28 BatchExchangeAndCheckConsistency()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F5073BD-0BE9-45BB-B318-936B91473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4575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29 FinalizeChannelsByEngine()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B274916-6F63-4851-AEA9-42273B32E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9147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13335">
            <a:solidFill>
              <a:srgbClr val="233E9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2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30 ConvertAivChannelHandlesToDevicePtrs()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49D8D1C-9A79-4E31-B847-25C4CF8B6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719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31 HcclChannelGetHcclBuffer()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169E339-6B77-482E-B93A-F8BB7E256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8291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13335">
            <a:solidFill>
              <a:srgbClr val="233E9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2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32 return ChannelHandle + Remote CCL Buffer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D3D0A42-B132-43B0-BA33-3DFB54872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10200"/>
            <a:ext cx="8667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969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条件分支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C8561B2-24BD-4DCB-8B84-DE199C704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410200"/>
            <a:ext cx="75152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AICPU / AIV 交换对称内存　AIV 转换设备侧 Channel 句柄　950 做一致性校验　CCU 资源不足返回 HCCL_E_UNAVAIL 并协商回退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983F83A-F164-4400-897A-49588E0A8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81675"/>
            <a:ext cx="8448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输出：ChannelHandle、Remote CCL Buffer、Engine 对应的设备侧资源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106C9E6-FB26-4256-8E90-D3391BEB0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00150"/>
            <a:ext cx="2647950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C858DC-18BF-4796-866F-FFEB3F1C1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2763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111B"/>
          </a:solidFill>
          <a:ln xmlns:a="http://schemas.openxmlformats.org/drawingml/2006/main" w="0">
            <a:solidFill>
              <a:srgbClr val="9F111B"/>
            </a:solidFill>
          </a:ln>
        </p:spPr>
        <p:txBody>
          <a:bodyPr xmlns:a="http://schemas.openxmlformats.org/drawingml/2006/main" anchor="ctr">
            <a:normAutofit fontScale="52059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AD0F417-CD37-4F4B-8030-01DB04303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276350"/>
            <a:ext cx="2076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976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HCCL 准备与转换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6C23694-1663-4FD4-B27F-20ECAB7B6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533525"/>
            <a:ext cx="20764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01 至 10 检查资源参数，组织交换信息，并把 HcclChannelDesc 转换为 HCOMM Channel 描述符。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7A3DADF-5E8A-4D85-AD31-773D1D170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09825"/>
            <a:ext cx="264795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D1E33CD-A437-4290-9775-9E57DC887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860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3E93"/>
          </a:solidFill>
          <a:ln xmlns:a="http://schemas.openxmlformats.org/drawingml/2006/main" w="0">
            <a:solidFill>
              <a:srgbClr val="233E93"/>
            </a:solidFill>
          </a:ln>
        </p:spPr>
        <p:txBody>
          <a:bodyPr xmlns:a="http://schemas.openxmlformats.org/drawingml/2006/main" anchor="ctr">
            <a:normAutofit fontScale="35572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2ABA455-B7D7-4BED-A32F-C3D1D2BB6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486025"/>
            <a:ext cx="2076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976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233E93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233E93"/>
                </a:solidFill>
                <a:latin typeface="PingFang SC"/>
                <a:ea typeface="PingFang SC"/>
                <a:cs typeface="PingFang SC"/>
              </a:rPr>
              <a:t>HCOMM 对象创建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1DA18C3-C75D-4982-9C04-72B8A9ABC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743200"/>
            <a:ext cx="20764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11 至 24 创建 Socket，获取 EndpointMgr 和 RankPair，复用或创建 EndpointPair，再构造具体 Channel。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3BBA8E1-F7AA-496D-9696-1BA6F896B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48100"/>
            <a:ext cx="26479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898A501-3575-44C8-9F90-7EC02CE0C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9243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111B"/>
          </a:solidFill>
          <a:ln xmlns:a="http://schemas.openxmlformats.org/drawingml/2006/main" w="0">
            <a:solidFill>
              <a:srgbClr val="9F111B"/>
            </a:solidFill>
          </a:ln>
        </p:spPr>
        <p:txBody>
          <a:bodyPr xmlns:a="http://schemas.openxmlformats.org/drawingml/2006/main" anchor="ctr">
            <a:normAutofit fontScale="35572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0487E68-FD86-4FB6-898D-35CBBCE3A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924300"/>
            <a:ext cx="2076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976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连接与一致性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327A06E-2344-4924-9E83-E56066451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181475"/>
            <a:ext cx="2076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25 至 32 发起连接并轮询状态。部分设备交换并校验一致性，再按 Engine 回填句柄和通信缓冲区。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EC1FE2D-8AE3-405C-AA9F-C5E1BE72A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276850"/>
            <a:ext cx="2647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建链结论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55CC120-1A5F-4A0A-83A8-F532CC121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534025"/>
            <a:ext cx="1028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F111B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0D49642-6CD2-488D-82A8-EAF9E23D6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600700"/>
            <a:ext cx="26479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247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HcclChannelAcquire 不是单一建连动作。它把 HCCL 的资源请求转换成 HCOMM 的 Socket、EndpointPair 和 Channel，并返回执行引擎可直接使用的资源。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7C7D2BB-0F47-4A98-B66B-88ED31453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6553200"/>
            <a:ext cx="1147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D4144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4017A3F-D175-40B6-A46B-6BB1C2AD7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81775"/>
            <a:ext cx="1057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5041"/>
          </a:bodyPr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5E6368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5E6368"/>
                </a:solidFill>
                <a:latin typeface="PingFang SC"/>
                <a:ea typeface="PingFang SC"/>
                <a:cs typeface="PingFang SC"/>
              </a:rPr>
              <a:t>源码：coll_comm_res_c_adpt.cc:755-858；my_rank.cc:567-1300；endpoint_pair.cc:199-226；channel_process.cc:89-133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6D8926D-1883-4C6C-9AAD-8437858B5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314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5041"/>
          </a:bodyPr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5E6368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5E6368"/>
                </a:solidFill>
                <a:latin typeface="PingFang SC"/>
                <a:ea typeface="PingFang SC"/>
                <a:cs typeface="PingFang SC"/>
              </a:rPr>
              <a:t>HCCL / HCOMM 源码分析</a:t>
            </a:r>
          </a:p>
        </p:txBody>
      </p:sp>
    </p:spTree>
    <p:extLst>
      <p:ext uri="{BB962C8B-B14F-4D97-AF65-F5344CB8AC3E}">
        <p14:creationId xmlns:p14="http://schemas.microsoft.com/office/powerpoint/2010/main" val="19568556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7578AED-84F5-477C-96B0-E67DB0AB2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3825"/>
            <a:ext cx="11477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三种 Engine 共用 RankGraph、Channel 与通信内存，差异集中在展开位置和发射 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070C84-F4F5-4821-B564-7F60A9295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42925"/>
            <a:ext cx="11477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859"/>
          </a:bodyPr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3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AICPU_TS、AIV 与 CCU 执行链路对照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0EF034-D851-4E7D-9642-8C485A6F8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542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E6368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E6368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B7C8CC-F1FF-48EA-B49C-F2DBDE186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81100"/>
            <a:ext cx="914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共用准备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228310-C047-492B-9403-D48CF9062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181100"/>
            <a:ext cx="17240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RankGraph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098867-34F5-4A6E-9C23-207BBD864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181100"/>
            <a:ext cx="17240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EngineCtx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52BF11-01BB-435E-9573-D866EF8A9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181100"/>
            <a:ext cx="17240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Thread / Channel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27B9B1-E3CB-4128-8CF9-A38A1ADBC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181100"/>
            <a:ext cx="17240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通信内存与 Notify</a:t>
            </a:r>
          </a:p>
        </p:txBody>
      </p:sp>
      <p:cxnSp>
        <p:nvCxnSpPr>
          <p:cNvPr id="90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152775" y="1323975"/>
            <a:ext cx="12382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91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000625" y="1323975"/>
            <a:ext cx="12382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92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848475" y="1323975"/>
            <a:ext cx="12382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4E58B2-2713-40D8-9547-B70D561D4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57375"/>
            <a:ext cx="26955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90AE59-5953-4F0B-84CF-C17FA9AF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38300"/>
            <a:ext cx="25812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32"/>
          </a:bodyPr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AICPU_TS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90BE32-AC37-4F4C-A175-DE275E4E2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33575"/>
            <a:ext cx="25812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10" b="0">
                <a:solidFill>
                  <a:srgbClr val="5E6368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E6368"/>
                </a:solidFill>
                <a:latin typeface="PingFang SC"/>
                <a:ea typeface="PingFang SC"/>
                <a:cs typeface="PingFang SC"/>
              </a:rPr>
              <a:t>AICPU Kernel 内逐原语展开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E0123C-AE7B-425D-9FA4-72C7D49FB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57425"/>
            <a:ext cx="25431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资源准备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DBC87A-2CF1-41EC-ACCA-431A1F3E7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1750"/>
            <a:ext cx="2543175" cy="261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01  HcclThreadAcquire()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5F5027-6A18-44BD-A532-1E73D100C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71788"/>
            <a:ext cx="2543175" cy="261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02  AicpuKernelLaunch()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CBDB5B-E6ED-4F61-BA0A-A01B020BD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171825"/>
            <a:ext cx="2543175" cy="261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03  HcclThreadResGetInfo()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F7EE8D-1D7D-4E5F-933D-A65B45BF4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71863"/>
            <a:ext cx="2543175" cy="261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04  aclrtLaunchKernelWithConfig()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E933AF-70F9-4AC8-92BE-C8A66C2D2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57625"/>
            <a:ext cx="25431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执行 / 发射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BF348F-DB59-41E1-8CBB-9CDF1CCDA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71950"/>
            <a:ext cx="2543175" cy="1578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59851"/>
          </a:bodyPr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05  HcommLocalCopy / ReduceOnThread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180230-ACC4-4286-924A-74EA3CE15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58368"/>
            <a:ext cx="2543175" cy="1578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59851"/>
          </a:bodyPr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06  HcommRead / WriteOnThread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D22351-7BFF-434C-AF46-83D9A741D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44786"/>
            <a:ext cx="2543175" cy="1578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59851"/>
          </a:bodyPr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07  HcommReadReduce / WriteReduceOnThread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7027CC-EDA4-493E-9751-41B684AD6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31204"/>
            <a:ext cx="2543175" cy="1578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59851"/>
          </a:bodyPr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08  HcommBatchTransferOnThread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30A90B-79F6-47D8-9C38-D00555E09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17621"/>
            <a:ext cx="2543175" cy="1578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59851"/>
          </a:bodyPr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09  HcommThreadNotifyRecord / WaitOnThread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911AE4-9331-4789-A89A-731F25A86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04039"/>
            <a:ext cx="2543175" cy="1578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59851"/>
          </a:bodyPr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10  HcommChannelNotifyRecordOnThread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062441-7583-42DB-96F1-9E2BC69E6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90457"/>
            <a:ext cx="2543175" cy="1578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67553"/>
          </a:bodyPr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11  HcommFence / ChannelFence / DrainOnThread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5FD180-70D2-4C49-BDCD-36916BF32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43550"/>
            <a:ext cx="25431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969"/>
          </a:solidFill>
          <a:ln xmlns:a="http://schemas.openxmlformats.org/drawingml/2006/main" w="13335">
            <a:solidFill>
              <a:srgbClr val="9F111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最终：Hcomm*OnThread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85A60E-A22E-4575-864B-416246CD4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57375"/>
            <a:ext cx="26955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BFA818-7102-467B-A780-36CCB9FC5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38300"/>
            <a:ext cx="25812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32"/>
          </a:bodyPr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AIV / AIV_ONLY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F1991A-2E64-4017-B629-EC995F3EF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33575"/>
            <a:ext cx="25812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10" b="0">
                <a:solidFill>
                  <a:srgbClr val="5E6368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E6368"/>
                </a:solidFill>
                <a:latin typeface="PingFang SC"/>
                <a:ea typeface="PingFang SC"/>
                <a:cs typeface="PingFang SC"/>
              </a:rPr>
              <a:t>Host 准备资源，Vector Kernel 展开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5AEFC66-0600-4BAE-98DF-E697601AC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57425"/>
            <a:ext cx="25431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资源准备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DE2C954-EC31-409A-B82E-ED65F6F3B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571750"/>
            <a:ext cx="2543175" cy="2204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01  GetAlgResAiv()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916BAE6-3560-4F1D-851D-A7DEE493D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830286"/>
            <a:ext cx="2543175" cy="2204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02  HcclEngineCtxGet / Create()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FEE9ADF-EDE7-4E09-A316-813BA9A53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88821"/>
            <a:ext cx="2543175" cy="2204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03  HcclAllocAlgResourceAiv()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B1C16C8-8736-460E-AEBD-B04EBA5AE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347357"/>
            <a:ext cx="2543175" cy="2204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04  HcclCommRegCommStateCallback()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1C8EAD8-9337-4E3D-A9D0-ADE877E48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605893"/>
            <a:ext cx="2543175" cy="2204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05  HcclCommMemReg() / GetHcclBuffer()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C0A6EAD-0AB1-4F3A-895F-157F85DEE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864429"/>
            <a:ext cx="2543175" cy="2204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06  HcclChannelAcquire(AIV)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1731D2B-2864-43A0-A74C-2A11098E0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122964"/>
            <a:ext cx="2543175" cy="2204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07  ConvertAivChannelHandlesToDevicePtrs()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774A030-995F-4561-8BF8-E1F74D9C5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467225"/>
            <a:ext cx="25431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执行 / 发射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F919A87-74CC-4918-B0ED-7099CD451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781550"/>
            <a:ext cx="2543175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48506"/>
          </a:bodyPr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08  HcclAivKernelEntranceLaunch()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299C58B-C67A-40EC-AD78-B34F845ED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955381"/>
            <a:ext cx="2543175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48506"/>
          </a:bodyPr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09  GetAivParamStorageByComm()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63AB521-2B86-4853-9E1D-E3434911A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129213"/>
            <a:ext cx="2543175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48506"/>
          </a:bodyPr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10  ExecuteKernelLaunch()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EC911BC-3887-4E32-AFE9-12F6A2967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303044"/>
            <a:ext cx="2543175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48506"/>
          </a:bodyPr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11  ExecuteKernelLaunchInner()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8BAD386-0116-41AF-B862-8BB0DEFBA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543550"/>
            <a:ext cx="25431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969"/>
          </a:solidFill>
          <a:ln xmlns:a="http://schemas.openxmlformats.org/drawingml/2006/main" w="13335">
            <a:solidFill>
              <a:srgbClr val="233E9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最终：aclrtLaunchKernelWithHostArgs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8DF4273-55FB-42F3-9770-78DB88429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57375"/>
            <a:ext cx="26955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E7F8EB0-DED3-497D-BE83-EC4CCE53C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38300"/>
            <a:ext cx="25812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32"/>
          </a:bodyPr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CCU_MS / CCU_SCHED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4AD4677-5372-48AC-AA02-6A8C87E17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933575"/>
            <a:ext cx="25812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10" b="0">
                <a:solidFill>
                  <a:srgbClr val="5E6368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E6368"/>
                </a:solidFill>
                <a:latin typeface="PingFang SC"/>
                <a:ea typeface="PingFang SC"/>
                <a:cs typeface="PingFang SC"/>
              </a:rPr>
              <a:t>申请 CCU 实例，注册并提交 Mission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66F715E-2286-401F-B485-3EE5713DA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57425"/>
            <a:ext cx="25431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资源准备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2E93F4C-8F22-49D9-A1C6-66415AEC4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71750"/>
            <a:ext cx="2543175" cy="1881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83801"/>
          </a:bodyPr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01  GetAlgResCcu()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61ACF71-A645-4BC5-9D9D-F813ED589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97969"/>
            <a:ext cx="2543175" cy="1881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83801"/>
          </a:bodyPr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02  HcclAllocAlgResourceCcu()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BBE4172-4B7E-45AF-88F7-DDE127F59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24188"/>
            <a:ext cx="2543175" cy="1881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83801"/>
          </a:bodyPr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03  HcclGetThread / GetChannelForCcu()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ED5F439-1DBB-45C7-9D5F-B90B4F6B8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50406"/>
            <a:ext cx="2543175" cy="1881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83801"/>
          </a:bodyPr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04  HcclChannelQuery / Acquire(CCU)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379221E-4D12-49AF-AB27-430B63999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76625"/>
            <a:ext cx="2543175" cy="1881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83801"/>
          </a:bodyPr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05  HcclGetCcuKernel / Dynamic()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18C12D1-7E3C-45F6-A074-08C211EA8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02844"/>
            <a:ext cx="2543175" cy="1881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83801"/>
          </a:bodyPr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06  HcclCommQueryAssignedCcuIns()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83439E4-E4DE-42B9-8FF6-C8447B24C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929063"/>
            <a:ext cx="2543175" cy="1881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83801"/>
          </a:bodyPr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07  HcommCcuInsResDescCreate / SetNum()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C719782-303A-4F87-B63E-2180CE421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155281"/>
            <a:ext cx="2543175" cy="1881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83801"/>
          </a:bodyPr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08  HcommCcuInsCreate / AssignCcuIns()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B8A8E16-F2E5-488B-9DE1-5829EF7C4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467225"/>
            <a:ext cx="25431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执行 / 发射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E4368CD-79CE-444F-9E50-59C875F94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781550"/>
            <a:ext cx="2543175" cy="20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09  HcommCcuKernelRegisterStart()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4C9FF34-B986-40C7-9717-029EE653A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013325"/>
            <a:ext cx="2543175" cy="20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10  HcommCcuKernelRegister()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8166C8D-A168-492B-B7C7-68FC06389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245100"/>
            <a:ext cx="2543175" cy="20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11  HcommCcuKernelRegisterEnd()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8EDBA3B-33E3-4953-981E-A31FFC991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543550"/>
            <a:ext cx="25431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969"/>
          </a:solidFill>
          <a:ln xmlns:a="http://schemas.openxmlformats.org/drawingml/2006/main" w="13335">
            <a:solidFill>
              <a:srgbClr val="233E9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最终：HcommCcuKernelLaunch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EB6C115-BD7E-4F75-9392-166E0BCD5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05525"/>
            <a:ext cx="84486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共同落点：Channel L3、UB、RoCE、HCCS 等 Transport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EDC4D2A-DE69-48AA-8125-80BB10885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00150"/>
            <a:ext cx="2647950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CF8CE38-FA2A-4E44-9079-3EFFA9322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276350"/>
            <a:ext cx="2076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976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共用资源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141667C-0231-428F-90BA-B5728DD27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533525"/>
            <a:ext cx="20764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三种 Engine 都依赖 RankGraph、EngineCtx、Thread、Channel、通信内存和 Notify。建链结果可以复用。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C7858E6-C15D-4AE6-B0B6-CB39CA23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57450"/>
            <a:ext cx="26479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525B150-C2E9-49FA-99A6-7D62F4E87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5336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3E93"/>
          </a:solidFill>
          <a:ln xmlns:a="http://schemas.openxmlformats.org/drawingml/2006/main" w="0">
            <a:solidFill>
              <a:srgbClr val="233E93"/>
            </a:solidFill>
          </a:ln>
        </p:spPr>
        <p:txBody>
          <a:bodyPr xmlns:a="http://schemas.openxmlformats.org/drawingml/2006/main" anchor="ctr">
            <a:normAutofit fontScale="35572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92D8F1D-F65F-4040-BEB4-829E1F5E3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533650"/>
            <a:ext cx="2076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976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233E93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233E93"/>
                </a:solidFill>
                <a:latin typeface="PingFang SC"/>
                <a:ea typeface="PingFang SC"/>
                <a:cs typeface="PingFang SC"/>
              </a:rPr>
              <a:t>展开位置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27030C3-F83A-4412-998E-5F2471452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790825"/>
            <a:ext cx="20764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AICPU 在 AICPU Kernel 内逐步调用 HCOMM 原语。AIV 在 Vector Kernel 内展开。CCU 在 CCU 实例中执行已注册 Kernel。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71DC7B1-FE30-471E-9F46-4A93ACC0E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933825"/>
            <a:ext cx="2647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CF3B303-323C-40A8-85FB-044E1C1C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0100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111B"/>
          </a:solidFill>
          <a:ln xmlns:a="http://schemas.openxmlformats.org/drawingml/2006/main" w="0">
            <a:solidFill>
              <a:srgbClr val="9F111B"/>
            </a:solidFill>
          </a:ln>
        </p:spPr>
        <p:txBody>
          <a:bodyPr xmlns:a="http://schemas.openxmlformats.org/drawingml/2006/main" anchor="ctr">
            <a:normAutofit fontScale="35572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4CB4F94-695D-4F49-8714-9576274C4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010025"/>
            <a:ext cx="2076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976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资源与回退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84126CD-7596-4ADD-80E5-32A2FF071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267200"/>
            <a:ext cx="20764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AIV 需要把 Channel 句柄转换为设备指针。CCU 需要实例、Kernel 注册和 Mission 提交。CCU 资源不足时跨 Rank 协商回退。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181A66F-E726-45F2-9EAA-2243949E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467350"/>
            <a:ext cx="2647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算子间复用规律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6B15ABB-4D37-47B1-9AAC-C20CC5526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724525"/>
            <a:ext cx="1028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F111B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780FC7F-A84B-49CC-B20D-DCD3B52F5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791200"/>
            <a:ext cx="26479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251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不同算子可复用 RankGraph、建链和基础 HCOMM 原语。算法展开方式不同，会改变资源准备步骤及最终发射 API。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735E720-D85F-4686-9435-2B4CBEAA0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2763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111B"/>
          </a:solidFill>
          <a:ln xmlns:a="http://schemas.openxmlformats.org/drawingml/2006/main" w="0">
            <a:solidFill>
              <a:srgbClr val="9F111B"/>
            </a:solidFill>
          </a:ln>
        </p:spPr>
        <p:txBody>
          <a:bodyPr xmlns:a="http://schemas.openxmlformats.org/drawingml/2006/main" anchor="ctr">
            <a:normAutofit fontScale="52059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C6E22C0-5479-423D-9704-1C38C57B5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6553200"/>
            <a:ext cx="1147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D4144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1F1C810-7BBA-456A-BEA4-841909536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81775"/>
            <a:ext cx="1057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5041"/>
          </a:bodyPr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5E6368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5E6368"/>
                </a:solidFill>
                <a:latin typeface="PingFang SC"/>
                <a:ea typeface="PingFang SC"/>
                <a:cs typeface="PingFang SC"/>
              </a:rPr>
              <a:t>源码：aicpu_ts_primitives_c_adpt.cc；op_common.cc:1216-1247,2200-2990；hccl_aiv_utils.cc:1068-1223；ccu_launch.cc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B53235F-9243-4F9F-9B79-29BDF50FA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314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5041"/>
          </a:bodyPr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5E6368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5E6368"/>
                </a:solidFill>
                <a:latin typeface="PingFang SC"/>
                <a:ea typeface="PingFang SC"/>
                <a:cs typeface="PingFang SC"/>
              </a:rPr>
              <a:t>HCCL / HCOMM 源码分析</a:t>
            </a:r>
          </a:p>
        </p:txBody>
      </p:sp>
    </p:spTree>
    <p:extLst>
      <p:ext uri="{BB962C8B-B14F-4D97-AF65-F5344CB8AC3E}">
        <p14:creationId xmlns:p14="http://schemas.microsoft.com/office/powerpoint/2010/main" val="6071655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2026-09-14T14:05:30.2130000Z</dcterms:created>
  <dcterms:modified xsi:type="dcterms:W3CDTF">2026-09-14T14:05:30.2130000Z</dcterms:modified>
</coreProperties>
</file>