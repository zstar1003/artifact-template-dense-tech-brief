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5e484ee564469b" /><Relationship Type="http://schemas.openxmlformats.org/officeDocument/2006/relationships/extended-properties" Target="/docProps/app.xml" Id="R3c92c7034d9b4b41" /><Relationship Type="http://schemas.openxmlformats.org/officeDocument/2006/relationships/officeDocument" Target="/ppt/presentation.xml" Id="R2c5cc3a16f5443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16845511ad480e"/>
  </p:sldMasterIdLst>
  <p:notesMasterIdLst>
    <p:notesMasterId xmlns:r="http://schemas.openxmlformats.org/officeDocument/2006/relationships" r:id="R7ab415a8b9424a98"/>
  </p:notesMasterIdLst>
  <p:sldIdLst>
    <p:sldId xmlns:r="http://schemas.openxmlformats.org/officeDocument/2006/relationships" id="256" r:id="R0a5db9762ec84f52"/>
    <p:sldId xmlns:r="http://schemas.openxmlformats.org/officeDocument/2006/relationships" id="257" r:id="R62844e5df901466c"/>
    <p:sldId xmlns:r="http://schemas.openxmlformats.org/officeDocument/2006/relationships" id="258" r:id="R3f84897b6d7740c5"/>
    <p:sldId xmlns:r="http://schemas.openxmlformats.org/officeDocument/2006/relationships" id="259" r:id="R113df49145744c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685f4088384d85" /><Relationship Type="http://schemas.openxmlformats.org/officeDocument/2006/relationships/slideMaster" Target="/ppt/slideMasters/slideMaster1.xml" Id="Rf216845511ad480e" /><Relationship Type="http://schemas.openxmlformats.org/officeDocument/2006/relationships/notesMaster" Target="/ppt/notesMasters/notesMaster1.xml" Id="R7ab415a8b9424a98" /><Relationship Type="http://schemas.openxmlformats.org/officeDocument/2006/relationships/presProps" Target="/ppt/presProps.xml" Id="Re5d6f06b9f364ec4" /><Relationship Type="http://schemas.openxmlformats.org/officeDocument/2006/relationships/tableStyles" Target="/ppt/tableStyles.xml" Id="R0ac2050cd59d445d" /><Relationship Type="http://schemas.openxmlformats.org/officeDocument/2006/relationships/slide" Target="/ppt/slides/slide1.xml" Id="R0a5db9762ec84f52" /><Relationship Type="http://schemas.openxmlformats.org/officeDocument/2006/relationships/slide" Target="/ppt/slides/slide2.xml" Id="R62844e5df901466c" /><Relationship Type="http://schemas.openxmlformats.org/officeDocument/2006/relationships/slide" Target="/ppt/slides/slide3.xml" Id="R3f84897b6d7740c5" /><Relationship Type="http://schemas.openxmlformats.org/officeDocument/2006/relationships/slide" Target="/ppt/slides/slide4.xml" Id="R113df49145744c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f266eaa288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9a248e7e0e40bb" /><Relationship Type="http://schemas.openxmlformats.org/officeDocument/2006/relationships/notesMaster" Target="/ppt/notesMasters/notesMaster1.xml" Id="Rfceb1006b17741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0baea3e14f42ad" /><Relationship Type="http://schemas.openxmlformats.org/officeDocument/2006/relationships/notesMaster" Target="/ppt/notesMasters/notesMaster1.xml" Id="R2e5caf9f61f24a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7239ef08854fdf" /><Relationship Type="http://schemas.openxmlformats.org/officeDocument/2006/relationships/notesMaster" Target="/ppt/notesMasters/notesMaster1.xml" Id="Ra4f3e96945a247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82b1050a124a87" /><Relationship Type="http://schemas.openxmlformats.org/officeDocument/2006/relationships/notesMaster" Target="/ppt/notesMasters/notesMaster1.xml" Id="R83372a1c57324c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本页从上到下阅读。第一泳道是 HCCL 入口、模式和算法选择。第二泳道是 HCOMM 建链。第三泳道按 CommEngine 进入 AICPU、AIV 或 CCU。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关键关系：GetAlgResource 计算并申请算法资源。如果资源请求包含通信连接，HCCL 调用 HcclChannelAcquire。HcclChannelAcquire 把 HCCL 描述符转换为 HCOMM 描述符，创建 Socket、EndpointPair 和 Channel。HCOMM 返回 ChannelHandle、Remote CCL Buffer 和 Engine 需要的设备侧资源。执行框架随后按 CommEngine 选择一个分支。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HcclAllReduce：集合规约公开入口。AllReduceInitAndCheck：校验参数和通信域。FillAllReduceOpParam：生成统一 OpParam。HcclGetOpExpansionMode：读取展开模式。Selector：选择 algName、CommEngine、algTag。HcclExecOp：进入统一执行。GetAlgResource：申请线程、Channel、内存和同步资源。HcclChannelAcquire：HCCL 建链入口。ChannelDescHccl2Hcomm：把 HCCL Channel 描述符转换为 HCOMM 描述符。BatchCreateSockets：创建对端 Socket。GetEndpointPair：获取或复用 Rank 间 EndpointPair。HcommCollectiveChannelCreate：创建集合通信 Channel。Channel L3：承接原语并落到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源码：hccl/src/ops/all_reduce/all_reduce.cc；hccl/src/ops/op_common/op_common.cc；hcomm RankGraph、Channel、EndpointPair 与 Engine 相关实现。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四个阶段严格串行。阶段 1 把公开 API 参数变成 OpParam。阶段 2 决定 AICPU、AIV 或 CCU 展开模式。阶段 3 读取通信域状态、EngineCtx 与 RankGraph。阶段 4 选择算法并计算资源需求。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SelectorEngine 与 ExecuteSelector 是两个可选入口，不是先后调用。Selector 综合设备类型、Rank 数、数据量、datatype、reduceType、内存布局和 CCU 资源，输出 algName、CommEngine、algTag。CalcResRequest 计算 Thread、Channel、内存和 Notify。GetAlgResource 申请或复用资源。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RankGraph API：GetLayers 获取拓扑层级。GetTopoInstsByLayer 获取层内拓扑实例。GetTopoType 获取拓扑类型。GetRanksByTopoInst 获取实例内 Rank 分组。GetEndpointNum/Desc 获取端点数量和描述。GetLinks/GetEndpointInfo 获取链路与端点详情。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源码：hccl/src/ops/all_reduce/all_reduce.cc；hccl/src/ops/op_common/op_common.cc；hcomm/.../coll_comm_rank_graph_a_adpt.cc。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阅读顺序：每列自上而下，完成后进入右侧下一列。黄色步骤是跨层转换、核心 HCOMM 创建点、一致性检查和资源回填点。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至 08：HCCL 检查资源参数、组织交换信息、准备 V2 申请和对称内存句柄。09 至 16：把 HCCL 描述符转换为 HCOMM 描述符，配置 SQ，创建 Socket 并取得 EndpointMgr。17 至 24：启动监听，准备内存句柄，获取 RankPair 和 EndpointPair，创建集合通信 Channel。25 至 32：创建底层 Channel，批量连接，查询状态，校验一致性，按 Engine 回填资源。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完整函数释义已经标在每个步骤中。关键边界：03 是 HCCL 建链入口。10 完成 HCCL 到 HCOMM 的描述符转换。17 启动 HCOMM Endpoint。22 创建集合通信 Channel。28 校验跨 Rank 一致性。30 把 AIV 句柄转换为设备指针。32 返回 ChannelHandle 和 Remote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源码：coll_comm_res_c_adpt.cc:755-858；my_rank.cc:567-1300；endpoint_pair.cc:199-226；channel_process.cc:89-133。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顶部资源由三种 Engine 共用。CommEngine 只选择一条路径，不会依次执行三列。底部三条路径最终汇入 Channel L3 和 Transport。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AICPU_TS：HcclThreadAcquire 申请执行线程。AicpuKernelLaunch 发射 AICPU Kernel。HcclThreadResGetInfo 查询线程资源。aclrtLaunchKernelWithConfig 启动 Kernel。随后 AICPU Kernel 逐步调用 HcommLocalCopy、LocalReduce、Read、Write、ReadReduce、WriteReduce、BatchTransfer、Notify、Fence、Drain 等 OnThread 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AIV：GetAlgResAiv 汇总资源。HcclAllocAlgResourceAiv 分配资源。HcclCommMemReg 注册设备可访问内存。HcclChannelAcquire(AIV) 申请通道。ConvertAivChannelHandlesToDevicePtrs 把句柄转成设备指针。HcclAivKernelEntranceLaunch 进入 AIV 发射，最终调用 aclrtLaunchKernelWithHostArgs。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CCU：GetAlgResCcu 汇总资源。HcclAllocAlgResourceCcu 分配资源。HcclChannelQuery/Acquire 获取通道。HcclGetCcuKernel 获取静态或动态 Kernel。HcommCcuInsCreate 和 HcclCommAssignCcuIns 创建并绑定实例。HcommCcuKernelRegisterStart/Register/End 完成注册。HcommCcuKernelLaunch 提交 Mission。资源不足时各 Rank 协商后回退。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源码：aicpu_ts_primitives_c_adpt.cc；op_common.cc:1216-1247,2200-2990；hccl_aiv_utils.cc:1068-1223；ccu_launch.cc。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3bc34e50e41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e01690cea4673" /><Relationship Type="http://schemas.openxmlformats.org/officeDocument/2006/relationships/slideLayout" Target="/ppt/slideLayouts/slideLayout1.xml" Id="Rec98c3ba144540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98c3ba144540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deb5d0e9b4af2" /><Relationship Type="http://schemas.openxmlformats.org/officeDocument/2006/relationships/notesSlide" Target="/ppt/notesSlides/notesSlide1.xml" Id="Rd52044e2a13d4e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fde4d5bd84fa4" /><Relationship Type="http://schemas.openxmlformats.org/officeDocument/2006/relationships/notesSlide" Target="/ppt/notesSlides/notesSlide2.xml" Id="R13c10e6fa6574c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95c54532c43e2" /><Relationship Type="http://schemas.openxmlformats.org/officeDocument/2006/relationships/notesSlide" Target="/ppt/notesSlides/notesSlide3.xml" Id="R15e201c6471e47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c4346fbde4cd9" /><Relationship Type="http://schemas.openxmlformats.org/officeDocument/2006/relationships/notesSlide" Target="/ppt/notesSlides/notesSlide4.xml" Id="R6a17c84c9b4f49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5DEF94-9634-4989-A973-96C9D56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一次集合算子调用由 HCCL 选择算法，经 HCOMM 建链后进入指定执行引擎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2DCD7-5019-40D7-B8F7-48BAB559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 新流程的跨层调用与资源返回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CC3CC-C137-4794-93D6-21B682CF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AF138-6F79-487B-AF9E-681E763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33475"/>
            <a:ext cx="11353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8C5A8-D899-4F35-BB93-852946C5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392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算子入口与算法选择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C6693-2090-4808-B91A-0CB2A33C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集合规约入口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E7077-1929-4B69-8445-5E17D60C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校验参数与通信域</a:t>
            </a:r>
          </a:p>
        </p:txBody>
      </p: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9812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0863D-C97F-42A1-8DE6-A771EF8F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组装统一 OpParam</a:t>
            </a:r>
          </a:p>
        </p:txBody>
      </p:sp>
      <p:cxnSp>
        <p:nvCxnSpPr>
          <p:cNvPr id="6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623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C34DD-7999-4D4C-8903-C1423C1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读取展开模式</a:t>
            </a:r>
          </a:p>
        </p:txBody>
      </p: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1435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2AB22-361A-41BE-861E-F6029B4F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选择算法与 Engine</a:t>
            </a:r>
          </a:p>
        </p:txBody>
      </p: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246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45EAF-7A57-4F7C-BB98-463CB8C4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ctr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进入统一执行框架</a:t>
            </a:r>
          </a:p>
        </p:txBody>
      </p:sp>
      <p:cxnSp>
        <p:nvCxnSpPr>
          <p:cNvPr id="67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0580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F93EB9-71CB-48B8-802C-2B404AED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409700"/>
            <a:ext cx="1428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申请算法资源</a:t>
            </a:r>
          </a:p>
        </p:txBody>
      </p: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886950" y="1733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126FD-B987-44DB-BDF1-6EA2467E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501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输入：sendBuf、recvBuf、count、datatype、reduceType、stream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F6C58-5998-467A-A9B4-E688B320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85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选择输出：algName、CommEngine、algTag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C5A01-CC4A-4BA1-9D5E-3BDE3AF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67025"/>
            <a:ext cx="11353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E3C86-818A-46C9-8C2D-C771F0BC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5747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HCOMM 建链与通信资源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97D7E-DBE9-4309-8C72-1DF73FDC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 建链入口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7522E-A031-4549-92E1-1B68FD53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ChannelDescHccl2Hcomm()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描述符跨层转换</a:t>
            </a:r>
          </a:p>
        </p:txBody>
      </p:sp>
      <p:cxnSp>
        <p:nvCxnSpPr>
          <p:cNvPr id="7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27647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37F83-B7C8-46B1-835F-7C5454EC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BatchCreateSockets()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cxnSp>
        <p:nvCxnSpPr>
          <p:cNvPr id="78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171950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206188-682A-476E-9270-A8A0194B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GetEndpointPair()</a:t>
            </a:r>
          </a:p>
          <a:p xmlns:a="http://schemas.openxmlformats.org/drawingml/2006/main">
            <a:pPr algn="ctr">
              <a:def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获取或复用端点对</a:t>
            </a:r>
          </a:p>
        </p:txBody>
      </p:sp>
      <p:cxnSp>
        <p:nvCxnSpPr>
          <p:cNvPr id="80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06742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4B90B3-5ACA-481D-945C-3A8EE45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ctr">
              <a:def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cxnSp>
        <p:nvCxnSpPr>
          <p:cNvPr id="82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962900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F4592D-12FF-470D-BA5B-482492FC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133725"/>
            <a:ext cx="1724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 L3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统一传输通道</a:t>
            </a:r>
          </a:p>
        </p:txBody>
      </p:sp>
      <p:cxnSp>
        <p:nvCxnSpPr>
          <p:cNvPr id="84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9858375" y="3443288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92E01-8EF0-44EE-9FE6-68003864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05250"/>
            <a:ext cx="6381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8573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返回 HCCL：ChannelHandle、Remote CCL Buffer、设备侧资源</a:t>
            </a:r>
          </a:p>
        </p:txBody>
      </p:sp>
      <p:cxnSp>
        <p:nvCxnSpPr>
          <p:cNvPr id="86" name=""/>
          <p:cNvCxnSpPr>
            <a:stCxn xmlns:a="http://schemas.openxmlformats.org/drawingml/2006/main" id="32" idx="2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9286875" y="3752850"/>
            <a:ext cx="1604963" cy="2905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4288">
            <a:solidFill>
              <a:srgbClr val="4C6D54"/>
            </a:solidFill>
            <a:prstDash val="dash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1414463" y="2057400"/>
            <a:ext cx="9339263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A9968E-A78F-4479-8456-A3977EB9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812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需要通信连接时进入 HCOMM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F6E69C-7EF6-4CB0-98C8-8242819B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72025"/>
            <a:ext cx="113538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447802-59BF-4E0C-9C11-856D2712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62475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执行引擎分支：由 CommEngine 三选一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A6CF2F-8D7F-4023-A06F-F68BA9EB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3870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</a:t>
            </a:r>
          </a:p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三选一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5A60BE-D678-440A-9A22-7C516FEA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　逐原语执行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2609EA-90CE-434F-B190-F703F8AB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6735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　发射 Vector Kernel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81CC75-3AFA-4E4C-987F-ADEB89A3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67350"/>
            <a:ext cx="3143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　提交 CCU Mission</a:t>
            </a:r>
          </a:p>
        </p:txBody>
      </p:sp>
      <p:cxnSp>
        <p:nvCxnSpPr>
          <p:cNvPr id="95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2238375" y="5248275"/>
            <a:ext cx="3857625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40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6096000" y="52482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40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6096000" y="5248275"/>
            <a:ext cx="3857625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34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6096000" y="4181475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4C6D54"/>
            </a:solidFill>
            <a:prstDash val="dash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BFB54F-5472-47FA-BF8F-D9A6F02A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91250"/>
            <a:ext cx="8191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主调用：粗实线　条件选择：分支箭头　资源返回：绿色虚线　红色边界：HCCL　蓝色边界：HCOMM / Engine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E70B65-D8F8-4396-B7B3-BD0F6158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2CA446-FFB6-4643-89AC-E759A28C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分析范围：hccl 170ddeec539b；hcomm 87ce550f8f7c；以 AllReduce 新流程为代表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5CDF0D-65B7-406C-A143-4D3D4004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245515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EB0B36-638A-4AFD-9355-F7B28EC3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 通过四个串行阶段把公开算子参数转换为可执行算法和资源请求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A6CCC-FD84-4866-ADDD-0A7DE0EF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入口、展开模式、RankGraph 与 Selector 的具象调用关系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D9D43-4460-4F57-AC64-E86FE133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0E5F8-720A-43FD-8380-824DAEE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001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75994-F7DD-4749-82C0-DC1B23F7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11029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134B4-69AA-45B0-B4B7-D700FF3E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345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1　参数归一化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249BA-BA4F-40B2-9F2F-5FB7534C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62075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HcclAllReduce()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公开入口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587AE-8A02-4E4D-8844-CDB14CFD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620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AllReduceInitAndCheck()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校验通信域、指针与类型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8704D-6187-499C-B65F-1B13BEBE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620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FillAllReduceOpParam()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生成统一 OpParam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A034F-67E9-4EB8-A1BF-DF1A7E4F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362075"/>
            <a:ext cx="2571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OpParam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算法无关输入</a:t>
            </a:r>
          </a:p>
        </p:txBody>
      </p: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0037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6262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24875" y="157638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90A89-B0D8-4E21-9CBA-0921D58D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622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C2567-069D-4D16-8E2C-D98B1B2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1029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3B13A-9A34-48FD-8B77-101D4964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2　展开模式决策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4677A-785B-4004-AF48-1F74E0E5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050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HcclGetOpExpansionMode()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读取支持模式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3A2E5-B084-4AE4-BCE1-8A3DBD63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05075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DecideHcclOpExpansionMode()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结合配置与资源做决策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D22C0-CFB6-4FCD-8BCE-4A41F34C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050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ApplyOpExpansionMode()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写入执行上下文</a:t>
            </a:r>
          </a:p>
        </p:txBody>
      </p:sp>
      <p:cxnSp>
        <p:nvCxnSpPr>
          <p:cNvPr id="78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381375" y="2695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715125" y="26955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C51ADF-9001-4E18-8913-3C4D18A8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E02B0-B862-49DC-B507-E6FB65C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03EA24-79CB-4DD5-9BBA-E585F101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</p:txBody>
      </p:sp>
      <p:cxnSp>
        <p:nvCxnSpPr>
          <p:cNvPr id="83" name=""/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4238625" y="2886075"/>
            <a:ext cx="104775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8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286375" y="2886075"/>
            <a:ext cx="114300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286375" y="2886075"/>
            <a:ext cx="3524250" cy="104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430">
            <a:solidFill>
              <a:srgbClr val="9F111B"/>
            </a:solidFill>
            <a:prstDash val="dash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7B6A0-09E2-4895-8625-966196D5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1D904-F6D7-4CE0-8638-F55863D1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1029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89966D-3998-42D2-B3F7-7FAA7857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阶段 3　通信域与 RankGraph 查询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77FF07-6847-4B93-A30C-396A98B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219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HcclCommGetStatus()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确认通信域可用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AC6B3F-18BB-4E0F-A8F5-1487F620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247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HcclEngineCtxGet / Create()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获取或创建 EngineCtx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FC94E-BCB4-4546-BA3A-A507455D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GetLayers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拓扑层级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3DBD0-EDDE-41E6-8877-BA44802D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GetTopoInstsByLayer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层内实例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814C3C-EF8C-41F6-853D-F60DADE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GetTopoType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拓扑类型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0A32F5-4544-4AEF-8A8C-CB663E2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GetRanksByTopoInst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 分组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7F42C4-F566-4348-9F72-9B511D5E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GetEndpointNum / Desc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端点数量与描述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9DEBDB-5FB7-4720-8A90-9E114F52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GetLinks / GetEndpointInfo</a:t>
            </a:r>
          </a:p>
          <a:p xmlns:a="http://schemas.openxmlformats.org/drawingml/2006/main">
            <a:pPr algn="ctr">
              <a:def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链路与端点详情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CA7E6E-F832-4F59-8DF1-91507DEF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054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EAB82F-8F3C-4D38-A631-08BB2508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10299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273ADF-64E2-4AB6-9DE1-C48429C5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87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阶段 4　算法选择、执行入口与资源请求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F592EB-34D1-4736-8C18-0D5CAB55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算法选择总入口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0B58A-347B-4CBE-B6F6-9F944B7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6255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SelectorEngine()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 Engine 选择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39CEA0-22F5-4C8A-B8B7-DBC64B02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38800"/>
            <a:ext cx="185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ExecuteSelector()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按执行模板选择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1CE71B-CDD8-4A40-A3AC-66471710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HcclExecOp()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进入统一执行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6549C8-AB8E-435C-A970-93CFE496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CalcResRequest()</a:t>
            </a:r>
          </a:p>
          <a:p xmlns:a="http://schemas.openxmlformats.org/drawingml/2006/main">
            <a:pPr algn="ctr">
              <a:def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计算资源需求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9A3C6B-14EF-4A2B-AD18-6B5BE928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95900"/>
            <a:ext cx="1857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GetAlgResource()</a:t>
            </a:r>
          </a:p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申请或复用算法资源</a:t>
            </a:r>
          </a:p>
        </p:txBody>
      </p:sp>
      <p:cxnSp>
        <p:nvCxnSpPr>
          <p:cNvPr id="106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2524125" y="5343525"/>
            <a:ext cx="4762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524125" y="5524500"/>
            <a:ext cx="476250" cy="295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3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4857750" y="5343525"/>
            <a:ext cx="4762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 flipV="1">
            <a:off x="4857750" y="5524500"/>
            <a:ext cx="476250" cy="295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953250" y="5524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144000" y="5524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A2A053-1A35-4FE3-9DD8-A00A31CB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5245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二选一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AFF3DF-18A9-4CC6-9686-ED131D33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858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输出：algName、CommEngine、algTag　资源请求：Thread、Channel、通信内存、Notify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58C173-6066-407C-BE36-B8A576C8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2E8258-9FB9-4B94-BB06-F0B22AA0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源码：hccl/src/ops/all_reduce/all_reduce.cc；hccl/src/ops/op_common/op_common.cc；hcomm/.../coll_comm_rank_graph_a_adpt.cc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3EFA84-BECD-49FD-A2C0-9F874FD3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1892747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0D18479-F801-4659-AB23-291F153A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HcclChannelAcquire 通过 32 个有序步骤完成描述符转换、对象创建、连接确认与资源回填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DF30D-C37F-4A59-BD3F-E4768A0F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四阶段连续调用轨道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E6084-4BB8-46DD-B048-77E38CA3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1CAD4-8EE0-4C65-812E-AB44574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9650"/>
            <a:ext cx="1139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45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整体顺序：01 到 08，进入 09 到 16，再进入 17 到 24，最后执行 25 到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00246-2B55-480C-AFDD-BB24D6F7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① HCCL 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11D29-B8C2-49D1-8EB9-E0F9E88A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5EA41-1A43-4976-8471-C87202CC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HcclGetChannelImpl()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获取通道实现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8CE6F-2800-49AA-9B5C-53DBEFB1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F53DF-1CA5-4A83-A30A-01AD9B96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0395D-F2BC-4422-920E-226D2C68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AddExchangeInfo()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添加跨 Rank 交换信息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CD5BF-FD66-4AA2-AC54-F4C0D498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21CC2-E55F-4F48-92EF-99724146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252D4-40FB-4BF2-9159-2C3A83ED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HcclChannelAcquire()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申请或复用 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5DFCB-DB5F-4276-9C5D-C0F47E7A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ABE8C-B44F-4A60-A195-B8079E3F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1CE53-2481-493F-9987-89A0F142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CheckChannelResParams()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校验资源参数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74E22-9BA3-4BAB-A49E-2674A040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7B747-0B12-4B00-839A-BA7FCFB3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867D2-025F-4773-80D8-F7A5FF90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ProcessHcclResPackReq()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处理资源打包请求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8D7E0-8A3F-4D7F-B03E-AD0293B3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9CC40-D1A7-4348-8200-BEDB5099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338FF-6977-48E4-8669-084A5AE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PrepareV2ChannelAcquire()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 V2 通道申请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1B72F-6524-4E73-9439-37F34095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F73D9-56E4-49A7-B116-02E6AE6F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AEBE2-0681-4232-97B9-88F2A233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PrepareChannelSymMemHandles()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准备对称内存句柄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7D6D89-838E-4543-8FB4-E8811A4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290788-038F-4E03-8739-4F85E507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288AE-A071-47ED-9FBE-5C58D9F0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MyRank::CreateChannels()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创建本 Rank 通道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535F06-AB0C-43E7-98D2-4957643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② Socket / 描述符</a:t>
            </a:r>
          </a:p>
        </p:txBody>
      </p:sp>
      <p:cxnSp>
        <p:nvCxnSpPr>
          <p:cNvPr id="140" name=""/>
          <p:cNvCxnSpPr>
            <a:stCxn xmlns:a="http://schemas.openxmlformats.org/drawingml/2006/main" id="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1623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D1811-8378-4E30-8ECA-40190DF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27D3F8-BFB2-41B4-A785-FCD190C9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CheckChannelParam()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校验 HCOMM 通道参数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BB7B5C-59CD-4B1D-8827-A189BADB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F8E87-482B-47B8-A23B-FB59F95B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86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D895FB-E9A8-4489-B47D-8809CD54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ChannelDescHccl2Hcomm()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描述符跨层转换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8DD198-4778-4ABD-B799-00A51773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8D7478-CB56-41BC-B5B4-1FEF51A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AF17B0-6B40-4605-B3FD-EDA2B4BA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ConfigSqDepthByExpansionMode()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按模式配置 SQ 深度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A519B2-21CB-4C66-9E67-50C2FEE5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A81BBC-8BA9-4899-AA82-CDE8030C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38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733B62-BB49-4924-A249-AB246867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BatchCreateSockets()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Socket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4B3D4C-5952-4E73-8B43-529BC503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4D6F8A-74DD-4439-9B38-EC6E4EEF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BECC4E-EE98-4366-8E5C-5D56F43C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BatchServerInitForChannels()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初始化服务端 Socket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20F9F2-E8F9-4757-AA32-C5835333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519455-D29B-4F43-B2BF-CBBE55AB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91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3EBB65-7317-412B-97E8-C1ECE703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BatchGetSocketsForChannels()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获取通道 Socket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96092F-3493-4BCA-AF18-1D5B661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590D33-DC92-4EDB-A413-CC02D588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67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6E2134-C2D0-41AE-958E-C67007B1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BatchCreateChannels()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批量创建 Channel 对象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8A98C0-E926-478A-A0C5-32D027C1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B3F245-17CD-4D9F-9EDA-07A1F6AA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43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F111B"/>
          </a:solidFill>
          <a:ln xmlns:a="http://schemas.openxmlformats.org/drawingml/2006/main" w="0">
            <a:solidFill>
              <a:srgbClr val="9F111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1342A2-337C-487E-A981-492F23B2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EndpointMgr::Get()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Endpoint 管理器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38817B-4F74-4F52-8E47-F7BCBFF1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③ Endpoint / Channel</a:t>
            </a:r>
          </a:p>
        </p:txBody>
      </p:sp>
      <p:cxnSp>
        <p:nvCxnSpPr>
          <p:cNvPr id="165" name=""/>
          <p:cNvCxnSpPr>
            <a:stCxn xmlns:a="http://schemas.openxmlformats.org/drawingml/2006/main" id="29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60579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49DE7B-892B-47D2-BA62-769CFF42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9BE71A-FC35-48F6-BBBE-1CD4E04D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HcommEndpointStartListen()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启动 Endpoint 监听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AA9FEB-F866-467B-9346-4BB3CA68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1A29B6-FA87-428D-BBA9-35E44828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CDA8C1-2E0E-4FB6-B3F6-23CC5567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PrepareMemHandles()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准备内存句柄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A29816-556D-4EA5-BAAE-7387C7AA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02845A-0B5A-445C-8F28-DA8819DD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754154-276F-4DED-B2DF-83693442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RankPairMgr::Get()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 RankPair 管理器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D64ADC-0345-4DBA-B3FF-244A3C3E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76FB5FB-0764-4CE5-B4EB-186A72F0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A65403-8A6A-40E6-A51F-84931EC2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RankPair::GetEndpointPair()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获取或复用 EndpointPair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60CEEA-6F21-4137-8173-D082FAF7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5A1B04-9C11-4555-ADE5-281E002F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A05894-30F0-4665-A20D-05E6336C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EndpointPair::CreateChannel()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创建具体 Channel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C25F54E-5B29-4CE8-AA82-8606F0FC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98B4E0-5799-446B-85B0-18B91605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AC149D-1116-4934-82F5-CC7AB9DC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HcommCollectiveChannelCreate()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创建集合通信 Channel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3A06FF-EDB7-495C-9A19-2C32162F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2E506D-0840-4627-9B71-66C9447D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6E3518-06B6-4923-BFE9-BC2FFFAD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NormalizeHcommChannelDescs()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归一化描述符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0B408AA-990D-4B49-BB2F-59D77C98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7A53D5-B2FB-48C8-A189-99F21999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72BD743-E7D8-4885-9C20-45DFC3EF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ChannelProcess::CreateChannelsLoop()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循环创建 Channel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7DBCCC-7C6C-4FBD-B091-60512BF5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2762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4288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④ 连接 / 回填</a:t>
            </a:r>
          </a:p>
        </p:txBody>
      </p:sp>
      <p:cxnSp>
        <p:nvCxnSpPr>
          <p:cNvPr id="190" name=""/>
          <p:cNvCxnSpPr>
            <a:stCxn xmlns:a="http://schemas.openxmlformats.org/drawingml/2006/main" id="54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953500" y="1528763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2B68E8-4DB2-4186-A44F-12FB9FDD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E2A78E-C5D6-483C-8487-745A70E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Channel::CreateChannel()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创建底层 Channel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3948F42-FB16-46C5-AC5F-E920680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33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E65A77-6049-4AA5-86D8-1016AB27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DF6909-71B9-4602-B827-79675E77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86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BatchConnectChannels()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批量发起连接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889880-AE54-4DBE-80EA-1F5869E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09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0B49AD-663F-4B18-85D4-A44C58E2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9018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B2016F-3567-4FBD-8F40-E6989A1A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62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ChannelProcess::ChannelGetStatus()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查询连接状态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64EA816-C34A-45BA-8366-4F9A8667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086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2E7B27-0BD0-48C7-9290-A8859EE2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B9BA55-4200-460E-B48E-FDDA8839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BatchExchangeAndCheckConsistency()</a:t>
            </a:r>
          </a:p>
          <a:p xmlns:a="http://schemas.openxmlformats.org/drawingml/2006/main">
            <a:pPr algn="l">
              <a:def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交换并校验一致性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72CF33D-80AB-4949-919A-02854A81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623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97A598-DCED-4488-95E6-B83BCCA3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147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E3132BB-EB6A-4CF8-9010-28AA9125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FinalizeChannelsByEngine()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按 Engine 封装资源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68A7FF3-F297-4648-A974-7DCB8091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386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786AA38-FA2C-4104-92B6-69E24201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910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62E08EA-93CC-43EF-B022-9E83BBBA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910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ConvertAivChannelHandlesToDevicePtrs()</a:t>
            </a:r>
          </a:p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句柄转设备指针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00786A1-EC56-49B4-8726-ABC95F74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14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FD6E89-D2E7-49C3-B143-F848706C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F22E819-FFF1-4064-B370-024AAAEB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7620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HcclChannelGetHcclBuffer()</a:t>
            </a:r>
          </a:p>
          <a:p xmlns:a="http://schemas.openxmlformats.org/drawingml/2006/main">
            <a:pPr algn="l">
              <a:def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获取通信缓冲区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F6610C-1571-40CB-99C2-52A51092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9911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06AD53-F4A8-4F69-977E-6C5F5770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43500"/>
            <a:ext cx="342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3E93"/>
          </a:solidFill>
          <a:ln xmlns:a="http://schemas.openxmlformats.org/drawingml/2006/main" w="0">
            <a:solidFill>
              <a:srgbClr val="233E93"/>
            </a:solidFill>
          </a:ln>
        </p:spPr>
        <p:txBody>
          <a:bodyPr xmlns:a="http://schemas.openxmlformats.org/drawingml/2006/main" anchor="ctr">
            <a:normAutofit fontScale="9648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5E19076-95C1-4769-93CF-415241C0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435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return ChannelHandle + Remote CCL Buffer</a:t>
            </a:r>
          </a:p>
          <a:p xmlns:a="http://schemas.openxmlformats.org/drawingml/2006/main">
            <a:pPr algn="l">
              <a:def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57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返回句柄和远端缓冲区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5499C02-5BE2-4657-91F9-A47BBA70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08 完成后进入 09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09DC0D2-F63B-41F8-B936-E110D644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16 完成后进入 17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4F019A-8065-4270-8A0A-A2CA0568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67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24 完成后进入 25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F9515BE-7C26-4D5A-BB8C-E3497095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8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条件调用：AICPU / AIV 交换对称内存　AIV 转换设备侧句柄　950 执行一致性校验　CCU 资源不足返回 HCCL_E_UNAVAIL 并协商回退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008ED9-1E52-4548-8D9B-E4F199AA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E9DFF32-4208-4497-A49B-46522771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源码：coll_comm_res_c_adpt.cc:755-858；my_rank.cc:567-1300；endpoint_pair.cc:199-226；channel_process.cc:89-133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9676738-43D8-4164-B006-47C477FE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301809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E026E2-CFAA-43A2-A1BA-44579071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"/>
            <a:ext cx="11410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CommEngine 选择一条执行路径，三种 Engine 共享建链结果并最终汇入同一传输层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CD7CE-CC47-4103-812E-3BBC5ED9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2925"/>
            <a:ext cx="11410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AICPU_TS、AIV 与 CCU 的分叉、执行与汇合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FBAF0-38CB-44EA-9B65-C931FB52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9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F9C71-708F-427A-B545-4386081E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共享资源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EA273-024F-4F69-A440-B04DACD5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RankGraph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通信拓扑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E8CCF-C1A2-4847-918C-2CAF888E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EngineCtx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引擎上下文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89008-6787-436C-BBA3-321B685B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Thread / Channel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线程与通道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C6BC9-0ACF-4D99-8EDB-8DE499DC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04900"/>
            <a:ext cx="2143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通信内存 / Notify</a:t>
            </a:r>
          </a:p>
          <a:p xmlns:a="http://schemas.openxmlformats.org/drawingml/2006/main">
            <a:pPr algn="ctr">
              <a:def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缓冲区与同步</a:t>
            </a:r>
          </a:p>
        </p:txBody>
      </p:sp>
      <p:cxnSp>
        <p:nvCxnSpPr>
          <p:cNvPr id="7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528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4293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905875" y="12668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04447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0EDEE-62A3-4A3C-879F-097374C2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200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69"/>
          </a:solidFill>
          <a:ln xmlns:a="http://schemas.openxmlformats.org/drawingml/2006/main" w="14288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</a:t>
            </a:r>
          </a:p>
          <a:p xmlns:a="http://schemas.openxmlformats.org/drawingml/2006/main">
            <a:pPr algn="ctr">
              <a:def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三选一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BC2C5-D917-4813-9009-773AC7CA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DEE"/>
          </a:solidFill>
          <a:ln xmlns:a="http://schemas.openxmlformats.org/drawingml/2006/main" w="15240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AICPU_TS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AICPU_TS</a:t>
            </a:r>
          </a:p>
        </p:txBody>
      </p:sp>
      <p:cxnSp>
        <p:nvCxnSpPr>
          <p:cNvPr id="80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19325" y="1990725"/>
            <a:ext cx="3876675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F111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4EA31-3A13-4E6E-8F91-73AE3BCD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1BF6C-4F3B-4A85-9B41-F15D9400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B62DC-133D-4B8B-9C43-E5074840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HcclThreadAcquire — 申请执行线程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0262D-6089-4FC0-A5FC-C653E33B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AicpuKernelLaunch — 发射 AICPU Kernel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6A417-C00B-40FC-A841-5CB46FC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HcclThreadResGetInfo — 查询线程资源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27077-D784-44EE-A96C-79C2EFC1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aclrtLaunchKernelWithConfig — 启动 Kernel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4E339-878B-4123-91B1-2990336B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3638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111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DFC0B-407A-4584-B413-F5BCE911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624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9F111B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0D153-AFAE-4A2D-AA5B-8D77122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LocalCopy / Reduce — 拷贝 / 规约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9C8E1F-396A-431B-93EE-99EEDF11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584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Read / Write — 通道读写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651D3-55E4-40A1-B9C9-CC65F0FB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586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ReadReduce / WriteReduce — 融合规约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4EADAD-8626-42B0-B0D7-BFA539CC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7588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BatchTransfer — 批量传输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2585B4-50CF-43BF-B908-C334597E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5905"/>
            <a:ext cx="3448050" cy="1409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4814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Notify / Fence / Drain — 同步 / 排空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08AB7B-5F59-45C9-895C-9E2DDB41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9F111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Hcomm*OnThread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逐原语执行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076E3-6AF0-4913-B345-0CCDD1E8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5240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AIV / AIV_ONLY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AIV 或 AIV_ONLY</a:t>
            </a:r>
          </a:p>
        </p:txBody>
      </p:sp>
      <p:cxnSp>
        <p:nvCxnSpPr>
          <p:cNvPr id="96" name=""/>
          <p:cNvCxnSpPr>
            <a:stCxn xmlns:a="http://schemas.openxmlformats.org/drawingml/2006/main" id="12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6096000" y="19907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4F2C49-BAEA-46DD-A047-15732BBB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1DD392-2F5B-47B3-87AB-F759AEAF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05465A-764C-4414-BACD-549149C4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GetAlgResAiv — 汇总 AIV 资源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4B560-8BB7-4EBC-86C3-0A3AEF99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HcclAllocAlgResourceAiv — 分配算法资源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682F1D-F9FF-4C8C-A9FC-F99A2E5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HcclCommMemReg — 注册通信内存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F0BF12-A836-4F55-B24F-5D97A41F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HcclChannelAcquire(AIV) — 申请通道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B1EF3E-D141-4270-8FB3-20938AD2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957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ConvertChannelHandles — 转设备指针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DE76F0-11E5-4BB8-A55A-24166CDB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72000"/>
            <a:ext cx="3638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E728E8-6820-417C-A876-FFCD1326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3624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51AAF6-CE1B-4DEC-B1CA-6C7CAF85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95825"/>
            <a:ext cx="3448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AivKernelEntranceLaunch — AIV 核入口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2D9277-607E-4E0F-B05D-7255D9FF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95850"/>
            <a:ext cx="3448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AivParamStorage — 获取参数区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54F82C-F1B3-4C73-8916-241832BC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95875"/>
            <a:ext cx="3448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ExecuteKernelLaunch — 组装并发射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AD6BDB-5270-444A-8D2E-13C90F82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95900"/>
            <a:ext cx="3448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09  LaunchInner — Runtime 底层发射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831E20-34F5-410F-8A67-5D928D5F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aclrtLaunchKernelWithHostArgs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携带 Host 参数发射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98CF61-3AE2-4BA0-A991-363180BC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63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A"/>
          </a:solidFill>
          <a:ln xmlns:a="http://schemas.openxmlformats.org/drawingml/2006/main" w="15240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CCU_MS / CCU_SCHED</a:t>
            </a:r>
          </a:p>
          <a:p xmlns:a="http://schemas.openxmlformats.org/drawingml/2006/main">
            <a:pPr algn="ctr">
              <a:def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CommEngine = CCU_MS 或 CCU_SCHED</a:t>
            </a:r>
          </a:p>
        </p:txBody>
      </p:sp>
      <p:cxnSp>
        <p:nvCxnSpPr>
          <p:cNvPr id="112" name=""/>
          <p:cNvCxnSpPr>
            <a:stCxn xmlns:a="http://schemas.openxmlformats.org/drawingml/2006/main" id="12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6096000" y="1990725"/>
            <a:ext cx="3876675" cy="276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513192-7747-4C51-8A0B-B8590C2D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3638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BB25F2-7C0E-4FD5-AEB4-4DA37480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资源准备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32CE91-6C80-4259-B75B-1C0074A1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01  GetAlgResCcu — 汇总 CCU 资源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2BEE18-9EFB-4DEF-BB8E-8A573FAC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02  AllocAlgResourceCcu — 分配算法资源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BB8378-EB7D-465E-BEE6-4E187908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004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03  ChannelQuery / Acquire — 查询或申请通道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40115E-7781-420A-BF3E-4116BB86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4810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04  GetCcuKernel / Dynamic — 获取 Kernel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BEA3EF-2308-4FA7-A9FF-6A1AA761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3448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05  CcuInsCreate / Assign — 创建并绑定实例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249142-116B-4830-9814-2E5055BE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36385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33E9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F612DA-4A42-42C4-B0C9-5E69A283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3486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743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233E93"/>
                </a:solidFill>
                <a:latin typeface="PingFang SC"/>
                <a:ea typeface="PingFang SC"/>
                <a:cs typeface="PingFang SC"/>
              </a:rPr>
              <a:t>执行与发射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386A37-94BD-4AB2-B8DA-897CD959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06  CcuKernelRegisterStart — 开始注册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C20383-9EAD-4E14-BEE0-D4CA3DDB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62525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07  CcuKernelRegister — 注册 Kernel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857A15-3873-4330-8125-110F0B0D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29225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C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08  CcuKernelRegisterEnd — 完成注册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4C5EFB-BCB6-4D25-B6DA-34FA0926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2930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DB5"/>
          </a:solidFill>
          <a:ln xmlns:a="http://schemas.openxmlformats.org/drawingml/2006/main" w="13335">
            <a:solidFill>
              <a:srgbClr val="233E93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HcommCcuKernelLaunch</a:t>
            </a:r>
          </a:p>
          <a:p xmlns:a="http://schemas.openxmlformats.org/drawingml/2006/main">
            <a:pPr algn="ctr">
              <a:def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提交 CCU Mission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E25AFF-A9BD-4532-A731-87E80D41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267450"/>
            <a:ext cx="800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A"/>
          </a:solidFill>
          <a:ln xmlns:a="http://schemas.openxmlformats.org/drawingml/2006/main" w="8573">
            <a:solidFill>
              <a:srgbClr val="C6CA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151515"/>
                </a:solidFill>
                <a:latin typeface="PingFang SC"/>
                <a:ea typeface="PingFang SC"/>
                <a:cs typeface="PingFang SC"/>
              </a:rPr>
              <a:t>共同汇入 Channel L3，最终使用 UB、RoCE、HCCS 等 Transport</a:t>
            </a:r>
          </a:p>
        </p:txBody>
      </p:sp>
      <p:cxnSp>
        <p:nvCxnSpPr>
          <p:cNvPr id="127" name=""/>
          <p:cNvCxnSpPr>
            <a:stCxn xmlns:a="http://schemas.openxmlformats.org/drawingml/2006/main" id="28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219325" y="6191250"/>
            <a:ext cx="3876675" cy="76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9F111B"/>
            </a:solidFill>
            <a:prstDash val="solid"/>
            <a:tailEnd type="triangle" w="sm" len="sm"/>
          </a:ln>
        </p:spPr>
      </p:cxnSp>
      <p:cxnSp>
        <p:nvCxnSpPr>
          <p:cNvPr id="128" name=""/>
          <p:cNvCxnSpPr>
            <a:stCxn xmlns:a="http://schemas.openxmlformats.org/drawingml/2006/main" id="44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6096000" y="61912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 flipH="1">
            <a:off x="6096000" y="6191250"/>
            <a:ext cx="3876675" cy="76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233E93"/>
            </a:solidFill>
            <a:prstDash val="solid"/>
            <a:tailEnd type="triangle" w="sm" len="sm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90375D-A349-4867-B790-98A5029A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627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0444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3DE6CF-624E-4591-982C-7554A3D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91300"/>
            <a:ext cx="10334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源码：aicpu_ts_primitives_c_adpt.cc；op_common.cc:1216-1247,2200-2990；hccl_aiv_utils.cc:1068-1223；ccu_launch.cc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41AD02F-B5ED-44DD-B2B4-FCCAD1F0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91300"/>
            <a:ext cx="1409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5833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66B70"/>
                </a:solidFill>
                <a:latin typeface="PingFang SC"/>
                <a:ea typeface="PingFang SC"/>
                <a:cs typeface="PingFang SC"/>
              </a:rPr>
              <a:t>HCCL / HCOMM 源码分析</a:t>
            </a:r>
          </a:p>
        </p:txBody>
      </p:sp>
    </p:spTree>
    <p:extLst>
      <p:ext uri="{BB962C8B-B14F-4D97-AF65-F5344CB8AC3E}">
        <p14:creationId xmlns:p14="http://schemas.microsoft.com/office/powerpoint/2010/main" val="321890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2026-09-19T06:27:31.5950000Z</dcterms:created>
  <dcterms:modified xsi:type="dcterms:W3CDTF">2026-09-19T06:27:31.5950000Z</dcterms:modified>
</coreProperties>
</file>